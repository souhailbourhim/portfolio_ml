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931947edbe149b6" Type="http://schemas.openxmlformats.org/package/2006/relationships/metadata/core-properties" Target="docProps/core.xml"/><Relationship Id="R756508cd796845a1" Type="http://schemas.openxmlformats.org/officeDocument/2006/relationships/extended-properties" Target="docProps/app.xml"/><Relationship Id="R96747de112d740e4"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7354d36443e642b7"/>
  </p:sldMasterIdLst>
  <p:notesMasterIdLst>
    <p:notesMasterId xmlns:r="http://schemas.openxmlformats.org/officeDocument/2006/relationships" r:id="R8550e99eb58d4a68"/>
  </p:notesMasterIdLst>
  <p:sldIdLst>
    <p:sldId xmlns:r="http://schemas.openxmlformats.org/officeDocument/2006/relationships" id="256" r:id="R8a004abdbea345f0"/>
    <p:sldId xmlns:r="http://schemas.openxmlformats.org/officeDocument/2006/relationships" id="257" r:id="R0bdb091fb8dc4f79"/>
    <p:sldId xmlns:r="http://schemas.openxmlformats.org/officeDocument/2006/relationships" id="258" r:id="Rd9f6e29d8c7042b8"/>
    <p:sldId xmlns:r="http://schemas.openxmlformats.org/officeDocument/2006/relationships" id="259" r:id="R82ffcdc04ebc4498"/>
    <p:sldId xmlns:r="http://schemas.openxmlformats.org/officeDocument/2006/relationships" id="260" r:id="R74aa6584465c41c3"/>
    <p:sldId xmlns:r="http://schemas.openxmlformats.org/officeDocument/2006/relationships" id="261" r:id="R70fa18e1902844d9"/>
    <p:sldId xmlns:r="http://schemas.openxmlformats.org/officeDocument/2006/relationships" id="262" r:id="R2a3a93e6a4b24ea8"/>
    <p:sldId xmlns:r="http://schemas.openxmlformats.org/officeDocument/2006/relationships" id="263" r:id="Ra7016ce8d5ab4de3"/>
    <p:sldId xmlns:r="http://schemas.openxmlformats.org/officeDocument/2006/relationships" id="264" r:id="Rb2b42b5f5f7d47b2"/>
    <p:sldId xmlns:r="http://schemas.openxmlformats.org/officeDocument/2006/relationships" id="265" r:id="Rae27adbe9d2e4b93"/>
    <p:sldId xmlns:r="http://schemas.openxmlformats.org/officeDocument/2006/relationships" id="266" r:id="Rfa6d69768af34a43"/>
    <p:sldId xmlns:r="http://schemas.openxmlformats.org/officeDocument/2006/relationships" id="267" r:id="Rebbdf58fb6c24cbb"/>
    <p:sldId xmlns:r="http://schemas.openxmlformats.org/officeDocument/2006/relationships" id="268" r:id="Rea3eb73d639f4416"/>
    <p:sldId xmlns:ns0="http://schemas.openxmlformats.org/officeDocument/2006/relationships" id="274" ns0:id="rId24"/>
    <p:sldId xmlns:ns0="http://schemas.openxmlformats.org/officeDocument/2006/relationships" id="275" ns0:id="rId25"/>
    <p:sldId xmlns:ns0="http://schemas.openxmlformats.org/officeDocument/2006/relationships" id="276" ns0:id="rId26"/>
    <p:sldId xmlns:ns0="http://schemas.openxmlformats.org/officeDocument/2006/relationships" id="277" ns0:id="rId27"/>
    <p:sldId xmlns:r="http://schemas.openxmlformats.org/officeDocument/2006/relationships" id="269" r:id="Rc46d43967ae14217"/>
    <p:sldId xmlns:r="http://schemas.openxmlformats.org/officeDocument/2006/relationships" id="270" r:id="R570479f6abc143be"/>
    <p:sldId xmlns:r="http://schemas.openxmlformats.org/officeDocument/2006/relationships" id="271" r:id="R8197a2e283d047d2"/>
    <p:sldId xmlns:r="http://schemas.openxmlformats.org/officeDocument/2006/relationships" id="272" r:id="Rc24437f2c9e24674"/>
    <p:sldId xmlns:ns0="http://schemas.openxmlformats.org/officeDocument/2006/relationships" id="278" ns0:id="rId28"/>
    <p:sldId xmlns:r="http://schemas.openxmlformats.org/officeDocument/2006/relationships" id="273" r:id="Re7c87c24c926425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bdb091fb8dc4f79" Type="http://schemas.openxmlformats.org/officeDocument/2006/relationships/slide" Target="slides/slide2.xml"/><Relationship Id="R2a3a93e6a4b24ea8" Type="http://schemas.openxmlformats.org/officeDocument/2006/relationships/slide" Target="slides/slide7.xml"/><Relationship Id="R570479f6abc143be" Type="http://schemas.openxmlformats.org/officeDocument/2006/relationships/slide" Target="slides/slide15.xml"/><Relationship Id="R70fa18e1902844d9" Type="http://schemas.openxmlformats.org/officeDocument/2006/relationships/slide" Target="slides/slide6.xml"/><Relationship Id="R7354d36443e642b7" Type="http://schemas.openxmlformats.org/officeDocument/2006/relationships/slideMaster" Target="slideMasters/slideMaster1.xml"/><Relationship Id="R74aa6584465c41c3" Type="http://schemas.openxmlformats.org/officeDocument/2006/relationships/slide" Target="slides/slide5.xml"/><Relationship Id="R8197a2e283d047d2" Type="http://schemas.openxmlformats.org/officeDocument/2006/relationships/slide" Target="slides/slide16.xml"/><Relationship Id="R82ffcdc04ebc4498" Type="http://schemas.openxmlformats.org/officeDocument/2006/relationships/slide" Target="slides/slide4.xml"/><Relationship Id="R8550e99eb58d4a68" Type="http://schemas.openxmlformats.org/officeDocument/2006/relationships/notesMaster" Target="notesMasters/notesMaster1.xml"/><Relationship Id="R879492a47c9e49bd" Type="http://schemas.openxmlformats.org/officeDocument/2006/relationships/tableStyles" Target="tableStyles.xml"/><Relationship Id="R8a004abdbea345f0" Type="http://schemas.openxmlformats.org/officeDocument/2006/relationships/slide" Target="slides/slide1.xml"/><Relationship Id="Ra7016ce8d5ab4de3" Type="http://schemas.openxmlformats.org/officeDocument/2006/relationships/slide" Target="slides/slide8.xml"/><Relationship Id="Rae27adbe9d2e4b93" Type="http://schemas.openxmlformats.org/officeDocument/2006/relationships/slide" Target="slides/slide10.xml"/><Relationship Id="Rb2b42b5f5f7d47b2" Type="http://schemas.openxmlformats.org/officeDocument/2006/relationships/slide" Target="slides/slide9.xml"/><Relationship Id="Rc24437f2c9e24674" Type="http://schemas.openxmlformats.org/officeDocument/2006/relationships/slide" Target="slides/slide17.xml"/><Relationship Id="Rc46d43967ae14217" Type="http://schemas.openxmlformats.org/officeDocument/2006/relationships/slide" Target="slides/slide14.xml"/><Relationship Id="Rc8ece9b72aa34101" Type="http://schemas.openxmlformats.org/officeDocument/2006/relationships/theme" Target="theme/theme1.xml"/><Relationship Id="Rd9f6e29d8c7042b8" Type="http://schemas.openxmlformats.org/officeDocument/2006/relationships/slide" Target="slides/slide3.xml"/><Relationship Id="Re7c87c24c9264256" Type="http://schemas.openxmlformats.org/officeDocument/2006/relationships/slide" Target="slides/slide18.xml"/><Relationship Id="Rea3eb73d639f4416" Type="http://schemas.openxmlformats.org/officeDocument/2006/relationships/slide" Target="slides/slide13.xml"/><Relationship Id="Rebbdf58fb6c24cbb" Type="http://schemas.openxmlformats.org/officeDocument/2006/relationships/slide" Target="slides/slide12.xml"/><Relationship Id="Rf7e7fadda5a04ca1" Type="http://schemas.openxmlformats.org/officeDocument/2006/relationships/presProps" Target="presProps.xml"/><Relationship Id="Rfa6d69768af34a43" Type="http://schemas.openxmlformats.org/officeDocument/2006/relationships/slide" Target="slides/slide11.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efdbac656c5e4f3f"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0d59e3b118d461b" Type="http://schemas.openxmlformats.org/officeDocument/2006/relationships/slide" Target="../slides/slide1.xml"/><Relationship Id="R87a72e0013a04260"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f16daa90f824b98" Type="http://schemas.openxmlformats.org/officeDocument/2006/relationships/slide" Target="../slides/slide2.xml"/><Relationship Id="R17aadf91440c44a7"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a5602678727e4f97" Type="http://schemas.openxmlformats.org/officeDocument/2006/relationships/notesMaster" Target="../notesMasters/notesMaster1.xml"/><Relationship Id="Rf92fd701135a490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36d68fffec0049b2" Type="http://schemas.openxmlformats.org/officeDocument/2006/relationships/slide" Target="../slides/slide4.xml"/><Relationship Id="R7a878f0a7e3e4df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7bc3d46f4c042a5" Type="http://schemas.openxmlformats.org/officeDocument/2006/relationships/notesMaster" Target="../notesMasters/notesMaster1.xml"/><Relationship Id="Re2f831011987414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64218dc39744e92" Type="http://schemas.openxmlformats.org/officeDocument/2006/relationships/notesMaster" Target="../notesMasters/notesMaster1.xml"/><Relationship Id="R29b7a8f18326448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96aaf3b733ec45d1" Type="http://schemas.openxmlformats.org/officeDocument/2006/relationships/slide" Target="../slides/slide7.xml"/><Relationship Id="Racbe205ee9234195"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f1ccfe4bfb04116" Type="http://schemas.openxmlformats.org/officeDocument/2006/relationships/slide" Target="../slides/slide8.xml"/><Relationship Id="Re0110244cdfa45c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33f152508d584186" Type="http://schemas.openxmlformats.org/officeDocument/2006/relationships/slide" Target="../slides/slide9.xml"/><Relationship Id="Rd7b404650e45466f"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76ef6d44c66248c6" Type="http://schemas.openxmlformats.org/officeDocument/2006/relationships/notesMaster" Target="../notesMasters/notesMaster1.xml"/><Relationship Id="R8f36138baec2438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5d9ea4b3f7654df4" Type="http://schemas.openxmlformats.org/officeDocument/2006/relationships/slide" Target="../slides/slide11.xml"/><Relationship Id="Raa7de6495fca4ce4"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90197b32925441ed" Type="http://schemas.openxmlformats.org/officeDocument/2006/relationships/slide" Target="../slides/slide12.xml"/><Relationship Id="Rf95b80d7ba0b4f0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904865e9d3fb4f0a" Type="http://schemas.openxmlformats.org/officeDocument/2006/relationships/notesMaster" Target="../notesMasters/notesMaster1.xml"/><Relationship Id="Rb9e7291483f7485e"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815b0476daf447f7" Type="http://schemas.openxmlformats.org/officeDocument/2006/relationships/slide" Target="../slides/slide14.xml"/><Relationship Id="Rfb69882b666c4a9f"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6ecb6804f76416b" Type="http://schemas.openxmlformats.org/officeDocument/2006/relationships/slide" Target="../slides/slide15.xml"/><Relationship Id="R14ca99d577214433"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1323b40b41c04a74" Type="http://schemas.openxmlformats.org/officeDocument/2006/relationships/notesMaster" Target="../notesMasters/notesMaster1.xml"/><Relationship Id="Re8a98f21607746f9"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4fb5a6a27cd64680" Type="http://schemas.openxmlformats.org/officeDocument/2006/relationships/notesMaster" Target="../notesMasters/notesMaster1.xml"/><Relationship Id="R70da98d83b884093"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20ce2af7ccc04c9a" Type="http://schemas.openxmlformats.org/officeDocument/2006/relationships/notesMaster" Target="../notesMasters/notesMaster1.xml"/><Relationship Id="R74a7988e853146bc"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Notre projet porte sur l’optimisation de portefeuille pilotée par le machine learning. Notre objectif n’était pas seulement de produire un bon ratio de Sharpe, mais de construire une chaîne complète capable de vérifier si ce résultat est réellement défendable.</a:t>
            </a:r>
          </a:p>
          <a:p xmlns:a="http://schemas.openxmlformats.org/drawingml/2006/main">
            <a:r>
              <a:t/>
            </a:r>
          </a:p>
          <a:p xmlns:a="http://schemas.openxmlformats.org/drawingml/2006/main">
            <a:r>
              <a:t>[Sources]</a:t>
            </a:r>
          </a:p>
          <a:p xmlns:a="http://schemas.openxmlformats.org/drawingml/2006/main">
            <a:r>
              <a:t>- docs/rapport_final/main.tex</a:t>
            </a:r>
          </a:p>
          <a:p xmlns:a="http://schemas.openxmlformats.org/drawingml/2006/main">
            <a:r>
              <a:t>- AGENTS.md — sections 1–3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donne immédiatement le fil directeur. Le résultat ML final est négatif après la correction de devise. Ce n’est pas un échec du projet : c’est précisément la preuve que notre protocole détecte les illusions de performance au lieu de les publier.</a:t>
            </a:r>
          </a:p>
          <a:p xmlns:a="http://schemas.openxmlformats.org/drawingml/2006/main">
            <a:r>
              <a:t/>
            </a:r>
          </a:p>
          <a:p xmlns:a="http://schemas.openxmlformats.org/drawingml/2006/main">
            <a:r>
              <a:t>[Sources]</a:t>
            </a:r>
          </a:p>
          <a:p xmlns:a="http://schemas.openxmlformats.org/drawingml/2006/main">
            <a:r>
              <a:t>- data/gold/dashboard_data.json</a:t>
            </a:r>
          </a:p>
          <a:p xmlns:a="http://schemas.openxmlformats.org/drawingml/2006/main">
            <a:r>
              <a:t>- data/gold/reality_check_results.json</a:t>
            </a:r>
          </a:p>
          <a:p xmlns:a="http://schemas.openxmlformats.org/drawingml/2006/main">
            <a:r>
              <a:t>- data/gold/fit_report_summary.json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Chaque composant du projet répond à l’un de ces quatre problèmes. P1 concerne l’estimation du risque, P2 la non-stationnarité, P3 la rupture de diversification en crise, et P4 le surapprentissage du backtest.</a:t>
            </a:r>
          </a:p>
          <a:p xmlns:a="http://schemas.openxmlformats.org/drawingml/2006/main">
            <a:r>
              <a:t/>
            </a:r>
          </a:p>
          <a:p xmlns:a="http://schemas.openxmlformats.org/drawingml/2006/main">
            <a:r>
              <a:t>[Sources]</a:t>
            </a:r>
          </a:p>
          <a:p xmlns:a="http://schemas.openxmlformats.org/drawingml/2006/main">
            <a:r>
              <a:t>- docs/rapport_final/chapters/Chapter1.tex</a:t>
            </a:r>
          </a:p>
          <a:p xmlns:a="http://schemas.openxmlformats.org/drawingml/2006/main">
            <a:r>
              <a:t>- docs/rapport_final/assets/figures/quatre_problemes.pdf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n’est pas un notebook isolé. Les données passent par une architecture médaillon, puis alimentent un moteur de backtest, une sélection walk-forward, des tests statistiques et enfin des surfaces de restitution et de gouvernance.</a:t>
            </a:r>
          </a:p>
          <a:p xmlns:a="http://schemas.openxmlformats.org/drawingml/2006/main">
            <a:r>
              <a:t/>
            </a:r>
          </a:p>
          <a:p xmlns:a="http://schemas.openxmlformats.org/drawingml/2006/main">
            <a:r>
              <a:t>[Sources]</a:t>
            </a:r>
          </a:p>
          <a:p xmlns:a="http://schemas.openxmlformats.org/drawingml/2006/main">
            <a:r>
              <a:t>- dvc.yaml</a:t>
            </a:r>
          </a:p>
          <a:p xmlns:a="http://schemas.openxmlformats.org/drawingml/2006/main">
            <a:r>
              <a:t>- src/orchestration/</a:t>
            </a:r>
          </a:p>
          <a:p xmlns:a="http://schemas.openxmlformats.org/drawingml/2006/main">
            <a:r>
              <a:t>- docs/rapport_final/assets/figures/architecture_globale.pdf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correction la plus importante du projet a été celle du numéraire. L’univers mixte est désormais converti en MAD avec le taux de référence officiel Bank Al-Maghrib. L’univers ETF reste en USD car il ne mélange aucune devise. Les deux univers constituent deux évaluations distinctes.</a:t>
            </a:r>
          </a:p>
          <a:p xmlns:a="http://schemas.openxmlformats.org/drawingml/2006/main">
            <a:r>
              <a:t/>
            </a:r>
          </a:p>
          <a:p xmlns:a="http://schemas.openxmlformats.org/drawingml/2006/main">
            <a:r>
              <a:t>[Sources]</a:t>
            </a:r>
          </a:p>
          <a:p xmlns:a="http://schemas.openxmlformats.org/drawingml/2006/main">
            <a:r>
              <a:t>- src/currency.py</a:t>
            </a:r>
          </a:p>
          <a:p xmlns:a="http://schemas.openxmlformats.org/drawingml/2006/main">
            <a:r>
              <a:t>- data/gold/currency_manifest.json</a:t>
            </a:r>
          </a:p>
          <a:p xmlns:a="http://schemas.openxmlformats.org/drawingml/2006/main">
            <a:r>
              <a:t>- data/bronze/bam_fx_reference.parquet</a:t>
            </a:r>
          </a:p>
          <a:p xmlns:a="http://schemas.openxmlformats.org/drawingml/2006/main">
            <a:r>
              <a:t>- docs/rapport_final/assets/figures/numeraire.pdf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n’avons pas commencé par le modèle le plus complexe. Nous avons construit une échelle d’ablation : références classiques, estimateurs de covariance, HMM, signaux supervisés puis optimisation sensible aux coûts. Chaque ajout doit justifier sa complexité hors échantillon.</a:t>
            </a:r>
          </a:p>
          <a:p xmlns:a="http://schemas.openxmlformats.org/drawingml/2006/main">
            <a:r>
              <a:t/>
            </a:r>
          </a:p>
          <a:p xmlns:a="http://schemas.openxmlformats.org/drawingml/2006/main">
            <a:r>
              <a:t>[Sources]</a:t>
            </a:r>
          </a:p>
          <a:p xmlns:a="http://schemas.openxmlformats.org/drawingml/2006/main">
            <a:r>
              <a:t>- src/strategies.py</a:t>
            </a:r>
          </a:p>
          <a:p xmlns:a="http://schemas.openxmlformats.org/drawingml/2006/main">
            <a:r>
              <a:t>- src/dcc_garch.py</a:t>
            </a:r>
          </a:p>
          <a:p xmlns:a="http://schemas.openxmlformats.org/drawingml/2006/main">
            <a:r>
              <a:t>- src/model_selection.py</a:t>
            </a:r>
          </a:p>
          <a:p xmlns:a="http://schemas.openxmlformats.org/drawingml/2006/main">
            <a:r>
              <a:t>- params.yaml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changement méthodologique central a été le passage à un walk-forward purgé et strictement forward-only. Chaque décision est apprise uniquement avec le passé. Le test final est gelé, les comparaisons sont appariées, et la recherche multiple est corrigée.</a:t>
            </a:r>
          </a:p>
          <a:p xmlns:a="http://schemas.openxmlformats.org/drawingml/2006/main">
            <a:r>
              <a:t/>
            </a:r>
          </a:p>
          <a:p xmlns:a="http://schemas.openxmlformats.org/drawingml/2006/main">
            <a:r>
              <a:t>[Sources]</a:t>
            </a:r>
          </a:p>
          <a:p xmlns:a="http://schemas.openxmlformats.org/drawingml/2006/main">
            <a:r>
              <a:t>- src/purged_kfold.py</a:t>
            </a:r>
          </a:p>
          <a:p xmlns:a="http://schemas.openxmlformats.org/drawingml/2006/main">
            <a:r>
              <a:t>- src/model_selection.py</a:t>
            </a:r>
          </a:p>
          <a:p xmlns:a="http://schemas.openxmlformats.org/drawingml/2006/main">
            <a:r>
              <a:t>- src/metrics.py</a:t>
            </a:r>
          </a:p>
          <a:p xmlns:a="http://schemas.openxmlformats.org/drawingml/2006/main">
            <a:r>
              <a:t>- src/reality_check.py</a:t>
            </a:r>
          </a:p>
          <a:p xmlns:a="http://schemas.openxmlformats.org/drawingml/2006/main">
            <a:r>
              <a:t>- data/gold/phase5_validation_protocol.json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trajectoire est importante. Le résultat est passé de plus 14,3 à plus 6,2 puis à moins 10,47 pour cent. Nous n’avons pas caché ces révisions. Elles révèlent successivement un biais de dividendes, l’effet d’une fenêtre plus profonde, puis un défaut de numéraire. La conclusion actuelle est celle de la dernière correction.</a:t>
            </a:r>
          </a:p>
          <a:p xmlns:a="http://schemas.openxmlformats.org/drawingml/2006/main">
            <a:r>
              <a:t/>
            </a:r>
          </a:p>
          <a:p xmlns:a="http://schemas.openxmlformats.org/drawingml/2006/main">
            <a:r>
              <a:t>[Sources]</a:t>
            </a:r>
          </a:p>
          <a:p xmlns:a="http://schemas.openxmlformats.org/drawingml/2006/main">
            <a:r>
              <a:t>- docs/DIVIDEND_BIAS.md</a:t>
            </a:r>
          </a:p>
          <a:p xmlns:a="http://schemas.openxmlformats.org/drawingml/2006/main">
            <a:r>
              <a:t>- docs/ETF_DEEP_HISTORY_EXPERIMENT.md</a:t>
            </a:r>
          </a:p>
          <a:p xmlns:a="http://schemas.openxmlformats.org/drawingml/2006/main">
            <a:r>
              <a:t>- data/gold/dashboard_data.json</a:t>
            </a:r>
          </a:p>
          <a:p xmlns:a="http://schemas.openxmlformats.org/drawingml/2006/main">
            <a:r>
              <a:t>- docs/rapport_final/assets/figures/revisions_resultat.pdf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Sur l’univers full_2021 exprimé en MAD, le régime obtient 0,9571 contre 1,0690 pour maximum Sharpe, soit moins 10,47 pour cent. Sur les ETF, l’écart est moins 1,62 pour cent. Ce sont des écarts descriptifs : nous ne transformons pas l’absence de gain ML en preuve de supériorité classique.</a:t>
            </a:r>
          </a:p>
          <a:p xmlns:a="http://schemas.openxmlformats.org/drawingml/2006/main">
            <a:r>
              <a:t/>
            </a:r>
          </a:p>
          <a:p xmlns:a="http://schemas.openxmlformats.org/drawingml/2006/main">
            <a:r>
              <a:t>[Sources]</a:t>
            </a:r>
          </a:p>
          <a:p xmlns:a="http://schemas.openxmlformats.org/drawingml/2006/main">
            <a:r>
              <a:t>- data/gold/dashboard_data.json</a:t>
            </a:r>
          </a:p>
          <a:p xmlns:a="http://schemas.openxmlformats.org/drawingml/2006/main">
            <a:r>
              <a:t>- data/gold/phase5_results.json</a:t>
            </a:r>
          </a:p>
          <a:p xmlns:a="http://schemas.openxmlformats.org/drawingml/2006/main">
            <a:r>
              <a:t>- docs/rapport_final/assets/figures/courbes_equity.pdf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intervalles appariés des huit comparaisons incluent tous zéro. Ensuite, White Reality Check et Hansen SPA corrigent le fait que 240 configurations ont été essayées. Contre le benchmark primaire fixé avant observation, aucun candidat n’établit une surperformance. Les résultats contre l’équipondéré restent exploratoires.</a:t>
            </a:r>
          </a:p>
          <a:p xmlns:a="http://schemas.openxmlformats.org/drawingml/2006/main">
            <a:r>
              <a:t/>
            </a:r>
          </a:p>
          <a:p xmlns:a="http://schemas.openxmlformats.org/drawingml/2006/main">
            <a:r>
              <a:t>[Sources]</a:t>
            </a:r>
          </a:p>
          <a:p xmlns:a="http://schemas.openxmlformats.org/drawingml/2006/main">
            <a:r>
              <a:t>- data/gold/paired_comparison_results.json</a:t>
            </a:r>
          </a:p>
          <a:p xmlns:a="http://schemas.openxmlformats.org/drawingml/2006/main">
            <a:r>
              <a:t>- data/gold/reality_check_results.json</a:t>
            </a:r>
          </a:p>
          <a:p xmlns:a="http://schemas.openxmlformats.org/drawingml/2006/main">
            <a:r>
              <a:t>- data/gold/reality_check_series.parquet</a:t>
            </a:r>
          </a:p>
          <a:p xmlns:a="http://schemas.openxmlformats.org/drawingml/2006/main">
            <a:r>
              <a:t>- docs/MULTIPLE_TESTING.md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Nous avons aussi testé l’hypothèse selon laquelle cinq années étaient simplement insuffisantes. Un panel marocain 2005–2024 sur douze actions augmente l’information prédictive de deux à quatre fois, mais ne crée pas d’avantage d’allocation établi. Cette expérience corrige une ancienne formulation trop simple de la limite de données.</a:t>
            </a:r>
          </a:p>
          <a:p xmlns:a="http://schemas.openxmlformats.org/drawingml/2006/main">
            <a:r>
              <a:t/>
            </a:r>
          </a:p>
          <a:p xmlns:a="http://schemas.openxmlformats.org/drawingml/2006/main">
            <a:r>
              <a:t>[Sources]</a:t>
            </a:r>
          </a:p>
          <a:p xmlns:a="http://schemas.openxmlformats.org/drawingml/2006/main">
            <a:r>
              <a:t>- docs/DEEP_MOROCCO_EXPERIMENT.md</a:t>
            </a:r>
          </a:p>
          <a:p xmlns:a="http://schemas.openxmlformats.org/drawingml/2006/main">
            <a:r>
              <a:t>- experiments/deep_morocco/</a:t>
            </a:r>
          </a:p>
          <a:p xmlns:a="http://schemas.openxmlformats.org/drawingml/2006/main">
            <a:r>
              <a:t>- docs/rapport_final/chapters/Conclusion.tex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résultat économique le plus stable concerne la contrainte de poids. Sur l’univers ETF, le plafond de 25 pour cent améliore le Sharpe net par rapport à l’absence de plafond. Il agit comme un régularisateur de l’erreur d’estimation, conformément à l’intuition de Jagannathan et Ma.</a:t>
            </a:r>
          </a:p>
          <a:p xmlns:a="http://schemas.openxmlformats.org/drawingml/2006/main">
            <a:r>
              <a:t/>
            </a:r>
          </a:p>
          <a:p xmlns:a="http://schemas.openxmlformats.org/drawingml/2006/main">
            <a:r>
              <a:t>[Sources]</a:t>
            </a:r>
          </a:p>
          <a:p xmlns:a="http://schemas.openxmlformats.org/drawingml/2006/main">
            <a:r>
              <a:t>- data/gold/etf_cap_verdict.json</a:t>
            </a:r>
          </a:p>
          <a:p xmlns:a="http://schemas.openxmlformats.org/drawingml/2006/main">
            <a:r>
              <a:t>- experiments/etf_cap_sweep.py</a:t>
            </a:r>
          </a:p>
          <a:p xmlns:a="http://schemas.openxmlformats.org/drawingml/2006/main">
            <a:r>
              <a:t>- docs/ETF_DEEP_HISTORY_EXPERIMENT.md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HMM reconnaît bien les périodes de stress : 91,7 pour cent des jours dans cinq fenêtres de crise sont classés baissiers, contre 29,2 hors crise. Mais les fenêtres sont rétrospectives et l’échantillon est très petit. La protection observée vient surtout de la covariance et du plafond, pas d’une preuve isolée de valeur du HMM.</a:t>
            </a:r>
          </a:p>
          <a:p xmlns:a="http://schemas.openxmlformats.org/drawingml/2006/main">
            <a:r>
              <a:t/>
            </a:r>
          </a:p>
          <a:p xmlns:a="http://schemas.openxmlformats.org/drawingml/2006/main">
            <a:r>
              <a:t>[Sources]</a:t>
            </a:r>
          </a:p>
          <a:p xmlns:a="http://schemas.openxmlformats.org/drawingml/2006/main">
            <a:r>
              <a:t>- data/gold/crisis_windows.json</a:t>
            </a:r>
          </a:p>
          <a:p xmlns:a="http://schemas.openxmlformats.org/drawingml/2006/main">
            <a:r>
              <a:t>- docs/CRISIS_WINDOWS_EXPERIMENT.md</a:t>
            </a:r>
          </a:p>
          <a:p xmlns:a="http://schemas.openxmlformats.org/drawingml/2006/main">
            <a:r>
              <a:t>- docs/rapport_final/assets/figures/crises.pdf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 banque ou un assureur ne peut pas déployer une boîte noire sans chaîne de décision. Nous expliquons donc le régime et l’optimiseur pour le système principal, et les attributions exactes des arbres pour les challengers. Surtout, nous mesurons si le classement prédit survit aux contraintes d’allocation. Dans un cas, la concordance vaut moins un : la prédiction et la décision sont exactement inversées.</a:t>
            </a:r>
          </a:p>
          <a:p xmlns:a="http://schemas.openxmlformats.org/drawingml/2006/main">
            <a:r>
              <a:t/>
            </a:r>
          </a:p>
          <a:p xmlns:a="http://schemas.openxmlformats.org/drawingml/2006/main">
            <a:r>
              <a:t>[Sources]</a:t>
            </a:r>
          </a:p>
          <a:p xmlns:a="http://schemas.openxmlformats.org/drawingml/2006/main">
            <a:r>
              <a:t>- src/explainability.py</a:t>
            </a:r>
          </a:p>
          <a:p xmlns:a="http://schemas.openxmlformats.org/drawingml/2006/main">
            <a:r>
              <a:t>- data/gold/model_explanations.json</a:t>
            </a:r>
          </a:p>
          <a:p xmlns:a="http://schemas.openxmlformats.org/drawingml/2006/main">
            <a:r>
              <a:t>- docs/EXPLAINABILITY.md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dashboard comporte deux pages. La première répond aux questions d’un décideur : qu’avons-nous appris, dans quelle devise et avec quelles limites ? La seconde permet d’explorer les stratégies. Les deux partagent la même couche de données et ne peuvent pas diverger sur les chiffres publiés.</a:t>
            </a:r>
          </a:p>
          <a:p xmlns:a="http://schemas.openxmlformats.org/drawingml/2006/main">
            <a:r>
              <a:t/>
            </a:r>
          </a:p>
          <a:p xmlns:a="http://schemas.openxmlformats.org/drawingml/2006/main">
            <a:r>
              <a:t>[Sources]</a:t>
            </a:r>
          </a:p>
          <a:p xmlns:a="http://schemas.openxmlformats.org/drawingml/2006/main">
            <a:r>
              <a:t>- dashboard/pages/1_Resultats_de_recherche.py</a:t>
            </a:r>
          </a:p>
          <a:p xmlns:a="http://schemas.openxmlformats.org/drawingml/2006/main">
            <a:r>
              <a:t>- dashboard/pages/2_Explorateur_de_strategies.py</a:t>
            </a:r>
          </a:p>
          <a:p xmlns:a="http://schemas.openxmlformats.org/drawingml/2006/main">
            <a:r>
              <a:t>- dashboard/data.py</a:t>
            </a:r>
          </a:p>
          <a:p xmlns:a="http://schemas.openxmlformats.org/drawingml/2006/main">
            <a:r>
              <a:t>- docs/rapport_final/assets/figures/dashboard_page1.png</a:t>
            </a:r>
          </a:p>
          <a:p xmlns:a="http://schemas.openxmlformats.org/drawingml/2006/main">
            <a:r>
              <a:t>- docs/rapport_final/assets/figures/dashboard_page2.png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L’industrialisation comprend une API FastAPI, Docker, DVC avec stockage R2, des model cards générées, un manifest de snapshot et une suite de tests. Le compteur actuel est 792 tests. La télémétrie vérifie que zéro des 1 188 fits publiés n’a utilisé de fallback. Le monitoring est prêt hors ligne mais volontairement non actif.</a:t>
            </a:r>
          </a:p>
          <a:p xmlns:a="http://schemas.openxmlformats.org/drawingml/2006/main">
            <a:r>
              <a:t/>
            </a:r>
          </a:p>
          <a:p xmlns:a="http://schemas.openxmlformats.org/drawingml/2006/main">
            <a:r>
              <a:t>[Sources]</a:t>
            </a:r>
          </a:p>
          <a:p xmlns:a="http://schemas.openxmlformats.org/drawingml/2006/main">
            <a:r>
              <a:t>- tests/</a:t>
            </a:r>
          </a:p>
          <a:p xmlns:a="http://schemas.openxmlformats.org/drawingml/2006/main">
            <a:r>
              <a:t>- Dockerfile</a:t>
            </a:r>
          </a:p>
          <a:p xmlns:a="http://schemas.openxmlformats.org/drawingml/2006/main">
            <a:r>
              <a:t>- src/api/</a:t>
            </a:r>
          </a:p>
          <a:p xmlns:a="http://schemas.openxmlformats.org/drawingml/2006/main">
            <a:r>
              <a:t>- MODEL_GOVERNANCE.md</a:t>
            </a:r>
          </a:p>
          <a:p xmlns:a="http://schemas.openxmlformats.org/drawingml/2006/main">
            <a:r>
              <a:t>- data/gold/fit_report_summary.json</a:t>
            </a:r>
          </a:p>
          <a:p xmlns:a="http://schemas.openxmlformats.org/drawingml/2006/main">
            <a:r>
              <a:t>- docs/rapport_final/assets/figures/industrialisation.pdf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prochaines étapes ne consistent pas à ajouter un modèle de plus. Elles concernent la qualité contractuelle du Maroc profond, la validation indépendante, la publication atomique, des re-tests pré-spécifiés et une vraie politique de risque de change et d’exécution.</a:t>
            </a:r>
          </a:p>
          <a:p xmlns:a="http://schemas.openxmlformats.org/drawingml/2006/main">
            <a:r>
              <a:t/>
            </a:r>
          </a:p>
          <a:p xmlns:a="http://schemas.openxmlformats.org/drawingml/2006/main">
            <a:r>
              <a:t>[Sources]</a:t>
            </a:r>
          </a:p>
          <a:p xmlns:a="http://schemas.openxmlformats.org/drawingml/2006/main">
            <a:r>
              <a:t>- MODEL_GOVERNANCE.md</a:t>
            </a:r>
          </a:p>
          <a:p xmlns:a="http://schemas.openxmlformats.org/drawingml/2006/main">
            <a:r>
              <a:t>- docs/DEEP_MOROCCO_EXPERIMENT.md</a:t>
            </a:r>
          </a:p>
          <a:p xmlns:a="http://schemas.openxmlformats.org/drawingml/2006/main">
            <a:r>
              <a:t>- docs/rapport_final/chapters/Conclusion.tex</a:t>
            </a:r>
          </a:p>
          <a:p xmlns:a="http://schemas.openxmlformats.org/drawingml/2006/main">
            <a:r>
              <a:t>- docs/MODEL_INTEGRITY.md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conclure, nous n’avons pas démontré que le machine learning améliore l’allocation sur nos deux univers. Nous avons cependant livré une chaîne complète, reproductible et gouvernée, capable de découvrir ses propres erreurs et de publier un résultat négatif sans le maquiller. C’est cette fiabilité qui rend le travail utile dans un environnement financier réglementé. Merci, nous sommes prêts pour vos questions.</a:t>
            </a:r>
          </a:p>
          <a:p xmlns:a="http://schemas.openxmlformats.org/drawingml/2006/main">
            <a:r>
              <a:t/>
            </a:r>
          </a:p>
          <a:p xmlns:a="http://schemas.openxmlformats.org/drawingml/2006/main">
            <a:r>
              <a:t>[Sources]</a:t>
            </a:r>
          </a:p>
          <a:p xmlns:a="http://schemas.openxmlformats.org/drawingml/2006/main">
            <a:r>
              <a:t>- docs/rapport_final/chapters/Conclusion.tex</a:t>
            </a:r>
          </a:p>
          <a:p xmlns:a="http://schemas.openxmlformats.org/drawingml/2006/main">
            <a:r>
              <a:t>- output/pdf/Rapport_PFA_Final_2026.pdf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ee58be0ea92f4bc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8b791aa0cba44df7" Type="http://schemas.openxmlformats.org/officeDocument/2006/relationships/theme" Target="theme/theme2.xml"/><Relationship Id="R95a2e251ff7a4230"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a2e251ff7a42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9f6118f9d1d4388" Type="http://schemas.openxmlformats.org/officeDocument/2006/relationships/image" Target="../media/image.png"/><Relationship Id="R16300a73d07743fe" Type="http://schemas.openxmlformats.org/officeDocument/2006/relationships/notesSlide" Target="../notesSlides/notesSlide1.xml"/><Relationship Id="R78d429b5b1584875" Type="http://schemas.openxmlformats.org/officeDocument/2006/relationships/image" Target="../media/image2.png"/><Relationship Id="R99fe40275fd640bd"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c7bd6973481c494e" Type="http://schemas.openxmlformats.org/officeDocument/2006/relationships/notesSlide" Target="../notesSlides/notesSlide2.xml"/><Relationship Id="Reee96620bb0145a6"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7cbf156b58484d5c" Type="http://schemas.openxmlformats.org/officeDocument/2006/relationships/slideLayout" Target="../slideLayouts/slideLayout1.xml"/><Relationship Id="R9511a94e0e774c69" Type="http://schemas.openxmlformats.org/officeDocument/2006/relationships/image" Target="../media/image3.png"/><Relationship Id="Rc950176486b1452d"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3d999f6ad5534421" Type="http://schemas.openxmlformats.org/officeDocument/2006/relationships/slideLayout" Target="../slideLayouts/slideLayout1.xml"/><Relationship Id="R5e5f8bc1210f42d9" Type="http://schemas.openxmlformats.org/officeDocument/2006/relationships/image" Target="../media/image4.png"/><Relationship Id="Ra5c0669d9e8a4ca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28d519e2c98f48b6" Type="http://schemas.openxmlformats.org/officeDocument/2006/relationships/notesSlide" Target="../notesSlides/notesSlide5.xml"/><Relationship Id="R83605b3aa3114141" Type="http://schemas.openxmlformats.org/officeDocument/2006/relationships/image" Target="../media/image5.png"/><Relationship Id="R98eb26a5d97d4afe"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6a2d7b75e5f942c4" Type="http://schemas.openxmlformats.org/officeDocument/2006/relationships/slideLayout" Target="../slideLayouts/slideLayout1.xml"/><Relationship Id="R71dfcc67cdd04e8f"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61d4bd5ce1a4426f" Type="http://schemas.openxmlformats.org/officeDocument/2006/relationships/notesSlide" Target="../notesSlides/notesSlide7.xml"/><Relationship Id="Ra8155f48680340c9" Type="http://schemas.openxmlformats.org/officeDocument/2006/relationships/image" Target="../media/image6.png"/><Relationship Id="Rddecada9dfbc4d20"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0b4775df65374d91" Type="http://schemas.openxmlformats.org/officeDocument/2006/relationships/image" Target="../media/image7.png"/><Relationship Id="R3bb355e51d1c406d" Type="http://schemas.openxmlformats.org/officeDocument/2006/relationships/notesSlide" Target="../notesSlides/notesSlide8.xml"/><Relationship Id="R4c419c78fe484c6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1ec43f6d7f524b65" Type="http://schemas.openxmlformats.org/officeDocument/2006/relationships/notesSlide" Target="../notesSlides/notesSlide9.xml"/><Relationship Id="R93ea230a27d148a0" Type="http://schemas.openxmlformats.org/officeDocument/2006/relationships/slideLayout" Target="../slideLayouts/slideLayout1.xml"/><Relationship Id="Rad1309540aa44918" Type="http://schemas.openxmlformats.org/officeDocument/2006/relationships/image" Target="../media/image8.png"/></Relationships>
</file>

<file path=ppt/slides/_rels/slide10.xml.rels><?xml version='1.0' encoding='UTF-8' standalone='yes'?>
<Relationships xmlns="http://schemas.openxmlformats.org/package/2006/relationships"><Relationship Id="R3d05ac5862794ae6" Type="http://schemas.openxmlformats.org/officeDocument/2006/relationships/image" Target="../media/image9.png"/><Relationship Id="R62d692e130cc464c" Type="http://schemas.openxmlformats.org/officeDocument/2006/relationships/slideLayout" Target="../slideLayouts/slideLayout1.xml"/><Relationship Id="R98c18e94139542e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8f7e2d9c635346cf" Type="http://schemas.openxmlformats.org/officeDocument/2006/relationships/slideLayout" Target="../slideLayouts/slideLayout1.xml"/><Relationship Id="Rb64097847df34b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1c804cd0c9814b0e" Type="http://schemas.openxmlformats.org/officeDocument/2006/relationships/image" Target="../media/image10.png"/><Relationship Id="R81895a7208e14208" Type="http://schemas.openxmlformats.org/officeDocument/2006/relationships/notesSlide" Target="../notesSlides/notesSlide12.xml"/><Relationship Id="Rc01691e02d1d42c0"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e366d541abae461d" Type="http://schemas.openxmlformats.org/officeDocument/2006/relationships/slideLayout" Target="../slideLayouts/slideLayout1.xml"/><Relationship Id="Re4a6dbf80c0d4bc0" Type="http://schemas.openxmlformats.org/officeDocument/2006/relationships/image" Target="../media/image11.png"/><Relationship Id="Reb8c60b8338349fa"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e7b7afce8e5411c" Type="http://schemas.openxmlformats.org/officeDocument/2006/relationships/notesSlide" Target="../notesSlides/notesSlide14.xml"/><Relationship Id="Rd22b6efbe32749e4" Type="http://schemas.openxmlformats.org/officeDocument/2006/relationships/image" Target="../media/image12.png"/><Relationship Id="Re13ea5ed918a4a2b"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4cd2a8cbd024f9f" Type="http://schemas.openxmlformats.org/officeDocument/2006/relationships/notesSlide" Target="../notesSlides/notesSlide15.xml"/><Relationship Id="Rb6dce82cc47045f3" Type="http://schemas.openxmlformats.org/officeDocument/2006/relationships/image" Target="../media/image13.png"/><Relationship Id="Rd8a4815610da4b4f" Type="http://schemas.openxmlformats.org/officeDocument/2006/relationships/slideLayout" Target="../slideLayouts/slideLayout1.xml"/><Relationship Id="Rf35e9b0addbb4261" Type="http://schemas.openxmlformats.org/officeDocument/2006/relationships/image" Target="../media/image14.png"/></Relationships>
</file>

<file path=ppt/slides/_rels/slide16.xml.rels><?xml version='1.0' encoding='UTF-8' standalone='yes'?>
<Relationships xmlns="http://schemas.openxmlformats.org/package/2006/relationships"><Relationship Id="R3bf3bf0e6cfd4830" Type="http://schemas.openxmlformats.org/officeDocument/2006/relationships/slideLayout" Target="../slideLayouts/slideLayout1.xml"/><Relationship Id="R526da928ec764504" Type="http://schemas.openxmlformats.org/officeDocument/2006/relationships/notesSlide" Target="../notesSlides/notesSlide16.xml"/><Relationship Id="Ra3c04459c6b64d9c" Type="http://schemas.openxmlformats.org/officeDocument/2006/relationships/image" Target="../media/image15.png"/></Relationships>
</file>

<file path=ppt/slides/_rels/slide17.xml.rels><?xml version='1.0' encoding='UTF-8' standalone='yes'?>
<Relationships xmlns="http://schemas.openxmlformats.org/package/2006/relationships"><Relationship Id="Ra8e790c852e345e1" Type="http://schemas.openxmlformats.org/officeDocument/2006/relationships/notesSlide" Target="../notesSlides/notesSlide17.xml"/><Relationship Id="Rf8d6193780a04d0a"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d303eb5a97549c5" Type="http://schemas.openxmlformats.org/officeDocument/2006/relationships/image" Target="../media/image17.png"/><Relationship Id="R2b2af4343a1c4846" Type="http://schemas.openxmlformats.org/officeDocument/2006/relationships/notesSlide" Target="../notesSlides/notesSlide18.xml"/><Relationship Id="R7803498a905e48c1" Type="http://schemas.openxmlformats.org/officeDocument/2006/relationships/slideLayout" Target="../slideLayouts/slideLayout1.xml"/><Relationship Id="R81c96916ae024832"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090B1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56CB361-23F6-47E2-BF08-BA519CF8DA72}"/>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9CA3AF"/>
                </a:solidFill>
                <a:latin typeface="Arial"/>
                <a:ea typeface="Arial"/>
                <a:cs typeface="Arial"/>
              </a:defRPr>
            </a:pPr>
            <a:r>
              <a:rPr sz="900" b="1" i="0">
                <a:solidFill>
                  <a:srgbClr val="9CA3AF"/>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8615882B-D42E-4E77-9750-43129F846CC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8FC5ED91-A295-4F40-BCBB-A2CEAD0500EA}"/>
              </a:ext>
            </a:extLst>
          </p:cNvPr>
          <p:cNvSpPr>
            <a:spLocks xmlns:a="http://schemas.openxmlformats.org/drawingml/2006/main" noGrp="1"/>
          </p:cNvSpPr>
          <p:nvPr/>
        </p:nvSpPr>
        <p:spPr>
          <a:xfrm xmlns:a="http://schemas.openxmlformats.org/drawingml/2006/main">
            <a:off x="685800" y="55245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1" i="0">
                <a:solidFill>
                  <a:srgbClr val="D0EDFA"/>
                </a:solidFill>
                <a:latin typeface="Arial"/>
                <a:ea typeface="Arial"/>
                <a:cs typeface="Arial"/>
              </a:defRPr>
            </a:pPr>
            <a:r>
              <a:rPr sz="1125" b="1" i="0">
                <a:solidFill>
                  <a:srgbClr val="D0EDFA"/>
                </a:solidFill>
                <a:latin typeface="Arial"/>
                <a:ea typeface="Arial"/>
                <a:cs typeface="Arial"/>
              </a:rPr>
              <a:t>PROJET DE FIN D’ANNÉE · INPT × EURAFRIC INFORMATION</a:t>
            </a:r>
          </a:p>
        </p:txBody>
      </p:sp>
      <p:sp>
        <p:nvSpPr>
          <p:cNvPr id="4" name="">
            <a:extLst xmlns:a="http://schemas.openxmlformats.org/drawingml/2006/main">
              <a:ext uri="{FF2B5EF4-FFF2-40B4-BE49-F238E27FC236}">
                <a16:creationId xmlns:a16="http://schemas.microsoft.com/office/drawing/2014/main" id="{70782823-6A54-4503-ACF6-5559DC9625F4}"/>
              </a:ext>
            </a:extLst>
          </p:cNvPr>
          <p:cNvSpPr>
            <a:spLocks xmlns:a="http://schemas.openxmlformats.org/drawingml/2006/main" noGrp="1"/>
          </p:cNvSpPr>
          <p:nvPr/>
        </p:nvSpPr>
        <p:spPr>
          <a:xfrm xmlns:a="http://schemas.openxmlformats.org/drawingml/2006/main">
            <a:off x="685800" y="1219200"/>
            <a:ext cx="87630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Optimisation de portefeuille</a:t>
            </a:r>
          </a:p>
          <a:p xmlns:a="http://schemas.openxmlformats.org/drawingml/2006/main">
            <a:pPr algn="l">
              <a:defRPr sz="3900" b="1" i="0">
                <a:solidFill>
                  <a:srgbClr val="FFFFFF"/>
                </a:solidFill>
                <a:latin typeface="Arial"/>
                <a:ea typeface="Arial"/>
                <a:cs typeface="Arial"/>
              </a:defRPr>
            </a:pPr>
            <a:r>
              <a:rPr sz="3900" b="1" i="0">
                <a:solidFill>
                  <a:srgbClr val="FFFFFF"/>
                </a:solidFill>
                <a:latin typeface="Arial"/>
                <a:ea typeface="Arial"/>
                <a:cs typeface="Arial"/>
              </a:rPr>
              <a:t>pilotée par Machine Learning</a:t>
            </a:r>
          </a:p>
        </p:txBody>
      </p:sp>
      <p:sp>
        <p:nvSpPr>
          <p:cNvPr id="5" name="">
            <a:extLst xmlns:a="http://schemas.openxmlformats.org/drawingml/2006/main">
              <a:ext uri="{FF2B5EF4-FFF2-40B4-BE49-F238E27FC236}">
                <a16:creationId xmlns:a16="http://schemas.microsoft.com/office/drawing/2014/main" id="{30853398-B627-488C-BCA8-D86458E1235A}"/>
              </a:ext>
            </a:extLst>
          </p:cNvPr>
          <p:cNvSpPr>
            <a:spLocks xmlns:a="http://schemas.openxmlformats.org/drawingml/2006/main" noGrp="1"/>
          </p:cNvSpPr>
          <p:nvPr/>
        </p:nvSpPr>
        <p:spPr>
          <a:xfrm xmlns:a="http://schemas.openxmlformats.org/drawingml/2006/main">
            <a:off x="704850" y="2971800"/>
            <a:ext cx="7810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650" b="0" i="0">
                <a:solidFill>
                  <a:srgbClr val="D1D5DB"/>
                </a:solidFill>
                <a:latin typeface="Arial"/>
                <a:ea typeface="Arial"/>
                <a:cs typeface="Arial"/>
              </a:defRPr>
            </a:pPr>
            <a:r>
              <a:rPr sz="1650" b="0" i="0">
                <a:solidFill>
                  <a:srgbClr val="D1D5DB"/>
                </a:solidFill>
                <a:latin typeface="Arial"/>
                <a:ea typeface="Arial"/>
                <a:cs typeface="Arial"/>
              </a:rPr>
              <a:t>Construire une allocation robuste — et une chaîne de preuve capable de dire honnêtement quand le ML n’ajoute pas de valeur.</a:t>
            </a:r>
          </a:p>
        </p:txBody>
      </p:sp>
      <p:sp>
        <p:nvSpPr>
          <p:cNvPr id="6" name="">
            <a:extLst xmlns:a="http://schemas.openxmlformats.org/drawingml/2006/main">
              <a:ext uri="{FF2B5EF4-FFF2-40B4-BE49-F238E27FC236}">
                <a16:creationId xmlns:a16="http://schemas.microsoft.com/office/drawing/2014/main" id="{683398D6-5253-4EC1-9DA7-D85F03E903A9}"/>
              </a:ext>
            </a:extLst>
          </p:cNvPr>
          <p:cNvSpPr>
            <a:spLocks xmlns:a="http://schemas.openxmlformats.org/drawingml/2006/main" noGrp="1"/>
          </p:cNvSpPr>
          <p:nvPr/>
        </p:nvSpPr>
        <p:spPr>
          <a:xfrm xmlns:a="http://schemas.openxmlformats.org/drawingml/2006/main">
            <a:off x="704850" y="4171950"/>
            <a:ext cx="5905500" cy="9525"/>
          </a:xfrm>
          <a:prstGeom xmlns:a="http://schemas.openxmlformats.org/drawingml/2006/main" prst="rect">
            <a:avLst/>
          </a:prstGeom>
          <a:solidFill xmlns:a="http://schemas.openxmlformats.org/drawingml/2006/main">
            <a:srgbClr val="374151"/>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8A600AC-467B-410E-A0CA-5006C5B8805B}"/>
              </a:ext>
            </a:extLst>
          </p:cNvPr>
          <p:cNvSpPr>
            <a:spLocks xmlns:a="http://schemas.openxmlformats.org/drawingml/2006/main" noGrp="1"/>
          </p:cNvSpPr>
          <p:nvPr/>
        </p:nvSpPr>
        <p:spPr>
          <a:xfrm xmlns:a="http://schemas.openxmlformats.org/drawingml/2006/main">
            <a:off x="704850" y="44005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i="0">
                <a:solidFill>
                  <a:srgbClr val="FFFFFF"/>
                </a:solidFill>
                <a:latin typeface="Arial"/>
                <a:ea typeface="Arial"/>
                <a:cs typeface="Arial"/>
              </a:defRPr>
            </a:pPr>
            <a:r>
              <a:rPr sz="1275" b="1" i="0">
                <a:solidFill>
                  <a:srgbClr val="FFFFFF"/>
                </a:solidFill>
                <a:latin typeface="Arial"/>
                <a:ea typeface="Arial"/>
                <a:cs typeface="Arial"/>
              </a:rPr>
              <a:t>Souhail BOURHIM · Zakarya EL WALI · Yasmine BOUAJINE</a:t>
            </a:r>
          </a:p>
        </p:txBody>
      </p:sp>
      <p:sp>
        <p:nvSpPr>
          <p:cNvPr id="8" name="">
            <a:extLst xmlns:a="http://schemas.openxmlformats.org/drawingml/2006/main">
              <a:ext uri="{FF2B5EF4-FFF2-40B4-BE49-F238E27FC236}">
                <a16:creationId xmlns:a16="http://schemas.microsoft.com/office/drawing/2014/main" id="{79AC4D89-2BA8-45DD-AD64-00FA4FA14988}"/>
              </a:ext>
            </a:extLst>
          </p:cNvPr>
          <p:cNvSpPr>
            <a:spLocks xmlns:a="http://schemas.openxmlformats.org/drawingml/2006/main" noGrp="1"/>
          </p:cNvSpPr>
          <p:nvPr/>
        </p:nvSpPr>
        <p:spPr>
          <a:xfrm xmlns:a="http://schemas.openxmlformats.org/drawingml/2006/main">
            <a:off x="704850" y="4772025"/>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0" i="0">
                <a:solidFill>
                  <a:srgbClr val="B9C3D0"/>
                </a:solidFill>
                <a:latin typeface="Arial"/>
                <a:ea typeface="Arial"/>
                <a:cs typeface="Arial"/>
              </a:defRPr>
            </a:pPr>
            <a:r>
              <a:rPr sz="1125" b="0" i="0">
                <a:solidFill>
                  <a:srgbClr val="B9C3D0"/>
                </a:solidFill>
                <a:latin typeface="Arial"/>
                <a:ea typeface="Arial"/>
                <a:cs typeface="Arial"/>
              </a:rPr>
              <a:t>Encadré par M. Abdelmouttalib MAQIL</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9f6118f9d1d4388"/>
          <a:stretch xmlns:a="http://schemas.openxmlformats.org/drawingml/2006/main"/>
        </p:blipFill>
        <p:spPr>
          <a:xfrm xmlns:a="http://schemas.openxmlformats.org/drawingml/2006/main">
            <a:off x="8953500" y="5043253"/>
            <a:ext cx="1143000" cy="562444"/>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8d429b5b1584875"/>
          <a:stretch xmlns:a="http://schemas.openxmlformats.org/drawingml/2006/main"/>
        </p:blipFill>
        <p:spPr>
          <a:xfrm xmlns:a="http://schemas.openxmlformats.org/drawingml/2006/main">
            <a:off x="10242732" y="4914900"/>
            <a:ext cx="1212486" cy="8001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EB5C42B-4EC4-4D27-8EA0-D14DCF69167F}"/>
              </a:ext>
            </a:extLst>
          </p:cNvPr>
          <p:cNvSpPr>
            <a:spLocks xmlns:a="http://schemas.openxmlformats.org/drawingml/2006/main" noGrp="1"/>
          </p:cNvSpPr>
          <p:nvPr/>
        </p:nvSpPr>
        <p:spPr>
          <a:xfrm xmlns:a="http://schemas.openxmlformats.org/drawingml/2006/main">
            <a:off x="704850" y="5676900"/>
            <a:ext cx="1952625" cy="323850"/>
          </a:xfrm>
          <a:prstGeom xmlns:a="http://schemas.openxmlformats.org/drawingml/2006/main" prst="roundRect">
            <a:avLst>
              <a:gd name="adj" fmla="val 50000"/>
            </a:avLst>
          </a:prstGeom>
          <a:solidFill xmlns:a="http://schemas.openxmlformats.org/drawingml/2006/main">
            <a:srgbClr val="172334"/>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4DE5BBD0-6474-47D6-AF91-0C7F3254964E}"/>
              </a:ext>
            </a:extLst>
          </p:cNvPr>
          <p:cNvSpPr>
            <a:spLocks xmlns:a="http://schemas.openxmlformats.org/drawingml/2006/main" noGrp="1"/>
          </p:cNvSpPr>
          <p:nvPr/>
        </p:nvSpPr>
        <p:spPr>
          <a:xfrm xmlns:a="http://schemas.openxmlformats.org/drawingml/2006/main">
            <a:off x="819150" y="5743575"/>
            <a:ext cx="17240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D0EDFA"/>
                </a:solidFill>
                <a:latin typeface="Arial"/>
                <a:ea typeface="Arial"/>
                <a:cs typeface="Arial"/>
              </a:defRPr>
            </a:pPr>
            <a:r>
              <a:rPr sz="900" b="1" i="0">
                <a:solidFill>
                  <a:srgbClr val="D0EDFA"/>
                </a:solidFill>
                <a:latin typeface="Arial"/>
                <a:ea typeface="Arial"/>
                <a:cs typeface="Arial"/>
              </a:rPr>
              <a:t>Soutenance PFA · 2026</a:t>
            </a:r>
          </a:p>
        </p:txBody>
      </p:sp>
    </p:spTree>
    <p:extLst>
      <p:ext uri="{BB962C8B-B14F-4D97-AF65-F5344CB8AC3E}">
        <p14:creationId xmlns:p14="http://schemas.microsoft.com/office/powerpoint/2010/main" val="20461036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2F2A6CF-6851-4827-A85D-05975ADF1161}"/>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POINT DE DÉPART</a:t>
            </a:r>
          </a:p>
        </p:txBody>
      </p:sp>
      <p:sp>
        <p:nvSpPr>
          <p:cNvPr id="2" name="">
            <a:extLst xmlns:a="http://schemas.openxmlformats.org/drawingml/2006/main">
              <a:ext uri="{FF2B5EF4-FFF2-40B4-BE49-F238E27FC236}">
                <a16:creationId xmlns:a16="http://schemas.microsoft.com/office/drawing/2014/main" id="{7A984DA8-FADB-4108-9861-340BFC03F3CD}"/>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Le vrai défi : distinguer un résultat d’une illusion</a:t>
            </a:r>
          </a:p>
        </p:txBody>
      </p:sp>
      <p:sp>
        <p:nvSpPr>
          <p:cNvPr id="3" name="">
            <a:extLst xmlns:a="http://schemas.openxmlformats.org/drawingml/2006/main">
              <a:ext uri="{FF2B5EF4-FFF2-40B4-BE49-F238E27FC236}">
                <a16:creationId xmlns:a16="http://schemas.microsoft.com/office/drawing/2014/main" id="{4B0881E9-3702-4F5A-A131-0C8C2EBD840F}"/>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38E8033-1E3B-451B-99D9-D6E3039F6CCD}"/>
              </a:ext>
            </a:extLst>
          </p:cNvPr>
          <p:cNvSpPr>
            <a:spLocks xmlns:a="http://schemas.openxmlformats.org/drawingml/2006/main" noGrp="1"/>
          </p:cNvSpPr>
          <p:nvPr/>
        </p:nvSpPr>
        <p:spPr>
          <a:xfrm xmlns:a="http://schemas.openxmlformats.org/drawingml/2006/main">
            <a:off x="609600" y="131445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1" i="0">
                <a:solidFill>
                  <a:srgbClr val="111827"/>
                </a:solidFill>
                <a:latin typeface="Arial"/>
                <a:ea typeface="Arial"/>
                <a:cs typeface="Arial"/>
              </a:defRPr>
            </a:pPr>
            <a:r>
              <a:rPr sz="1950" b="1" i="0">
                <a:solidFill>
                  <a:srgbClr val="111827"/>
                </a:solidFill>
                <a:latin typeface="Arial"/>
                <a:ea typeface="Arial"/>
                <a:cs typeface="Arial"/>
              </a:rPr>
              <a:t>Un backtest peut être techniquement correct, visuellement convaincant… et pourtant faux pour la décision.</a:t>
            </a:r>
          </a:p>
        </p:txBody>
      </p:sp>
      <p:sp>
        <p:nvSpPr>
          <p:cNvPr id="5" name="">
            <a:extLst xmlns:a="http://schemas.openxmlformats.org/drawingml/2006/main">
              <a:ext uri="{FF2B5EF4-FFF2-40B4-BE49-F238E27FC236}">
                <a16:creationId xmlns:a16="http://schemas.microsoft.com/office/drawing/2014/main" id="{67FE559E-491D-494A-9847-40C359F85B97}"/>
              </a:ext>
            </a:extLst>
          </p:cNvPr>
          <p:cNvSpPr>
            <a:spLocks xmlns:a="http://schemas.openxmlformats.org/drawingml/2006/main" noGrp="1"/>
          </p:cNvSpPr>
          <p:nvPr/>
        </p:nvSpPr>
        <p:spPr>
          <a:xfrm xmlns:a="http://schemas.openxmlformats.org/drawingml/2006/main">
            <a:off x="609600" y="2247900"/>
            <a:ext cx="10972800" cy="952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5AE8D00-FE13-4F11-9710-BA9E6CB11D3F}"/>
              </a:ext>
            </a:extLst>
          </p:cNvPr>
          <p:cNvSpPr>
            <a:spLocks xmlns:a="http://schemas.openxmlformats.org/drawingml/2006/main" noGrp="1"/>
          </p:cNvSpPr>
          <p:nvPr/>
        </p:nvSpPr>
        <p:spPr>
          <a:xfrm xmlns:a="http://schemas.openxmlformats.org/drawingml/2006/main">
            <a:off x="647700" y="27051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3D8DFF"/>
                </a:solidFill>
                <a:latin typeface="Arial"/>
                <a:ea typeface="Arial"/>
                <a:cs typeface="Arial"/>
              </a:defRPr>
            </a:pPr>
            <a:r>
              <a:rPr sz="3000" b="1" i="0">
                <a:solidFill>
                  <a:srgbClr val="3D8DFF"/>
                </a:solidFill>
                <a:latin typeface="Arial"/>
                <a:ea typeface="Arial"/>
                <a:cs typeface="Arial"/>
              </a:rPr>
              <a:t>240</a:t>
            </a:r>
          </a:p>
        </p:txBody>
      </p:sp>
      <p:sp>
        <p:nvSpPr>
          <p:cNvPr id="7" name="">
            <a:extLst xmlns:a="http://schemas.openxmlformats.org/drawingml/2006/main">
              <a:ext uri="{FF2B5EF4-FFF2-40B4-BE49-F238E27FC236}">
                <a16:creationId xmlns:a16="http://schemas.microsoft.com/office/drawing/2014/main" id="{82658F2C-16A6-4C39-8C7A-E9F5D3113EB0}"/>
              </a:ext>
            </a:extLst>
          </p:cNvPr>
          <p:cNvSpPr>
            <a:spLocks xmlns:a="http://schemas.openxmlformats.org/drawingml/2006/main" noGrp="1"/>
          </p:cNvSpPr>
          <p:nvPr/>
        </p:nvSpPr>
        <p:spPr>
          <a:xfrm xmlns:a="http://schemas.openxmlformats.org/drawingml/2006/main">
            <a:off x="647700" y="32766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configurations évaluées</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et corrigées pour la sélection</a:t>
            </a:r>
          </a:p>
        </p:txBody>
      </p:sp>
      <p:sp>
        <p:nvSpPr>
          <p:cNvPr id="8" name="">
            <a:extLst xmlns:a="http://schemas.openxmlformats.org/drawingml/2006/main">
              <a:ext uri="{FF2B5EF4-FFF2-40B4-BE49-F238E27FC236}">
                <a16:creationId xmlns:a16="http://schemas.microsoft.com/office/drawing/2014/main" id="{519285DC-20F2-49D7-BFBA-7B8750708331}"/>
              </a:ext>
            </a:extLst>
          </p:cNvPr>
          <p:cNvSpPr>
            <a:spLocks xmlns:a="http://schemas.openxmlformats.org/drawingml/2006/main" noGrp="1"/>
          </p:cNvSpPr>
          <p:nvPr/>
        </p:nvSpPr>
        <p:spPr>
          <a:xfrm xmlns:a="http://schemas.openxmlformats.org/drawingml/2006/main">
            <a:off x="4095750" y="27051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B7433E"/>
                </a:solidFill>
                <a:latin typeface="Arial"/>
                <a:ea typeface="Arial"/>
                <a:cs typeface="Arial"/>
              </a:defRPr>
            </a:pPr>
            <a:r>
              <a:rPr sz="3000" b="1" i="0">
                <a:solidFill>
                  <a:srgbClr val="B7433E"/>
                </a:solidFill>
                <a:latin typeface="Arial"/>
                <a:ea typeface="Arial"/>
                <a:cs typeface="Arial"/>
              </a:rPr>
              <a:t>−10,47 %</a:t>
            </a:r>
          </a:p>
        </p:txBody>
      </p:sp>
      <p:sp>
        <p:nvSpPr>
          <p:cNvPr id="9" name="">
            <a:extLst xmlns:a="http://schemas.openxmlformats.org/drawingml/2006/main">
              <a:ext uri="{FF2B5EF4-FFF2-40B4-BE49-F238E27FC236}">
                <a16:creationId xmlns:a16="http://schemas.microsoft.com/office/drawing/2014/main" id="{CBA5D76A-B1B4-4DF0-9A88-9A6B28AFA698}"/>
              </a:ext>
            </a:extLst>
          </p:cNvPr>
          <p:cNvSpPr>
            <a:spLocks xmlns:a="http://schemas.openxmlformats.org/drawingml/2006/main" noGrp="1"/>
          </p:cNvSpPr>
          <p:nvPr/>
        </p:nvSpPr>
        <p:spPr>
          <a:xfrm xmlns:a="http://schemas.openxmlformats.org/drawingml/2006/main">
            <a:off x="4095750" y="32766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écart observé du régime ML</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après correction du numéraire</a:t>
            </a:r>
          </a:p>
        </p:txBody>
      </p:sp>
      <p:sp>
        <p:nvSpPr>
          <p:cNvPr id="10" name="">
            <a:extLst xmlns:a="http://schemas.openxmlformats.org/drawingml/2006/main">
              <a:ext uri="{FF2B5EF4-FFF2-40B4-BE49-F238E27FC236}">
                <a16:creationId xmlns:a16="http://schemas.microsoft.com/office/drawing/2014/main" id="{CB43495B-4EAF-4DF5-AA2A-143558F8BFD2}"/>
              </a:ext>
            </a:extLst>
          </p:cNvPr>
          <p:cNvSpPr>
            <a:spLocks xmlns:a="http://schemas.openxmlformats.org/drawingml/2006/main" noGrp="1"/>
          </p:cNvSpPr>
          <p:nvPr/>
        </p:nvSpPr>
        <p:spPr>
          <a:xfrm xmlns:a="http://schemas.openxmlformats.org/drawingml/2006/main">
            <a:off x="7734300" y="27051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0F766E"/>
                </a:solidFill>
                <a:latin typeface="Arial"/>
                <a:ea typeface="Arial"/>
                <a:cs typeface="Arial"/>
              </a:defRPr>
            </a:pPr>
            <a:r>
              <a:rPr sz="3000" b="1" i="0">
                <a:solidFill>
                  <a:srgbClr val="0F766E"/>
                </a:solidFill>
                <a:latin typeface="Arial"/>
                <a:ea typeface="Arial"/>
                <a:cs typeface="Arial"/>
              </a:rPr>
              <a:t>0 / 1 188</a:t>
            </a:r>
          </a:p>
        </p:txBody>
      </p:sp>
      <p:sp>
        <p:nvSpPr>
          <p:cNvPr id="11" name="">
            <a:extLst xmlns:a="http://schemas.openxmlformats.org/drawingml/2006/main">
              <a:ext uri="{FF2B5EF4-FFF2-40B4-BE49-F238E27FC236}">
                <a16:creationId xmlns:a16="http://schemas.microsoft.com/office/drawing/2014/main" id="{BDB99BEA-0AF4-4D1A-845E-41F4F54F5E84}"/>
              </a:ext>
            </a:extLst>
          </p:cNvPr>
          <p:cNvSpPr>
            <a:spLocks xmlns:a="http://schemas.openxmlformats.org/drawingml/2006/main" noGrp="1"/>
          </p:cNvSpPr>
          <p:nvPr/>
        </p:nvSpPr>
        <p:spPr>
          <a:xfrm xmlns:a="http://schemas.openxmlformats.org/drawingml/2006/main">
            <a:off x="7734300" y="32766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fallback sur le snapshot publié</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mesuré, versionné, auditable</a:t>
            </a:r>
          </a:p>
        </p:txBody>
      </p:sp>
      <p:sp>
        <p:nvSpPr>
          <p:cNvPr id="12" name="">
            <a:extLst xmlns:a="http://schemas.openxmlformats.org/drawingml/2006/main">
              <a:ext uri="{FF2B5EF4-FFF2-40B4-BE49-F238E27FC236}">
                <a16:creationId xmlns:a16="http://schemas.microsoft.com/office/drawing/2014/main" id="{92C645D9-48A6-459B-91C1-1559AFF75647}"/>
              </a:ext>
            </a:extLst>
          </p:cNvPr>
          <p:cNvSpPr>
            <a:spLocks xmlns:a="http://schemas.openxmlformats.org/drawingml/2006/main" noGrp="1"/>
          </p:cNvSpPr>
          <p:nvPr/>
        </p:nvSpPr>
        <p:spPr>
          <a:xfrm xmlns:a="http://schemas.openxmlformats.org/drawingml/2006/main">
            <a:off x="609600" y="4895850"/>
            <a:ext cx="10972800" cy="1047750"/>
          </a:xfrm>
          <a:prstGeom xmlns:a="http://schemas.openxmlformats.org/drawingml/2006/main" prst="roundRect">
            <a:avLst>
              <a:gd name="adj" fmla="val 10909"/>
            </a:avLst>
          </a:prstGeom>
          <a:solidFill xmlns:a="http://schemas.openxmlformats.org/drawingml/2006/main">
            <a:srgbClr val="173B67"/>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47070D0-7C17-4A4C-9F8F-FA256A6F10D6}"/>
              </a:ext>
            </a:extLst>
          </p:cNvPr>
          <p:cNvSpPr>
            <a:spLocks xmlns:a="http://schemas.openxmlformats.org/drawingml/2006/main" noGrp="1"/>
          </p:cNvSpPr>
          <p:nvPr/>
        </p:nvSpPr>
        <p:spPr>
          <a:xfrm xmlns:a="http://schemas.openxmlformats.org/drawingml/2006/main">
            <a:off x="838200" y="51149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D0EDFA"/>
                </a:solidFill>
                <a:latin typeface="Arial"/>
                <a:ea typeface="Arial"/>
                <a:cs typeface="Arial"/>
              </a:defRPr>
            </a:pPr>
            <a:r>
              <a:rPr sz="1125" b="1" i="0">
                <a:solidFill>
                  <a:srgbClr val="D0EDFA"/>
                </a:solidFill>
                <a:latin typeface="Arial"/>
                <a:ea typeface="Arial"/>
                <a:cs typeface="Arial"/>
              </a:rPr>
              <a:t>Notre contribution principale</a:t>
            </a:r>
          </a:p>
        </p:txBody>
      </p:sp>
      <p:sp>
        <p:nvSpPr>
          <p:cNvPr id="14" name="">
            <a:extLst xmlns:a="http://schemas.openxmlformats.org/drawingml/2006/main">
              <a:ext uri="{FF2B5EF4-FFF2-40B4-BE49-F238E27FC236}">
                <a16:creationId xmlns:a16="http://schemas.microsoft.com/office/drawing/2014/main" id="{8E217B22-9B5D-4FA4-B4B8-1C763EFEB448}"/>
              </a:ext>
            </a:extLst>
          </p:cNvPr>
          <p:cNvSpPr>
            <a:spLocks xmlns:a="http://schemas.openxmlformats.org/drawingml/2006/main" noGrp="1"/>
          </p:cNvSpPr>
          <p:nvPr/>
        </p:nvSpPr>
        <p:spPr>
          <a:xfrm xmlns:a="http://schemas.openxmlformats.org/drawingml/2006/main">
            <a:off x="838200" y="54292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98"/>
          </a:bodyPr>
          <a:lstStyle xmlns:a="http://schemas.openxmlformats.org/drawingml/2006/main"/>
          <a:p xmlns:a="http://schemas.openxmlformats.org/drawingml/2006/main">
            <a:pPr algn="l">
              <a:defRPr sz="1725" b="1" i="0">
                <a:solidFill>
                  <a:srgbClr val="FFFFFF"/>
                </a:solidFill>
                <a:latin typeface="Arial"/>
                <a:ea typeface="Arial"/>
                <a:cs typeface="Arial"/>
              </a:defRPr>
            </a:pPr>
            <a:r>
              <a:rPr sz="1725" b="1" i="0">
                <a:solidFill>
                  <a:srgbClr val="FFFFFF"/>
                </a:solidFill>
                <a:latin typeface="Arial"/>
                <a:ea typeface="Arial"/>
                <a:cs typeface="Arial"/>
              </a:rPr>
              <a:t>Une chaîne de preuve reproductible qui résiste aux corrections de données, au surapprentissage et aux claims trop optimistes.</a:t>
            </a:r>
          </a:p>
        </p:txBody>
      </p:sp>
    </p:spTree>
    <p:extLst>
      <p:ext uri="{BB962C8B-B14F-4D97-AF65-F5344CB8AC3E}">
        <p14:creationId xmlns:p14="http://schemas.microsoft.com/office/powerpoint/2010/main" val="1554139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6B3ABE-01A1-4649-989A-336651131666}"/>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PROBLÉMATIQUE</a:t>
            </a:r>
          </a:p>
        </p:txBody>
      </p:sp>
      <p:sp>
        <p:nvSpPr>
          <p:cNvPr id="2" name="">
            <a:extLst xmlns:a="http://schemas.openxmlformats.org/drawingml/2006/main">
              <a:ext uri="{FF2B5EF4-FFF2-40B4-BE49-F238E27FC236}">
                <a16:creationId xmlns:a16="http://schemas.microsoft.com/office/drawing/2014/main" id="{2BFC55C9-8F47-4CF9-A19E-EDF9E76FA244}"/>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Quatre problèmes structurent tout le projet</a:t>
            </a:r>
          </a:p>
        </p:txBody>
      </p:sp>
      <p:sp>
        <p:nvSpPr>
          <p:cNvPr id="3" name="">
            <a:extLst xmlns:a="http://schemas.openxmlformats.org/drawingml/2006/main">
              <a:ext uri="{FF2B5EF4-FFF2-40B4-BE49-F238E27FC236}">
                <a16:creationId xmlns:a16="http://schemas.microsoft.com/office/drawing/2014/main" id="{262E5331-EC56-4D94-8357-D53322F7FEF8}"/>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0CB7BE5-2AB8-4EEF-90D4-3552CC49BF45}"/>
              </a:ext>
            </a:extLst>
          </p:cNvPr>
          <p:cNvSpPr>
            <a:spLocks xmlns:a="http://schemas.openxmlformats.org/drawingml/2006/main" noGrp="1"/>
          </p:cNvSpPr>
          <p:nvPr/>
        </p:nvSpPr>
        <p:spPr>
          <a:xfrm xmlns:a="http://schemas.openxmlformats.org/drawingml/2006/main">
            <a:off x="609600" y="1257300"/>
            <a:ext cx="7620000" cy="4400550"/>
          </a:xfrm>
          <a:prstGeom xmlns:a="http://schemas.openxmlformats.org/drawingml/2006/main" prst="roundRect">
            <a:avLst>
              <a:gd name="adj" fmla="val 2597"/>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511a94e0e774c69"/>
          <a:stretch xmlns:a="http://schemas.openxmlformats.org/drawingml/2006/main"/>
        </p:blipFill>
        <p:spPr>
          <a:xfrm xmlns:a="http://schemas.openxmlformats.org/drawingml/2006/main">
            <a:off x="723900" y="1745727"/>
            <a:ext cx="7391400" cy="342369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B112E3B-5E26-432F-A65A-2F671842E5F1}"/>
              </a:ext>
            </a:extLst>
          </p:cNvPr>
          <p:cNvSpPr>
            <a:spLocks xmlns:a="http://schemas.openxmlformats.org/drawingml/2006/main" noGrp="1"/>
          </p:cNvSpPr>
          <p:nvPr/>
        </p:nvSpPr>
        <p:spPr>
          <a:xfrm xmlns:a="http://schemas.openxmlformats.org/drawingml/2006/main">
            <a:off x="8648700" y="13716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i="0">
                <a:solidFill>
                  <a:srgbClr val="3D8DFF"/>
                </a:solidFill>
                <a:latin typeface="Arial"/>
                <a:ea typeface="Arial"/>
                <a:cs typeface="Arial"/>
              </a:defRPr>
            </a:pPr>
            <a:r>
              <a:rPr sz="1200" b="1" i="0">
                <a:solidFill>
                  <a:srgbClr val="3D8DFF"/>
                </a:solidFill>
                <a:latin typeface="Arial"/>
                <a:ea typeface="Arial"/>
                <a:cs typeface="Arial"/>
              </a:rPr>
              <a:t>La question de recherche</a:t>
            </a:r>
          </a:p>
        </p:txBody>
      </p:sp>
      <p:sp>
        <p:nvSpPr>
          <p:cNvPr id="7" name="">
            <a:extLst xmlns:a="http://schemas.openxmlformats.org/drawingml/2006/main">
              <a:ext uri="{FF2B5EF4-FFF2-40B4-BE49-F238E27FC236}">
                <a16:creationId xmlns:a16="http://schemas.microsoft.com/office/drawing/2014/main" id="{3E56D76D-4E49-45D4-A816-E4DCF6DC6E64}"/>
              </a:ext>
            </a:extLst>
          </p:cNvPr>
          <p:cNvSpPr>
            <a:spLocks xmlns:a="http://schemas.openxmlformats.org/drawingml/2006/main" noGrp="1"/>
          </p:cNvSpPr>
          <p:nvPr/>
        </p:nvSpPr>
        <p:spPr>
          <a:xfrm xmlns:a="http://schemas.openxmlformats.org/drawingml/2006/main">
            <a:off x="8648700" y="1771650"/>
            <a:ext cx="27622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502"/>
          </a:bodyPr>
          <a:lstStyle xmlns:a="http://schemas.openxmlformats.org/drawingml/2006/main"/>
          <a:p xmlns:a="http://schemas.openxmlformats.org/drawingml/2006/main">
            <a:pPr algn="l">
              <a:defRPr sz="1800" b="1" i="0">
                <a:solidFill>
                  <a:srgbClr val="111827"/>
                </a:solidFill>
                <a:latin typeface="Arial"/>
                <a:ea typeface="Arial"/>
                <a:cs typeface="Arial"/>
              </a:defRPr>
            </a:pPr>
            <a:r>
              <a:rPr sz="1800" b="1" i="0">
                <a:solidFill>
                  <a:srgbClr val="111827"/>
                </a:solidFill>
                <a:latin typeface="Arial"/>
                <a:ea typeface="Arial"/>
                <a:cs typeface="Arial"/>
              </a:rPr>
              <a:t>Peut-on améliorer une allocation classique par des signaux ML sans payer cette amélioration en instabilité, coûts ou biais de validation ?</a:t>
            </a:r>
          </a:p>
        </p:txBody>
      </p:sp>
      <p:sp>
        <p:nvSpPr>
          <p:cNvPr id="8" name="">
            <a:extLst xmlns:a="http://schemas.openxmlformats.org/drawingml/2006/main">
              <a:ext uri="{FF2B5EF4-FFF2-40B4-BE49-F238E27FC236}">
                <a16:creationId xmlns:a16="http://schemas.microsoft.com/office/drawing/2014/main" id="{0E75A281-FBAA-4D2A-8FF9-1C40A466854B}"/>
              </a:ext>
            </a:extLst>
          </p:cNvPr>
          <p:cNvSpPr>
            <a:spLocks xmlns:a="http://schemas.openxmlformats.org/drawingml/2006/main" noGrp="1"/>
          </p:cNvSpPr>
          <p:nvPr/>
        </p:nvSpPr>
        <p:spPr>
          <a:xfrm xmlns:a="http://schemas.openxmlformats.org/drawingml/2006/main">
            <a:off x="8648700" y="35909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C492930D-5812-4C97-934A-69BA3EA66AFE}"/>
              </a:ext>
            </a:extLst>
          </p:cNvPr>
          <p:cNvSpPr>
            <a:spLocks xmlns:a="http://schemas.openxmlformats.org/drawingml/2006/main" noGrp="1"/>
          </p:cNvSpPr>
          <p:nvPr/>
        </p:nvSpPr>
        <p:spPr>
          <a:xfrm xmlns:a="http://schemas.openxmlformats.org/drawingml/2006/main">
            <a:off x="8858250" y="3524250"/>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P1 · Estimation</a:t>
            </a:r>
          </a:p>
        </p:txBody>
      </p:sp>
      <p:sp>
        <p:nvSpPr>
          <p:cNvPr id="10" name="">
            <a:extLst xmlns:a="http://schemas.openxmlformats.org/drawingml/2006/main">
              <a:ext uri="{FF2B5EF4-FFF2-40B4-BE49-F238E27FC236}">
                <a16:creationId xmlns:a16="http://schemas.microsoft.com/office/drawing/2014/main" id="{0C83371B-015E-4A6B-B29F-88440C69704C}"/>
              </a:ext>
            </a:extLst>
          </p:cNvPr>
          <p:cNvSpPr>
            <a:spLocks xmlns:a="http://schemas.openxmlformats.org/drawingml/2006/main" noGrp="1"/>
          </p:cNvSpPr>
          <p:nvPr/>
        </p:nvSpPr>
        <p:spPr>
          <a:xfrm xmlns:a="http://schemas.openxmlformats.org/drawingml/2006/main">
            <a:off x="8858250" y="3800475"/>
            <a:ext cx="2362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Covariances bruitées.</a:t>
            </a:r>
          </a:p>
        </p:txBody>
      </p:sp>
      <p:sp>
        <p:nvSpPr>
          <p:cNvPr id="11" name="">
            <a:extLst xmlns:a="http://schemas.openxmlformats.org/drawingml/2006/main">
              <a:ext uri="{FF2B5EF4-FFF2-40B4-BE49-F238E27FC236}">
                <a16:creationId xmlns:a16="http://schemas.microsoft.com/office/drawing/2014/main" id="{5A0C1D84-334E-43BD-BA66-9664F63C751C}"/>
              </a:ext>
            </a:extLst>
          </p:cNvPr>
          <p:cNvSpPr>
            <a:spLocks xmlns:a="http://schemas.openxmlformats.org/drawingml/2006/main" noGrp="1"/>
          </p:cNvSpPr>
          <p:nvPr/>
        </p:nvSpPr>
        <p:spPr>
          <a:xfrm xmlns:a="http://schemas.openxmlformats.org/drawingml/2006/main">
            <a:off x="8648700" y="4276725"/>
            <a:ext cx="76200" cy="76200"/>
          </a:xfrm>
          <a:prstGeom xmlns:a="http://schemas.openxmlformats.org/drawingml/2006/main" prst="roundRect">
            <a:avLst>
              <a:gd name="adj" fmla="val 50000"/>
            </a:avLst>
          </a:prstGeom>
          <a:solidFill xmlns:a="http://schemas.openxmlformats.org/drawingml/2006/main">
            <a:srgbClr val="A86812"/>
          </a:solidFill>
          <a:ln xmlns:a="http://schemas.openxmlformats.org/drawingml/2006/main" w="0">
            <a:no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54CB4CDA-B14D-4508-B2F7-E58E6B4AB5C8}"/>
              </a:ext>
            </a:extLst>
          </p:cNvPr>
          <p:cNvSpPr>
            <a:spLocks xmlns:a="http://schemas.openxmlformats.org/drawingml/2006/main" noGrp="1"/>
          </p:cNvSpPr>
          <p:nvPr/>
        </p:nvSpPr>
        <p:spPr>
          <a:xfrm xmlns:a="http://schemas.openxmlformats.org/drawingml/2006/main">
            <a:off x="8858250" y="4210050"/>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P2–P3 · Marché</a:t>
            </a:r>
          </a:p>
        </p:txBody>
      </p:sp>
      <p:sp>
        <p:nvSpPr>
          <p:cNvPr id="13" name="">
            <a:extLst xmlns:a="http://schemas.openxmlformats.org/drawingml/2006/main">
              <a:ext uri="{FF2B5EF4-FFF2-40B4-BE49-F238E27FC236}">
                <a16:creationId xmlns:a16="http://schemas.microsoft.com/office/drawing/2014/main" id="{F9A85316-E0C9-4127-888F-2B0788C7F8BB}"/>
              </a:ext>
            </a:extLst>
          </p:cNvPr>
          <p:cNvSpPr>
            <a:spLocks xmlns:a="http://schemas.openxmlformats.org/drawingml/2006/main" noGrp="1"/>
          </p:cNvSpPr>
          <p:nvPr/>
        </p:nvSpPr>
        <p:spPr>
          <a:xfrm xmlns:a="http://schemas.openxmlformats.org/drawingml/2006/main">
            <a:off x="8858250" y="4486275"/>
            <a:ext cx="2362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Non-stationnarité et crises.</a:t>
            </a:r>
          </a:p>
        </p:txBody>
      </p:sp>
      <p:sp>
        <p:nvSpPr>
          <p:cNvPr id="14" name="">
            <a:extLst xmlns:a="http://schemas.openxmlformats.org/drawingml/2006/main">
              <a:ext uri="{FF2B5EF4-FFF2-40B4-BE49-F238E27FC236}">
                <a16:creationId xmlns:a16="http://schemas.microsoft.com/office/drawing/2014/main" id="{4972BF9C-8213-4BE5-A9ED-C85CD147034F}"/>
              </a:ext>
            </a:extLst>
          </p:cNvPr>
          <p:cNvSpPr>
            <a:spLocks xmlns:a="http://schemas.openxmlformats.org/drawingml/2006/main" noGrp="1"/>
          </p:cNvSpPr>
          <p:nvPr/>
        </p:nvSpPr>
        <p:spPr>
          <a:xfrm xmlns:a="http://schemas.openxmlformats.org/drawingml/2006/main">
            <a:off x="8648700" y="4962525"/>
            <a:ext cx="76200" cy="76200"/>
          </a:xfrm>
          <a:prstGeom xmlns:a="http://schemas.openxmlformats.org/drawingml/2006/main" prst="roundRect">
            <a:avLst>
              <a:gd name="adj" fmla="val 50000"/>
            </a:avLst>
          </a:prstGeom>
          <a:solidFill xmlns:a="http://schemas.openxmlformats.org/drawingml/2006/main">
            <a:srgbClr val="B7433E"/>
          </a:solidFill>
          <a:ln xmlns:a="http://schemas.openxmlformats.org/drawingml/2006/main" w="0">
            <a:no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B9FE55FB-01C1-4884-8766-6E9D6521E99E}"/>
              </a:ext>
            </a:extLst>
          </p:cNvPr>
          <p:cNvSpPr>
            <a:spLocks xmlns:a="http://schemas.openxmlformats.org/drawingml/2006/main" noGrp="1"/>
          </p:cNvSpPr>
          <p:nvPr/>
        </p:nvSpPr>
        <p:spPr>
          <a:xfrm xmlns:a="http://schemas.openxmlformats.org/drawingml/2006/main">
            <a:off x="8858250" y="4895850"/>
            <a:ext cx="2362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P4 · Preuve</a:t>
            </a:r>
          </a:p>
        </p:txBody>
      </p:sp>
      <p:sp>
        <p:nvSpPr>
          <p:cNvPr id="16" name="">
            <a:extLst xmlns:a="http://schemas.openxmlformats.org/drawingml/2006/main">
              <a:ext uri="{FF2B5EF4-FFF2-40B4-BE49-F238E27FC236}">
                <a16:creationId xmlns:a16="http://schemas.microsoft.com/office/drawing/2014/main" id="{75FE6B4F-8443-4233-8BE2-976F016B04B1}"/>
              </a:ext>
            </a:extLst>
          </p:cNvPr>
          <p:cNvSpPr>
            <a:spLocks xmlns:a="http://schemas.openxmlformats.org/drawingml/2006/main" noGrp="1"/>
          </p:cNvSpPr>
          <p:nvPr/>
        </p:nvSpPr>
        <p:spPr>
          <a:xfrm xmlns:a="http://schemas.openxmlformats.org/drawingml/2006/main">
            <a:off x="8858250" y="5172075"/>
            <a:ext cx="2362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Surapprentissage du backtest.</a:t>
            </a:r>
          </a:p>
        </p:txBody>
      </p:sp>
    </p:spTree>
    <p:extLst>
      <p:ext uri="{BB962C8B-B14F-4D97-AF65-F5344CB8AC3E}">
        <p14:creationId xmlns:p14="http://schemas.microsoft.com/office/powerpoint/2010/main" val="15538033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CCB5BF9-54E7-4396-9C13-BBE020220C43}"/>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85CC0713-0356-40DD-B2EE-4C64C4F1A57E}"/>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Une chaîne complète, de la donnée à la décision</a:t>
            </a:r>
          </a:p>
        </p:txBody>
      </p:sp>
      <p:sp>
        <p:nvSpPr>
          <p:cNvPr id="3" name="">
            <a:extLst xmlns:a="http://schemas.openxmlformats.org/drawingml/2006/main">
              <a:ext uri="{FF2B5EF4-FFF2-40B4-BE49-F238E27FC236}">
                <a16:creationId xmlns:a16="http://schemas.microsoft.com/office/drawing/2014/main" id="{B70C9489-F603-4432-8722-C3FACCF31498}"/>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41A262FB-2432-45E9-A755-6F4DC0C09599}"/>
              </a:ext>
            </a:extLst>
          </p:cNvPr>
          <p:cNvSpPr>
            <a:spLocks xmlns:a="http://schemas.openxmlformats.org/drawingml/2006/main" noGrp="1"/>
          </p:cNvSpPr>
          <p:nvPr/>
        </p:nvSpPr>
        <p:spPr>
          <a:xfrm xmlns:a="http://schemas.openxmlformats.org/drawingml/2006/main">
            <a:off x="609600" y="1181100"/>
            <a:ext cx="10972800" cy="4762500"/>
          </a:xfrm>
          <a:prstGeom xmlns:a="http://schemas.openxmlformats.org/drawingml/2006/main" prst="roundRect">
            <a:avLst>
              <a:gd name="adj" fmla="val 2400"/>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e5f8bc1210f42d9"/>
          <a:stretch xmlns:a="http://schemas.openxmlformats.org/drawingml/2006/main"/>
        </p:blipFill>
        <p:spPr>
          <a:xfrm xmlns:a="http://schemas.openxmlformats.org/drawingml/2006/main">
            <a:off x="2265128" y="1295400"/>
            <a:ext cx="7661744" cy="45339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40D4356-9110-49CA-AD4A-6854E11B9F5A}"/>
              </a:ext>
            </a:extLst>
          </p:cNvPr>
          <p:cNvSpPr>
            <a:spLocks xmlns:a="http://schemas.openxmlformats.org/drawingml/2006/main" noGrp="1"/>
          </p:cNvSpPr>
          <p:nvPr/>
        </p:nvSpPr>
        <p:spPr>
          <a:xfrm xmlns:a="http://schemas.openxmlformats.org/drawingml/2006/main">
            <a:off x="800100" y="6115050"/>
            <a:ext cx="2095500" cy="323850"/>
          </a:xfrm>
          <a:prstGeom xmlns:a="http://schemas.openxmlformats.org/drawingml/2006/main" prst="roundRect">
            <a:avLst>
              <a:gd name="adj" fmla="val 50000"/>
            </a:avLst>
          </a:prstGeom>
          <a:solidFill xmlns:a="http://schemas.openxmlformats.org/drawingml/2006/main">
            <a:srgbClr val="DDEEFF"/>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0049887-431D-4656-A4DF-8FF3560A56B6}"/>
              </a:ext>
            </a:extLst>
          </p:cNvPr>
          <p:cNvSpPr>
            <a:spLocks xmlns:a="http://schemas.openxmlformats.org/drawingml/2006/main" noGrp="1"/>
          </p:cNvSpPr>
          <p:nvPr/>
        </p:nvSpPr>
        <p:spPr>
          <a:xfrm xmlns:a="http://schemas.openxmlformats.org/drawingml/2006/main">
            <a:off x="914400" y="6181725"/>
            <a:ext cx="1866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3D8DFF"/>
                </a:solidFill>
                <a:latin typeface="Arial"/>
                <a:ea typeface="Arial"/>
                <a:cs typeface="Arial"/>
              </a:defRPr>
            </a:pPr>
            <a:r>
              <a:rPr sz="900" b="1" i="0">
                <a:solidFill>
                  <a:srgbClr val="3D8DFF"/>
                </a:solidFill>
                <a:latin typeface="Arial"/>
                <a:ea typeface="Arial"/>
                <a:cs typeface="Arial"/>
              </a:rPr>
              <a:t>Bronze → Silver → Gold</a:t>
            </a:r>
          </a:p>
        </p:txBody>
      </p:sp>
      <p:sp>
        <p:nvSpPr>
          <p:cNvPr id="8" name="">
            <a:extLst xmlns:a="http://schemas.openxmlformats.org/drawingml/2006/main">
              <a:ext uri="{FF2B5EF4-FFF2-40B4-BE49-F238E27FC236}">
                <a16:creationId xmlns:a16="http://schemas.microsoft.com/office/drawing/2014/main" id="{15F2D4C4-FD09-4C90-AE4F-E20F9F52E541}"/>
              </a:ext>
            </a:extLst>
          </p:cNvPr>
          <p:cNvSpPr>
            <a:spLocks xmlns:a="http://schemas.openxmlformats.org/drawingml/2006/main" noGrp="1"/>
          </p:cNvSpPr>
          <p:nvPr/>
        </p:nvSpPr>
        <p:spPr>
          <a:xfrm xmlns:a="http://schemas.openxmlformats.org/drawingml/2006/main">
            <a:off x="2914650" y="6115050"/>
            <a:ext cx="1809750" cy="323850"/>
          </a:xfrm>
          <a:prstGeom xmlns:a="http://schemas.openxmlformats.org/drawingml/2006/main" prst="roundRect">
            <a:avLst>
              <a:gd name="adj" fmla="val 50000"/>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8598109F-5A90-44E8-9B68-EAEF49346862}"/>
              </a:ext>
            </a:extLst>
          </p:cNvPr>
          <p:cNvSpPr>
            <a:spLocks xmlns:a="http://schemas.openxmlformats.org/drawingml/2006/main" noGrp="1"/>
          </p:cNvSpPr>
          <p:nvPr/>
        </p:nvSpPr>
        <p:spPr>
          <a:xfrm xmlns:a="http://schemas.openxmlformats.org/drawingml/2006/main">
            <a:off x="3028950" y="618172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0F766E"/>
                </a:solidFill>
                <a:latin typeface="Arial"/>
                <a:ea typeface="Arial"/>
                <a:cs typeface="Arial"/>
              </a:defRPr>
            </a:pPr>
            <a:r>
              <a:rPr sz="900" b="1" i="0">
                <a:solidFill>
                  <a:srgbClr val="0F766E"/>
                </a:solidFill>
                <a:latin typeface="Arial"/>
                <a:ea typeface="Arial"/>
                <a:cs typeface="Arial"/>
              </a:rPr>
              <a:t>Backtest sans fuite</a:t>
            </a:r>
          </a:p>
        </p:txBody>
      </p:sp>
      <p:sp>
        <p:nvSpPr>
          <p:cNvPr id="10" name="">
            <a:extLst xmlns:a="http://schemas.openxmlformats.org/drawingml/2006/main">
              <a:ext uri="{FF2B5EF4-FFF2-40B4-BE49-F238E27FC236}">
                <a16:creationId xmlns:a16="http://schemas.microsoft.com/office/drawing/2014/main" id="{71FB73B5-5146-4580-9BCE-B54D0A833302}"/>
              </a:ext>
            </a:extLst>
          </p:cNvPr>
          <p:cNvSpPr>
            <a:spLocks xmlns:a="http://schemas.openxmlformats.org/drawingml/2006/main" noGrp="1"/>
          </p:cNvSpPr>
          <p:nvPr/>
        </p:nvSpPr>
        <p:spPr>
          <a:xfrm xmlns:a="http://schemas.openxmlformats.org/drawingml/2006/main">
            <a:off x="4743450" y="6115050"/>
            <a:ext cx="2000250" cy="323850"/>
          </a:xfrm>
          <a:prstGeom xmlns:a="http://schemas.openxmlformats.org/drawingml/2006/main" prst="roundRect">
            <a:avLst>
              <a:gd name="adj" fmla="val 50000"/>
            </a:avLst>
          </a:prstGeom>
          <a:solidFill xmlns:a="http://schemas.openxmlformats.org/drawingml/2006/main">
            <a:srgbClr val="FFF0D5"/>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9D1DC78A-E44D-4B20-8CE2-256CD5DEA064}"/>
              </a:ext>
            </a:extLst>
          </p:cNvPr>
          <p:cNvSpPr>
            <a:spLocks xmlns:a="http://schemas.openxmlformats.org/drawingml/2006/main" noGrp="1"/>
          </p:cNvSpPr>
          <p:nvPr/>
        </p:nvSpPr>
        <p:spPr>
          <a:xfrm xmlns:a="http://schemas.openxmlformats.org/drawingml/2006/main">
            <a:off x="4857750" y="6181725"/>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A86812"/>
                </a:solidFill>
                <a:latin typeface="Arial"/>
                <a:ea typeface="Arial"/>
                <a:cs typeface="Arial"/>
              </a:defRPr>
            </a:pPr>
            <a:r>
              <a:rPr sz="900" b="1" i="0">
                <a:solidFill>
                  <a:srgbClr val="A86812"/>
                </a:solidFill>
                <a:latin typeface="Arial"/>
                <a:ea typeface="Arial"/>
                <a:cs typeface="Arial"/>
              </a:rPr>
              <a:t>Validation statistique</a:t>
            </a:r>
          </a:p>
        </p:txBody>
      </p:sp>
      <p:sp>
        <p:nvSpPr>
          <p:cNvPr id="12" name="">
            <a:extLst xmlns:a="http://schemas.openxmlformats.org/drawingml/2006/main">
              <a:ext uri="{FF2B5EF4-FFF2-40B4-BE49-F238E27FC236}">
                <a16:creationId xmlns:a16="http://schemas.microsoft.com/office/drawing/2014/main" id="{B47AF766-2DAB-4075-959B-63034D3A2D8D}"/>
              </a:ext>
            </a:extLst>
          </p:cNvPr>
          <p:cNvSpPr>
            <a:spLocks xmlns:a="http://schemas.openxmlformats.org/drawingml/2006/main" noGrp="1"/>
          </p:cNvSpPr>
          <p:nvPr/>
        </p:nvSpPr>
        <p:spPr>
          <a:xfrm xmlns:a="http://schemas.openxmlformats.org/drawingml/2006/main">
            <a:off x="6762750" y="6115050"/>
            <a:ext cx="1714500" cy="323850"/>
          </a:xfrm>
          <a:prstGeom xmlns:a="http://schemas.openxmlformats.org/drawingml/2006/main" prst="roundRect">
            <a:avLst>
              <a:gd name="adj" fmla="val 50000"/>
            </a:avLst>
          </a:prstGeom>
          <a:solidFill xmlns:a="http://schemas.openxmlformats.org/drawingml/2006/main">
            <a:srgbClr val="D0EDFA"/>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90ABEAE6-E1B9-46EB-A3D4-EEC595EE695F}"/>
              </a:ext>
            </a:extLst>
          </p:cNvPr>
          <p:cNvSpPr>
            <a:spLocks xmlns:a="http://schemas.openxmlformats.org/drawingml/2006/main" noGrp="1"/>
          </p:cNvSpPr>
          <p:nvPr/>
        </p:nvSpPr>
        <p:spPr>
          <a:xfrm xmlns:a="http://schemas.openxmlformats.org/drawingml/2006/main">
            <a:off x="6877050" y="6181725"/>
            <a:ext cx="1485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173B67"/>
                </a:solidFill>
                <a:latin typeface="Arial"/>
                <a:ea typeface="Arial"/>
                <a:cs typeface="Arial"/>
              </a:defRPr>
            </a:pPr>
            <a:r>
              <a:rPr sz="900" b="1" i="0">
                <a:solidFill>
                  <a:srgbClr val="173B67"/>
                </a:solidFill>
                <a:latin typeface="Arial"/>
                <a:ea typeface="Arial"/>
                <a:cs typeface="Arial"/>
              </a:rPr>
              <a:t>API + dashboard</a:t>
            </a:r>
          </a:p>
        </p:txBody>
      </p:sp>
      <p:sp>
        <p:nvSpPr>
          <p:cNvPr id="14" name="">
            <a:extLst xmlns:a="http://schemas.openxmlformats.org/drawingml/2006/main">
              <a:ext uri="{FF2B5EF4-FFF2-40B4-BE49-F238E27FC236}">
                <a16:creationId xmlns:a16="http://schemas.microsoft.com/office/drawing/2014/main" id="{FA30434E-0CBB-4C9C-8F1E-83092F7ED2E3}"/>
              </a:ext>
            </a:extLst>
          </p:cNvPr>
          <p:cNvSpPr>
            <a:spLocks xmlns:a="http://schemas.openxmlformats.org/drawingml/2006/main" noGrp="1"/>
          </p:cNvSpPr>
          <p:nvPr/>
        </p:nvSpPr>
        <p:spPr>
          <a:xfrm xmlns:a="http://schemas.openxmlformats.org/drawingml/2006/main">
            <a:off x="8496300" y="6115050"/>
            <a:ext cx="1428750" cy="323850"/>
          </a:xfrm>
          <a:prstGeom xmlns:a="http://schemas.openxmlformats.org/drawingml/2006/main" prst="roundRect">
            <a:avLst>
              <a:gd name="adj" fmla="val 50000"/>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490EFC0C-64FB-4701-A61B-5734CC455066}"/>
              </a:ext>
            </a:extLst>
          </p:cNvPr>
          <p:cNvSpPr>
            <a:spLocks xmlns:a="http://schemas.openxmlformats.org/drawingml/2006/main" noGrp="1"/>
          </p:cNvSpPr>
          <p:nvPr/>
        </p:nvSpPr>
        <p:spPr>
          <a:xfrm xmlns:a="http://schemas.openxmlformats.org/drawingml/2006/main">
            <a:off x="8610600" y="6181725"/>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B7433E"/>
                </a:solidFill>
                <a:latin typeface="Arial"/>
                <a:ea typeface="Arial"/>
                <a:cs typeface="Arial"/>
              </a:defRPr>
            </a:pPr>
            <a:r>
              <a:rPr sz="900" b="1" i="0">
                <a:solidFill>
                  <a:srgbClr val="B7433E"/>
                </a:solidFill>
                <a:latin typeface="Arial"/>
                <a:ea typeface="Arial"/>
                <a:cs typeface="Arial"/>
              </a:rPr>
              <a:t>Gouvernance</a:t>
            </a:r>
          </a:p>
        </p:txBody>
      </p:sp>
    </p:spTree>
    <p:extLst>
      <p:ext uri="{BB962C8B-B14F-4D97-AF65-F5344CB8AC3E}">
        <p14:creationId xmlns:p14="http://schemas.microsoft.com/office/powerpoint/2010/main" val="5840335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E46919-B387-4207-9147-86B292054A03}"/>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DONNÉES</a:t>
            </a:r>
          </a:p>
        </p:txBody>
      </p:sp>
      <p:sp>
        <p:nvSpPr>
          <p:cNvPr id="2" name="">
            <a:extLst xmlns:a="http://schemas.openxmlformats.org/drawingml/2006/main">
              <a:ext uri="{FF2B5EF4-FFF2-40B4-BE49-F238E27FC236}">
                <a16:creationId xmlns:a16="http://schemas.microsoft.com/office/drawing/2014/main" id="{5ACD7A66-B275-4525-9807-ACCC7CA469DD}"/>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Deux univers, deux numéraires — jamais mélangés</a:t>
            </a:r>
          </a:p>
        </p:txBody>
      </p:sp>
      <p:sp>
        <p:nvSpPr>
          <p:cNvPr id="3" name="">
            <a:extLst xmlns:a="http://schemas.openxmlformats.org/drawingml/2006/main">
              <a:ext uri="{FF2B5EF4-FFF2-40B4-BE49-F238E27FC236}">
                <a16:creationId xmlns:a16="http://schemas.microsoft.com/office/drawing/2014/main" id="{8E0A9853-322F-45CC-801B-4A1D8ACC695F}"/>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CD22509-74CB-4C81-8611-25ED2E303611}"/>
              </a:ext>
            </a:extLst>
          </p:cNvPr>
          <p:cNvSpPr>
            <a:spLocks xmlns:a="http://schemas.openxmlformats.org/drawingml/2006/main" noGrp="1"/>
          </p:cNvSpPr>
          <p:nvPr/>
        </p:nvSpPr>
        <p:spPr>
          <a:xfrm xmlns:a="http://schemas.openxmlformats.org/drawingml/2006/main">
            <a:off x="609600" y="1238250"/>
            <a:ext cx="6667500" cy="4267200"/>
          </a:xfrm>
          <a:prstGeom xmlns:a="http://schemas.openxmlformats.org/drawingml/2006/main" prst="roundRect">
            <a:avLst>
              <a:gd name="adj" fmla="val 2679"/>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3605b3aa3114141"/>
          <a:stretch xmlns:a="http://schemas.openxmlformats.org/drawingml/2006/main"/>
        </p:blipFill>
        <p:spPr>
          <a:xfrm xmlns:a="http://schemas.openxmlformats.org/drawingml/2006/main">
            <a:off x="723900" y="1869316"/>
            <a:ext cx="6438900" cy="300506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262C739-7FEE-4C61-92B7-536698AE6557}"/>
              </a:ext>
            </a:extLst>
          </p:cNvPr>
          <p:cNvSpPr>
            <a:spLocks xmlns:a="http://schemas.openxmlformats.org/drawingml/2006/main" noGrp="1"/>
          </p:cNvSpPr>
          <p:nvPr/>
        </p:nvSpPr>
        <p:spPr>
          <a:xfrm xmlns:a="http://schemas.openxmlformats.org/drawingml/2006/main">
            <a:off x="7658100" y="1295400"/>
            <a:ext cx="3714750" cy="1714500"/>
          </a:xfrm>
          <a:prstGeom xmlns:a="http://schemas.openxmlformats.org/drawingml/2006/main" prst="roundRect">
            <a:avLst>
              <a:gd name="adj" fmla="val 6667"/>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B9D241CE-BBDC-47AD-8EE5-842292F597D7}"/>
              </a:ext>
            </a:extLst>
          </p:cNvPr>
          <p:cNvSpPr>
            <a:spLocks xmlns:a="http://schemas.openxmlformats.org/drawingml/2006/main" noGrp="1"/>
          </p:cNvSpPr>
          <p:nvPr/>
        </p:nvSpPr>
        <p:spPr>
          <a:xfrm xmlns:a="http://schemas.openxmlformats.org/drawingml/2006/main">
            <a:off x="7905750" y="15240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defRPr sz="1800" b="1" i="0">
                <a:solidFill>
                  <a:srgbClr val="0F766E"/>
                </a:solidFill>
                <a:latin typeface="Arial"/>
                <a:ea typeface="Arial"/>
                <a:cs typeface="Arial"/>
              </a:defRPr>
            </a:pPr>
            <a:r>
              <a:rPr sz="1800" b="1" i="0">
                <a:solidFill>
                  <a:srgbClr val="0F766E"/>
                </a:solidFill>
                <a:latin typeface="Arial"/>
                <a:ea typeface="Arial"/>
                <a:cs typeface="Arial"/>
              </a:rPr>
              <a:t>full_2021</a:t>
            </a:r>
          </a:p>
        </p:txBody>
      </p:sp>
      <p:sp>
        <p:nvSpPr>
          <p:cNvPr id="8" name="">
            <a:extLst xmlns:a="http://schemas.openxmlformats.org/drawingml/2006/main">
              <a:ext uri="{FF2B5EF4-FFF2-40B4-BE49-F238E27FC236}">
                <a16:creationId xmlns:a16="http://schemas.microsoft.com/office/drawing/2014/main" id="{FF67F1F0-5BB8-4930-8FDE-7A698E484234}"/>
              </a:ext>
            </a:extLst>
          </p:cNvPr>
          <p:cNvSpPr>
            <a:spLocks xmlns:a="http://schemas.openxmlformats.org/drawingml/2006/main" noGrp="1"/>
          </p:cNvSpPr>
          <p:nvPr/>
        </p:nvSpPr>
        <p:spPr>
          <a:xfrm xmlns:a="http://schemas.openxmlformats.org/drawingml/2006/main">
            <a:off x="7905750" y="192405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4 actions BVC + 5 ETF</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Exprimé en MAD</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Taux officiel BAM · non couvert</a:t>
            </a:r>
          </a:p>
        </p:txBody>
      </p:sp>
      <p:sp>
        <p:nvSpPr>
          <p:cNvPr id="9" name="">
            <a:extLst xmlns:a="http://schemas.openxmlformats.org/drawingml/2006/main">
              <a:ext uri="{FF2B5EF4-FFF2-40B4-BE49-F238E27FC236}">
                <a16:creationId xmlns:a16="http://schemas.microsoft.com/office/drawing/2014/main" id="{75F2BD58-EBC8-4501-A48E-F83DD22B7F93}"/>
              </a:ext>
            </a:extLst>
          </p:cNvPr>
          <p:cNvSpPr>
            <a:spLocks xmlns:a="http://schemas.openxmlformats.org/drawingml/2006/main" noGrp="1"/>
          </p:cNvSpPr>
          <p:nvPr/>
        </p:nvSpPr>
        <p:spPr>
          <a:xfrm xmlns:a="http://schemas.openxmlformats.org/drawingml/2006/main">
            <a:off x="7658100" y="3219450"/>
            <a:ext cx="3714750" cy="1714500"/>
          </a:xfrm>
          <a:prstGeom xmlns:a="http://schemas.openxmlformats.org/drawingml/2006/main" prst="roundRect">
            <a:avLst>
              <a:gd name="adj" fmla="val 6667"/>
            </a:avLst>
          </a:prstGeom>
          <a:solidFill xmlns:a="http://schemas.openxmlformats.org/drawingml/2006/main">
            <a:srgbClr val="DDEEFF"/>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98ADCE1-DE2D-48A6-8F6B-4EE560823E94}"/>
              </a:ext>
            </a:extLst>
          </p:cNvPr>
          <p:cNvSpPr>
            <a:spLocks xmlns:a="http://schemas.openxmlformats.org/drawingml/2006/main" noGrp="1"/>
          </p:cNvSpPr>
          <p:nvPr/>
        </p:nvSpPr>
        <p:spPr>
          <a:xfrm xmlns:a="http://schemas.openxmlformats.org/drawingml/2006/main">
            <a:off x="7905750" y="34480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833"/>
          </a:bodyPr>
          <a:lstStyle xmlns:a="http://schemas.openxmlformats.org/drawingml/2006/main"/>
          <a:p xmlns:a="http://schemas.openxmlformats.org/drawingml/2006/main">
            <a:pPr algn="l">
              <a:defRPr sz="1800" b="1" i="0">
                <a:solidFill>
                  <a:srgbClr val="3D8DFF"/>
                </a:solidFill>
                <a:latin typeface="Arial"/>
                <a:ea typeface="Arial"/>
                <a:cs typeface="Arial"/>
              </a:defRPr>
            </a:pPr>
            <a:r>
              <a:rPr sz="1800" b="1" i="0">
                <a:solidFill>
                  <a:srgbClr val="3D8DFF"/>
                </a:solidFill>
                <a:latin typeface="Arial"/>
                <a:ea typeface="Arial"/>
                <a:cs typeface="Arial"/>
              </a:rPr>
              <a:t>etf_2017</a:t>
            </a:r>
          </a:p>
        </p:txBody>
      </p:sp>
      <p:sp>
        <p:nvSpPr>
          <p:cNvPr id="11" name="">
            <a:extLst xmlns:a="http://schemas.openxmlformats.org/drawingml/2006/main">
              <a:ext uri="{FF2B5EF4-FFF2-40B4-BE49-F238E27FC236}">
                <a16:creationId xmlns:a16="http://schemas.microsoft.com/office/drawing/2014/main" id="{11959945-F138-4A8F-973B-F852BF2F63DC}"/>
              </a:ext>
            </a:extLst>
          </p:cNvPr>
          <p:cNvSpPr>
            <a:spLocks xmlns:a="http://schemas.openxmlformats.org/drawingml/2006/main" noGrp="1"/>
          </p:cNvSpPr>
          <p:nvPr/>
        </p:nvSpPr>
        <p:spPr>
          <a:xfrm xmlns:a="http://schemas.openxmlformats.org/drawingml/2006/main">
            <a:off x="7905750" y="3848100"/>
            <a:ext cx="314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5 ETF internationaux</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Historique depuis novembre 2004</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Univers mono-devise USD</a:t>
            </a:r>
          </a:p>
        </p:txBody>
      </p:sp>
      <p:sp>
        <p:nvSpPr>
          <p:cNvPr id="12" name="">
            <a:extLst xmlns:a="http://schemas.openxmlformats.org/drawingml/2006/main">
              <a:ext uri="{FF2B5EF4-FFF2-40B4-BE49-F238E27FC236}">
                <a16:creationId xmlns:a16="http://schemas.microsoft.com/office/drawing/2014/main" id="{9A9D3A48-3568-4D76-BB9F-56DAE1D3C73A}"/>
              </a:ext>
            </a:extLst>
          </p:cNvPr>
          <p:cNvSpPr>
            <a:spLocks xmlns:a="http://schemas.openxmlformats.org/drawingml/2006/main" noGrp="1"/>
          </p:cNvSpPr>
          <p:nvPr/>
        </p:nvSpPr>
        <p:spPr>
          <a:xfrm xmlns:a="http://schemas.openxmlformats.org/drawingml/2006/main">
            <a:off x="7658100" y="52387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534"/>
          </a:bodyPr>
          <a:lstStyle xmlns:a="http://schemas.openxmlformats.org/drawingml/2006/main"/>
          <a:p xmlns:a="http://schemas.openxmlformats.org/drawingml/2006/main">
            <a:pPr algn="l">
              <a:defRPr sz="1200" b="1" i="0">
                <a:solidFill>
                  <a:srgbClr val="B7433E"/>
                </a:solidFill>
                <a:latin typeface="Arial"/>
                <a:ea typeface="Arial"/>
                <a:cs typeface="Arial"/>
              </a:defRPr>
            </a:pPr>
            <a:r>
              <a:rPr sz="1200" b="1" i="0">
                <a:solidFill>
                  <a:srgbClr val="B7433E"/>
                </a:solidFill>
                <a:latin typeface="Arial"/>
                <a:ea typeface="Arial"/>
                <a:cs typeface="Arial"/>
              </a:rPr>
              <a:t>Les Sharpe des deux univers ne sont pas comparés entre eux : fenêtres, actifs et devises diffèrent.</a:t>
            </a:r>
          </a:p>
        </p:txBody>
      </p:sp>
    </p:spTree>
    <p:extLst>
      <p:ext uri="{BB962C8B-B14F-4D97-AF65-F5344CB8AC3E}">
        <p14:creationId xmlns:p14="http://schemas.microsoft.com/office/powerpoint/2010/main" val="883225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E939911-5536-41C3-9F7F-AFE74AE05B6C}"/>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MODÉLISATION</a:t>
            </a:r>
          </a:p>
        </p:txBody>
      </p:sp>
      <p:sp>
        <p:nvSpPr>
          <p:cNvPr id="2" name="">
            <a:extLst xmlns:a="http://schemas.openxmlformats.org/drawingml/2006/main">
              <a:ext uri="{FF2B5EF4-FFF2-40B4-BE49-F238E27FC236}">
                <a16:creationId xmlns:a16="http://schemas.microsoft.com/office/drawing/2014/main" id="{4ABDCF39-A5D3-4372-84D5-9E8456F4A906}"/>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Nous avons ajouté la complexité par paliers contrôlés</a:t>
            </a:r>
          </a:p>
        </p:txBody>
      </p:sp>
      <p:sp>
        <p:nvSpPr>
          <p:cNvPr id="3" name="">
            <a:extLst xmlns:a="http://schemas.openxmlformats.org/drawingml/2006/main">
              <a:ext uri="{FF2B5EF4-FFF2-40B4-BE49-F238E27FC236}">
                <a16:creationId xmlns:a16="http://schemas.microsoft.com/office/drawing/2014/main" id="{B0DFD002-D0DF-4CC0-B02F-A92C9977CEDC}"/>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B49C32D5-BAB6-4940-9A85-CC72E24FCA6A}"/>
              </a:ext>
            </a:extLst>
          </p:cNvPr>
          <p:cNvSpPr>
            <a:spLocks xmlns:a="http://schemas.openxmlformats.org/drawingml/2006/main" noGrp="1"/>
          </p:cNvSpPr>
          <p:nvPr/>
        </p:nvSpPr>
        <p:spPr>
          <a:xfrm xmlns:a="http://schemas.openxmlformats.org/drawingml/2006/main">
            <a:off x="666750" y="1752600"/>
            <a:ext cx="1866900" cy="2876550"/>
          </a:xfrm>
          <a:prstGeom xmlns:a="http://schemas.openxmlformats.org/drawingml/2006/main" prst="roundRect">
            <a:avLst>
              <a:gd name="adj" fmla="val 6122"/>
            </a:avLst>
          </a:prstGeom>
          <a:solidFill xmlns:a="http://schemas.openxmlformats.org/drawingml/2006/main">
            <a:srgbClr val="F3F4F6"/>
          </a:solidFill>
          <a:ln xmlns:a="http://schemas.openxmlformats.org/drawingml/2006/main" w="0">
            <a:no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790BEE2-EF2C-4888-9EF5-1BE1FEC27A7C}"/>
              </a:ext>
            </a:extLst>
          </p:cNvPr>
          <p:cNvSpPr>
            <a:spLocks xmlns:a="http://schemas.openxmlformats.org/drawingml/2006/main" noGrp="1"/>
          </p:cNvSpPr>
          <p:nvPr/>
        </p:nvSpPr>
        <p:spPr>
          <a:xfrm xmlns:a="http://schemas.openxmlformats.org/drawingml/2006/main">
            <a:off x="838200" y="2000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111827"/>
                </a:solidFill>
                <a:latin typeface="Arial"/>
                <a:ea typeface="Arial"/>
                <a:cs typeface="Arial"/>
              </a:defRPr>
            </a:pPr>
            <a:r>
              <a:rPr sz="1425" b="1" i="0">
                <a:solidFill>
                  <a:srgbClr val="111827"/>
                </a:solidFill>
                <a:latin typeface="Arial"/>
                <a:ea typeface="Arial"/>
                <a:cs typeface="Arial"/>
              </a:rPr>
              <a:t>1 · Références</a:t>
            </a:r>
          </a:p>
        </p:txBody>
      </p:sp>
      <p:sp>
        <p:nvSpPr>
          <p:cNvPr id="6" name="">
            <a:extLst xmlns:a="http://schemas.openxmlformats.org/drawingml/2006/main">
              <a:ext uri="{FF2B5EF4-FFF2-40B4-BE49-F238E27FC236}">
                <a16:creationId xmlns:a16="http://schemas.microsoft.com/office/drawing/2014/main" id="{4FC706B6-6F41-4A84-97AF-3CA147BB8BE2}"/>
              </a:ext>
            </a:extLst>
          </p:cNvPr>
          <p:cNvSpPr>
            <a:spLocks xmlns:a="http://schemas.openxmlformats.org/drawingml/2006/main" noGrp="1"/>
          </p:cNvSpPr>
          <p:nvPr/>
        </p:nvSpPr>
        <p:spPr>
          <a:xfrm xmlns:a="http://schemas.openxmlformats.org/drawingml/2006/main">
            <a:off x="838200" y="2743200"/>
            <a:ext cx="152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1/N, minimum variance, maximum Sharpe</a:t>
            </a:r>
          </a:p>
        </p:txBody>
      </p:sp>
      <p:sp>
        <p:nvSpPr>
          <p:cNvPr id="7" name="">
            <a:extLst xmlns:a="http://schemas.openxmlformats.org/drawingml/2006/main">
              <a:ext uri="{FF2B5EF4-FFF2-40B4-BE49-F238E27FC236}">
                <a16:creationId xmlns:a16="http://schemas.microsoft.com/office/drawing/2014/main" id="{24917038-D1EC-4F51-9756-E3F9A01EC451}"/>
              </a:ext>
            </a:extLst>
          </p:cNvPr>
          <p:cNvSpPr>
            <a:spLocks xmlns:a="http://schemas.openxmlformats.org/drawingml/2006/main" noGrp="1"/>
          </p:cNvSpPr>
          <p:nvPr/>
        </p:nvSpPr>
        <p:spPr>
          <a:xfrm xmlns:a="http://schemas.openxmlformats.org/drawingml/2006/main">
            <a:off x="838200" y="4019550"/>
            <a:ext cx="1524000" cy="19050"/>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8312D644-F8DC-47D6-AD05-90EE8E620A3B}"/>
              </a:ext>
            </a:extLst>
          </p:cNvPr>
          <p:cNvSpPr>
            <a:spLocks xmlns:a="http://schemas.openxmlformats.org/drawingml/2006/main" noGrp="1"/>
          </p:cNvSpPr>
          <p:nvPr/>
        </p:nvSpPr>
        <p:spPr>
          <a:xfrm xmlns:a="http://schemas.openxmlformats.org/drawingml/2006/main">
            <a:off x="838200" y="4210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i="0">
                <a:solidFill>
                  <a:srgbClr val="173B67"/>
                </a:solidFill>
                <a:latin typeface="Arial"/>
                <a:ea typeface="Arial"/>
                <a:cs typeface="Arial"/>
              </a:defRPr>
            </a:pPr>
            <a:r>
              <a:rPr sz="975" b="1" i="0">
                <a:solidFill>
                  <a:srgbClr val="173B67"/>
                </a:solidFill>
                <a:latin typeface="Arial"/>
                <a:ea typeface="Arial"/>
                <a:cs typeface="Arial"/>
              </a:rPr>
              <a:t>Le plancher</a:t>
            </a:r>
          </a:p>
        </p:txBody>
      </p:sp>
      <p:sp>
        <p:nvSpPr>
          <p:cNvPr id="9" name="">
            <a:extLst xmlns:a="http://schemas.openxmlformats.org/drawingml/2006/main">
              <a:ext uri="{FF2B5EF4-FFF2-40B4-BE49-F238E27FC236}">
                <a16:creationId xmlns:a16="http://schemas.microsoft.com/office/drawing/2014/main" id="{6C34D1CC-9C0A-44C8-8EA4-6ED58EA1CFF1}"/>
              </a:ext>
            </a:extLst>
          </p:cNvPr>
          <p:cNvSpPr>
            <a:spLocks xmlns:a="http://schemas.openxmlformats.org/drawingml/2006/main" noGrp="1"/>
          </p:cNvSpPr>
          <p:nvPr/>
        </p:nvSpPr>
        <p:spPr>
          <a:xfrm xmlns:a="http://schemas.openxmlformats.org/drawingml/2006/main">
            <a:off x="2552700" y="29146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7202"/>
          </a:bodyPr>
          <a:lstStyle xmlns:a="http://schemas.openxmlformats.org/drawingml/2006/main"/>
          <a:p xmlns:a="http://schemas.openxmlformats.org/drawingml/2006/main">
            <a:pPr algn="ctr">
              <a:defRPr sz="2025" b="1" i="0">
                <a:solidFill>
                  <a:srgbClr val="5D6675"/>
                </a:solidFill>
                <a:latin typeface="Arial"/>
                <a:ea typeface="Arial"/>
                <a:cs typeface="Arial"/>
              </a:defRPr>
            </a:pPr>
            <a:r>
              <a:rPr sz="2025" b="1" i="0">
                <a:solidFill>
                  <a:srgbClr val="5D6675"/>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4A3EC693-33C9-49B9-A4E7-5011A897F64D}"/>
              </a:ext>
            </a:extLst>
          </p:cNvPr>
          <p:cNvSpPr>
            <a:spLocks xmlns:a="http://schemas.openxmlformats.org/drawingml/2006/main" noGrp="1"/>
          </p:cNvSpPr>
          <p:nvPr/>
        </p:nvSpPr>
        <p:spPr>
          <a:xfrm xmlns:a="http://schemas.openxmlformats.org/drawingml/2006/main">
            <a:off x="2857500" y="1752600"/>
            <a:ext cx="1866900" cy="2876550"/>
          </a:xfrm>
          <a:prstGeom xmlns:a="http://schemas.openxmlformats.org/drawingml/2006/main" prst="roundRect">
            <a:avLst>
              <a:gd name="adj" fmla="val 6122"/>
            </a:avLst>
          </a:prstGeom>
          <a:solidFill xmlns:a="http://schemas.openxmlformats.org/drawingml/2006/main">
            <a:srgbClr val="DDEEFF"/>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72F3A99-677E-4830-82A6-C891B2927EF6}"/>
              </a:ext>
            </a:extLst>
          </p:cNvPr>
          <p:cNvSpPr>
            <a:spLocks xmlns:a="http://schemas.openxmlformats.org/drawingml/2006/main" noGrp="1"/>
          </p:cNvSpPr>
          <p:nvPr/>
        </p:nvSpPr>
        <p:spPr>
          <a:xfrm xmlns:a="http://schemas.openxmlformats.org/drawingml/2006/main">
            <a:off x="3028950" y="2000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111827"/>
                </a:solidFill>
                <a:latin typeface="Arial"/>
                <a:ea typeface="Arial"/>
                <a:cs typeface="Arial"/>
              </a:defRPr>
            </a:pPr>
            <a:r>
              <a:rPr sz="1425" b="1" i="0">
                <a:solidFill>
                  <a:srgbClr val="111827"/>
                </a:solidFill>
                <a:latin typeface="Arial"/>
                <a:ea typeface="Arial"/>
                <a:cs typeface="Arial"/>
              </a:rPr>
              <a:t>2 · Covariance</a:t>
            </a:r>
          </a:p>
        </p:txBody>
      </p:sp>
      <p:sp>
        <p:nvSpPr>
          <p:cNvPr id="12" name="">
            <a:extLst xmlns:a="http://schemas.openxmlformats.org/drawingml/2006/main">
              <a:ext uri="{FF2B5EF4-FFF2-40B4-BE49-F238E27FC236}">
                <a16:creationId xmlns:a16="http://schemas.microsoft.com/office/drawing/2014/main" id="{501F82B6-A483-4D90-969E-41AD9103A770}"/>
              </a:ext>
            </a:extLst>
          </p:cNvPr>
          <p:cNvSpPr>
            <a:spLocks xmlns:a="http://schemas.openxmlformats.org/drawingml/2006/main" noGrp="1"/>
          </p:cNvSpPr>
          <p:nvPr/>
        </p:nvSpPr>
        <p:spPr>
          <a:xfrm xmlns:a="http://schemas.openxmlformats.org/drawingml/2006/main">
            <a:off x="3028950" y="2743200"/>
            <a:ext cx="152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Ledoit–Wolf, EWMA, DCC–GARCH</a:t>
            </a:r>
          </a:p>
        </p:txBody>
      </p:sp>
      <p:sp>
        <p:nvSpPr>
          <p:cNvPr id="13" name="">
            <a:extLst xmlns:a="http://schemas.openxmlformats.org/drawingml/2006/main">
              <a:ext uri="{FF2B5EF4-FFF2-40B4-BE49-F238E27FC236}">
                <a16:creationId xmlns:a16="http://schemas.microsoft.com/office/drawing/2014/main" id="{1A25ECE5-FC57-4C71-B85D-B4815E17BD4B}"/>
              </a:ext>
            </a:extLst>
          </p:cNvPr>
          <p:cNvSpPr>
            <a:spLocks xmlns:a="http://schemas.openxmlformats.org/drawingml/2006/main" noGrp="1"/>
          </p:cNvSpPr>
          <p:nvPr/>
        </p:nvSpPr>
        <p:spPr>
          <a:xfrm xmlns:a="http://schemas.openxmlformats.org/drawingml/2006/main">
            <a:off x="3028950" y="4019550"/>
            <a:ext cx="1524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2CDDD93-74B3-4362-B061-9F113971BAFD}"/>
              </a:ext>
            </a:extLst>
          </p:cNvPr>
          <p:cNvSpPr>
            <a:spLocks xmlns:a="http://schemas.openxmlformats.org/drawingml/2006/main" noGrp="1"/>
          </p:cNvSpPr>
          <p:nvPr/>
        </p:nvSpPr>
        <p:spPr>
          <a:xfrm xmlns:a="http://schemas.openxmlformats.org/drawingml/2006/main">
            <a:off x="3028950" y="4210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i="0">
                <a:solidFill>
                  <a:srgbClr val="173B67"/>
                </a:solidFill>
                <a:latin typeface="Arial"/>
                <a:ea typeface="Arial"/>
                <a:cs typeface="Arial"/>
              </a:defRPr>
            </a:pPr>
            <a:r>
              <a:rPr sz="975" b="1" i="0">
                <a:solidFill>
                  <a:srgbClr val="173B67"/>
                </a:solidFill>
                <a:latin typeface="Arial"/>
                <a:ea typeface="Arial"/>
                <a:cs typeface="Arial"/>
              </a:rPr>
              <a:t>P1–P2</a:t>
            </a:r>
          </a:p>
        </p:txBody>
      </p:sp>
      <p:sp>
        <p:nvSpPr>
          <p:cNvPr id="15" name="">
            <a:extLst xmlns:a="http://schemas.openxmlformats.org/drawingml/2006/main">
              <a:ext uri="{FF2B5EF4-FFF2-40B4-BE49-F238E27FC236}">
                <a16:creationId xmlns:a16="http://schemas.microsoft.com/office/drawing/2014/main" id="{AEB21273-1544-4AE9-977C-FF06C987F337}"/>
              </a:ext>
            </a:extLst>
          </p:cNvPr>
          <p:cNvSpPr>
            <a:spLocks xmlns:a="http://schemas.openxmlformats.org/drawingml/2006/main" noGrp="1"/>
          </p:cNvSpPr>
          <p:nvPr/>
        </p:nvSpPr>
        <p:spPr>
          <a:xfrm xmlns:a="http://schemas.openxmlformats.org/drawingml/2006/main">
            <a:off x="4743450" y="29146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7202"/>
          </a:bodyPr>
          <a:lstStyle xmlns:a="http://schemas.openxmlformats.org/drawingml/2006/main"/>
          <a:p xmlns:a="http://schemas.openxmlformats.org/drawingml/2006/main">
            <a:pPr algn="ctr">
              <a:defRPr sz="2025" b="1" i="0">
                <a:solidFill>
                  <a:srgbClr val="5D6675"/>
                </a:solidFill>
                <a:latin typeface="Arial"/>
                <a:ea typeface="Arial"/>
                <a:cs typeface="Arial"/>
              </a:defRPr>
            </a:pPr>
            <a:r>
              <a:rPr sz="2025" b="1" i="0">
                <a:solidFill>
                  <a:srgbClr val="5D6675"/>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5E15DD96-2AEC-4E60-B11C-BBDD12DCA08A}"/>
              </a:ext>
            </a:extLst>
          </p:cNvPr>
          <p:cNvSpPr>
            <a:spLocks xmlns:a="http://schemas.openxmlformats.org/drawingml/2006/main" noGrp="1"/>
          </p:cNvSpPr>
          <p:nvPr/>
        </p:nvSpPr>
        <p:spPr>
          <a:xfrm xmlns:a="http://schemas.openxmlformats.org/drawingml/2006/main">
            <a:off x="5048250" y="1752600"/>
            <a:ext cx="1866900" cy="2876550"/>
          </a:xfrm>
          <a:prstGeom xmlns:a="http://schemas.openxmlformats.org/drawingml/2006/main" prst="roundRect">
            <a:avLst>
              <a:gd name="adj" fmla="val 6122"/>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764540CE-5D16-4CF8-9D06-45F6797DC594}"/>
              </a:ext>
            </a:extLst>
          </p:cNvPr>
          <p:cNvSpPr>
            <a:spLocks xmlns:a="http://schemas.openxmlformats.org/drawingml/2006/main" noGrp="1"/>
          </p:cNvSpPr>
          <p:nvPr/>
        </p:nvSpPr>
        <p:spPr>
          <a:xfrm xmlns:a="http://schemas.openxmlformats.org/drawingml/2006/main">
            <a:off x="5219700" y="2000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111827"/>
                </a:solidFill>
                <a:latin typeface="Arial"/>
                <a:ea typeface="Arial"/>
                <a:cs typeface="Arial"/>
              </a:defRPr>
            </a:pPr>
            <a:r>
              <a:rPr sz="1425" b="1" i="0">
                <a:solidFill>
                  <a:srgbClr val="111827"/>
                </a:solidFill>
                <a:latin typeface="Arial"/>
                <a:ea typeface="Arial"/>
                <a:cs typeface="Arial"/>
              </a:rPr>
              <a:t>3 · Régimes</a:t>
            </a:r>
          </a:p>
        </p:txBody>
      </p:sp>
      <p:sp>
        <p:nvSpPr>
          <p:cNvPr id="18" name="">
            <a:extLst xmlns:a="http://schemas.openxmlformats.org/drawingml/2006/main">
              <a:ext uri="{FF2B5EF4-FFF2-40B4-BE49-F238E27FC236}">
                <a16:creationId xmlns:a16="http://schemas.microsoft.com/office/drawing/2014/main" id="{573C6E25-C29D-4F26-90CE-731839CB3DD9}"/>
              </a:ext>
            </a:extLst>
          </p:cNvPr>
          <p:cNvSpPr>
            <a:spLocks xmlns:a="http://schemas.openxmlformats.org/drawingml/2006/main" noGrp="1"/>
          </p:cNvSpPr>
          <p:nvPr/>
        </p:nvSpPr>
        <p:spPr>
          <a:xfrm xmlns:a="http://schemas.openxmlformats.org/drawingml/2006/main">
            <a:off x="5219700" y="2743200"/>
            <a:ext cx="152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HMM à 2 états + allocation conditionnelle</a:t>
            </a:r>
          </a:p>
        </p:txBody>
      </p:sp>
      <p:sp>
        <p:nvSpPr>
          <p:cNvPr id="19" name="">
            <a:extLst xmlns:a="http://schemas.openxmlformats.org/drawingml/2006/main">
              <a:ext uri="{FF2B5EF4-FFF2-40B4-BE49-F238E27FC236}">
                <a16:creationId xmlns:a16="http://schemas.microsoft.com/office/drawing/2014/main" id="{A8395C0E-6DEB-4957-94D7-7AA5904F6123}"/>
              </a:ext>
            </a:extLst>
          </p:cNvPr>
          <p:cNvSpPr>
            <a:spLocks xmlns:a="http://schemas.openxmlformats.org/drawingml/2006/main" noGrp="1"/>
          </p:cNvSpPr>
          <p:nvPr/>
        </p:nvSpPr>
        <p:spPr>
          <a:xfrm xmlns:a="http://schemas.openxmlformats.org/drawingml/2006/main">
            <a:off x="5219700" y="4019550"/>
            <a:ext cx="1524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4FAADF56-AE8C-4A8B-BE35-64CB89E2D0E1}"/>
              </a:ext>
            </a:extLst>
          </p:cNvPr>
          <p:cNvSpPr>
            <a:spLocks xmlns:a="http://schemas.openxmlformats.org/drawingml/2006/main" noGrp="1"/>
          </p:cNvSpPr>
          <p:nvPr/>
        </p:nvSpPr>
        <p:spPr>
          <a:xfrm xmlns:a="http://schemas.openxmlformats.org/drawingml/2006/main">
            <a:off x="5219700" y="4210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i="0">
                <a:solidFill>
                  <a:srgbClr val="173B67"/>
                </a:solidFill>
                <a:latin typeface="Arial"/>
                <a:ea typeface="Arial"/>
                <a:cs typeface="Arial"/>
              </a:defRPr>
            </a:pPr>
            <a:r>
              <a:rPr sz="975" b="1" i="0">
                <a:solidFill>
                  <a:srgbClr val="173B67"/>
                </a:solidFill>
                <a:latin typeface="Arial"/>
                <a:ea typeface="Arial"/>
                <a:cs typeface="Arial"/>
              </a:rPr>
              <a:t>P2–P3</a:t>
            </a:r>
          </a:p>
        </p:txBody>
      </p:sp>
      <p:sp>
        <p:nvSpPr>
          <p:cNvPr id="21" name="">
            <a:extLst xmlns:a="http://schemas.openxmlformats.org/drawingml/2006/main">
              <a:ext uri="{FF2B5EF4-FFF2-40B4-BE49-F238E27FC236}">
                <a16:creationId xmlns:a16="http://schemas.microsoft.com/office/drawing/2014/main" id="{C05BDDA0-1967-4583-AE93-F7F1C6F6E45E}"/>
              </a:ext>
            </a:extLst>
          </p:cNvPr>
          <p:cNvSpPr>
            <a:spLocks xmlns:a="http://schemas.openxmlformats.org/drawingml/2006/main" noGrp="1"/>
          </p:cNvSpPr>
          <p:nvPr/>
        </p:nvSpPr>
        <p:spPr>
          <a:xfrm xmlns:a="http://schemas.openxmlformats.org/drawingml/2006/main">
            <a:off x="6934200" y="29146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7202"/>
          </a:bodyPr>
          <a:lstStyle xmlns:a="http://schemas.openxmlformats.org/drawingml/2006/main"/>
          <a:p xmlns:a="http://schemas.openxmlformats.org/drawingml/2006/main">
            <a:pPr algn="ctr">
              <a:defRPr sz="2025" b="1" i="0">
                <a:solidFill>
                  <a:srgbClr val="5D6675"/>
                </a:solidFill>
                <a:latin typeface="Arial"/>
                <a:ea typeface="Arial"/>
                <a:cs typeface="Arial"/>
              </a:defRPr>
            </a:pPr>
            <a:r>
              <a:rPr sz="2025" b="1" i="0">
                <a:solidFill>
                  <a:srgbClr val="5D6675"/>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225E6764-9952-4926-8A85-01A2DD51BCE9}"/>
              </a:ext>
            </a:extLst>
          </p:cNvPr>
          <p:cNvSpPr>
            <a:spLocks xmlns:a="http://schemas.openxmlformats.org/drawingml/2006/main" noGrp="1"/>
          </p:cNvSpPr>
          <p:nvPr/>
        </p:nvSpPr>
        <p:spPr>
          <a:xfrm xmlns:a="http://schemas.openxmlformats.org/drawingml/2006/main">
            <a:off x="7239000" y="1752600"/>
            <a:ext cx="1866900" cy="2876550"/>
          </a:xfrm>
          <a:prstGeom xmlns:a="http://schemas.openxmlformats.org/drawingml/2006/main" prst="roundRect">
            <a:avLst>
              <a:gd name="adj" fmla="val 6122"/>
            </a:avLst>
          </a:prstGeom>
          <a:solidFill xmlns:a="http://schemas.openxmlformats.org/drawingml/2006/main">
            <a:srgbClr val="FFF0D5"/>
          </a:solidFill>
          <a:ln xmlns:a="http://schemas.openxmlformats.org/drawingml/2006/main" w="0">
            <a:no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57C10DBC-D80A-4B12-B7F0-5F73210C6661}"/>
              </a:ext>
            </a:extLst>
          </p:cNvPr>
          <p:cNvSpPr>
            <a:spLocks xmlns:a="http://schemas.openxmlformats.org/drawingml/2006/main" noGrp="1"/>
          </p:cNvSpPr>
          <p:nvPr/>
        </p:nvSpPr>
        <p:spPr>
          <a:xfrm xmlns:a="http://schemas.openxmlformats.org/drawingml/2006/main">
            <a:off x="7410450" y="2000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111827"/>
                </a:solidFill>
                <a:latin typeface="Arial"/>
                <a:ea typeface="Arial"/>
                <a:cs typeface="Arial"/>
              </a:defRPr>
            </a:pPr>
            <a:r>
              <a:rPr sz="1425" b="1" i="0">
                <a:solidFill>
                  <a:srgbClr val="111827"/>
                </a:solidFill>
                <a:latin typeface="Arial"/>
                <a:ea typeface="Arial"/>
                <a:cs typeface="Arial"/>
              </a:rPr>
              <a:t>4 · Signaux</a:t>
            </a:r>
          </a:p>
        </p:txBody>
      </p:sp>
      <p:sp>
        <p:nvSpPr>
          <p:cNvPr id="24" name="">
            <a:extLst xmlns:a="http://schemas.openxmlformats.org/drawingml/2006/main">
              <a:ext uri="{FF2B5EF4-FFF2-40B4-BE49-F238E27FC236}">
                <a16:creationId xmlns:a16="http://schemas.microsoft.com/office/drawing/2014/main" id="{337A2344-CC42-4A8C-BD12-210752F74BD3}"/>
              </a:ext>
            </a:extLst>
          </p:cNvPr>
          <p:cNvSpPr>
            <a:spLocks xmlns:a="http://schemas.openxmlformats.org/drawingml/2006/main" noGrp="1"/>
          </p:cNvSpPr>
          <p:nvPr/>
        </p:nvSpPr>
        <p:spPr>
          <a:xfrm xmlns:a="http://schemas.openxmlformats.org/drawingml/2006/main">
            <a:off x="7410450" y="2743200"/>
            <a:ext cx="152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Random Forest et XGBoost sur rendement futur</a:t>
            </a:r>
          </a:p>
        </p:txBody>
      </p:sp>
      <p:sp>
        <p:nvSpPr>
          <p:cNvPr id="25" name="">
            <a:extLst xmlns:a="http://schemas.openxmlformats.org/drawingml/2006/main">
              <a:ext uri="{FF2B5EF4-FFF2-40B4-BE49-F238E27FC236}">
                <a16:creationId xmlns:a16="http://schemas.microsoft.com/office/drawing/2014/main" id="{AEC3990C-6C8E-4432-9B2E-17DD5F253940}"/>
              </a:ext>
            </a:extLst>
          </p:cNvPr>
          <p:cNvSpPr>
            <a:spLocks xmlns:a="http://schemas.openxmlformats.org/drawingml/2006/main" noGrp="1"/>
          </p:cNvSpPr>
          <p:nvPr/>
        </p:nvSpPr>
        <p:spPr>
          <a:xfrm xmlns:a="http://schemas.openxmlformats.org/drawingml/2006/main">
            <a:off x="7410450" y="4019550"/>
            <a:ext cx="1524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6824D0A-3E66-4893-890B-08D2B46FB570}"/>
              </a:ext>
            </a:extLst>
          </p:cNvPr>
          <p:cNvSpPr>
            <a:spLocks xmlns:a="http://schemas.openxmlformats.org/drawingml/2006/main" noGrp="1"/>
          </p:cNvSpPr>
          <p:nvPr/>
        </p:nvSpPr>
        <p:spPr>
          <a:xfrm xmlns:a="http://schemas.openxmlformats.org/drawingml/2006/main">
            <a:off x="7410450" y="4210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i="0">
                <a:solidFill>
                  <a:srgbClr val="173B67"/>
                </a:solidFill>
                <a:latin typeface="Arial"/>
                <a:ea typeface="Arial"/>
                <a:cs typeface="Arial"/>
              </a:defRPr>
            </a:pPr>
            <a:r>
              <a:rPr sz="975" b="1" i="0">
                <a:solidFill>
                  <a:srgbClr val="173B67"/>
                </a:solidFill>
                <a:latin typeface="Arial"/>
                <a:ea typeface="Arial"/>
                <a:cs typeface="Arial"/>
              </a:rPr>
              <a:t>F7 challenger</a:t>
            </a:r>
          </a:p>
        </p:txBody>
      </p:sp>
      <p:sp>
        <p:nvSpPr>
          <p:cNvPr id="27" name="">
            <a:extLst xmlns:a="http://schemas.openxmlformats.org/drawingml/2006/main">
              <a:ext uri="{FF2B5EF4-FFF2-40B4-BE49-F238E27FC236}">
                <a16:creationId xmlns:a16="http://schemas.microsoft.com/office/drawing/2014/main" id="{F8137F48-B5AF-42DD-A74D-2AC6666D4EA0}"/>
              </a:ext>
            </a:extLst>
          </p:cNvPr>
          <p:cNvSpPr>
            <a:spLocks xmlns:a="http://schemas.openxmlformats.org/drawingml/2006/main" noGrp="1"/>
          </p:cNvSpPr>
          <p:nvPr/>
        </p:nvSpPr>
        <p:spPr>
          <a:xfrm xmlns:a="http://schemas.openxmlformats.org/drawingml/2006/main">
            <a:off x="9124950" y="291465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7202"/>
          </a:bodyPr>
          <a:lstStyle xmlns:a="http://schemas.openxmlformats.org/drawingml/2006/main"/>
          <a:p xmlns:a="http://schemas.openxmlformats.org/drawingml/2006/main">
            <a:pPr algn="ctr">
              <a:defRPr sz="2025" b="1" i="0">
                <a:solidFill>
                  <a:srgbClr val="5D6675"/>
                </a:solidFill>
                <a:latin typeface="Arial"/>
                <a:ea typeface="Arial"/>
                <a:cs typeface="Arial"/>
              </a:defRPr>
            </a:pPr>
            <a:r>
              <a:rPr sz="2025" b="1" i="0">
                <a:solidFill>
                  <a:srgbClr val="5D6675"/>
                </a:solidFill>
                <a:latin typeface="Arial"/>
                <a:ea typeface="Arial"/>
                <a:cs typeface="Arial"/>
              </a:rPr>
              <a:t>→</a:t>
            </a:r>
          </a:p>
        </p:txBody>
      </p:sp>
      <p:sp>
        <p:nvSpPr>
          <p:cNvPr id="28" name="">
            <a:extLst xmlns:a="http://schemas.openxmlformats.org/drawingml/2006/main">
              <a:ext uri="{FF2B5EF4-FFF2-40B4-BE49-F238E27FC236}">
                <a16:creationId xmlns:a16="http://schemas.microsoft.com/office/drawing/2014/main" id="{FEE66CF4-3552-4F22-9343-4563B2C19B33}"/>
              </a:ext>
            </a:extLst>
          </p:cNvPr>
          <p:cNvSpPr>
            <a:spLocks xmlns:a="http://schemas.openxmlformats.org/drawingml/2006/main" noGrp="1"/>
          </p:cNvSpPr>
          <p:nvPr/>
        </p:nvSpPr>
        <p:spPr>
          <a:xfrm xmlns:a="http://schemas.openxmlformats.org/drawingml/2006/main">
            <a:off x="9429750" y="1752600"/>
            <a:ext cx="1866900" cy="2876550"/>
          </a:xfrm>
          <a:prstGeom xmlns:a="http://schemas.openxmlformats.org/drawingml/2006/main" prst="roundRect">
            <a:avLst>
              <a:gd name="adj" fmla="val 6122"/>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5C8D9930-08EB-4D85-9CEC-ADBB68AA5EA4}"/>
              </a:ext>
            </a:extLst>
          </p:cNvPr>
          <p:cNvSpPr>
            <a:spLocks xmlns:a="http://schemas.openxmlformats.org/drawingml/2006/main" noGrp="1"/>
          </p:cNvSpPr>
          <p:nvPr/>
        </p:nvSpPr>
        <p:spPr>
          <a:xfrm xmlns:a="http://schemas.openxmlformats.org/drawingml/2006/main">
            <a:off x="9601200" y="200025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i="0">
                <a:solidFill>
                  <a:srgbClr val="111827"/>
                </a:solidFill>
                <a:latin typeface="Arial"/>
                <a:ea typeface="Arial"/>
                <a:cs typeface="Arial"/>
              </a:defRPr>
            </a:pPr>
            <a:r>
              <a:rPr sz="1425" b="1" i="0">
                <a:solidFill>
                  <a:srgbClr val="111827"/>
                </a:solidFill>
                <a:latin typeface="Arial"/>
                <a:ea typeface="Arial"/>
                <a:cs typeface="Arial"/>
              </a:rPr>
              <a:t>5 · Coûts</a:t>
            </a:r>
          </a:p>
        </p:txBody>
      </p:sp>
      <p:sp>
        <p:nvSpPr>
          <p:cNvPr id="30" name="">
            <a:extLst xmlns:a="http://schemas.openxmlformats.org/drawingml/2006/main">
              <a:ext uri="{FF2B5EF4-FFF2-40B4-BE49-F238E27FC236}">
                <a16:creationId xmlns:a16="http://schemas.microsoft.com/office/drawing/2014/main" id="{C13CAFBA-64DA-4BDF-8C81-218E3DF5A516}"/>
              </a:ext>
            </a:extLst>
          </p:cNvPr>
          <p:cNvSpPr>
            <a:spLocks xmlns:a="http://schemas.openxmlformats.org/drawingml/2006/main" noGrp="1"/>
          </p:cNvSpPr>
          <p:nvPr/>
        </p:nvSpPr>
        <p:spPr>
          <a:xfrm xmlns:a="http://schemas.openxmlformats.org/drawingml/2006/main">
            <a:off x="9601200" y="2743200"/>
            <a:ext cx="1524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Pénalité de turnover et régularisation de μ</a:t>
            </a:r>
          </a:p>
        </p:txBody>
      </p:sp>
      <p:sp>
        <p:nvSpPr>
          <p:cNvPr id="31" name="">
            <a:extLst xmlns:a="http://schemas.openxmlformats.org/drawingml/2006/main">
              <a:ext uri="{FF2B5EF4-FFF2-40B4-BE49-F238E27FC236}">
                <a16:creationId xmlns:a16="http://schemas.microsoft.com/office/drawing/2014/main" id="{DBAF58F6-55F1-4E03-BFFD-E20F07E6FD54}"/>
              </a:ext>
            </a:extLst>
          </p:cNvPr>
          <p:cNvSpPr>
            <a:spLocks xmlns:a="http://schemas.openxmlformats.org/drawingml/2006/main" noGrp="1"/>
          </p:cNvSpPr>
          <p:nvPr/>
        </p:nvSpPr>
        <p:spPr>
          <a:xfrm xmlns:a="http://schemas.openxmlformats.org/drawingml/2006/main">
            <a:off x="9601200" y="4019550"/>
            <a:ext cx="1524000" cy="19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F6A2172E-8D3C-4513-BD24-4846401F5AA0}"/>
              </a:ext>
            </a:extLst>
          </p:cNvPr>
          <p:cNvSpPr>
            <a:spLocks xmlns:a="http://schemas.openxmlformats.org/drawingml/2006/main" noGrp="1"/>
          </p:cNvSpPr>
          <p:nvPr/>
        </p:nvSpPr>
        <p:spPr>
          <a:xfrm xmlns:a="http://schemas.openxmlformats.org/drawingml/2006/main">
            <a:off x="9601200" y="42100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i="0">
                <a:solidFill>
                  <a:srgbClr val="B7433E"/>
                </a:solidFill>
                <a:latin typeface="Arial"/>
                <a:ea typeface="Arial"/>
                <a:cs typeface="Arial"/>
              </a:defRPr>
            </a:pPr>
            <a:r>
              <a:rPr sz="975" b="1" i="0">
                <a:solidFill>
                  <a:srgbClr val="B7433E"/>
                </a:solidFill>
                <a:latin typeface="Arial"/>
                <a:ea typeface="Arial"/>
                <a:cs typeface="Arial"/>
              </a:rPr>
              <a:t>Contrainte réelle</a:t>
            </a:r>
          </a:p>
        </p:txBody>
      </p:sp>
      <p:sp>
        <p:nvSpPr>
          <p:cNvPr id="33" name="">
            <a:extLst xmlns:a="http://schemas.openxmlformats.org/drawingml/2006/main">
              <a:ext uri="{FF2B5EF4-FFF2-40B4-BE49-F238E27FC236}">
                <a16:creationId xmlns:a16="http://schemas.microsoft.com/office/drawing/2014/main" id="{EEBE8521-823B-4ED4-AB4A-A2E111106FEE}"/>
              </a:ext>
            </a:extLst>
          </p:cNvPr>
          <p:cNvSpPr>
            <a:spLocks xmlns:a="http://schemas.openxmlformats.org/drawingml/2006/main" noGrp="1"/>
          </p:cNvSpPr>
          <p:nvPr/>
        </p:nvSpPr>
        <p:spPr>
          <a:xfrm xmlns:a="http://schemas.openxmlformats.org/drawingml/2006/main">
            <a:off x="666750" y="5143500"/>
            <a:ext cx="10629900" cy="800100"/>
          </a:xfrm>
          <a:prstGeom xmlns:a="http://schemas.openxmlformats.org/drawingml/2006/main" prst="roundRect">
            <a:avLst>
              <a:gd name="adj" fmla="val 14286"/>
            </a:avLst>
          </a:prstGeom>
          <a:solidFill xmlns:a="http://schemas.openxmlformats.org/drawingml/2006/main">
            <a:srgbClr val="173B67"/>
          </a:solidFill>
          <a:ln xmlns:a="http://schemas.openxmlformats.org/drawingml/2006/main" w="0">
            <a:no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F1FC2210-6783-4350-8A9E-45E936235CE8}"/>
              </a:ext>
            </a:extLst>
          </p:cNvPr>
          <p:cNvSpPr>
            <a:spLocks xmlns:a="http://schemas.openxmlformats.org/drawingml/2006/main" noGrp="1"/>
          </p:cNvSpPr>
          <p:nvPr/>
        </p:nvSpPr>
        <p:spPr>
          <a:xfrm xmlns:a="http://schemas.openxmlformats.org/drawingml/2006/main">
            <a:off x="914400" y="5362575"/>
            <a:ext cx="10134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616"/>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Chaque palier doit battre la référence hors échantillon après coûts — sinon il reste un challenger exploratoire.</a:t>
            </a:r>
          </a:p>
        </p:txBody>
      </p:sp>
    </p:spTree>
    <p:extLst>
      <p:ext uri="{BB962C8B-B14F-4D97-AF65-F5344CB8AC3E}">
        <p14:creationId xmlns:p14="http://schemas.microsoft.com/office/powerpoint/2010/main" val="17560761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53A678A-5EBB-4A2F-93B5-E5529489553C}"/>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ÉVALUATION</a:t>
            </a:r>
          </a:p>
        </p:txBody>
      </p:sp>
      <p:sp>
        <p:nvSpPr>
          <p:cNvPr id="2" name="">
            <a:extLst xmlns:a="http://schemas.openxmlformats.org/drawingml/2006/main">
              <a:ext uri="{FF2B5EF4-FFF2-40B4-BE49-F238E27FC236}">
                <a16:creationId xmlns:a16="http://schemas.microsoft.com/office/drawing/2014/main" id="{138E42C2-9C60-4EE5-91E0-751D41E3FE82}"/>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Le protocole de validation simule la décision séquentielle</a:t>
            </a:r>
          </a:p>
        </p:txBody>
      </p:sp>
      <p:sp>
        <p:nvSpPr>
          <p:cNvPr id="3" name="">
            <a:extLst xmlns:a="http://schemas.openxmlformats.org/drawingml/2006/main">
              <a:ext uri="{FF2B5EF4-FFF2-40B4-BE49-F238E27FC236}">
                <a16:creationId xmlns:a16="http://schemas.microsoft.com/office/drawing/2014/main" id="{485222A4-9EB4-4995-8004-AFB8315CDC65}"/>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4B90920F-70A7-4224-9817-F1B611DBE50F}"/>
              </a:ext>
            </a:extLst>
          </p:cNvPr>
          <p:cNvSpPr>
            <a:spLocks xmlns:a="http://schemas.openxmlformats.org/drawingml/2006/main" noGrp="1"/>
          </p:cNvSpPr>
          <p:nvPr/>
        </p:nvSpPr>
        <p:spPr>
          <a:xfrm xmlns:a="http://schemas.openxmlformats.org/drawingml/2006/main">
            <a:off x="609600" y="1295400"/>
            <a:ext cx="7524750" cy="4171950"/>
          </a:xfrm>
          <a:prstGeom xmlns:a="http://schemas.openxmlformats.org/drawingml/2006/main" prst="roundRect">
            <a:avLst>
              <a:gd name="adj" fmla="val 2740"/>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8155f48680340c9"/>
          <a:stretch xmlns:a="http://schemas.openxmlformats.org/drawingml/2006/main"/>
        </p:blipFill>
        <p:spPr>
          <a:xfrm xmlns:a="http://schemas.openxmlformats.org/drawingml/2006/main">
            <a:off x="723900" y="1859649"/>
            <a:ext cx="7296150" cy="304345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FE136F-B539-4E9E-84B5-0C1B9E1D93A5}"/>
              </a:ext>
            </a:extLst>
          </p:cNvPr>
          <p:cNvSpPr>
            <a:spLocks xmlns:a="http://schemas.openxmlformats.org/drawingml/2006/main" noGrp="1"/>
          </p:cNvSpPr>
          <p:nvPr/>
        </p:nvSpPr>
        <p:spPr>
          <a:xfrm xmlns:a="http://schemas.openxmlformats.org/drawingml/2006/main">
            <a:off x="8572500" y="15716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0B41F9A-C159-46E7-A1A9-48AD293EF48F}"/>
              </a:ext>
            </a:extLst>
          </p:cNvPr>
          <p:cNvSpPr>
            <a:spLocks xmlns:a="http://schemas.openxmlformats.org/drawingml/2006/main" noGrp="1"/>
          </p:cNvSpPr>
          <p:nvPr/>
        </p:nvSpPr>
        <p:spPr>
          <a:xfrm xmlns:a="http://schemas.openxmlformats.org/drawingml/2006/main">
            <a:off x="8782050" y="1504950"/>
            <a:ext cx="2647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Walk-forward purgé</a:t>
            </a:r>
          </a:p>
        </p:txBody>
      </p:sp>
      <p:sp>
        <p:nvSpPr>
          <p:cNvPr id="8" name="">
            <a:extLst xmlns:a="http://schemas.openxmlformats.org/drawingml/2006/main">
              <a:ext uri="{FF2B5EF4-FFF2-40B4-BE49-F238E27FC236}">
                <a16:creationId xmlns:a16="http://schemas.microsoft.com/office/drawing/2014/main" id="{CF661B3C-A66E-4248-B7A6-3D3574EF1FAD}"/>
              </a:ext>
            </a:extLst>
          </p:cNvPr>
          <p:cNvSpPr>
            <a:spLocks xmlns:a="http://schemas.openxmlformats.org/drawingml/2006/main" noGrp="1"/>
          </p:cNvSpPr>
          <p:nvPr/>
        </p:nvSpPr>
        <p:spPr>
          <a:xfrm xmlns:a="http://schemas.openxmlformats.org/drawingml/2006/main">
            <a:off x="8782050" y="1781175"/>
            <a:ext cx="264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95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Aucune date future dans l’entraînement; purge et embargo aux frontières.</a:t>
            </a:r>
          </a:p>
        </p:txBody>
      </p:sp>
      <p:sp>
        <p:nvSpPr>
          <p:cNvPr id="9" name="">
            <a:extLst xmlns:a="http://schemas.openxmlformats.org/drawingml/2006/main">
              <a:ext uri="{FF2B5EF4-FFF2-40B4-BE49-F238E27FC236}">
                <a16:creationId xmlns:a16="http://schemas.microsoft.com/office/drawing/2014/main" id="{FFDD9A8C-89F1-43F4-B3AF-D44046AABDE8}"/>
              </a:ext>
            </a:extLst>
          </p:cNvPr>
          <p:cNvSpPr>
            <a:spLocks xmlns:a="http://schemas.openxmlformats.org/drawingml/2006/main" noGrp="1"/>
          </p:cNvSpPr>
          <p:nvPr/>
        </p:nvSpPr>
        <p:spPr>
          <a:xfrm xmlns:a="http://schemas.openxmlformats.org/drawingml/2006/main">
            <a:off x="8572500" y="2733675"/>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E61B12C-B5B4-489C-84AA-BF54E29BB769}"/>
              </a:ext>
            </a:extLst>
          </p:cNvPr>
          <p:cNvSpPr>
            <a:spLocks xmlns:a="http://schemas.openxmlformats.org/drawingml/2006/main" noGrp="1"/>
          </p:cNvSpPr>
          <p:nvPr/>
        </p:nvSpPr>
        <p:spPr>
          <a:xfrm xmlns:a="http://schemas.openxmlformats.org/drawingml/2006/main">
            <a:off x="8782050" y="2667000"/>
            <a:ext cx="2647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Test final gelé</a:t>
            </a:r>
          </a:p>
        </p:txBody>
      </p:sp>
      <p:sp>
        <p:nvSpPr>
          <p:cNvPr id="11" name="">
            <a:extLst xmlns:a="http://schemas.openxmlformats.org/drawingml/2006/main">
              <a:ext uri="{FF2B5EF4-FFF2-40B4-BE49-F238E27FC236}">
                <a16:creationId xmlns:a16="http://schemas.microsoft.com/office/drawing/2014/main" id="{95C93D7D-39AE-4EAB-AB7A-4655151F39DA}"/>
              </a:ext>
            </a:extLst>
          </p:cNvPr>
          <p:cNvSpPr>
            <a:spLocks xmlns:a="http://schemas.openxmlformats.org/drawingml/2006/main" noGrp="1"/>
          </p:cNvSpPr>
          <p:nvPr/>
        </p:nvSpPr>
        <p:spPr>
          <a:xfrm xmlns:a="http://schemas.openxmlformats.org/drawingml/2006/main">
            <a:off x="8782050" y="2943225"/>
            <a:ext cx="264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Le dernier segment reste intact jusqu’à la comparaison finale.</a:t>
            </a:r>
          </a:p>
        </p:txBody>
      </p:sp>
      <p:sp>
        <p:nvSpPr>
          <p:cNvPr id="12" name="">
            <a:extLst xmlns:a="http://schemas.openxmlformats.org/drawingml/2006/main">
              <a:ext uri="{FF2B5EF4-FFF2-40B4-BE49-F238E27FC236}">
                <a16:creationId xmlns:a16="http://schemas.microsoft.com/office/drawing/2014/main" id="{5B7B6569-821A-4EE8-87AA-447BA68240A9}"/>
              </a:ext>
            </a:extLst>
          </p:cNvPr>
          <p:cNvSpPr>
            <a:spLocks xmlns:a="http://schemas.openxmlformats.org/drawingml/2006/main" noGrp="1"/>
          </p:cNvSpPr>
          <p:nvPr/>
        </p:nvSpPr>
        <p:spPr>
          <a:xfrm xmlns:a="http://schemas.openxmlformats.org/drawingml/2006/main">
            <a:off x="8572500" y="3895725"/>
            <a:ext cx="76200" cy="76200"/>
          </a:xfrm>
          <a:prstGeom xmlns:a="http://schemas.openxmlformats.org/drawingml/2006/main" prst="roundRect">
            <a:avLst>
              <a:gd name="adj" fmla="val 50000"/>
            </a:avLst>
          </a:prstGeom>
          <a:solidFill xmlns:a="http://schemas.openxmlformats.org/drawingml/2006/main">
            <a:srgbClr val="A86812"/>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15242FF-EC2A-4E3E-8D53-F876F54695E6}"/>
              </a:ext>
            </a:extLst>
          </p:cNvPr>
          <p:cNvSpPr>
            <a:spLocks xmlns:a="http://schemas.openxmlformats.org/drawingml/2006/main" noGrp="1"/>
          </p:cNvSpPr>
          <p:nvPr/>
        </p:nvSpPr>
        <p:spPr>
          <a:xfrm xmlns:a="http://schemas.openxmlformats.org/drawingml/2006/main">
            <a:off x="8782050" y="3829050"/>
            <a:ext cx="2647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Comparaison appariée</a:t>
            </a:r>
          </a:p>
        </p:txBody>
      </p:sp>
      <p:sp>
        <p:nvSpPr>
          <p:cNvPr id="14" name="">
            <a:extLst xmlns:a="http://schemas.openxmlformats.org/drawingml/2006/main">
              <a:ext uri="{FF2B5EF4-FFF2-40B4-BE49-F238E27FC236}">
                <a16:creationId xmlns:a16="http://schemas.microsoft.com/office/drawing/2014/main" id="{D12889B0-09BE-4117-81B8-F91873CAEA2A}"/>
              </a:ext>
            </a:extLst>
          </p:cNvPr>
          <p:cNvSpPr>
            <a:spLocks xmlns:a="http://schemas.openxmlformats.org/drawingml/2006/main" noGrp="1"/>
          </p:cNvSpPr>
          <p:nvPr/>
        </p:nvSpPr>
        <p:spPr>
          <a:xfrm xmlns:a="http://schemas.openxmlformats.org/drawingml/2006/main">
            <a:off x="8782050" y="4105275"/>
            <a:ext cx="264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Même calendrier et mêmes blocs pour deux stratégies comparées.</a:t>
            </a:r>
          </a:p>
        </p:txBody>
      </p:sp>
      <p:sp>
        <p:nvSpPr>
          <p:cNvPr id="15" name="">
            <a:extLst xmlns:a="http://schemas.openxmlformats.org/drawingml/2006/main">
              <a:ext uri="{FF2B5EF4-FFF2-40B4-BE49-F238E27FC236}">
                <a16:creationId xmlns:a16="http://schemas.microsoft.com/office/drawing/2014/main" id="{065AAAE4-F27F-4B03-8451-DC87841DD527}"/>
              </a:ext>
            </a:extLst>
          </p:cNvPr>
          <p:cNvSpPr>
            <a:spLocks xmlns:a="http://schemas.openxmlformats.org/drawingml/2006/main" noGrp="1"/>
          </p:cNvSpPr>
          <p:nvPr/>
        </p:nvSpPr>
        <p:spPr>
          <a:xfrm xmlns:a="http://schemas.openxmlformats.org/drawingml/2006/main">
            <a:off x="8572500" y="5057775"/>
            <a:ext cx="76200" cy="76200"/>
          </a:xfrm>
          <a:prstGeom xmlns:a="http://schemas.openxmlformats.org/drawingml/2006/main" prst="roundRect">
            <a:avLst>
              <a:gd name="adj" fmla="val 50000"/>
            </a:avLst>
          </a:prstGeom>
          <a:solidFill xmlns:a="http://schemas.openxmlformats.org/drawingml/2006/main">
            <a:srgbClr val="B7433E"/>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F49D0F2B-E82D-4B97-99F8-7F692D4E9B16}"/>
              </a:ext>
            </a:extLst>
          </p:cNvPr>
          <p:cNvSpPr>
            <a:spLocks xmlns:a="http://schemas.openxmlformats.org/drawingml/2006/main" noGrp="1"/>
          </p:cNvSpPr>
          <p:nvPr/>
        </p:nvSpPr>
        <p:spPr>
          <a:xfrm xmlns:a="http://schemas.openxmlformats.org/drawingml/2006/main">
            <a:off x="8782050" y="4991100"/>
            <a:ext cx="2647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Recherche corrigée</a:t>
            </a:r>
          </a:p>
        </p:txBody>
      </p:sp>
      <p:sp>
        <p:nvSpPr>
          <p:cNvPr id="17" name="">
            <a:extLst xmlns:a="http://schemas.openxmlformats.org/drawingml/2006/main">
              <a:ext uri="{FF2B5EF4-FFF2-40B4-BE49-F238E27FC236}">
                <a16:creationId xmlns:a16="http://schemas.microsoft.com/office/drawing/2014/main" id="{38984E77-1424-4D4D-95B8-0CCC27D145D9}"/>
              </a:ext>
            </a:extLst>
          </p:cNvPr>
          <p:cNvSpPr>
            <a:spLocks xmlns:a="http://schemas.openxmlformats.org/drawingml/2006/main" noGrp="1"/>
          </p:cNvSpPr>
          <p:nvPr/>
        </p:nvSpPr>
        <p:spPr>
          <a:xfrm xmlns:a="http://schemas.openxmlformats.org/drawingml/2006/main">
            <a:off x="8782050" y="5267325"/>
            <a:ext cx="2647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White Reality Check et Hansen SPA sur 240 configurations.</a:t>
            </a:r>
          </a:p>
        </p:txBody>
      </p:sp>
    </p:spTree>
    <p:extLst>
      <p:ext uri="{BB962C8B-B14F-4D97-AF65-F5344CB8AC3E}">
        <p14:creationId xmlns:p14="http://schemas.microsoft.com/office/powerpoint/2010/main" val="6882581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DA417E-03A9-4B71-8852-62BDDB012D07}"/>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INTÉGRITÉ SCIENTIFIQUE</a:t>
            </a:r>
          </a:p>
        </p:txBody>
      </p:sp>
      <p:sp>
        <p:nvSpPr>
          <p:cNvPr id="2" name="">
            <a:extLst xmlns:a="http://schemas.openxmlformats.org/drawingml/2006/main">
              <a:ext uri="{FF2B5EF4-FFF2-40B4-BE49-F238E27FC236}">
                <a16:creationId xmlns:a16="http://schemas.microsoft.com/office/drawing/2014/main" id="{6490E689-CDCE-43B1-B8A0-2C29C01647A8}"/>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Trois corrections ont réduit — puis inversé — le headline</a:t>
            </a:r>
          </a:p>
        </p:txBody>
      </p:sp>
      <p:sp>
        <p:nvSpPr>
          <p:cNvPr id="3" name="">
            <a:extLst xmlns:a="http://schemas.openxmlformats.org/drawingml/2006/main">
              <a:ext uri="{FF2B5EF4-FFF2-40B4-BE49-F238E27FC236}">
                <a16:creationId xmlns:a16="http://schemas.microsoft.com/office/drawing/2014/main" id="{64D14BF5-9D90-4C32-9132-58F22E59D6E6}"/>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F2C13E3-930B-486F-B36C-5C1D68B54706}"/>
              </a:ext>
            </a:extLst>
          </p:cNvPr>
          <p:cNvSpPr>
            <a:spLocks xmlns:a="http://schemas.openxmlformats.org/drawingml/2006/main" noGrp="1"/>
          </p:cNvSpPr>
          <p:nvPr/>
        </p:nvSpPr>
        <p:spPr>
          <a:xfrm xmlns:a="http://schemas.openxmlformats.org/drawingml/2006/main">
            <a:off x="609600" y="1257300"/>
            <a:ext cx="7429500" cy="4457700"/>
          </a:xfrm>
          <a:prstGeom xmlns:a="http://schemas.openxmlformats.org/drawingml/2006/main" prst="roundRect">
            <a:avLst>
              <a:gd name="adj" fmla="val 2564"/>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b4775df65374d91"/>
          <a:stretch xmlns:a="http://schemas.openxmlformats.org/drawingml/2006/main"/>
        </p:blipFill>
        <p:spPr>
          <a:xfrm xmlns:a="http://schemas.openxmlformats.org/drawingml/2006/main">
            <a:off x="723900" y="1665545"/>
            <a:ext cx="7200900" cy="364121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34BCDC7-0D91-47D3-9E91-79EC1A06065B}"/>
              </a:ext>
            </a:extLst>
          </p:cNvPr>
          <p:cNvSpPr>
            <a:spLocks xmlns:a="http://schemas.openxmlformats.org/drawingml/2006/main" noGrp="1"/>
          </p:cNvSpPr>
          <p:nvPr/>
        </p:nvSpPr>
        <p:spPr>
          <a:xfrm xmlns:a="http://schemas.openxmlformats.org/drawingml/2006/main">
            <a:off x="8610600" y="14668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i="0">
                <a:solidFill>
                  <a:srgbClr val="5D6675"/>
                </a:solidFill>
                <a:latin typeface="Arial"/>
                <a:ea typeface="Arial"/>
                <a:cs typeface="Arial"/>
              </a:defRPr>
            </a:pPr>
            <a:r>
              <a:rPr sz="2700" b="1" i="0">
                <a:solidFill>
                  <a:srgbClr val="5D6675"/>
                </a:solidFill>
                <a:latin typeface="Arial"/>
                <a:ea typeface="Arial"/>
                <a:cs typeface="Arial"/>
              </a:rPr>
              <a:t>+14,3 %</a:t>
            </a:r>
          </a:p>
        </p:txBody>
      </p:sp>
      <p:sp>
        <p:nvSpPr>
          <p:cNvPr id="7" name="">
            <a:extLst xmlns:a="http://schemas.openxmlformats.org/drawingml/2006/main">
              <a:ext uri="{FF2B5EF4-FFF2-40B4-BE49-F238E27FC236}">
                <a16:creationId xmlns:a16="http://schemas.microsoft.com/office/drawing/2014/main" id="{6BAC6F26-CBC3-461B-BAD9-DF7E88DEEDBF}"/>
              </a:ext>
            </a:extLst>
          </p:cNvPr>
          <p:cNvSpPr>
            <a:spLocks xmlns:a="http://schemas.openxmlformats.org/drawingml/2006/main" noGrp="1"/>
          </p:cNvSpPr>
          <p:nvPr/>
        </p:nvSpPr>
        <p:spPr>
          <a:xfrm xmlns:a="http://schemas.openxmlformats.org/drawingml/2006/main">
            <a:off x="8610600" y="19431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Avant correction des dividendes BVC</a:t>
            </a:r>
          </a:p>
        </p:txBody>
      </p:sp>
      <p:sp>
        <p:nvSpPr>
          <p:cNvPr id="8" name="">
            <a:extLst xmlns:a="http://schemas.openxmlformats.org/drawingml/2006/main">
              <a:ext uri="{FF2B5EF4-FFF2-40B4-BE49-F238E27FC236}">
                <a16:creationId xmlns:a16="http://schemas.microsoft.com/office/drawing/2014/main" id="{B3DEF90B-B3E8-47D6-8588-AA567C14972A}"/>
              </a:ext>
            </a:extLst>
          </p:cNvPr>
          <p:cNvSpPr>
            <a:spLocks xmlns:a="http://schemas.openxmlformats.org/drawingml/2006/main" noGrp="1"/>
          </p:cNvSpPr>
          <p:nvPr/>
        </p:nvSpPr>
        <p:spPr>
          <a:xfrm xmlns:a="http://schemas.openxmlformats.org/drawingml/2006/main">
            <a:off x="8610600" y="27241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defRPr sz="2700" b="1" i="0">
                <a:solidFill>
                  <a:srgbClr val="A86812"/>
                </a:solidFill>
                <a:latin typeface="Arial"/>
                <a:ea typeface="Arial"/>
                <a:cs typeface="Arial"/>
              </a:defRPr>
            </a:pPr>
            <a:r>
              <a:rPr sz="2700" b="1" i="0">
                <a:solidFill>
                  <a:srgbClr val="A86812"/>
                </a:solidFill>
                <a:latin typeface="Arial"/>
                <a:ea typeface="Arial"/>
                <a:cs typeface="Arial"/>
              </a:rPr>
              <a:t>+6,2 %</a:t>
            </a:r>
          </a:p>
        </p:txBody>
      </p:sp>
      <p:sp>
        <p:nvSpPr>
          <p:cNvPr id="9" name="">
            <a:extLst xmlns:a="http://schemas.openxmlformats.org/drawingml/2006/main">
              <a:ext uri="{FF2B5EF4-FFF2-40B4-BE49-F238E27FC236}">
                <a16:creationId xmlns:a16="http://schemas.microsoft.com/office/drawing/2014/main" id="{E6229D8C-CD75-4A06-8352-195EFFA12384}"/>
              </a:ext>
            </a:extLst>
          </p:cNvPr>
          <p:cNvSpPr>
            <a:spLocks xmlns:a="http://schemas.openxmlformats.org/drawingml/2006/main" noGrp="1"/>
          </p:cNvSpPr>
          <p:nvPr/>
        </p:nvSpPr>
        <p:spPr>
          <a:xfrm xmlns:a="http://schemas.openxmlformats.org/drawingml/2006/main">
            <a:off x="8610600" y="32004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Après dividendes et historique ETF profond</a:t>
            </a:r>
          </a:p>
        </p:txBody>
      </p:sp>
      <p:sp>
        <p:nvSpPr>
          <p:cNvPr id="10" name="">
            <a:extLst xmlns:a="http://schemas.openxmlformats.org/drawingml/2006/main">
              <a:ext uri="{FF2B5EF4-FFF2-40B4-BE49-F238E27FC236}">
                <a16:creationId xmlns:a16="http://schemas.microsoft.com/office/drawing/2014/main" id="{14D2FA8F-2067-4E1F-9029-13CDAF5582C3}"/>
              </a:ext>
            </a:extLst>
          </p:cNvPr>
          <p:cNvSpPr>
            <a:spLocks xmlns:a="http://schemas.openxmlformats.org/drawingml/2006/main" noGrp="1"/>
          </p:cNvSpPr>
          <p:nvPr/>
        </p:nvSpPr>
        <p:spPr>
          <a:xfrm xmlns:a="http://schemas.openxmlformats.org/drawingml/2006/main">
            <a:off x="8610600" y="398145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598"/>
          </a:bodyPr>
          <a:lstStyle xmlns:a="http://schemas.openxmlformats.org/drawingml/2006/main"/>
          <a:p xmlns:a="http://schemas.openxmlformats.org/drawingml/2006/main">
            <a:pPr algn="l">
              <a:defRPr sz="2925" b="1" i="0">
                <a:solidFill>
                  <a:srgbClr val="B7433E"/>
                </a:solidFill>
                <a:latin typeface="Arial"/>
                <a:ea typeface="Arial"/>
                <a:cs typeface="Arial"/>
              </a:defRPr>
            </a:pPr>
            <a:r>
              <a:rPr sz="2925" b="1" i="0">
                <a:solidFill>
                  <a:srgbClr val="B7433E"/>
                </a:solidFill>
                <a:latin typeface="Arial"/>
                <a:ea typeface="Arial"/>
                <a:cs typeface="Arial"/>
              </a:rPr>
              <a:t>−10,47 %</a:t>
            </a:r>
          </a:p>
        </p:txBody>
      </p:sp>
      <p:sp>
        <p:nvSpPr>
          <p:cNvPr id="11" name="">
            <a:extLst xmlns:a="http://schemas.openxmlformats.org/drawingml/2006/main">
              <a:ext uri="{FF2B5EF4-FFF2-40B4-BE49-F238E27FC236}">
                <a16:creationId xmlns:a16="http://schemas.microsoft.com/office/drawing/2014/main" id="{DA96A692-928A-4833-8A68-948744BD74A5}"/>
              </a:ext>
            </a:extLst>
          </p:cNvPr>
          <p:cNvSpPr>
            <a:spLocks xmlns:a="http://schemas.openxmlformats.org/drawingml/2006/main" noGrp="1"/>
          </p:cNvSpPr>
          <p:nvPr/>
        </p:nvSpPr>
        <p:spPr>
          <a:xfrm xmlns:a="http://schemas.openxmlformats.org/drawingml/2006/main">
            <a:off x="8610600" y="44958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i="0">
                <a:solidFill>
                  <a:srgbClr val="111827"/>
                </a:solidFill>
                <a:latin typeface="Arial"/>
                <a:ea typeface="Arial"/>
                <a:cs typeface="Arial"/>
              </a:defRPr>
            </a:pPr>
            <a:r>
              <a:rPr sz="1200" b="1" i="0">
                <a:solidFill>
                  <a:srgbClr val="111827"/>
                </a:solidFill>
                <a:latin typeface="Arial"/>
                <a:ea typeface="Arial"/>
                <a:cs typeface="Arial"/>
              </a:rPr>
              <a:t>Après conversion officielle en MAD</a:t>
            </a:r>
          </a:p>
        </p:txBody>
      </p:sp>
      <p:sp>
        <p:nvSpPr>
          <p:cNvPr id="12" name="">
            <a:extLst xmlns:a="http://schemas.openxmlformats.org/drawingml/2006/main">
              <a:ext uri="{FF2B5EF4-FFF2-40B4-BE49-F238E27FC236}">
                <a16:creationId xmlns:a16="http://schemas.microsoft.com/office/drawing/2014/main" id="{1A30A322-48D8-45A4-82AC-EF967F97EA65}"/>
              </a:ext>
            </a:extLst>
          </p:cNvPr>
          <p:cNvSpPr>
            <a:spLocks xmlns:a="http://schemas.openxmlformats.org/drawingml/2006/main" noGrp="1"/>
          </p:cNvSpPr>
          <p:nvPr/>
        </p:nvSpPr>
        <p:spPr>
          <a:xfrm xmlns:a="http://schemas.openxmlformats.org/drawingml/2006/main">
            <a:off x="8458200" y="5238750"/>
            <a:ext cx="2952750" cy="723900"/>
          </a:xfrm>
          <a:prstGeom xmlns:a="http://schemas.openxmlformats.org/drawingml/2006/main" prst="roundRect">
            <a:avLst>
              <a:gd name="adj" fmla="val 15789"/>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A902158D-E0EF-4D0E-A643-690EB4862934}"/>
              </a:ext>
            </a:extLst>
          </p:cNvPr>
          <p:cNvSpPr>
            <a:spLocks xmlns:a="http://schemas.openxmlformats.org/drawingml/2006/main" noGrp="1"/>
          </p:cNvSpPr>
          <p:nvPr/>
        </p:nvSpPr>
        <p:spPr>
          <a:xfrm xmlns:a="http://schemas.openxmlformats.org/drawingml/2006/main">
            <a:off x="8648700" y="542925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ctr">
              <a:defRPr sz="1275" b="1" i="0">
                <a:solidFill>
                  <a:srgbClr val="B7433E"/>
                </a:solidFill>
                <a:latin typeface="Arial"/>
                <a:ea typeface="Arial"/>
                <a:cs typeface="Arial"/>
              </a:defRPr>
            </a:pPr>
            <a:r>
              <a:rPr sz="1275" b="1" i="0">
                <a:solidFill>
                  <a:srgbClr val="B7433E"/>
                </a:solidFill>
                <a:latin typeface="Arial"/>
                <a:ea typeface="Arial"/>
                <a:cs typeface="Arial"/>
              </a:rPr>
              <a:t>Une pipeline crédible doit pouvoir invalider sa propre histoire.</a:t>
            </a:r>
          </a:p>
        </p:txBody>
      </p:sp>
    </p:spTree>
    <p:extLst>
      <p:ext uri="{BB962C8B-B14F-4D97-AF65-F5344CB8AC3E}">
        <p14:creationId xmlns:p14="http://schemas.microsoft.com/office/powerpoint/2010/main" val="2719796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458BD3D-D565-4E61-AB77-B7E9EB36ECD3}"/>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RÉSULTATS</a:t>
            </a:r>
          </a:p>
        </p:txBody>
      </p:sp>
      <p:sp>
        <p:nvSpPr>
          <p:cNvPr id="2" name="">
            <a:extLst xmlns:a="http://schemas.openxmlformats.org/drawingml/2006/main">
              <a:ext uri="{FF2B5EF4-FFF2-40B4-BE49-F238E27FC236}">
                <a16:creationId xmlns:a16="http://schemas.microsoft.com/office/drawing/2014/main" id="{FC0BF9D7-8684-4F38-BC75-193EA3F7D482}"/>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Résultat actuel : le ML ne bat pas Markowitz</a:t>
            </a:r>
          </a:p>
        </p:txBody>
      </p:sp>
      <p:sp>
        <p:nvSpPr>
          <p:cNvPr id="3" name="">
            <a:extLst xmlns:a="http://schemas.openxmlformats.org/drawingml/2006/main">
              <a:ext uri="{FF2B5EF4-FFF2-40B4-BE49-F238E27FC236}">
                <a16:creationId xmlns:a16="http://schemas.microsoft.com/office/drawing/2014/main" id="{B2C9D084-6259-470C-94C4-30F58D2D2E47}"/>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08B61240-1646-4C2B-86CD-7F54A3E4B2B1}"/>
              </a:ext>
            </a:extLst>
          </p:cNvPr>
          <p:cNvSpPr>
            <a:spLocks xmlns:a="http://schemas.openxmlformats.org/drawingml/2006/main" noGrp="1"/>
          </p:cNvSpPr>
          <p:nvPr/>
        </p:nvSpPr>
        <p:spPr>
          <a:xfrm xmlns:a="http://schemas.openxmlformats.org/drawingml/2006/main">
            <a:off x="609600" y="1257300"/>
            <a:ext cx="7239000" cy="4210050"/>
          </a:xfrm>
          <a:prstGeom xmlns:a="http://schemas.openxmlformats.org/drawingml/2006/main" prst="roundRect">
            <a:avLst>
              <a:gd name="adj" fmla="val 2715"/>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d1309540aa44918"/>
          <a:stretch xmlns:a="http://schemas.openxmlformats.org/drawingml/2006/main"/>
        </p:blipFill>
        <p:spPr>
          <a:xfrm xmlns:a="http://schemas.openxmlformats.org/drawingml/2006/main">
            <a:off x="723900" y="1781674"/>
            <a:ext cx="7010400" cy="316130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53906FD-D055-4BB6-9344-9791FEA70D2C}"/>
              </a:ext>
            </a:extLst>
          </p:cNvPr>
          <p:cNvSpPr>
            <a:spLocks xmlns:a="http://schemas.openxmlformats.org/drawingml/2006/main" noGrp="1"/>
          </p:cNvSpPr>
          <p:nvPr/>
        </p:nvSpPr>
        <p:spPr>
          <a:xfrm xmlns:a="http://schemas.openxmlformats.org/drawingml/2006/main">
            <a:off x="8191500" y="1409700"/>
            <a:ext cx="3238500" cy="1638300"/>
          </a:xfrm>
          <a:prstGeom xmlns:a="http://schemas.openxmlformats.org/drawingml/2006/main" prst="roundRect">
            <a:avLst>
              <a:gd name="adj" fmla="val 6977"/>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F12D681-D51B-4ECC-852A-65B525D11FC1}"/>
              </a:ext>
            </a:extLst>
          </p:cNvPr>
          <p:cNvSpPr>
            <a:spLocks xmlns:a="http://schemas.openxmlformats.org/drawingml/2006/main" noGrp="1"/>
          </p:cNvSpPr>
          <p:nvPr/>
        </p:nvSpPr>
        <p:spPr>
          <a:xfrm xmlns:a="http://schemas.openxmlformats.org/drawingml/2006/main">
            <a:off x="8439150" y="16192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0F766E"/>
                </a:solidFill>
                <a:latin typeface="Arial"/>
                <a:ea typeface="Arial"/>
                <a:cs typeface="Arial"/>
              </a:defRPr>
            </a:pPr>
            <a:r>
              <a:rPr sz="1275" b="1" i="0">
                <a:solidFill>
                  <a:srgbClr val="0F766E"/>
                </a:solidFill>
                <a:latin typeface="Arial"/>
                <a:ea typeface="Arial"/>
                <a:cs typeface="Arial"/>
              </a:rPr>
              <a:t>full_2021 · MAD</a:t>
            </a:r>
          </a:p>
        </p:txBody>
      </p:sp>
      <p:sp>
        <p:nvSpPr>
          <p:cNvPr id="8" name="">
            <a:extLst xmlns:a="http://schemas.openxmlformats.org/drawingml/2006/main">
              <a:ext uri="{FF2B5EF4-FFF2-40B4-BE49-F238E27FC236}">
                <a16:creationId xmlns:a16="http://schemas.microsoft.com/office/drawing/2014/main" id="{6C222B89-B06A-4E10-AFBE-F8A3A0792479}"/>
              </a:ext>
            </a:extLst>
          </p:cNvPr>
          <p:cNvSpPr>
            <a:spLocks xmlns:a="http://schemas.openxmlformats.org/drawingml/2006/main" noGrp="1"/>
          </p:cNvSpPr>
          <p:nvPr/>
        </p:nvSpPr>
        <p:spPr>
          <a:xfrm xmlns:a="http://schemas.openxmlformats.org/drawingml/2006/main">
            <a:off x="8439150" y="1962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0,9571</a:t>
            </a:r>
          </a:p>
        </p:txBody>
      </p:sp>
      <p:sp>
        <p:nvSpPr>
          <p:cNvPr id="9" name="">
            <a:extLst xmlns:a="http://schemas.openxmlformats.org/drawingml/2006/main">
              <a:ext uri="{FF2B5EF4-FFF2-40B4-BE49-F238E27FC236}">
                <a16:creationId xmlns:a16="http://schemas.microsoft.com/office/drawing/2014/main" id="{FBD9365B-BB2A-48FB-942C-90E11ED838AF}"/>
              </a:ext>
            </a:extLst>
          </p:cNvPr>
          <p:cNvSpPr>
            <a:spLocks xmlns:a="http://schemas.openxmlformats.org/drawingml/2006/main" noGrp="1"/>
          </p:cNvSpPr>
          <p:nvPr/>
        </p:nvSpPr>
        <p:spPr>
          <a:xfrm xmlns:a="http://schemas.openxmlformats.org/drawingml/2006/main">
            <a:off x="8439150" y="2457450"/>
            <a:ext cx="1314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0" i="0">
                <a:solidFill>
                  <a:srgbClr val="5D6675"/>
                </a:solidFill>
                <a:latin typeface="Arial"/>
                <a:ea typeface="Arial"/>
                <a:cs typeface="Arial"/>
              </a:defRPr>
            </a:pPr>
            <a:r>
              <a:rPr sz="1050" b="0" i="0">
                <a:solidFill>
                  <a:srgbClr val="5D6675"/>
                </a:solidFill>
                <a:latin typeface="Arial"/>
                <a:ea typeface="Arial"/>
                <a:cs typeface="Arial"/>
              </a:rPr>
              <a:t>régime</a:t>
            </a:r>
          </a:p>
        </p:txBody>
      </p:sp>
      <p:sp>
        <p:nvSpPr>
          <p:cNvPr id="10" name="">
            <a:extLst xmlns:a="http://schemas.openxmlformats.org/drawingml/2006/main">
              <a:ext uri="{FF2B5EF4-FFF2-40B4-BE49-F238E27FC236}">
                <a16:creationId xmlns:a16="http://schemas.microsoft.com/office/drawing/2014/main" id="{98963350-FC50-4223-80BE-03C0D295C4A6}"/>
              </a:ext>
            </a:extLst>
          </p:cNvPr>
          <p:cNvSpPr>
            <a:spLocks xmlns:a="http://schemas.openxmlformats.org/drawingml/2006/main" noGrp="1"/>
          </p:cNvSpPr>
          <p:nvPr/>
        </p:nvSpPr>
        <p:spPr>
          <a:xfrm xmlns:a="http://schemas.openxmlformats.org/drawingml/2006/main">
            <a:off x="9886950" y="196215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defRPr sz="2700" b="1" i="0">
                <a:solidFill>
                  <a:srgbClr val="0F766E"/>
                </a:solidFill>
                <a:latin typeface="Arial"/>
                <a:ea typeface="Arial"/>
                <a:cs typeface="Arial"/>
              </a:defRPr>
            </a:pPr>
            <a:r>
              <a:rPr sz="2700" b="1" i="0">
                <a:solidFill>
                  <a:srgbClr val="0F766E"/>
                </a:solidFill>
                <a:latin typeface="Arial"/>
                <a:ea typeface="Arial"/>
                <a:cs typeface="Arial"/>
              </a:rPr>
              <a:t>1,0690</a:t>
            </a:r>
          </a:p>
        </p:txBody>
      </p:sp>
      <p:sp>
        <p:nvSpPr>
          <p:cNvPr id="11" name="">
            <a:extLst xmlns:a="http://schemas.openxmlformats.org/drawingml/2006/main">
              <a:ext uri="{FF2B5EF4-FFF2-40B4-BE49-F238E27FC236}">
                <a16:creationId xmlns:a16="http://schemas.microsoft.com/office/drawing/2014/main" id="{1582C490-8C00-44F4-9064-1383E2AF7814}"/>
              </a:ext>
            </a:extLst>
          </p:cNvPr>
          <p:cNvSpPr>
            <a:spLocks xmlns:a="http://schemas.openxmlformats.org/drawingml/2006/main" noGrp="1"/>
          </p:cNvSpPr>
          <p:nvPr/>
        </p:nvSpPr>
        <p:spPr>
          <a:xfrm xmlns:a="http://schemas.openxmlformats.org/drawingml/2006/main">
            <a:off x="9886950" y="2457450"/>
            <a:ext cx="1314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0" i="0">
                <a:solidFill>
                  <a:srgbClr val="5D6675"/>
                </a:solidFill>
                <a:latin typeface="Arial"/>
                <a:ea typeface="Arial"/>
                <a:cs typeface="Arial"/>
              </a:defRPr>
            </a:pPr>
            <a:r>
              <a:rPr sz="1050" b="0" i="0">
                <a:solidFill>
                  <a:srgbClr val="5D6675"/>
                </a:solidFill>
                <a:latin typeface="Arial"/>
                <a:ea typeface="Arial"/>
                <a:cs typeface="Arial"/>
              </a:rPr>
              <a:t>max Sharpe</a:t>
            </a:r>
          </a:p>
        </p:txBody>
      </p:sp>
      <p:sp>
        <p:nvSpPr>
          <p:cNvPr id="12" name="">
            <a:extLst xmlns:a="http://schemas.openxmlformats.org/drawingml/2006/main">
              <a:ext uri="{FF2B5EF4-FFF2-40B4-BE49-F238E27FC236}">
                <a16:creationId xmlns:a16="http://schemas.microsoft.com/office/drawing/2014/main" id="{55168700-9497-40FD-AFC2-A4FE9889FAE4}"/>
              </a:ext>
            </a:extLst>
          </p:cNvPr>
          <p:cNvSpPr>
            <a:spLocks xmlns:a="http://schemas.openxmlformats.org/drawingml/2006/main" noGrp="1"/>
          </p:cNvSpPr>
          <p:nvPr/>
        </p:nvSpPr>
        <p:spPr>
          <a:xfrm xmlns:a="http://schemas.openxmlformats.org/drawingml/2006/main">
            <a:off x="8191500" y="3257550"/>
            <a:ext cx="3238500" cy="1638300"/>
          </a:xfrm>
          <a:prstGeom xmlns:a="http://schemas.openxmlformats.org/drawingml/2006/main" prst="roundRect">
            <a:avLst>
              <a:gd name="adj" fmla="val 6977"/>
            </a:avLst>
          </a:prstGeom>
          <a:solidFill xmlns:a="http://schemas.openxmlformats.org/drawingml/2006/main">
            <a:srgbClr val="DDEEFF"/>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E6B1AB35-DD72-46BC-942F-9AA0D08B898F}"/>
              </a:ext>
            </a:extLst>
          </p:cNvPr>
          <p:cNvSpPr>
            <a:spLocks xmlns:a="http://schemas.openxmlformats.org/drawingml/2006/main" noGrp="1"/>
          </p:cNvSpPr>
          <p:nvPr/>
        </p:nvSpPr>
        <p:spPr>
          <a:xfrm xmlns:a="http://schemas.openxmlformats.org/drawingml/2006/main">
            <a:off x="8439150" y="34671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3D8DFF"/>
                </a:solidFill>
                <a:latin typeface="Arial"/>
                <a:ea typeface="Arial"/>
                <a:cs typeface="Arial"/>
              </a:defRPr>
            </a:pPr>
            <a:r>
              <a:rPr sz="1275" b="1" i="0">
                <a:solidFill>
                  <a:srgbClr val="3D8DFF"/>
                </a:solidFill>
                <a:latin typeface="Arial"/>
                <a:ea typeface="Arial"/>
                <a:cs typeface="Arial"/>
              </a:rPr>
              <a:t>etf_2017 · USD</a:t>
            </a:r>
          </a:p>
        </p:txBody>
      </p:sp>
      <p:sp>
        <p:nvSpPr>
          <p:cNvPr id="14" name="">
            <a:extLst xmlns:a="http://schemas.openxmlformats.org/drawingml/2006/main">
              <a:ext uri="{FF2B5EF4-FFF2-40B4-BE49-F238E27FC236}">
                <a16:creationId xmlns:a16="http://schemas.microsoft.com/office/drawing/2014/main" id="{CE72DEFD-E499-4C78-83CB-A30FDC7E1012}"/>
              </a:ext>
            </a:extLst>
          </p:cNvPr>
          <p:cNvSpPr>
            <a:spLocks xmlns:a="http://schemas.openxmlformats.org/drawingml/2006/main" noGrp="1"/>
          </p:cNvSpPr>
          <p:nvPr/>
        </p:nvSpPr>
        <p:spPr>
          <a:xfrm xmlns:a="http://schemas.openxmlformats.org/drawingml/2006/main">
            <a:off x="8439150" y="381000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0,9371</a:t>
            </a:r>
          </a:p>
        </p:txBody>
      </p:sp>
      <p:sp>
        <p:nvSpPr>
          <p:cNvPr id="15" name="">
            <a:extLst xmlns:a="http://schemas.openxmlformats.org/drawingml/2006/main">
              <a:ext uri="{FF2B5EF4-FFF2-40B4-BE49-F238E27FC236}">
                <a16:creationId xmlns:a16="http://schemas.microsoft.com/office/drawing/2014/main" id="{9B1BB9BF-7A4B-4028-9C8C-7D671B3374B1}"/>
              </a:ext>
            </a:extLst>
          </p:cNvPr>
          <p:cNvSpPr>
            <a:spLocks xmlns:a="http://schemas.openxmlformats.org/drawingml/2006/main" noGrp="1"/>
          </p:cNvSpPr>
          <p:nvPr/>
        </p:nvSpPr>
        <p:spPr>
          <a:xfrm xmlns:a="http://schemas.openxmlformats.org/drawingml/2006/main">
            <a:off x="8439150" y="4305300"/>
            <a:ext cx="1314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0" i="0">
                <a:solidFill>
                  <a:srgbClr val="5D6675"/>
                </a:solidFill>
                <a:latin typeface="Arial"/>
                <a:ea typeface="Arial"/>
                <a:cs typeface="Arial"/>
              </a:defRPr>
            </a:pPr>
            <a:r>
              <a:rPr sz="1050" b="0" i="0">
                <a:solidFill>
                  <a:srgbClr val="5D6675"/>
                </a:solidFill>
                <a:latin typeface="Arial"/>
                <a:ea typeface="Arial"/>
                <a:cs typeface="Arial"/>
              </a:rPr>
              <a:t>régime</a:t>
            </a:r>
          </a:p>
        </p:txBody>
      </p:sp>
      <p:sp>
        <p:nvSpPr>
          <p:cNvPr id="16" name="">
            <a:extLst xmlns:a="http://schemas.openxmlformats.org/drawingml/2006/main">
              <a:ext uri="{FF2B5EF4-FFF2-40B4-BE49-F238E27FC236}">
                <a16:creationId xmlns:a16="http://schemas.microsoft.com/office/drawing/2014/main" id="{0A55FF9F-527A-4329-9735-BF8894AA1A6C}"/>
              </a:ext>
            </a:extLst>
          </p:cNvPr>
          <p:cNvSpPr>
            <a:spLocks xmlns:a="http://schemas.openxmlformats.org/drawingml/2006/main" noGrp="1"/>
          </p:cNvSpPr>
          <p:nvPr/>
        </p:nvSpPr>
        <p:spPr>
          <a:xfrm xmlns:a="http://schemas.openxmlformats.org/drawingml/2006/main">
            <a:off x="9886950" y="3810000"/>
            <a:ext cx="1314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48"/>
          </a:bodyPr>
          <a:lstStyle xmlns:a="http://schemas.openxmlformats.org/drawingml/2006/main"/>
          <a:p xmlns:a="http://schemas.openxmlformats.org/drawingml/2006/main">
            <a:pPr algn="l">
              <a:defRPr sz="2700" b="1" i="0">
                <a:solidFill>
                  <a:srgbClr val="3D8DFF"/>
                </a:solidFill>
                <a:latin typeface="Arial"/>
                <a:ea typeface="Arial"/>
                <a:cs typeface="Arial"/>
              </a:defRPr>
            </a:pPr>
            <a:r>
              <a:rPr sz="2700" b="1" i="0">
                <a:solidFill>
                  <a:srgbClr val="3D8DFF"/>
                </a:solidFill>
                <a:latin typeface="Arial"/>
                <a:ea typeface="Arial"/>
                <a:cs typeface="Arial"/>
              </a:rPr>
              <a:t>0,9525</a:t>
            </a:r>
          </a:p>
        </p:txBody>
      </p:sp>
      <p:sp>
        <p:nvSpPr>
          <p:cNvPr id="17" name="">
            <a:extLst xmlns:a="http://schemas.openxmlformats.org/drawingml/2006/main">
              <a:ext uri="{FF2B5EF4-FFF2-40B4-BE49-F238E27FC236}">
                <a16:creationId xmlns:a16="http://schemas.microsoft.com/office/drawing/2014/main" id="{DD0AAC4D-6654-4A89-AA43-1C602E58B9B2}"/>
              </a:ext>
            </a:extLst>
          </p:cNvPr>
          <p:cNvSpPr>
            <a:spLocks xmlns:a="http://schemas.openxmlformats.org/drawingml/2006/main" noGrp="1"/>
          </p:cNvSpPr>
          <p:nvPr/>
        </p:nvSpPr>
        <p:spPr>
          <a:xfrm xmlns:a="http://schemas.openxmlformats.org/drawingml/2006/main">
            <a:off x="9886950" y="4305300"/>
            <a:ext cx="1314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defRPr sz="1050" b="0" i="0">
                <a:solidFill>
                  <a:srgbClr val="5D6675"/>
                </a:solidFill>
                <a:latin typeface="Arial"/>
                <a:ea typeface="Arial"/>
                <a:cs typeface="Arial"/>
              </a:defRPr>
            </a:pPr>
            <a:r>
              <a:rPr sz="1050" b="0" i="0">
                <a:solidFill>
                  <a:srgbClr val="5D6675"/>
                </a:solidFill>
                <a:latin typeface="Arial"/>
                <a:ea typeface="Arial"/>
                <a:cs typeface="Arial"/>
              </a:rPr>
              <a:t>min-var. LW</a:t>
            </a:r>
          </a:p>
        </p:txBody>
      </p:sp>
      <p:sp>
        <p:nvSpPr>
          <p:cNvPr id="18" name="">
            <a:extLst xmlns:a="http://schemas.openxmlformats.org/drawingml/2006/main">
              <a:ext uri="{FF2B5EF4-FFF2-40B4-BE49-F238E27FC236}">
                <a16:creationId xmlns:a16="http://schemas.microsoft.com/office/drawing/2014/main" id="{E87C2008-D272-44A8-A3D8-D5F0C92AF7C7}"/>
              </a:ext>
            </a:extLst>
          </p:cNvPr>
          <p:cNvSpPr>
            <a:spLocks xmlns:a="http://schemas.openxmlformats.org/drawingml/2006/main" noGrp="1"/>
          </p:cNvSpPr>
          <p:nvPr/>
        </p:nvSpPr>
        <p:spPr>
          <a:xfrm xmlns:a="http://schemas.openxmlformats.org/drawingml/2006/main">
            <a:off x="8191500" y="52197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1" i="0">
                <a:solidFill>
                  <a:srgbClr val="B7433E"/>
                </a:solidFill>
                <a:latin typeface="Arial"/>
                <a:ea typeface="Arial"/>
                <a:cs typeface="Arial"/>
              </a:defRPr>
            </a:pPr>
            <a:r>
              <a:rPr sz="1200" b="1" i="0">
                <a:solidFill>
                  <a:srgbClr val="B7433E"/>
                </a:solidFill>
                <a:latin typeface="Arial"/>
                <a:ea typeface="Arial"/>
                <a:cs typeface="Arial"/>
              </a:rPr>
              <a:t>Écarts observés : −10,47 % et −1,62 %. Aucun test pairé n’établit ici la supériorité inverse.</a:t>
            </a:r>
          </a:p>
        </p:txBody>
      </p:sp>
    </p:spTree>
    <p:extLst>
      <p:ext uri="{BB962C8B-B14F-4D97-AF65-F5344CB8AC3E}">
        <p14:creationId xmlns:p14="http://schemas.microsoft.com/office/powerpoint/2010/main" val="20166321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317838E-78AD-4573-8AD7-0F2F1ACF09BE}"/>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VALIDITÉ STATISTIQUE</a:t>
            </a:r>
          </a:p>
        </p:txBody>
      </p:sp>
      <p:sp>
        <p:nvSpPr>
          <p:cNvPr id="2" name="">
            <a:extLst xmlns:a="http://schemas.openxmlformats.org/drawingml/2006/main">
              <a:ext uri="{FF2B5EF4-FFF2-40B4-BE49-F238E27FC236}">
                <a16:creationId xmlns:a16="http://schemas.microsoft.com/office/drawing/2014/main" id="{34C99B59-D379-49A4-AE3F-03547DD14BA0}"/>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Après correction de la recherche, aucun challenger ne gagne</a:t>
            </a:r>
          </a:p>
        </p:txBody>
      </p:sp>
      <p:sp>
        <p:nvSpPr>
          <p:cNvPr id="3" name="">
            <a:extLst xmlns:a="http://schemas.openxmlformats.org/drawingml/2006/main">
              <a:ext uri="{FF2B5EF4-FFF2-40B4-BE49-F238E27FC236}">
                <a16:creationId xmlns:a16="http://schemas.microsoft.com/office/drawing/2014/main" id="{F4D87388-8172-4099-84B8-2C02529CC5B3}"/>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6F9A0F6A-F5AC-4A4C-A6AB-1EF04AA9271D}"/>
              </a:ext>
            </a:extLst>
          </p:cNvPr>
          <p:cNvSpPr>
            <a:spLocks xmlns:a="http://schemas.openxmlformats.org/drawingml/2006/main" noGrp="1"/>
          </p:cNvSpPr>
          <p:nvPr/>
        </p:nvSpPr>
        <p:spPr>
          <a:xfrm xmlns:a="http://schemas.openxmlformats.org/drawingml/2006/main">
            <a:off x="609600" y="1238250"/>
            <a:ext cx="6858000" cy="4171950"/>
          </a:xfrm>
          <a:prstGeom xmlns:a="http://schemas.openxmlformats.org/drawingml/2006/main" prst="roundRect">
            <a:avLst>
              <a:gd name="adj" fmla="val 2740"/>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d05ac5862794ae6"/>
          <a:stretch xmlns:a="http://schemas.openxmlformats.org/drawingml/2006/main"/>
        </p:blipFill>
        <p:spPr>
          <a:xfrm xmlns:a="http://schemas.openxmlformats.org/drawingml/2006/main">
            <a:off x="723900" y="1588689"/>
            <a:ext cx="6629400" cy="347107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D0DEBA0-517C-4D41-BAF4-CDE0E6F2F040}"/>
              </a:ext>
            </a:extLst>
          </p:cNvPr>
          <p:cNvSpPr>
            <a:spLocks xmlns:a="http://schemas.openxmlformats.org/drawingml/2006/main" noGrp="1"/>
          </p:cNvSpPr>
          <p:nvPr/>
        </p:nvSpPr>
        <p:spPr>
          <a:xfrm xmlns:a="http://schemas.openxmlformats.org/drawingml/2006/main">
            <a:off x="7905750" y="14859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B7433E"/>
                </a:solidFill>
                <a:latin typeface="Arial"/>
                <a:ea typeface="Arial"/>
                <a:cs typeface="Arial"/>
              </a:defRPr>
            </a:pPr>
            <a:r>
              <a:rPr sz="3000" b="1" i="0">
                <a:solidFill>
                  <a:srgbClr val="B7433E"/>
                </a:solidFill>
                <a:latin typeface="Arial"/>
                <a:ea typeface="Arial"/>
                <a:cs typeface="Arial"/>
              </a:rPr>
              <a:t>8 / 8</a:t>
            </a:r>
          </a:p>
        </p:txBody>
      </p:sp>
      <p:sp>
        <p:nvSpPr>
          <p:cNvPr id="7" name="">
            <a:extLst xmlns:a="http://schemas.openxmlformats.org/drawingml/2006/main">
              <a:ext uri="{FF2B5EF4-FFF2-40B4-BE49-F238E27FC236}">
                <a16:creationId xmlns:a16="http://schemas.microsoft.com/office/drawing/2014/main" id="{89B42E2C-A891-47E8-B90B-AD8CBE2A92C0}"/>
              </a:ext>
            </a:extLst>
          </p:cNvPr>
          <p:cNvSpPr>
            <a:spLocks xmlns:a="http://schemas.openxmlformats.org/drawingml/2006/main" noGrp="1"/>
          </p:cNvSpPr>
          <p:nvPr/>
        </p:nvSpPr>
        <p:spPr>
          <a:xfrm xmlns:a="http://schemas.openxmlformats.org/drawingml/2006/main">
            <a:off x="7905750" y="20574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intervalles appariés</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contenant zéro</a:t>
            </a:r>
          </a:p>
        </p:txBody>
      </p:sp>
      <p:sp>
        <p:nvSpPr>
          <p:cNvPr id="8" name="">
            <a:extLst xmlns:a="http://schemas.openxmlformats.org/drawingml/2006/main">
              <a:ext uri="{FF2B5EF4-FFF2-40B4-BE49-F238E27FC236}">
                <a16:creationId xmlns:a16="http://schemas.microsoft.com/office/drawing/2014/main" id="{DBD05794-1430-4F56-8612-42FC7A32FA0A}"/>
              </a:ext>
            </a:extLst>
          </p:cNvPr>
          <p:cNvSpPr>
            <a:spLocks xmlns:a="http://schemas.openxmlformats.org/drawingml/2006/main" noGrp="1"/>
          </p:cNvSpPr>
          <p:nvPr/>
        </p:nvSpPr>
        <p:spPr>
          <a:xfrm xmlns:a="http://schemas.openxmlformats.org/drawingml/2006/main">
            <a:off x="9715500" y="148590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3D8DFF"/>
                </a:solidFill>
                <a:latin typeface="Arial"/>
                <a:ea typeface="Arial"/>
                <a:cs typeface="Arial"/>
              </a:defRPr>
            </a:pPr>
            <a:r>
              <a:rPr sz="3000" b="1" i="0">
                <a:solidFill>
                  <a:srgbClr val="3D8DFF"/>
                </a:solidFill>
                <a:latin typeface="Arial"/>
                <a:ea typeface="Arial"/>
                <a:cs typeface="Arial"/>
              </a:rPr>
              <a:t>240</a:t>
            </a:r>
          </a:p>
        </p:txBody>
      </p:sp>
      <p:sp>
        <p:nvSpPr>
          <p:cNvPr id="9" name="">
            <a:extLst xmlns:a="http://schemas.openxmlformats.org/drawingml/2006/main">
              <a:ext uri="{FF2B5EF4-FFF2-40B4-BE49-F238E27FC236}">
                <a16:creationId xmlns:a16="http://schemas.microsoft.com/office/drawing/2014/main" id="{3A77E348-BF5C-448F-80C4-609E227B64A1}"/>
              </a:ext>
            </a:extLst>
          </p:cNvPr>
          <p:cNvSpPr>
            <a:spLocks xmlns:a="http://schemas.openxmlformats.org/drawingml/2006/main" noGrp="1"/>
          </p:cNvSpPr>
          <p:nvPr/>
        </p:nvSpPr>
        <p:spPr>
          <a:xfrm xmlns:a="http://schemas.openxmlformats.org/drawingml/2006/main">
            <a:off x="9715500" y="205740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configurations</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dans la famille testée</a:t>
            </a:r>
          </a:p>
        </p:txBody>
      </p:sp>
      <p:sp>
        <p:nvSpPr>
          <p:cNvPr id="10" name="">
            <a:extLst xmlns:a="http://schemas.openxmlformats.org/drawingml/2006/main">
              <a:ext uri="{FF2B5EF4-FFF2-40B4-BE49-F238E27FC236}">
                <a16:creationId xmlns:a16="http://schemas.microsoft.com/office/drawing/2014/main" id="{680854D8-EB12-48E1-989E-571A93A13143}"/>
              </a:ext>
            </a:extLst>
          </p:cNvPr>
          <p:cNvSpPr>
            <a:spLocks xmlns:a="http://schemas.openxmlformats.org/drawingml/2006/main" noGrp="1"/>
          </p:cNvSpPr>
          <p:nvPr/>
        </p:nvSpPr>
        <p:spPr>
          <a:xfrm xmlns:a="http://schemas.openxmlformats.org/drawingml/2006/main">
            <a:off x="7905750" y="2724150"/>
            <a:ext cx="3429000" cy="952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FF5CF8C-F462-45B3-873F-02A3750D5B0E}"/>
              </a:ext>
            </a:extLst>
          </p:cNvPr>
          <p:cNvSpPr>
            <a:spLocks xmlns:a="http://schemas.openxmlformats.org/drawingml/2006/main" noGrp="1"/>
          </p:cNvSpPr>
          <p:nvPr/>
        </p:nvSpPr>
        <p:spPr>
          <a:xfrm xmlns:a="http://schemas.openxmlformats.org/drawingml/2006/main">
            <a:off x="7905750" y="29718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i="0">
                <a:solidFill>
                  <a:srgbClr val="3D8DFF"/>
                </a:solidFill>
                <a:latin typeface="Arial"/>
                <a:ea typeface="Arial"/>
                <a:cs typeface="Arial"/>
              </a:defRPr>
            </a:pPr>
            <a:r>
              <a:rPr sz="1125" b="1" i="0">
                <a:solidFill>
                  <a:srgbClr val="3D8DFF"/>
                </a:solidFill>
                <a:latin typeface="Arial"/>
                <a:ea typeface="Arial"/>
                <a:cs typeface="Arial"/>
              </a:rPr>
              <a:t>Benchmark primaire pré-spécifié</a:t>
            </a:r>
          </a:p>
        </p:txBody>
      </p:sp>
      <p:sp>
        <p:nvSpPr>
          <p:cNvPr id="12" name="">
            <a:extLst xmlns:a="http://schemas.openxmlformats.org/drawingml/2006/main">
              <a:ext uri="{FF2B5EF4-FFF2-40B4-BE49-F238E27FC236}">
                <a16:creationId xmlns:a16="http://schemas.microsoft.com/office/drawing/2014/main" id="{429AD655-88AE-44B6-B970-5A625DEC82C4}"/>
              </a:ext>
            </a:extLst>
          </p:cNvPr>
          <p:cNvSpPr>
            <a:spLocks xmlns:a="http://schemas.openxmlformats.org/drawingml/2006/main" noGrp="1"/>
          </p:cNvSpPr>
          <p:nvPr/>
        </p:nvSpPr>
        <p:spPr>
          <a:xfrm xmlns:a="http://schemas.openxmlformats.org/drawingml/2006/main">
            <a:off x="7905750" y="3295650"/>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defRPr sz="1875" b="1" i="0">
                <a:solidFill>
                  <a:srgbClr val="111827"/>
                </a:solidFill>
                <a:latin typeface="Arial"/>
                <a:ea typeface="Arial"/>
                <a:cs typeface="Arial"/>
              </a:defRPr>
            </a:pPr>
            <a:r>
              <a:rPr sz="1875" b="1" i="0">
                <a:solidFill>
                  <a:srgbClr val="111827"/>
                </a:solidFill>
                <a:latin typeface="Arial"/>
                <a:ea typeface="Arial"/>
                <a:cs typeface="Arial"/>
              </a:rPr>
              <a:t>regime_conditional</a:t>
            </a:r>
          </a:p>
        </p:txBody>
      </p:sp>
      <p:sp>
        <p:nvSpPr>
          <p:cNvPr id="13" name="">
            <a:extLst xmlns:a="http://schemas.openxmlformats.org/drawingml/2006/main">
              <a:ext uri="{FF2B5EF4-FFF2-40B4-BE49-F238E27FC236}">
                <a16:creationId xmlns:a16="http://schemas.microsoft.com/office/drawing/2014/main" id="{04C8B4AE-9181-4706-958C-DCC5719EC50D}"/>
              </a:ext>
            </a:extLst>
          </p:cNvPr>
          <p:cNvSpPr>
            <a:spLocks xmlns:a="http://schemas.openxmlformats.org/drawingml/2006/main" noGrp="1"/>
          </p:cNvSpPr>
          <p:nvPr/>
        </p:nvSpPr>
        <p:spPr>
          <a:xfrm xmlns:a="http://schemas.openxmlformats.org/drawingml/2006/main">
            <a:off x="7905750" y="3790950"/>
            <a:ext cx="3429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White RC : p = 0,124–0,881</a:t>
            </a:r>
          </a:p>
          <a:p xmlns:a="http://schemas.openxmlformats.org/drawingml/2006/main">
            <a:pPr algn="l">
              <a:defRPr sz="1350" b="0" i="0">
                <a:solidFill>
                  <a:srgbClr val="111827"/>
                </a:solidFill>
                <a:latin typeface="Arial"/>
                <a:ea typeface="Arial"/>
                <a:cs typeface="Arial"/>
              </a:defRPr>
            </a:pPr>
            <a:r>
              <a:rPr sz="1350" b="0" i="0">
                <a:solidFill>
                  <a:srgbClr val="111827"/>
                </a:solidFill>
                <a:latin typeface="Arial"/>
                <a:ea typeface="Arial"/>
                <a:cs typeface="Arial"/>
              </a:rPr>
              <a:t>Hansen SPA : p = 0,085–0,636</a:t>
            </a:r>
          </a:p>
        </p:txBody>
      </p:sp>
      <p:sp>
        <p:nvSpPr>
          <p:cNvPr id="14" name="">
            <a:extLst xmlns:a="http://schemas.openxmlformats.org/drawingml/2006/main">
              <a:ext uri="{FF2B5EF4-FFF2-40B4-BE49-F238E27FC236}">
                <a16:creationId xmlns:a16="http://schemas.microsoft.com/office/drawing/2014/main" id="{51B62536-4343-4DDC-A3D0-3E8114EFF9B2}"/>
              </a:ext>
            </a:extLst>
          </p:cNvPr>
          <p:cNvSpPr>
            <a:spLocks xmlns:a="http://schemas.openxmlformats.org/drawingml/2006/main" noGrp="1"/>
          </p:cNvSpPr>
          <p:nvPr/>
        </p:nvSpPr>
        <p:spPr>
          <a:xfrm xmlns:a="http://schemas.openxmlformats.org/drawingml/2006/main">
            <a:off x="7829550" y="4762500"/>
            <a:ext cx="3600450" cy="952500"/>
          </a:xfrm>
          <a:prstGeom xmlns:a="http://schemas.openxmlformats.org/drawingml/2006/main" prst="roundRect">
            <a:avLst>
              <a:gd name="adj" fmla="val 12000"/>
            </a:avLst>
          </a:prstGeom>
          <a:solidFill xmlns:a="http://schemas.openxmlformats.org/drawingml/2006/main">
            <a:srgbClr val="173B67"/>
          </a:solidFill>
          <a:ln xmlns:a="http://schemas.openxmlformats.org/drawingml/2006/main" w="0">
            <a:no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944D9DB-7049-43C4-9B2C-FDCDE1B60CCB}"/>
              </a:ext>
            </a:extLst>
          </p:cNvPr>
          <p:cNvSpPr>
            <a:spLocks xmlns:a="http://schemas.openxmlformats.org/drawingml/2006/main" noGrp="1"/>
          </p:cNvSpPr>
          <p:nvPr/>
        </p:nvSpPr>
        <p:spPr>
          <a:xfrm xmlns:a="http://schemas.openxmlformats.org/drawingml/2006/main">
            <a:off x="8058150" y="49530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defRPr sz="1050" b="1" i="0">
                <a:solidFill>
                  <a:srgbClr val="D0EDFA"/>
                </a:solidFill>
                <a:latin typeface="Arial"/>
                <a:ea typeface="Arial"/>
                <a:cs typeface="Arial"/>
              </a:defRPr>
            </a:pPr>
            <a:r>
              <a:rPr sz="1050" b="1" i="0">
                <a:solidFill>
                  <a:srgbClr val="D0EDFA"/>
                </a:solidFill>
                <a:latin typeface="Arial"/>
                <a:ea typeface="Arial"/>
                <a:cs typeface="Arial"/>
              </a:rPr>
              <a:t>Conclusion défendable</a:t>
            </a:r>
          </a:p>
        </p:txBody>
      </p:sp>
      <p:sp>
        <p:nvSpPr>
          <p:cNvPr id="16" name="">
            <a:extLst xmlns:a="http://schemas.openxmlformats.org/drawingml/2006/main">
              <a:ext uri="{FF2B5EF4-FFF2-40B4-BE49-F238E27FC236}">
                <a16:creationId xmlns:a16="http://schemas.microsoft.com/office/drawing/2014/main" id="{EE5D78DC-15E5-418F-87ED-7274EDDC788E}"/>
              </a:ext>
            </a:extLst>
          </p:cNvPr>
          <p:cNvSpPr>
            <a:spLocks xmlns:a="http://schemas.openxmlformats.org/drawingml/2006/main" noGrp="1"/>
          </p:cNvSpPr>
          <p:nvPr/>
        </p:nvSpPr>
        <p:spPr>
          <a:xfrm xmlns:a="http://schemas.openxmlformats.org/drawingml/2006/main">
            <a:off x="8058150" y="52578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370"/>
          </a:bodyPr>
          <a:lstStyle xmlns:a="http://schemas.openxmlformats.org/drawingml/2006/main"/>
          <a:p xmlns:a="http://schemas.openxmlformats.org/drawingml/2006/main">
            <a:pPr algn="l">
              <a:defRPr sz="1350" b="1" i="0">
                <a:solidFill>
                  <a:srgbClr val="FFFFFF"/>
                </a:solidFill>
                <a:latin typeface="Arial"/>
                <a:ea typeface="Arial"/>
                <a:cs typeface="Arial"/>
              </a:defRPr>
            </a:pPr>
            <a:r>
              <a:rPr sz="1350" b="1" i="0">
                <a:solidFill>
                  <a:srgbClr val="FFFFFF"/>
                </a:solidFill>
                <a:latin typeface="Arial"/>
                <a:ea typeface="Arial"/>
                <a:cs typeface="Arial"/>
              </a:rPr>
              <a:t>Aucun candidat n’établit de surperformance contre le comparateur primaire.</a:t>
            </a:r>
          </a:p>
        </p:txBody>
      </p:sp>
    </p:spTree>
    <p:extLst>
      <p:ext uri="{BB962C8B-B14F-4D97-AF65-F5344CB8AC3E}">
        <p14:creationId xmlns:p14="http://schemas.microsoft.com/office/powerpoint/2010/main" val="8931166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A53B631-AD11-42D9-B706-31729648646A}"/>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EXPÉRIENCE MAROC PROFOND</a:t>
            </a:r>
          </a:p>
        </p:txBody>
      </p:sp>
      <p:sp>
        <p:nvSpPr>
          <p:cNvPr id="2" name="">
            <a:extLst xmlns:a="http://schemas.openxmlformats.org/drawingml/2006/main">
              <a:ext uri="{FF2B5EF4-FFF2-40B4-BE49-F238E27FC236}">
                <a16:creationId xmlns:a16="http://schemas.microsoft.com/office/drawing/2014/main" id="{42A63CA2-3F56-47D7-8CBA-1D2D2CF85DDF}"/>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44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Plus de données améliorent le signal — pas la preuve d’allocation</a:t>
            </a:r>
          </a:p>
        </p:txBody>
      </p:sp>
      <p:sp>
        <p:nvSpPr>
          <p:cNvPr id="3" name="">
            <a:extLst xmlns:a="http://schemas.openxmlformats.org/drawingml/2006/main">
              <a:ext uri="{FF2B5EF4-FFF2-40B4-BE49-F238E27FC236}">
                <a16:creationId xmlns:a16="http://schemas.microsoft.com/office/drawing/2014/main" id="{EF3838A5-D5E4-4241-AA5F-90BED72268B3}"/>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4D4B05E3-4BF8-40C5-B2D2-2ECA707D031B}"/>
              </a:ext>
            </a:extLst>
          </p:cNvPr>
          <p:cNvSpPr>
            <a:spLocks xmlns:a="http://schemas.openxmlformats.org/drawingml/2006/main" noGrp="1"/>
          </p:cNvSpPr>
          <p:nvPr/>
        </p:nvSpPr>
        <p:spPr>
          <a:xfrm xmlns:a="http://schemas.openxmlformats.org/drawingml/2006/main">
            <a:off x="685800" y="142875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3D8DFF"/>
                </a:solidFill>
                <a:latin typeface="Arial"/>
                <a:ea typeface="Arial"/>
                <a:cs typeface="Arial"/>
              </a:defRPr>
            </a:pPr>
            <a:r>
              <a:rPr sz="3000" b="1" i="0">
                <a:solidFill>
                  <a:srgbClr val="3D8DFF"/>
                </a:solidFill>
                <a:latin typeface="Arial"/>
                <a:ea typeface="Arial"/>
                <a:cs typeface="Arial"/>
              </a:rPr>
              <a:t>2005–2024</a:t>
            </a:r>
          </a:p>
        </p:txBody>
      </p:sp>
      <p:sp>
        <p:nvSpPr>
          <p:cNvPr id="5" name="">
            <a:extLst xmlns:a="http://schemas.openxmlformats.org/drawingml/2006/main">
              <a:ext uri="{FF2B5EF4-FFF2-40B4-BE49-F238E27FC236}">
                <a16:creationId xmlns:a16="http://schemas.microsoft.com/office/drawing/2014/main" id="{44634EBF-26D2-4D70-8331-0A3FFF5F0CB9}"/>
              </a:ext>
            </a:extLst>
          </p:cNvPr>
          <p:cNvSpPr>
            <a:spLocks xmlns:a="http://schemas.openxmlformats.org/drawingml/2006/main" noGrp="1"/>
          </p:cNvSpPr>
          <p:nvPr/>
        </p:nvSpPr>
        <p:spPr>
          <a:xfrm xmlns:a="http://schemas.openxmlformats.org/drawingml/2006/main">
            <a:off x="685800" y="200025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historique marocain</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reconstitué pour l’expérience</a:t>
            </a:r>
          </a:p>
        </p:txBody>
      </p:sp>
      <p:sp>
        <p:nvSpPr>
          <p:cNvPr id="6" name="">
            <a:extLst xmlns:a="http://schemas.openxmlformats.org/drawingml/2006/main">
              <a:ext uri="{FF2B5EF4-FFF2-40B4-BE49-F238E27FC236}">
                <a16:creationId xmlns:a16="http://schemas.microsoft.com/office/drawing/2014/main" id="{E0E6BE1F-6F49-43E5-B61B-20E9BA5C343C}"/>
              </a:ext>
            </a:extLst>
          </p:cNvPr>
          <p:cNvSpPr>
            <a:spLocks xmlns:a="http://schemas.openxmlformats.org/drawingml/2006/main" noGrp="1"/>
          </p:cNvSpPr>
          <p:nvPr/>
        </p:nvSpPr>
        <p:spPr>
          <a:xfrm xmlns:a="http://schemas.openxmlformats.org/drawingml/2006/main">
            <a:off x="3600450" y="14287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0F766E"/>
                </a:solidFill>
                <a:latin typeface="Arial"/>
                <a:ea typeface="Arial"/>
                <a:cs typeface="Arial"/>
              </a:defRPr>
            </a:pPr>
            <a:r>
              <a:rPr sz="3000" b="1" i="0">
                <a:solidFill>
                  <a:srgbClr val="0F766E"/>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A0C92439-502A-40EA-846C-232A871E77D3}"/>
              </a:ext>
            </a:extLst>
          </p:cNvPr>
          <p:cNvSpPr>
            <a:spLocks xmlns:a="http://schemas.openxmlformats.org/drawingml/2006/main" noGrp="1"/>
          </p:cNvSpPr>
          <p:nvPr/>
        </p:nvSpPr>
        <p:spPr>
          <a:xfrm xmlns:a="http://schemas.openxmlformats.org/drawingml/2006/main">
            <a:off x="3600450" y="200025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actions BVC</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dans le panel</a:t>
            </a:r>
          </a:p>
        </p:txBody>
      </p:sp>
      <p:sp>
        <p:nvSpPr>
          <p:cNvPr id="8" name="">
            <a:extLst xmlns:a="http://schemas.openxmlformats.org/drawingml/2006/main">
              <a:ext uri="{FF2B5EF4-FFF2-40B4-BE49-F238E27FC236}">
                <a16:creationId xmlns:a16="http://schemas.microsoft.com/office/drawing/2014/main" id="{D0F04256-CB1D-4BE1-BCAA-36D22129488B}"/>
              </a:ext>
            </a:extLst>
          </p:cNvPr>
          <p:cNvSpPr>
            <a:spLocks xmlns:a="http://schemas.openxmlformats.org/drawingml/2006/main" noGrp="1"/>
          </p:cNvSpPr>
          <p:nvPr/>
        </p:nvSpPr>
        <p:spPr>
          <a:xfrm xmlns:a="http://schemas.openxmlformats.org/drawingml/2006/main">
            <a:off x="5905500" y="14287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A86812"/>
                </a:solidFill>
                <a:latin typeface="Arial"/>
                <a:ea typeface="Arial"/>
                <a:cs typeface="Arial"/>
              </a:defRPr>
            </a:pPr>
            <a:r>
              <a:rPr sz="3000" b="1" i="0">
                <a:solidFill>
                  <a:srgbClr val="A86812"/>
                </a:solidFill>
                <a:latin typeface="Arial"/>
                <a:ea typeface="Arial"/>
                <a:cs typeface="Arial"/>
              </a:rPr>
              <a:t>56 184</a:t>
            </a:r>
          </a:p>
        </p:txBody>
      </p:sp>
      <p:sp>
        <p:nvSpPr>
          <p:cNvPr id="9" name="">
            <a:extLst xmlns:a="http://schemas.openxmlformats.org/drawingml/2006/main">
              <a:ext uri="{FF2B5EF4-FFF2-40B4-BE49-F238E27FC236}">
                <a16:creationId xmlns:a16="http://schemas.microsoft.com/office/drawing/2014/main" id="{C21398FF-7828-4A2F-AD42-EC373429D239}"/>
              </a:ext>
            </a:extLst>
          </p:cNvPr>
          <p:cNvSpPr>
            <a:spLocks xmlns:a="http://schemas.openxmlformats.org/drawingml/2006/main" noGrp="1"/>
          </p:cNvSpPr>
          <p:nvPr/>
        </p:nvSpPr>
        <p:spPr>
          <a:xfrm xmlns:a="http://schemas.openxmlformats.org/drawingml/2006/main">
            <a:off x="5905500" y="20002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lignes du panel</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 5× full_2021</a:t>
            </a:r>
          </a:p>
        </p:txBody>
      </p:sp>
      <p:sp>
        <p:nvSpPr>
          <p:cNvPr id="10" name="">
            <a:extLst xmlns:a="http://schemas.openxmlformats.org/drawingml/2006/main">
              <a:ext uri="{FF2B5EF4-FFF2-40B4-BE49-F238E27FC236}">
                <a16:creationId xmlns:a16="http://schemas.microsoft.com/office/drawing/2014/main" id="{00E6A059-E474-4145-AB63-590C03C78C6C}"/>
              </a:ext>
            </a:extLst>
          </p:cNvPr>
          <p:cNvSpPr>
            <a:spLocks xmlns:a="http://schemas.openxmlformats.org/drawingml/2006/main" noGrp="1"/>
          </p:cNvSpPr>
          <p:nvPr/>
        </p:nvSpPr>
        <p:spPr>
          <a:xfrm xmlns:a="http://schemas.openxmlformats.org/drawingml/2006/main">
            <a:off x="8705850" y="1428750"/>
            <a:ext cx="228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B7433E"/>
                </a:solidFill>
                <a:latin typeface="Arial"/>
                <a:ea typeface="Arial"/>
                <a:cs typeface="Arial"/>
              </a:defRPr>
            </a:pPr>
            <a:r>
              <a:rPr sz="3000" b="1" i="0">
                <a:solidFill>
                  <a:srgbClr val="B7433E"/>
                </a:solidFill>
                <a:latin typeface="Arial"/>
                <a:ea typeface="Arial"/>
                <a:cs typeface="Arial"/>
              </a:rPr>
              <a:t>×2 à ×4</a:t>
            </a:r>
          </a:p>
        </p:txBody>
      </p:sp>
      <p:sp>
        <p:nvSpPr>
          <p:cNvPr id="11" name="">
            <a:extLst xmlns:a="http://schemas.openxmlformats.org/drawingml/2006/main">
              <a:ext uri="{FF2B5EF4-FFF2-40B4-BE49-F238E27FC236}">
                <a16:creationId xmlns:a16="http://schemas.microsoft.com/office/drawing/2014/main" id="{BE2075DB-4BB8-4DBF-A2F1-A1C851B806C3}"/>
              </a:ext>
            </a:extLst>
          </p:cNvPr>
          <p:cNvSpPr>
            <a:spLocks xmlns:a="http://schemas.openxmlformats.org/drawingml/2006/main" noGrp="1"/>
          </p:cNvSpPr>
          <p:nvPr/>
        </p:nvSpPr>
        <p:spPr>
          <a:xfrm xmlns:a="http://schemas.openxmlformats.org/drawingml/2006/main">
            <a:off x="8705850" y="20002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hausse de l’IC</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selon le modèle</a:t>
            </a:r>
          </a:p>
        </p:txBody>
      </p:sp>
      <p:sp>
        <p:nvSpPr>
          <p:cNvPr id="12" name="">
            <a:extLst xmlns:a="http://schemas.openxmlformats.org/drawingml/2006/main">
              <a:ext uri="{FF2B5EF4-FFF2-40B4-BE49-F238E27FC236}">
                <a16:creationId xmlns:a16="http://schemas.microsoft.com/office/drawing/2014/main" id="{F8E05FD7-AA66-4D78-A566-788B4962524F}"/>
              </a:ext>
            </a:extLst>
          </p:cNvPr>
          <p:cNvSpPr>
            <a:spLocks xmlns:a="http://schemas.openxmlformats.org/drawingml/2006/main" noGrp="1"/>
          </p:cNvSpPr>
          <p:nvPr/>
        </p:nvSpPr>
        <p:spPr>
          <a:xfrm xmlns:a="http://schemas.openxmlformats.org/drawingml/2006/main">
            <a:off x="685800" y="2895600"/>
            <a:ext cx="10287000" cy="952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C978605B-B85E-4513-8A6E-BBA240B3A531}"/>
              </a:ext>
            </a:extLst>
          </p:cNvPr>
          <p:cNvSpPr>
            <a:spLocks xmlns:a="http://schemas.openxmlformats.org/drawingml/2006/main" noGrp="1"/>
          </p:cNvSpPr>
          <p:nvPr/>
        </p:nvSpPr>
        <p:spPr>
          <a:xfrm xmlns:a="http://schemas.openxmlformats.org/drawingml/2006/main">
            <a:off x="685800" y="3276600"/>
            <a:ext cx="4810125" cy="2076450"/>
          </a:xfrm>
          <a:prstGeom xmlns:a="http://schemas.openxmlformats.org/drawingml/2006/main" prst="roundRect">
            <a:avLst>
              <a:gd name="adj" fmla="val 5505"/>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3AD93C36-2E4A-4362-9049-31D5864A279D}"/>
              </a:ext>
            </a:extLst>
          </p:cNvPr>
          <p:cNvSpPr>
            <a:spLocks xmlns:a="http://schemas.openxmlformats.org/drawingml/2006/main" noGrp="1"/>
          </p:cNvSpPr>
          <p:nvPr/>
        </p:nvSpPr>
        <p:spPr>
          <a:xfrm xmlns:a="http://schemas.openxmlformats.org/drawingml/2006/main">
            <a:off x="952500" y="35242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0F766E"/>
                </a:solidFill>
                <a:latin typeface="Arial"/>
                <a:ea typeface="Arial"/>
                <a:cs typeface="Arial"/>
              </a:defRPr>
            </a:pPr>
            <a:r>
              <a:rPr sz="1500" b="1" i="0">
                <a:solidFill>
                  <a:srgbClr val="0F766E"/>
                </a:solidFill>
                <a:latin typeface="Arial"/>
                <a:ea typeface="Arial"/>
                <a:cs typeface="Arial"/>
              </a:rPr>
              <a:t>Ce que l’expérience montre</a:t>
            </a:r>
          </a:p>
        </p:txBody>
      </p:sp>
      <p:sp>
        <p:nvSpPr>
          <p:cNvPr id="15" name="">
            <a:extLst xmlns:a="http://schemas.openxmlformats.org/drawingml/2006/main">
              <a:ext uri="{FF2B5EF4-FFF2-40B4-BE49-F238E27FC236}">
                <a16:creationId xmlns:a16="http://schemas.microsoft.com/office/drawing/2014/main" id="{174CD4EF-FD59-4460-B71A-92828C83C534}"/>
              </a:ext>
            </a:extLst>
          </p:cNvPr>
          <p:cNvSpPr>
            <a:spLocks xmlns:a="http://schemas.openxmlformats.org/drawingml/2006/main" noGrp="1"/>
          </p:cNvSpPr>
          <p:nvPr/>
        </p:nvSpPr>
        <p:spPr>
          <a:xfrm xmlns:a="http://schemas.openxmlformats.org/drawingml/2006/main">
            <a:off x="971550" y="4067175"/>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72DACAA5-7F22-41C8-B960-6F633BC9DA6F}"/>
              </a:ext>
            </a:extLst>
          </p:cNvPr>
          <p:cNvSpPr>
            <a:spLocks xmlns:a="http://schemas.openxmlformats.org/drawingml/2006/main" noGrp="1"/>
          </p:cNvSpPr>
          <p:nvPr/>
        </p:nvSpPr>
        <p:spPr>
          <a:xfrm xmlns:a="http://schemas.openxmlformats.org/drawingml/2006/main">
            <a:off x="1181100" y="4000500"/>
            <a:ext cx="3886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Apprentissage</a:t>
            </a:r>
          </a:p>
        </p:txBody>
      </p:sp>
      <p:sp>
        <p:nvSpPr>
          <p:cNvPr id="17" name="">
            <a:extLst xmlns:a="http://schemas.openxmlformats.org/drawingml/2006/main">
              <a:ext uri="{FF2B5EF4-FFF2-40B4-BE49-F238E27FC236}">
                <a16:creationId xmlns:a16="http://schemas.microsoft.com/office/drawing/2014/main" id="{0D1A5726-D34A-4F13-9496-EB903B8433D4}"/>
              </a:ext>
            </a:extLst>
          </p:cNvPr>
          <p:cNvSpPr>
            <a:spLocks xmlns:a="http://schemas.openxmlformats.org/drawingml/2006/main" noGrp="1"/>
          </p:cNvSpPr>
          <p:nvPr/>
        </p:nvSpPr>
        <p:spPr>
          <a:xfrm xmlns:a="http://schemas.openxmlformats.org/drawingml/2006/main">
            <a:off x="1181100" y="4276725"/>
            <a:ext cx="3886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Davantage d’observations renforcent la stabilité du signal prédictif.</a:t>
            </a:r>
          </a:p>
        </p:txBody>
      </p:sp>
      <p:sp>
        <p:nvSpPr>
          <p:cNvPr id="18" name="">
            <a:extLst xmlns:a="http://schemas.openxmlformats.org/drawingml/2006/main">
              <a:ext uri="{FF2B5EF4-FFF2-40B4-BE49-F238E27FC236}">
                <a16:creationId xmlns:a16="http://schemas.microsoft.com/office/drawing/2014/main" id="{E415EEE9-0607-403D-AB46-39ED486220DE}"/>
              </a:ext>
            </a:extLst>
          </p:cNvPr>
          <p:cNvSpPr>
            <a:spLocks xmlns:a="http://schemas.openxmlformats.org/drawingml/2006/main" noGrp="1"/>
          </p:cNvSpPr>
          <p:nvPr/>
        </p:nvSpPr>
        <p:spPr>
          <a:xfrm xmlns:a="http://schemas.openxmlformats.org/drawingml/2006/main">
            <a:off x="971550" y="4733925"/>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9E5B718-19E2-4B00-BD16-F74EA202CADE}"/>
              </a:ext>
            </a:extLst>
          </p:cNvPr>
          <p:cNvSpPr>
            <a:spLocks xmlns:a="http://schemas.openxmlformats.org/drawingml/2006/main" noGrp="1"/>
          </p:cNvSpPr>
          <p:nvPr/>
        </p:nvSpPr>
        <p:spPr>
          <a:xfrm xmlns:a="http://schemas.openxmlformats.org/drawingml/2006/main">
            <a:off x="1181100" y="4667250"/>
            <a:ext cx="3886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Diagnostic</a:t>
            </a:r>
          </a:p>
        </p:txBody>
      </p:sp>
      <p:sp>
        <p:nvSpPr>
          <p:cNvPr id="20" name="">
            <a:extLst xmlns:a="http://schemas.openxmlformats.org/drawingml/2006/main">
              <a:ext uri="{FF2B5EF4-FFF2-40B4-BE49-F238E27FC236}">
                <a16:creationId xmlns:a16="http://schemas.microsoft.com/office/drawing/2014/main" id="{DC3AB244-6302-42B6-938F-E36021FAAD87}"/>
              </a:ext>
            </a:extLst>
          </p:cNvPr>
          <p:cNvSpPr>
            <a:spLocks xmlns:a="http://schemas.openxmlformats.org/drawingml/2006/main" noGrp="1"/>
          </p:cNvSpPr>
          <p:nvPr/>
        </p:nvSpPr>
        <p:spPr>
          <a:xfrm xmlns:a="http://schemas.openxmlformats.org/drawingml/2006/main">
            <a:off x="1181100" y="4943475"/>
            <a:ext cx="3886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La rareté des données n’explique pas seule le résultat négatif.</a:t>
            </a:r>
          </a:p>
        </p:txBody>
      </p:sp>
      <p:sp>
        <p:nvSpPr>
          <p:cNvPr id="21" name="">
            <a:extLst xmlns:a="http://schemas.openxmlformats.org/drawingml/2006/main">
              <a:ext uri="{FF2B5EF4-FFF2-40B4-BE49-F238E27FC236}">
                <a16:creationId xmlns:a16="http://schemas.microsoft.com/office/drawing/2014/main" id="{B6F81962-ACB4-4218-A4FF-536F40F14154}"/>
              </a:ext>
            </a:extLst>
          </p:cNvPr>
          <p:cNvSpPr>
            <a:spLocks xmlns:a="http://schemas.openxmlformats.org/drawingml/2006/main" noGrp="1"/>
          </p:cNvSpPr>
          <p:nvPr/>
        </p:nvSpPr>
        <p:spPr>
          <a:xfrm xmlns:a="http://schemas.openxmlformats.org/drawingml/2006/main">
            <a:off x="5810250" y="3276600"/>
            <a:ext cx="5162550" cy="2076450"/>
          </a:xfrm>
          <a:prstGeom xmlns:a="http://schemas.openxmlformats.org/drawingml/2006/main" prst="roundRect">
            <a:avLst>
              <a:gd name="adj" fmla="val 5505"/>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31FDBE1E-1406-4E6F-ACC6-63F2246DBF05}"/>
              </a:ext>
            </a:extLst>
          </p:cNvPr>
          <p:cNvSpPr>
            <a:spLocks xmlns:a="http://schemas.openxmlformats.org/drawingml/2006/main" noGrp="1"/>
          </p:cNvSpPr>
          <p:nvPr/>
        </p:nvSpPr>
        <p:spPr>
          <a:xfrm xmlns:a="http://schemas.openxmlformats.org/drawingml/2006/main">
            <a:off x="6076950" y="35242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i="0">
                <a:solidFill>
                  <a:srgbClr val="B7433E"/>
                </a:solidFill>
                <a:latin typeface="Arial"/>
                <a:ea typeface="Arial"/>
                <a:cs typeface="Arial"/>
              </a:defRPr>
            </a:pPr>
            <a:r>
              <a:rPr sz="1500" b="1" i="0">
                <a:solidFill>
                  <a:srgbClr val="B7433E"/>
                </a:solidFill>
                <a:latin typeface="Arial"/>
                <a:ea typeface="Arial"/>
                <a:cs typeface="Arial"/>
              </a:rPr>
              <a:t>Ce qu’elle ne montre pas</a:t>
            </a:r>
          </a:p>
        </p:txBody>
      </p:sp>
      <p:sp>
        <p:nvSpPr>
          <p:cNvPr id="23" name="">
            <a:extLst xmlns:a="http://schemas.openxmlformats.org/drawingml/2006/main">
              <a:ext uri="{FF2B5EF4-FFF2-40B4-BE49-F238E27FC236}">
                <a16:creationId xmlns:a16="http://schemas.microsoft.com/office/drawing/2014/main" id="{E51AD34E-E8A3-4FD1-80EB-4DA6AB2218F3}"/>
              </a:ext>
            </a:extLst>
          </p:cNvPr>
          <p:cNvSpPr>
            <a:spLocks xmlns:a="http://schemas.openxmlformats.org/drawingml/2006/main" noGrp="1"/>
          </p:cNvSpPr>
          <p:nvPr/>
        </p:nvSpPr>
        <p:spPr>
          <a:xfrm xmlns:a="http://schemas.openxmlformats.org/drawingml/2006/main">
            <a:off x="6096000" y="4067175"/>
            <a:ext cx="76200" cy="76200"/>
          </a:xfrm>
          <a:prstGeom xmlns:a="http://schemas.openxmlformats.org/drawingml/2006/main" prst="roundRect">
            <a:avLst>
              <a:gd name="adj" fmla="val 50000"/>
            </a:avLst>
          </a:prstGeom>
          <a:solidFill xmlns:a="http://schemas.openxmlformats.org/drawingml/2006/main">
            <a:srgbClr val="B7433E"/>
          </a:solidFill>
          <a:ln xmlns:a="http://schemas.openxmlformats.org/drawingml/2006/main" w="0">
            <a:no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24D51A88-C18A-411B-AF94-A96B67107898}"/>
              </a:ext>
            </a:extLst>
          </p:cNvPr>
          <p:cNvSpPr>
            <a:spLocks xmlns:a="http://schemas.openxmlformats.org/drawingml/2006/main" noGrp="1"/>
          </p:cNvSpPr>
          <p:nvPr/>
        </p:nvSpPr>
        <p:spPr>
          <a:xfrm xmlns:a="http://schemas.openxmlformats.org/drawingml/2006/main">
            <a:off x="6305550" y="4000500"/>
            <a:ext cx="417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Pas de gain portefeuille</a:t>
            </a:r>
          </a:p>
        </p:txBody>
      </p:sp>
      <p:sp>
        <p:nvSpPr>
          <p:cNvPr id="25" name="">
            <a:extLst xmlns:a="http://schemas.openxmlformats.org/drawingml/2006/main">
              <a:ext uri="{FF2B5EF4-FFF2-40B4-BE49-F238E27FC236}">
                <a16:creationId xmlns:a16="http://schemas.microsoft.com/office/drawing/2014/main" id="{DA71BF06-C320-4203-85E1-1B10DB906305}"/>
              </a:ext>
            </a:extLst>
          </p:cNvPr>
          <p:cNvSpPr>
            <a:spLocks xmlns:a="http://schemas.openxmlformats.org/drawingml/2006/main" noGrp="1"/>
          </p:cNvSpPr>
          <p:nvPr/>
        </p:nvSpPr>
        <p:spPr>
          <a:xfrm xmlns:a="http://schemas.openxmlformats.org/drawingml/2006/main">
            <a:off x="6305550" y="4276725"/>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Une meilleure IC ne se transforme pas automatiquement en meilleur Sharpe net.</a:t>
            </a:r>
          </a:p>
        </p:txBody>
      </p:sp>
      <p:sp>
        <p:nvSpPr>
          <p:cNvPr id="26" name="">
            <a:extLst xmlns:a="http://schemas.openxmlformats.org/drawingml/2006/main">
              <a:ext uri="{FF2B5EF4-FFF2-40B4-BE49-F238E27FC236}">
                <a16:creationId xmlns:a16="http://schemas.microsoft.com/office/drawing/2014/main" id="{963D103A-62FE-4B01-BBD3-A4516E54F711}"/>
              </a:ext>
            </a:extLst>
          </p:cNvPr>
          <p:cNvSpPr>
            <a:spLocks xmlns:a="http://schemas.openxmlformats.org/drawingml/2006/main" noGrp="1"/>
          </p:cNvSpPr>
          <p:nvPr/>
        </p:nvSpPr>
        <p:spPr>
          <a:xfrm xmlns:a="http://schemas.openxmlformats.org/drawingml/2006/main">
            <a:off x="6096000" y="4733925"/>
            <a:ext cx="76200" cy="76200"/>
          </a:xfrm>
          <a:prstGeom xmlns:a="http://schemas.openxmlformats.org/drawingml/2006/main" prst="roundRect">
            <a:avLst>
              <a:gd name="adj" fmla="val 50000"/>
            </a:avLst>
          </a:prstGeom>
          <a:solidFill xmlns:a="http://schemas.openxmlformats.org/drawingml/2006/main">
            <a:srgbClr val="B7433E"/>
          </a:solidFill>
          <a:ln xmlns:a="http://schemas.openxmlformats.org/drawingml/2006/main" w="0">
            <a:no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EDDB7F28-C9FF-4F69-A048-B664EB4DF819}"/>
              </a:ext>
            </a:extLst>
          </p:cNvPr>
          <p:cNvSpPr>
            <a:spLocks xmlns:a="http://schemas.openxmlformats.org/drawingml/2006/main" noGrp="1"/>
          </p:cNvSpPr>
          <p:nvPr/>
        </p:nvSpPr>
        <p:spPr>
          <a:xfrm xmlns:a="http://schemas.openxmlformats.org/drawingml/2006/main">
            <a:off x="6305550" y="4667250"/>
            <a:ext cx="417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Pas encore canonique</a:t>
            </a:r>
          </a:p>
        </p:txBody>
      </p:sp>
      <p:sp>
        <p:nvSpPr>
          <p:cNvPr id="28" name="">
            <a:extLst xmlns:a="http://schemas.openxmlformats.org/drawingml/2006/main">
              <a:ext uri="{FF2B5EF4-FFF2-40B4-BE49-F238E27FC236}">
                <a16:creationId xmlns:a16="http://schemas.microsoft.com/office/drawing/2014/main" id="{B35231F6-7A81-4BA8-8C72-9C1D5D79ADF2}"/>
              </a:ext>
            </a:extLst>
          </p:cNvPr>
          <p:cNvSpPr>
            <a:spLocks xmlns:a="http://schemas.openxmlformats.org/drawingml/2006/main" noGrp="1"/>
          </p:cNvSpPr>
          <p:nvPr/>
        </p:nvSpPr>
        <p:spPr>
          <a:xfrm xmlns:a="http://schemas.openxmlformats.org/drawingml/2006/main">
            <a:off x="6305550" y="4943475"/>
            <a:ext cx="4171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Dividendes, corporate actions, splice récent et contrats source restent à industrialiser.</a:t>
            </a:r>
          </a:p>
        </p:txBody>
      </p:sp>
      <p:sp>
        <p:nvSpPr>
          <p:cNvPr id="29" name="">
            <a:extLst xmlns:a="http://schemas.openxmlformats.org/drawingml/2006/main">
              <a:ext uri="{FF2B5EF4-FFF2-40B4-BE49-F238E27FC236}">
                <a16:creationId xmlns:a16="http://schemas.microsoft.com/office/drawing/2014/main" id="{C3A20116-8AAA-436E-A77A-9F33AEBBDE82}"/>
              </a:ext>
            </a:extLst>
          </p:cNvPr>
          <p:cNvSpPr>
            <a:spLocks xmlns:a="http://schemas.openxmlformats.org/drawingml/2006/main" noGrp="1"/>
          </p:cNvSpPr>
          <p:nvPr/>
        </p:nvSpPr>
        <p:spPr>
          <a:xfrm xmlns:a="http://schemas.openxmlformats.org/drawingml/2006/main">
            <a:off x="952500" y="58102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ctr">
              <a:defRPr sz="1500" b="1" i="0">
                <a:solidFill>
                  <a:srgbClr val="111827"/>
                </a:solidFill>
                <a:latin typeface="Arial"/>
                <a:ea typeface="Arial"/>
                <a:cs typeface="Arial"/>
              </a:defRPr>
            </a:pPr>
            <a:r>
              <a:rPr sz="1500" b="1" i="0">
                <a:solidFill>
                  <a:srgbClr val="111827"/>
                </a:solidFill>
                <a:latin typeface="Arial"/>
                <a:ea typeface="Arial"/>
                <a:cs typeface="Arial"/>
              </a:rPr>
              <a:t>Conclusion : la limite dominante se déplace de la quantité de données vers la qualité, la couverture économique et la transformation signal → allocation.</a:t>
            </a:r>
          </a:p>
        </p:txBody>
      </p:sp>
    </p:spTree>
    <p:extLst>
      <p:ext uri="{BB962C8B-B14F-4D97-AF65-F5344CB8AC3E}">
        <p14:creationId xmlns:p14="http://schemas.microsoft.com/office/powerpoint/2010/main" val="18337708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E7CED06-31BE-4DA4-ABAA-C31082BA980D}"/>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RÉSULTAT ÉCONOMIQUE</a:t>
            </a:r>
          </a:p>
        </p:txBody>
      </p:sp>
      <p:sp>
        <p:nvSpPr>
          <p:cNvPr id="2" name="">
            <a:extLst xmlns:a="http://schemas.openxmlformats.org/drawingml/2006/main">
              <a:ext uri="{FF2B5EF4-FFF2-40B4-BE49-F238E27FC236}">
                <a16:creationId xmlns:a16="http://schemas.microsoft.com/office/drawing/2014/main" id="{CDFC195A-740C-4650-AB56-F8FC690F8A2B}"/>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Le plafond de 25 % agit comme un régularisateur</a:t>
            </a:r>
          </a:p>
        </p:txBody>
      </p:sp>
      <p:sp>
        <p:nvSpPr>
          <p:cNvPr id="3" name="">
            <a:extLst xmlns:a="http://schemas.openxmlformats.org/drawingml/2006/main">
              <a:ext uri="{FF2B5EF4-FFF2-40B4-BE49-F238E27FC236}">
                <a16:creationId xmlns:a16="http://schemas.microsoft.com/office/drawing/2014/main" id="{996D9157-5696-49E9-97A9-14DE76F51AAB}"/>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D5D2A152-0C11-4C92-9802-3D80980EF279}"/>
              </a:ext>
            </a:extLst>
          </p:cNvPr>
          <p:cNvSpPr>
            <a:spLocks xmlns:a="http://schemas.openxmlformats.org/drawingml/2006/main" noGrp="1"/>
          </p:cNvSpPr>
          <p:nvPr/>
        </p:nvSpPr>
        <p:spPr>
          <a:xfrm xmlns:a="http://schemas.openxmlformats.org/drawingml/2006/main">
            <a:off x="609600" y="1257300"/>
            <a:ext cx="6934200" cy="4267200"/>
          </a:xfrm>
          <a:prstGeom xmlns:a="http://schemas.openxmlformats.org/drawingml/2006/main" prst="roundRect">
            <a:avLst>
              <a:gd name="adj" fmla="val 2679"/>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c804cd0c9814b0e"/>
          <a:stretch xmlns:a="http://schemas.openxmlformats.org/drawingml/2006/main"/>
        </p:blipFill>
        <p:spPr>
          <a:xfrm xmlns:a="http://schemas.openxmlformats.org/drawingml/2006/main">
            <a:off x="723900" y="1589318"/>
            <a:ext cx="6705600" cy="36031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828E60-B426-40AF-9D1C-B37ACCD8E9A1}"/>
              </a:ext>
            </a:extLst>
          </p:cNvPr>
          <p:cNvSpPr>
            <a:spLocks xmlns:a="http://schemas.openxmlformats.org/drawingml/2006/main" noGrp="1"/>
          </p:cNvSpPr>
          <p:nvPr/>
        </p:nvSpPr>
        <p:spPr>
          <a:xfrm xmlns:a="http://schemas.openxmlformats.org/drawingml/2006/main">
            <a:off x="8096250" y="15811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defRPr sz="3450" b="1" i="0">
                <a:solidFill>
                  <a:srgbClr val="0F766E"/>
                </a:solidFill>
                <a:latin typeface="Arial"/>
                <a:ea typeface="Arial"/>
                <a:cs typeface="Arial"/>
              </a:defRPr>
            </a:pPr>
            <a:r>
              <a:rPr sz="3450" b="1" i="0">
                <a:solidFill>
                  <a:srgbClr val="0F766E"/>
                </a:solidFill>
                <a:latin typeface="Arial"/>
                <a:ea typeface="Arial"/>
                <a:cs typeface="Arial"/>
              </a:rPr>
              <a:t>0,9525</a:t>
            </a:r>
          </a:p>
        </p:txBody>
      </p:sp>
      <p:sp>
        <p:nvSpPr>
          <p:cNvPr id="7" name="">
            <a:extLst xmlns:a="http://schemas.openxmlformats.org/drawingml/2006/main">
              <a:ext uri="{FF2B5EF4-FFF2-40B4-BE49-F238E27FC236}">
                <a16:creationId xmlns:a16="http://schemas.microsoft.com/office/drawing/2014/main" id="{336ACEE3-A7CC-4944-9E90-6C072582EDAE}"/>
              </a:ext>
            </a:extLst>
          </p:cNvPr>
          <p:cNvSpPr>
            <a:spLocks xmlns:a="http://schemas.openxmlformats.org/drawingml/2006/main" noGrp="1"/>
          </p:cNvSpPr>
          <p:nvPr/>
        </p:nvSpPr>
        <p:spPr>
          <a:xfrm xmlns:a="http://schemas.openxmlformats.org/drawingml/2006/main">
            <a:off x="8096250" y="21717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Sharpe net au plafond 25 %</a:t>
            </a:r>
          </a:p>
        </p:txBody>
      </p:sp>
      <p:sp>
        <p:nvSpPr>
          <p:cNvPr id="8" name="">
            <a:extLst xmlns:a="http://schemas.openxmlformats.org/drawingml/2006/main">
              <a:ext uri="{FF2B5EF4-FFF2-40B4-BE49-F238E27FC236}">
                <a16:creationId xmlns:a16="http://schemas.microsoft.com/office/drawing/2014/main" id="{2560624F-048F-4F5E-A8BE-1A3333C064D3}"/>
              </a:ext>
            </a:extLst>
          </p:cNvPr>
          <p:cNvSpPr>
            <a:spLocks xmlns:a="http://schemas.openxmlformats.org/drawingml/2006/main" noGrp="1"/>
          </p:cNvSpPr>
          <p:nvPr/>
        </p:nvSpPr>
        <p:spPr>
          <a:xfrm xmlns:a="http://schemas.openxmlformats.org/drawingml/2006/main">
            <a:off x="8096250" y="28384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defRPr sz="3450" b="1" i="0">
                <a:solidFill>
                  <a:srgbClr val="B7433E"/>
                </a:solidFill>
                <a:latin typeface="Arial"/>
                <a:ea typeface="Arial"/>
                <a:cs typeface="Arial"/>
              </a:defRPr>
            </a:pPr>
            <a:r>
              <a:rPr sz="3450" b="1" i="0">
                <a:solidFill>
                  <a:srgbClr val="B7433E"/>
                </a:solidFill>
                <a:latin typeface="Arial"/>
                <a:ea typeface="Arial"/>
                <a:cs typeface="Arial"/>
              </a:rPr>
              <a:t>0,8650</a:t>
            </a:r>
          </a:p>
        </p:txBody>
      </p:sp>
      <p:sp>
        <p:nvSpPr>
          <p:cNvPr id="9" name="">
            <a:extLst xmlns:a="http://schemas.openxmlformats.org/drawingml/2006/main">
              <a:ext uri="{FF2B5EF4-FFF2-40B4-BE49-F238E27FC236}">
                <a16:creationId xmlns:a16="http://schemas.microsoft.com/office/drawing/2014/main" id="{E482459D-1DBB-4983-B5CD-A105DFBA28FF}"/>
              </a:ext>
            </a:extLst>
          </p:cNvPr>
          <p:cNvSpPr>
            <a:spLocks xmlns:a="http://schemas.openxmlformats.org/drawingml/2006/main" noGrp="1"/>
          </p:cNvSpPr>
          <p:nvPr/>
        </p:nvSpPr>
        <p:spPr>
          <a:xfrm xmlns:a="http://schemas.openxmlformats.org/drawingml/2006/main">
            <a:off x="8096250" y="34290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i="0">
                <a:solidFill>
                  <a:srgbClr val="5D6675"/>
                </a:solidFill>
                <a:latin typeface="Arial"/>
                <a:ea typeface="Arial"/>
                <a:cs typeface="Arial"/>
              </a:defRPr>
            </a:pPr>
            <a:r>
              <a:rPr sz="1275" b="0" i="0">
                <a:solidFill>
                  <a:srgbClr val="5D6675"/>
                </a:solidFill>
                <a:latin typeface="Arial"/>
                <a:ea typeface="Arial"/>
                <a:cs typeface="Arial"/>
              </a:rPr>
              <a:t>Sharpe net sans plafond</a:t>
            </a:r>
          </a:p>
        </p:txBody>
      </p:sp>
      <p:sp>
        <p:nvSpPr>
          <p:cNvPr id="10" name="">
            <a:extLst xmlns:a="http://schemas.openxmlformats.org/drawingml/2006/main">
              <a:ext uri="{FF2B5EF4-FFF2-40B4-BE49-F238E27FC236}">
                <a16:creationId xmlns:a16="http://schemas.microsoft.com/office/drawing/2014/main" id="{E28DEBDB-8A21-460B-B823-41B39DC2454F}"/>
              </a:ext>
            </a:extLst>
          </p:cNvPr>
          <p:cNvSpPr>
            <a:spLocks xmlns:a="http://schemas.openxmlformats.org/drawingml/2006/main" noGrp="1"/>
          </p:cNvSpPr>
          <p:nvPr/>
        </p:nvSpPr>
        <p:spPr>
          <a:xfrm xmlns:a="http://schemas.openxmlformats.org/drawingml/2006/main">
            <a:off x="7981950" y="4171950"/>
            <a:ext cx="3333750" cy="1143000"/>
          </a:xfrm>
          <a:prstGeom xmlns:a="http://schemas.openxmlformats.org/drawingml/2006/main" prst="roundRect">
            <a:avLst>
              <a:gd name="adj" fmla="val 10000"/>
            </a:avLst>
          </a:prstGeom>
          <a:solidFill xmlns:a="http://schemas.openxmlformats.org/drawingml/2006/main">
            <a:srgbClr val="173B67"/>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DD324194-D54F-4BA4-9B4D-3418879F91E9}"/>
              </a:ext>
            </a:extLst>
          </p:cNvPr>
          <p:cNvSpPr>
            <a:spLocks xmlns:a="http://schemas.openxmlformats.org/drawingml/2006/main" noGrp="1"/>
          </p:cNvSpPr>
          <p:nvPr/>
        </p:nvSpPr>
        <p:spPr>
          <a:xfrm xmlns:a="http://schemas.openxmlformats.org/drawingml/2006/main">
            <a:off x="8229600" y="4362450"/>
            <a:ext cx="123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40"/>
          </a:bodyPr>
          <a:lstStyle xmlns:a="http://schemas.openxmlformats.org/drawingml/2006/main"/>
          <a:p xmlns:a="http://schemas.openxmlformats.org/drawingml/2006/main">
            <a:pPr algn="l">
              <a:defRPr sz="2550" b="1" i="0">
                <a:solidFill>
                  <a:srgbClr val="D0EDFA"/>
                </a:solidFill>
                <a:latin typeface="Arial"/>
                <a:ea typeface="Arial"/>
                <a:cs typeface="Arial"/>
              </a:defRPr>
            </a:pPr>
            <a:r>
              <a:rPr sz="2550" b="1" i="0">
                <a:solidFill>
                  <a:srgbClr val="D0EDFA"/>
                </a:solidFill>
                <a:latin typeface="Arial"/>
                <a:ea typeface="Arial"/>
                <a:cs typeface="Arial"/>
              </a:rPr>
              <a:t>−10,1 %</a:t>
            </a:r>
          </a:p>
        </p:txBody>
      </p:sp>
      <p:sp>
        <p:nvSpPr>
          <p:cNvPr id="12" name="">
            <a:extLst xmlns:a="http://schemas.openxmlformats.org/drawingml/2006/main">
              <a:ext uri="{FF2B5EF4-FFF2-40B4-BE49-F238E27FC236}">
                <a16:creationId xmlns:a16="http://schemas.microsoft.com/office/drawing/2014/main" id="{71C23007-0E81-43E4-BEE6-3D9CCF504644}"/>
              </a:ext>
            </a:extLst>
          </p:cNvPr>
          <p:cNvSpPr>
            <a:spLocks xmlns:a="http://schemas.openxmlformats.org/drawingml/2006/main" noGrp="1"/>
          </p:cNvSpPr>
          <p:nvPr/>
        </p:nvSpPr>
        <p:spPr>
          <a:xfrm xmlns:a="http://schemas.openxmlformats.org/drawingml/2006/main">
            <a:off x="9525000" y="440055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200" b="1" i="0">
                <a:solidFill>
                  <a:srgbClr val="FFFFFF"/>
                </a:solidFill>
                <a:latin typeface="Arial"/>
                <a:ea typeface="Arial"/>
                <a:cs typeface="Arial"/>
              </a:defRPr>
            </a:pPr>
            <a:r>
              <a:rPr sz="1200" b="1" i="0">
                <a:solidFill>
                  <a:srgbClr val="FFFFFF"/>
                </a:solidFill>
                <a:latin typeface="Arial"/>
                <a:ea typeface="Arial"/>
                <a:cs typeface="Arial"/>
              </a:rPr>
              <a:t>de Sharpe relatif quand la contrainte est relâchée</a:t>
            </a:r>
          </a:p>
        </p:txBody>
      </p:sp>
      <p:sp>
        <p:nvSpPr>
          <p:cNvPr id="13" name="">
            <a:extLst xmlns:a="http://schemas.openxmlformats.org/drawingml/2006/main">
              <a:ext uri="{FF2B5EF4-FFF2-40B4-BE49-F238E27FC236}">
                <a16:creationId xmlns:a16="http://schemas.microsoft.com/office/drawing/2014/main" id="{B63B0774-A09D-42D5-98BB-FAE6A442AC95}"/>
              </a:ext>
            </a:extLst>
          </p:cNvPr>
          <p:cNvSpPr>
            <a:spLocks xmlns:a="http://schemas.openxmlformats.org/drawingml/2006/main" noGrp="1"/>
          </p:cNvSpPr>
          <p:nvPr/>
        </p:nvSpPr>
        <p:spPr>
          <a:xfrm xmlns:a="http://schemas.openxmlformats.org/drawingml/2006/main">
            <a:off x="7981950" y="5638800"/>
            <a:ext cx="3333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947"/>
          </a:bodyPr>
          <a:lstStyle xmlns:a="http://schemas.openxmlformats.org/drawingml/2006/main"/>
          <a:p xmlns:a="http://schemas.openxmlformats.org/drawingml/2006/main">
            <a:pPr algn="ctr">
              <a:defRPr sz="1350" b="1" i="0">
                <a:solidFill>
                  <a:srgbClr val="173B67"/>
                </a:solidFill>
                <a:latin typeface="Arial"/>
                <a:ea typeface="Arial"/>
                <a:cs typeface="Arial"/>
              </a:defRPr>
            </a:pPr>
            <a:r>
              <a:rPr sz="1350" b="1" i="0">
                <a:solidFill>
                  <a:srgbClr val="173B67"/>
                </a:solidFill>
                <a:latin typeface="Arial"/>
                <a:ea typeface="Arial"/>
                <a:cs typeface="Arial"/>
              </a:rPr>
              <a:t>La gouvernance de l’allocation peut compter davantage que la sophistication du modèle.</a:t>
            </a:r>
          </a:p>
        </p:txBody>
      </p:sp>
    </p:spTree>
    <p:extLst>
      <p:ext uri="{BB962C8B-B14F-4D97-AF65-F5344CB8AC3E}">
        <p14:creationId xmlns:p14="http://schemas.microsoft.com/office/powerpoint/2010/main" val="5965332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54CE0C-38F7-4986-B327-F133A3D44EAC}"/>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ROBUSTESSE</a:t>
            </a:r>
          </a:p>
        </p:txBody>
      </p:sp>
      <p:sp>
        <p:nvSpPr>
          <p:cNvPr id="2" name="">
            <a:extLst xmlns:a="http://schemas.openxmlformats.org/drawingml/2006/main">
              <a:ext uri="{FF2B5EF4-FFF2-40B4-BE49-F238E27FC236}">
                <a16:creationId xmlns:a16="http://schemas.microsoft.com/office/drawing/2014/main" id="{FE189D57-6312-4DB1-9738-6501DDC88B91}"/>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En crise, le système détecte le stress — la contrainte protège</a:t>
            </a:r>
          </a:p>
        </p:txBody>
      </p:sp>
      <p:sp>
        <p:nvSpPr>
          <p:cNvPr id="3" name="">
            <a:extLst xmlns:a="http://schemas.openxmlformats.org/drawingml/2006/main">
              <a:ext uri="{FF2B5EF4-FFF2-40B4-BE49-F238E27FC236}">
                <a16:creationId xmlns:a16="http://schemas.microsoft.com/office/drawing/2014/main" id="{BB36F179-28A1-4A79-B3BC-DD4EA33B9696}"/>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B4404EF-9963-479C-9E2D-A2D33B4C87BF}"/>
              </a:ext>
            </a:extLst>
          </p:cNvPr>
          <p:cNvSpPr>
            <a:spLocks xmlns:a="http://schemas.openxmlformats.org/drawingml/2006/main" noGrp="1"/>
          </p:cNvSpPr>
          <p:nvPr/>
        </p:nvSpPr>
        <p:spPr>
          <a:xfrm xmlns:a="http://schemas.openxmlformats.org/drawingml/2006/main">
            <a:off x="609600" y="1257300"/>
            <a:ext cx="6896100" cy="4248150"/>
          </a:xfrm>
          <a:prstGeom xmlns:a="http://schemas.openxmlformats.org/drawingml/2006/main" prst="roundRect">
            <a:avLst>
              <a:gd name="adj" fmla="val 2691"/>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4a6dbf80c0d4bc0"/>
          <a:stretch xmlns:a="http://schemas.openxmlformats.org/drawingml/2006/main"/>
        </p:blipFill>
        <p:spPr>
          <a:xfrm xmlns:a="http://schemas.openxmlformats.org/drawingml/2006/main">
            <a:off x="723900" y="1783996"/>
            <a:ext cx="6667500" cy="31947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00D98D0-45A3-4265-A326-2562B511448F}"/>
              </a:ext>
            </a:extLst>
          </p:cNvPr>
          <p:cNvSpPr>
            <a:spLocks xmlns:a="http://schemas.openxmlformats.org/drawingml/2006/main" noGrp="1"/>
          </p:cNvSpPr>
          <p:nvPr/>
        </p:nvSpPr>
        <p:spPr>
          <a:xfrm xmlns:a="http://schemas.openxmlformats.org/drawingml/2006/main">
            <a:off x="7981950" y="14287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B7433E"/>
                </a:solidFill>
                <a:latin typeface="Arial"/>
                <a:ea typeface="Arial"/>
                <a:cs typeface="Arial"/>
              </a:defRPr>
            </a:pPr>
            <a:r>
              <a:rPr sz="3000" b="1" i="0">
                <a:solidFill>
                  <a:srgbClr val="B7433E"/>
                </a:solidFill>
                <a:latin typeface="Arial"/>
                <a:ea typeface="Arial"/>
                <a:cs typeface="Arial"/>
              </a:rPr>
              <a:t>91,7 %</a:t>
            </a:r>
          </a:p>
        </p:txBody>
      </p:sp>
      <p:sp>
        <p:nvSpPr>
          <p:cNvPr id="7" name="">
            <a:extLst xmlns:a="http://schemas.openxmlformats.org/drawingml/2006/main">
              <a:ext uri="{FF2B5EF4-FFF2-40B4-BE49-F238E27FC236}">
                <a16:creationId xmlns:a16="http://schemas.microsoft.com/office/drawing/2014/main" id="{78FBCCE6-8605-48F8-8504-43E86FB586BC}"/>
              </a:ext>
            </a:extLst>
          </p:cNvPr>
          <p:cNvSpPr>
            <a:spLocks xmlns:a="http://schemas.openxmlformats.org/drawingml/2006/main" noGrp="1"/>
          </p:cNvSpPr>
          <p:nvPr/>
        </p:nvSpPr>
        <p:spPr>
          <a:xfrm xmlns:a="http://schemas.openxmlformats.org/drawingml/2006/main">
            <a:off x="7981950" y="20002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jours en état baissier</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dans les fenêtres de crise</a:t>
            </a:r>
          </a:p>
        </p:txBody>
      </p:sp>
      <p:sp>
        <p:nvSpPr>
          <p:cNvPr id="8" name="">
            <a:extLst xmlns:a="http://schemas.openxmlformats.org/drawingml/2006/main">
              <a:ext uri="{FF2B5EF4-FFF2-40B4-BE49-F238E27FC236}">
                <a16:creationId xmlns:a16="http://schemas.microsoft.com/office/drawing/2014/main" id="{B9EB79F5-5A8F-4BD4-BAA0-2BDCE85A6A25}"/>
              </a:ext>
            </a:extLst>
          </p:cNvPr>
          <p:cNvSpPr>
            <a:spLocks xmlns:a="http://schemas.openxmlformats.org/drawingml/2006/main" noGrp="1"/>
          </p:cNvSpPr>
          <p:nvPr/>
        </p:nvSpPr>
        <p:spPr>
          <a:xfrm xmlns:a="http://schemas.openxmlformats.org/drawingml/2006/main">
            <a:off x="7981950" y="262890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3D8DFF"/>
                </a:solidFill>
                <a:latin typeface="Arial"/>
                <a:ea typeface="Arial"/>
                <a:cs typeface="Arial"/>
              </a:defRPr>
            </a:pPr>
            <a:r>
              <a:rPr sz="3000" b="1" i="0">
                <a:solidFill>
                  <a:srgbClr val="3D8DFF"/>
                </a:solidFill>
                <a:latin typeface="Arial"/>
                <a:ea typeface="Arial"/>
                <a:cs typeface="Arial"/>
              </a:rPr>
              <a:t>29,2 %</a:t>
            </a:r>
          </a:p>
        </p:txBody>
      </p:sp>
      <p:sp>
        <p:nvSpPr>
          <p:cNvPr id="9" name="">
            <a:extLst xmlns:a="http://schemas.openxmlformats.org/drawingml/2006/main">
              <a:ext uri="{FF2B5EF4-FFF2-40B4-BE49-F238E27FC236}">
                <a16:creationId xmlns:a16="http://schemas.microsoft.com/office/drawing/2014/main" id="{3F5ABC13-8DCD-4F8E-985A-8179E8F5EFD4}"/>
              </a:ext>
            </a:extLst>
          </p:cNvPr>
          <p:cNvSpPr>
            <a:spLocks xmlns:a="http://schemas.openxmlformats.org/drawingml/2006/main" noGrp="1"/>
          </p:cNvSpPr>
          <p:nvPr/>
        </p:nvSpPr>
        <p:spPr>
          <a:xfrm xmlns:a="http://schemas.openxmlformats.org/drawingml/2006/main">
            <a:off x="7981950" y="3200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jours en état baissier</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hors de ces fenêtres</a:t>
            </a:r>
          </a:p>
        </p:txBody>
      </p:sp>
      <p:sp>
        <p:nvSpPr>
          <p:cNvPr id="10" name="">
            <a:extLst xmlns:a="http://schemas.openxmlformats.org/drawingml/2006/main">
              <a:ext uri="{FF2B5EF4-FFF2-40B4-BE49-F238E27FC236}">
                <a16:creationId xmlns:a16="http://schemas.microsoft.com/office/drawing/2014/main" id="{CCB3222F-3B8E-4E6F-B5C8-1F8C8A9563F6}"/>
              </a:ext>
            </a:extLst>
          </p:cNvPr>
          <p:cNvSpPr>
            <a:spLocks xmlns:a="http://schemas.openxmlformats.org/drawingml/2006/main" noGrp="1"/>
          </p:cNvSpPr>
          <p:nvPr/>
        </p:nvSpPr>
        <p:spPr>
          <a:xfrm xmlns:a="http://schemas.openxmlformats.org/drawingml/2006/main">
            <a:off x="7981950" y="3829050"/>
            <a:ext cx="295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0F766E"/>
                </a:solidFill>
                <a:latin typeface="Arial"/>
                <a:ea typeface="Arial"/>
                <a:cs typeface="Arial"/>
              </a:defRPr>
            </a:pPr>
            <a:r>
              <a:rPr sz="3000" b="1" i="0">
                <a:solidFill>
                  <a:srgbClr val="0F766E"/>
                </a:solidFill>
                <a:latin typeface="Arial"/>
                <a:ea typeface="Arial"/>
                <a:cs typeface="Arial"/>
              </a:rPr>
              <a:t>×3,13</a:t>
            </a:r>
          </a:p>
        </p:txBody>
      </p:sp>
      <p:sp>
        <p:nvSpPr>
          <p:cNvPr id="11" name="">
            <a:extLst xmlns:a="http://schemas.openxmlformats.org/drawingml/2006/main">
              <a:ext uri="{FF2B5EF4-FFF2-40B4-BE49-F238E27FC236}">
                <a16:creationId xmlns:a16="http://schemas.microsoft.com/office/drawing/2014/main" id="{06D35370-E0BC-46E4-9B67-2A499CB7C241}"/>
              </a:ext>
            </a:extLst>
          </p:cNvPr>
          <p:cNvSpPr>
            <a:spLocks xmlns:a="http://schemas.openxmlformats.org/drawingml/2006/main" noGrp="1"/>
          </p:cNvSpPr>
          <p:nvPr/>
        </p:nvSpPr>
        <p:spPr>
          <a:xfrm xmlns:a="http://schemas.openxmlformats.org/drawingml/2006/main">
            <a:off x="7981950" y="44005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ratio de concentration</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du régime baissier</a:t>
            </a:r>
          </a:p>
        </p:txBody>
      </p:sp>
      <p:sp>
        <p:nvSpPr>
          <p:cNvPr id="12" name="">
            <a:extLst xmlns:a="http://schemas.openxmlformats.org/drawingml/2006/main">
              <a:ext uri="{FF2B5EF4-FFF2-40B4-BE49-F238E27FC236}">
                <a16:creationId xmlns:a16="http://schemas.microsoft.com/office/drawing/2014/main" id="{A006A579-C41B-49FB-B87B-2EFC18F5B39F}"/>
              </a:ext>
            </a:extLst>
          </p:cNvPr>
          <p:cNvSpPr>
            <a:spLocks xmlns:a="http://schemas.openxmlformats.org/drawingml/2006/main" noGrp="1"/>
          </p:cNvSpPr>
          <p:nvPr/>
        </p:nvSpPr>
        <p:spPr>
          <a:xfrm xmlns:a="http://schemas.openxmlformats.org/drawingml/2006/main">
            <a:off x="7867650" y="5086350"/>
            <a:ext cx="3333750" cy="876300"/>
          </a:xfrm>
          <a:prstGeom xmlns:a="http://schemas.openxmlformats.org/drawingml/2006/main" prst="roundRect">
            <a:avLst>
              <a:gd name="adj" fmla="val 13043"/>
            </a:avLst>
          </a:prstGeom>
          <a:solidFill xmlns:a="http://schemas.openxmlformats.org/drawingml/2006/main">
            <a:srgbClr val="FFF0D5"/>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DEF0DFE5-EB0D-4028-A8A6-0E3CC9D0D0AB}"/>
              </a:ext>
            </a:extLst>
          </p:cNvPr>
          <p:cNvSpPr>
            <a:spLocks xmlns:a="http://schemas.openxmlformats.org/drawingml/2006/main" noGrp="1"/>
          </p:cNvSpPr>
          <p:nvPr/>
        </p:nvSpPr>
        <p:spPr>
          <a:xfrm xmlns:a="http://schemas.openxmlformats.org/drawingml/2006/main">
            <a:off x="8096250" y="5238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defRPr sz="1050" b="1" i="0">
                <a:solidFill>
                  <a:srgbClr val="A86812"/>
                </a:solidFill>
                <a:latin typeface="Arial"/>
                <a:ea typeface="Arial"/>
                <a:cs typeface="Arial"/>
              </a:defRPr>
            </a:pPr>
            <a:r>
              <a:rPr sz="1050" b="1" i="0">
                <a:solidFill>
                  <a:srgbClr val="A86812"/>
                </a:solidFill>
                <a:latin typeface="Arial"/>
                <a:ea typeface="Arial"/>
                <a:cs typeface="Arial"/>
              </a:rPr>
              <a:t>Diagnostic exploratoire</a:t>
            </a:r>
          </a:p>
        </p:txBody>
      </p:sp>
      <p:sp>
        <p:nvSpPr>
          <p:cNvPr id="14" name="">
            <a:extLst xmlns:a="http://schemas.openxmlformats.org/drawingml/2006/main">
              <a:ext uri="{FF2B5EF4-FFF2-40B4-BE49-F238E27FC236}">
                <a16:creationId xmlns:a16="http://schemas.microsoft.com/office/drawing/2014/main" id="{A2000EA8-163A-41BC-99E3-CF495961D901}"/>
              </a:ext>
            </a:extLst>
          </p:cNvPr>
          <p:cNvSpPr>
            <a:spLocks xmlns:a="http://schemas.openxmlformats.org/drawingml/2006/main" noGrp="1"/>
          </p:cNvSpPr>
          <p:nvPr/>
        </p:nvSpPr>
        <p:spPr>
          <a:xfrm xmlns:a="http://schemas.openxmlformats.org/drawingml/2006/main">
            <a:off x="8096250" y="551497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923"/>
          </a:bodyPr>
          <a:lstStyle xmlns:a="http://schemas.openxmlformats.org/drawingml/2006/main"/>
          <a:p xmlns:a="http://schemas.openxmlformats.org/drawingml/2006/main">
            <a:pPr algn="l">
              <a:defRPr sz="1125" b="1" i="0">
                <a:solidFill>
                  <a:srgbClr val="111827"/>
                </a:solidFill>
                <a:latin typeface="Arial"/>
                <a:ea typeface="Arial"/>
                <a:cs typeface="Arial"/>
              </a:defRPr>
            </a:pPr>
            <a:r>
              <a:rPr sz="1125" b="1" i="0">
                <a:solidFill>
                  <a:srgbClr val="111827"/>
                </a:solidFill>
                <a:latin typeface="Arial"/>
                <a:ea typeface="Arial"/>
                <a:cs typeface="Arial"/>
              </a:rPr>
              <a:t>p = 0,031 sur 5 fenêtres choisies rétrospectivement : ce n’est pas une preuve confirmatoire.</a:t>
            </a:r>
          </a:p>
        </p:txBody>
      </p:sp>
    </p:spTree>
    <p:extLst>
      <p:ext uri="{BB962C8B-B14F-4D97-AF65-F5344CB8AC3E}">
        <p14:creationId xmlns:p14="http://schemas.microsoft.com/office/powerpoint/2010/main" val="19713606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EFFE517-5480-47A3-B563-4571D4BB53E4}"/>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EXPLICABILITÉ</a:t>
            </a:r>
          </a:p>
        </p:txBody>
      </p:sp>
      <p:sp>
        <p:nvSpPr>
          <p:cNvPr id="2" name="">
            <a:extLst xmlns:a="http://schemas.openxmlformats.org/drawingml/2006/main">
              <a:ext uri="{FF2B5EF4-FFF2-40B4-BE49-F238E27FC236}">
                <a16:creationId xmlns:a16="http://schemas.microsoft.com/office/drawing/2014/main" id="{15B39686-9484-4A69-95F5-4AE724F94ADE}"/>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Nous expliquons la décision, pas seulement la prédiction</a:t>
            </a:r>
          </a:p>
        </p:txBody>
      </p:sp>
      <p:sp>
        <p:nvSpPr>
          <p:cNvPr id="3" name="">
            <a:extLst xmlns:a="http://schemas.openxmlformats.org/drawingml/2006/main">
              <a:ext uri="{FF2B5EF4-FFF2-40B4-BE49-F238E27FC236}">
                <a16:creationId xmlns:a16="http://schemas.microsoft.com/office/drawing/2014/main" id="{0940783B-35D0-4202-A8A3-9D9BC5FF8425}"/>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B6A48BC7-4BB1-43E6-992C-C2B0BF0F9D51}"/>
              </a:ext>
            </a:extLst>
          </p:cNvPr>
          <p:cNvSpPr>
            <a:spLocks xmlns:a="http://schemas.openxmlformats.org/drawingml/2006/main" noGrp="1"/>
          </p:cNvSpPr>
          <p:nvPr/>
        </p:nvSpPr>
        <p:spPr>
          <a:xfrm xmlns:a="http://schemas.openxmlformats.org/drawingml/2006/main">
            <a:off x="609600" y="1219200"/>
            <a:ext cx="7734300" cy="4286250"/>
          </a:xfrm>
          <a:prstGeom xmlns:a="http://schemas.openxmlformats.org/drawingml/2006/main" prst="roundRect">
            <a:avLst>
              <a:gd name="adj" fmla="val 2667"/>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22b6efbe32749e4"/>
          <a:stretch xmlns:a="http://schemas.openxmlformats.org/drawingml/2006/main"/>
        </p:blipFill>
        <p:spPr>
          <a:xfrm xmlns:a="http://schemas.openxmlformats.org/drawingml/2006/main">
            <a:off x="723900" y="1669796"/>
            <a:ext cx="7505700" cy="33850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87250D2-47ED-4DD8-8E60-97EFE92CFC1A}"/>
              </a:ext>
            </a:extLst>
          </p:cNvPr>
          <p:cNvSpPr>
            <a:spLocks xmlns:a="http://schemas.openxmlformats.org/drawingml/2006/main" noGrp="1"/>
          </p:cNvSpPr>
          <p:nvPr/>
        </p:nvSpPr>
        <p:spPr>
          <a:xfrm xmlns:a="http://schemas.openxmlformats.org/drawingml/2006/main">
            <a:off x="8724900" y="1495425"/>
            <a:ext cx="76200" cy="7620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D02221C-A88D-450A-AEBE-A662197A3311}"/>
              </a:ext>
            </a:extLst>
          </p:cNvPr>
          <p:cNvSpPr>
            <a:spLocks xmlns:a="http://schemas.openxmlformats.org/drawingml/2006/main" noGrp="1"/>
          </p:cNvSpPr>
          <p:nvPr/>
        </p:nvSpPr>
        <p:spPr>
          <a:xfrm xmlns:a="http://schemas.openxmlformats.org/drawingml/2006/main">
            <a:off x="8934450" y="14287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Système principal</a:t>
            </a:r>
          </a:p>
        </p:txBody>
      </p:sp>
      <p:sp>
        <p:nvSpPr>
          <p:cNvPr id="8" name="">
            <a:extLst xmlns:a="http://schemas.openxmlformats.org/drawingml/2006/main">
              <a:ext uri="{FF2B5EF4-FFF2-40B4-BE49-F238E27FC236}">
                <a16:creationId xmlns:a16="http://schemas.microsoft.com/office/drawing/2014/main" id="{636A3CE0-82D6-4441-BF44-D5CFEAAB3B1D}"/>
              </a:ext>
            </a:extLst>
          </p:cNvPr>
          <p:cNvSpPr>
            <a:spLocks xmlns:a="http://schemas.openxmlformats.org/drawingml/2006/main" noGrp="1"/>
          </p:cNvSpPr>
          <p:nvPr/>
        </p:nvSpPr>
        <p:spPr>
          <a:xfrm xmlns:a="http://schemas.openxmlformats.org/drawingml/2006/main">
            <a:off x="8934450" y="1704975"/>
            <a:ext cx="2457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43"/>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Trace HMM → régime → sous-stratégie → poids → contraintes.</a:t>
            </a:r>
          </a:p>
        </p:txBody>
      </p:sp>
      <p:sp>
        <p:nvSpPr>
          <p:cNvPr id="9" name="">
            <a:extLst xmlns:a="http://schemas.openxmlformats.org/drawingml/2006/main">
              <a:ext uri="{FF2B5EF4-FFF2-40B4-BE49-F238E27FC236}">
                <a16:creationId xmlns:a16="http://schemas.microsoft.com/office/drawing/2014/main" id="{41C102CF-D7F8-4EDC-A72E-50942D65ECA3}"/>
              </a:ext>
            </a:extLst>
          </p:cNvPr>
          <p:cNvSpPr>
            <a:spLocks xmlns:a="http://schemas.openxmlformats.org/drawingml/2006/main" noGrp="1"/>
          </p:cNvSpPr>
          <p:nvPr/>
        </p:nvSpPr>
        <p:spPr>
          <a:xfrm xmlns:a="http://schemas.openxmlformats.org/drawingml/2006/main">
            <a:off x="8724900" y="2676525"/>
            <a:ext cx="76200" cy="76200"/>
          </a:xfrm>
          <a:prstGeom xmlns:a="http://schemas.openxmlformats.org/drawingml/2006/main" prst="roundRect">
            <a:avLst>
              <a:gd name="adj" fmla="val 50000"/>
            </a:avLst>
          </a:prstGeom>
          <a:solidFill xmlns:a="http://schemas.openxmlformats.org/drawingml/2006/main">
            <a:srgbClr val="0F766E"/>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B341BFE-CDC8-4FDD-AA36-48F51972B39A}"/>
              </a:ext>
            </a:extLst>
          </p:cNvPr>
          <p:cNvSpPr>
            <a:spLocks xmlns:a="http://schemas.openxmlformats.org/drawingml/2006/main" noGrp="1"/>
          </p:cNvSpPr>
          <p:nvPr/>
        </p:nvSpPr>
        <p:spPr>
          <a:xfrm xmlns:a="http://schemas.openxmlformats.org/drawingml/2006/main">
            <a:off x="8934450" y="26098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Challengers</a:t>
            </a:r>
          </a:p>
        </p:txBody>
      </p:sp>
      <p:sp>
        <p:nvSpPr>
          <p:cNvPr id="11" name="">
            <a:extLst xmlns:a="http://schemas.openxmlformats.org/drawingml/2006/main">
              <a:ext uri="{FF2B5EF4-FFF2-40B4-BE49-F238E27FC236}">
                <a16:creationId xmlns:a16="http://schemas.microsoft.com/office/drawing/2014/main" id="{159E9611-8EB0-4B7C-98AA-A66E024C0114}"/>
              </a:ext>
            </a:extLst>
          </p:cNvPr>
          <p:cNvSpPr>
            <a:spLocks xmlns:a="http://schemas.openxmlformats.org/drawingml/2006/main" noGrp="1"/>
          </p:cNvSpPr>
          <p:nvPr/>
        </p:nvSpPr>
        <p:spPr>
          <a:xfrm xmlns:a="http://schemas.openxmlformats.org/drawingml/2006/main">
            <a:off x="8934450" y="2886075"/>
            <a:ext cx="2457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Attributions additives exactes pour Random Forest et XGBoost.</a:t>
            </a:r>
          </a:p>
        </p:txBody>
      </p:sp>
      <p:sp>
        <p:nvSpPr>
          <p:cNvPr id="12" name="">
            <a:extLst xmlns:a="http://schemas.openxmlformats.org/drawingml/2006/main">
              <a:ext uri="{FF2B5EF4-FFF2-40B4-BE49-F238E27FC236}">
                <a16:creationId xmlns:a16="http://schemas.microsoft.com/office/drawing/2014/main" id="{C7D09F55-C3E6-4F01-95ED-EEE68FB7822B}"/>
              </a:ext>
            </a:extLst>
          </p:cNvPr>
          <p:cNvSpPr>
            <a:spLocks xmlns:a="http://schemas.openxmlformats.org/drawingml/2006/main" noGrp="1"/>
          </p:cNvSpPr>
          <p:nvPr/>
        </p:nvSpPr>
        <p:spPr>
          <a:xfrm xmlns:a="http://schemas.openxmlformats.org/drawingml/2006/main">
            <a:off x="8724900" y="3857625"/>
            <a:ext cx="76200" cy="76200"/>
          </a:xfrm>
          <a:prstGeom xmlns:a="http://schemas.openxmlformats.org/drawingml/2006/main" prst="roundRect">
            <a:avLst>
              <a:gd name="adj" fmla="val 50000"/>
            </a:avLst>
          </a:prstGeom>
          <a:solidFill xmlns:a="http://schemas.openxmlformats.org/drawingml/2006/main">
            <a:srgbClr val="A86812"/>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946DC694-084A-4717-B679-FD78209745F1}"/>
              </a:ext>
            </a:extLst>
          </p:cNvPr>
          <p:cNvSpPr>
            <a:spLocks xmlns:a="http://schemas.openxmlformats.org/drawingml/2006/main" noGrp="1"/>
          </p:cNvSpPr>
          <p:nvPr/>
        </p:nvSpPr>
        <p:spPr>
          <a:xfrm xmlns:a="http://schemas.openxmlformats.org/drawingml/2006/main">
            <a:off x="8934450" y="3790950"/>
            <a:ext cx="2457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defRPr sz="1275" b="1" i="0">
                <a:solidFill>
                  <a:srgbClr val="111827"/>
                </a:solidFill>
                <a:latin typeface="Arial"/>
                <a:ea typeface="Arial"/>
                <a:cs typeface="Arial"/>
              </a:defRPr>
            </a:pPr>
            <a:r>
              <a:rPr sz="1275" b="1" i="0">
                <a:solidFill>
                  <a:srgbClr val="111827"/>
                </a:solidFill>
                <a:latin typeface="Arial"/>
                <a:ea typeface="Arial"/>
                <a:cs typeface="Arial"/>
              </a:rPr>
              <a:t>Lien contrôlé</a:t>
            </a:r>
          </a:p>
        </p:txBody>
      </p:sp>
      <p:sp>
        <p:nvSpPr>
          <p:cNvPr id="14" name="">
            <a:extLst xmlns:a="http://schemas.openxmlformats.org/drawingml/2006/main">
              <a:ext uri="{FF2B5EF4-FFF2-40B4-BE49-F238E27FC236}">
                <a16:creationId xmlns:a16="http://schemas.microsoft.com/office/drawing/2014/main" id="{C9EF867D-8200-4210-A24B-276302C09878}"/>
              </a:ext>
            </a:extLst>
          </p:cNvPr>
          <p:cNvSpPr>
            <a:spLocks xmlns:a="http://schemas.openxmlformats.org/drawingml/2006/main" noGrp="1"/>
          </p:cNvSpPr>
          <p:nvPr/>
        </p:nvSpPr>
        <p:spPr>
          <a:xfrm xmlns:a="http://schemas.openxmlformats.org/drawingml/2006/main">
            <a:off x="8934450" y="4067175"/>
            <a:ext cx="2457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i="0">
                <a:solidFill>
                  <a:srgbClr val="5D6675"/>
                </a:solidFill>
                <a:latin typeface="Arial"/>
                <a:ea typeface="Arial"/>
                <a:cs typeface="Arial"/>
              </a:defRPr>
            </a:pPr>
            <a:r>
              <a:rPr sz="1125" b="0" i="0">
                <a:solidFill>
                  <a:srgbClr val="5D6675"/>
                </a:solidFill>
                <a:latin typeface="Arial"/>
                <a:ea typeface="Arial"/>
                <a:cs typeface="Arial"/>
              </a:rPr>
              <a:t>Concordance entre classement prédit et poids réellement servis.</a:t>
            </a:r>
          </a:p>
        </p:txBody>
      </p:sp>
      <p:sp>
        <p:nvSpPr>
          <p:cNvPr id="15" name="">
            <a:extLst xmlns:a="http://schemas.openxmlformats.org/drawingml/2006/main">
              <a:ext uri="{FF2B5EF4-FFF2-40B4-BE49-F238E27FC236}">
                <a16:creationId xmlns:a16="http://schemas.microsoft.com/office/drawing/2014/main" id="{A9739B94-C5AD-4C10-BD59-A832D9852C11}"/>
              </a:ext>
            </a:extLst>
          </p:cNvPr>
          <p:cNvSpPr>
            <a:spLocks xmlns:a="http://schemas.openxmlformats.org/drawingml/2006/main" noGrp="1"/>
          </p:cNvSpPr>
          <p:nvPr/>
        </p:nvSpPr>
        <p:spPr>
          <a:xfrm xmlns:a="http://schemas.openxmlformats.org/drawingml/2006/main">
            <a:off x="8610600" y="4933950"/>
            <a:ext cx="2857500" cy="971550"/>
          </a:xfrm>
          <a:prstGeom xmlns:a="http://schemas.openxmlformats.org/drawingml/2006/main" prst="roundRect">
            <a:avLst>
              <a:gd name="adj" fmla="val 11765"/>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44ED0C89-24CF-4FBC-B1DE-54DAE4B316BF}"/>
              </a:ext>
            </a:extLst>
          </p:cNvPr>
          <p:cNvSpPr>
            <a:spLocks xmlns:a="http://schemas.openxmlformats.org/drawingml/2006/main" noGrp="1"/>
          </p:cNvSpPr>
          <p:nvPr/>
        </p:nvSpPr>
        <p:spPr>
          <a:xfrm xmlns:a="http://schemas.openxmlformats.org/drawingml/2006/main">
            <a:off x="8820150" y="5105400"/>
            <a:ext cx="100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p xmlns:a="http://schemas.openxmlformats.org/drawingml/2006/main">
            <a:pPr algn="l">
              <a:defRPr sz="2250" b="1" i="0">
                <a:solidFill>
                  <a:srgbClr val="B7433E"/>
                </a:solidFill>
                <a:latin typeface="Arial"/>
                <a:ea typeface="Arial"/>
                <a:cs typeface="Arial"/>
              </a:defRPr>
            </a:pPr>
            <a:r>
              <a:rPr sz="2250" b="1" i="0">
                <a:solidFill>
                  <a:srgbClr val="B7433E"/>
                </a:solidFill>
                <a:latin typeface="Arial"/>
                <a:ea typeface="Arial"/>
                <a:cs typeface="Arial"/>
              </a:rPr>
              <a:t>−1,000</a:t>
            </a:r>
          </a:p>
        </p:txBody>
      </p:sp>
      <p:sp>
        <p:nvSpPr>
          <p:cNvPr id="17" name="">
            <a:extLst xmlns:a="http://schemas.openxmlformats.org/drawingml/2006/main">
              <a:ext uri="{FF2B5EF4-FFF2-40B4-BE49-F238E27FC236}">
                <a16:creationId xmlns:a16="http://schemas.microsoft.com/office/drawing/2014/main" id="{6BEC67A5-7DE9-4D4D-B3F0-CD6D811AA7EB}"/>
              </a:ext>
            </a:extLst>
          </p:cNvPr>
          <p:cNvSpPr>
            <a:spLocks xmlns:a="http://schemas.openxmlformats.org/drawingml/2006/main" noGrp="1"/>
          </p:cNvSpPr>
          <p:nvPr/>
        </p:nvSpPr>
        <p:spPr>
          <a:xfrm xmlns:a="http://schemas.openxmlformats.org/drawingml/2006/main">
            <a:off x="9886950" y="5105400"/>
            <a:ext cx="1352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68"/>
          </a:bodyPr>
          <a:lstStyle xmlns:a="http://schemas.openxmlformats.org/drawingml/2006/main"/>
          <a:p xmlns:a="http://schemas.openxmlformats.org/drawingml/2006/main">
            <a:pPr algn="l">
              <a:defRPr sz="1050" b="1" i="0">
                <a:solidFill>
                  <a:srgbClr val="111827"/>
                </a:solidFill>
                <a:latin typeface="Arial"/>
                <a:ea typeface="Arial"/>
                <a:cs typeface="Arial"/>
              </a:defRPr>
            </a:pPr>
            <a:r>
              <a:rPr sz="1050" b="1" i="0">
                <a:solidFill>
                  <a:srgbClr val="111827"/>
                </a:solidFill>
                <a:latin typeface="Arial"/>
                <a:ea typeface="Arial"/>
                <a:cs typeface="Arial"/>
              </a:rPr>
              <a:t>concordance RF sur etf_2017 : la contrainte inverse exactement le classement prédit.</a:t>
            </a:r>
          </a:p>
        </p:txBody>
      </p:sp>
    </p:spTree>
    <p:extLst>
      <p:ext uri="{BB962C8B-B14F-4D97-AF65-F5344CB8AC3E}">
        <p14:creationId xmlns:p14="http://schemas.microsoft.com/office/powerpoint/2010/main" val="460747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AB59C56-4B5C-4736-87EF-DF4AF3956E67}"/>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DÉMONSTRATION</a:t>
            </a:r>
          </a:p>
        </p:txBody>
      </p:sp>
      <p:sp>
        <p:nvSpPr>
          <p:cNvPr id="2" name="">
            <a:extLst xmlns:a="http://schemas.openxmlformats.org/drawingml/2006/main">
              <a:ext uri="{FF2B5EF4-FFF2-40B4-BE49-F238E27FC236}">
                <a16:creationId xmlns:a16="http://schemas.microsoft.com/office/drawing/2014/main" id="{0A269961-A83C-4A60-92C0-BC9C31DEA6CC}"/>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Deux vues : décision et analyse</a:t>
            </a:r>
          </a:p>
        </p:txBody>
      </p:sp>
      <p:sp>
        <p:nvSpPr>
          <p:cNvPr id="3" name="">
            <a:extLst xmlns:a="http://schemas.openxmlformats.org/drawingml/2006/main">
              <a:ext uri="{FF2B5EF4-FFF2-40B4-BE49-F238E27FC236}">
                <a16:creationId xmlns:a16="http://schemas.microsoft.com/office/drawing/2014/main" id="{69723846-D252-4B5E-AFF8-F2B3CFCAF63F}"/>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037AA27F-F09C-4F68-94A5-68762ADFFF5F}"/>
              </a:ext>
            </a:extLst>
          </p:cNvPr>
          <p:cNvSpPr>
            <a:spLocks xmlns:a="http://schemas.openxmlformats.org/drawingml/2006/main" noGrp="1"/>
          </p:cNvSpPr>
          <p:nvPr/>
        </p:nvSpPr>
        <p:spPr>
          <a:xfrm xmlns:a="http://schemas.openxmlformats.org/drawingml/2006/main">
            <a:off x="609600" y="1200150"/>
            <a:ext cx="5219700" cy="4686300"/>
          </a:xfrm>
          <a:prstGeom xmlns:a="http://schemas.openxmlformats.org/drawingml/2006/main" prst="roundRect">
            <a:avLst>
              <a:gd name="adj" fmla="val 2439"/>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6dce82cc47045f3"/>
          <a:stretch xmlns:a="http://schemas.openxmlformats.org/drawingml/2006/main"/>
        </p:blipFill>
        <p:spPr>
          <a:xfrm xmlns:a="http://schemas.openxmlformats.org/drawingml/2006/main">
            <a:off x="1550017" y="1314450"/>
            <a:ext cx="3338866" cy="4057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3A65FB-D7DE-42B0-A9D5-A5D29D91E375}"/>
              </a:ext>
            </a:extLst>
          </p:cNvPr>
          <p:cNvSpPr>
            <a:spLocks xmlns:a="http://schemas.openxmlformats.org/drawingml/2006/main" noGrp="1"/>
          </p:cNvSpPr>
          <p:nvPr/>
        </p:nvSpPr>
        <p:spPr>
          <a:xfrm xmlns:a="http://schemas.openxmlformats.org/drawingml/2006/main">
            <a:off x="781050" y="548640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111827"/>
                </a:solidFill>
                <a:latin typeface="Arial"/>
                <a:ea typeface="Arial"/>
                <a:cs typeface="Arial"/>
              </a:defRPr>
            </a:pPr>
            <a:r>
              <a:rPr sz="1275" b="1" i="0">
                <a:solidFill>
                  <a:srgbClr val="111827"/>
                </a:solidFill>
                <a:latin typeface="Arial"/>
                <a:ea typeface="Arial"/>
                <a:cs typeface="Arial"/>
              </a:rPr>
              <a:t>Résultats de recherche</a:t>
            </a:r>
          </a:p>
        </p:txBody>
      </p:sp>
      <p:sp>
        <p:nvSpPr>
          <p:cNvPr id="7" name="">
            <a:extLst xmlns:a="http://schemas.openxmlformats.org/drawingml/2006/main">
              <a:ext uri="{FF2B5EF4-FFF2-40B4-BE49-F238E27FC236}">
                <a16:creationId xmlns:a16="http://schemas.microsoft.com/office/drawing/2014/main" id="{8980364C-F5E7-485B-9376-F05F9D6F140A}"/>
              </a:ext>
            </a:extLst>
          </p:cNvPr>
          <p:cNvSpPr>
            <a:spLocks xmlns:a="http://schemas.openxmlformats.org/drawingml/2006/main" noGrp="1"/>
          </p:cNvSpPr>
          <p:nvPr/>
        </p:nvSpPr>
        <p:spPr>
          <a:xfrm xmlns:a="http://schemas.openxmlformats.org/drawingml/2006/main">
            <a:off x="6362700" y="1200150"/>
            <a:ext cx="5219700" cy="4686300"/>
          </a:xfrm>
          <a:prstGeom xmlns:a="http://schemas.openxmlformats.org/drawingml/2006/main" prst="roundRect">
            <a:avLst>
              <a:gd name="adj" fmla="val 2439"/>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35e9b0addbb4261"/>
          <a:stretch xmlns:a="http://schemas.openxmlformats.org/drawingml/2006/main"/>
        </p:blipFill>
        <p:spPr>
          <a:xfrm xmlns:a="http://schemas.openxmlformats.org/drawingml/2006/main">
            <a:off x="7303117" y="1314450"/>
            <a:ext cx="3338866" cy="40576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DF184806-6FDA-4076-8DFF-A83FB3DB948C}"/>
              </a:ext>
            </a:extLst>
          </p:cNvPr>
          <p:cNvSpPr>
            <a:spLocks xmlns:a="http://schemas.openxmlformats.org/drawingml/2006/main" noGrp="1"/>
          </p:cNvSpPr>
          <p:nvPr/>
        </p:nvSpPr>
        <p:spPr>
          <a:xfrm xmlns:a="http://schemas.openxmlformats.org/drawingml/2006/main">
            <a:off x="6534150" y="5486400"/>
            <a:ext cx="4876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ctr">
              <a:defRPr sz="1275" b="1" i="0">
                <a:solidFill>
                  <a:srgbClr val="111827"/>
                </a:solidFill>
                <a:latin typeface="Arial"/>
                <a:ea typeface="Arial"/>
                <a:cs typeface="Arial"/>
              </a:defRPr>
            </a:pPr>
            <a:r>
              <a:rPr sz="1275" b="1" i="0">
                <a:solidFill>
                  <a:srgbClr val="111827"/>
                </a:solidFill>
                <a:latin typeface="Arial"/>
                <a:ea typeface="Arial"/>
                <a:cs typeface="Arial"/>
              </a:rPr>
              <a:t>Explorateur de stratégies</a:t>
            </a:r>
          </a:p>
        </p:txBody>
      </p:sp>
      <p:sp>
        <p:nvSpPr>
          <p:cNvPr id="10" name="">
            <a:extLst xmlns:a="http://schemas.openxmlformats.org/drawingml/2006/main">
              <a:ext uri="{FF2B5EF4-FFF2-40B4-BE49-F238E27FC236}">
                <a16:creationId xmlns:a16="http://schemas.microsoft.com/office/drawing/2014/main" id="{086BF948-1709-4BBA-8C2D-8F4DDBD5A942}"/>
              </a:ext>
            </a:extLst>
          </p:cNvPr>
          <p:cNvSpPr>
            <a:spLocks xmlns:a="http://schemas.openxmlformats.org/drawingml/2006/main" noGrp="1"/>
          </p:cNvSpPr>
          <p:nvPr/>
        </p:nvSpPr>
        <p:spPr>
          <a:xfrm xmlns:a="http://schemas.openxmlformats.org/drawingml/2006/main">
            <a:off x="1352550" y="6153150"/>
            <a:ext cx="948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75" b="1" i="0">
                <a:solidFill>
                  <a:srgbClr val="173B67"/>
                </a:solidFill>
                <a:latin typeface="Arial"/>
                <a:ea typeface="Arial"/>
                <a:cs typeface="Arial"/>
              </a:defRPr>
            </a:pPr>
            <a:r>
              <a:rPr sz="1275" b="1" i="0">
                <a:solidFill>
                  <a:srgbClr val="173B67"/>
                </a:solidFill>
                <a:latin typeface="Arial"/>
                <a:ea typeface="Arial"/>
                <a:cs typeface="Arial"/>
              </a:rPr>
              <a:t>Les chiffres sont lus depuis Gold : l’interface ne contient aucun Sharpe écrit à la main.</a:t>
            </a:r>
          </a:p>
        </p:txBody>
      </p:sp>
    </p:spTree>
    <p:extLst>
      <p:ext uri="{BB962C8B-B14F-4D97-AF65-F5344CB8AC3E}">
        <p14:creationId xmlns:p14="http://schemas.microsoft.com/office/powerpoint/2010/main" val="8721148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2981B11-0A87-450B-AAF8-285C3F4A2A4C}"/>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INDUSTRIALISATION</a:t>
            </a:r>
          </a:p>
        </p:txBody>
      </p:sp>
      <p:sp>
        <p:nvSpPr>
          <p:cNvPr id="2" name="">
            <a:extLst xmlns:a="http://schemas.openxmlformats.org/drawingml/2006/main">
              <a:ext uri="{FF2B5EF4-FFF2-40B4-BE49-F238E27FC236}">
                <a16:creationId xmlns:a16="http://schemas.microsoft.com/office/drawing/2014/main" id="{A51B9665-3D40-4E66-84DB-FCC0973BAB6C}"/>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Le prototype est industrialisable et gouverné</a:t>
            </a:r>
          </a:p>
        </p:txBody>
      </p:sp>
      <p:sp>
        <p:nvSpPr>
          <p:cNvPr id="3" name="">
            <a:extLst xmlns:a="http://schemas.openxmlformats.org/drawingml/2006/main">
              <a:ext uri="{FF2B5EF4-FFF2-40B4-BE49-F238E27FC236}">
                <a16:creationId xmlns:a16="http://schemas.microsoft.com/office/drawing/2014/main" id="{A6F9F16B-340A-46AA-A731-8889937C3C7D}"/>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A9D868C-762D-448E-9FAD-9E8F89A0320C}"/>
              </a:ext>
            </a:extLst>
          </p:cNvPr>
          <p:cNvSpPr>
            <a:spLocks xmlns:a="http://schemas.openxmlformats.org/drawingml/2006/main" noGrp="1"/>
          </p:cNvSpPr>
          <p:nvPr/>
        </p:nvSpPr>
        <p:spPr>
          <a:xfrm xmlns:a="http://schemas.openxmlformats.org/drawingml/2006/main">
            <a:off x="609600" y="1200150"/>
            <a:ext cx="6534150" cy="4400550"/>
          </a:xfrm>
          <a:prstGeom xmlns:a="http://schemas.openxmlformats.org/drawingml/2006/main" prst="roundRect">
            <a:avLst>
              <a:gd name="adj" fmla="val 2597"/>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29F8A18-C0C1-4572-8665-3CBD197C4FAC}"/>
              </a:ext>
            </a:extLst>
          </p:cNvPr>
          <p:cNvSpPr>
            <a:spLocks xmlns:a="http://schemas.openxmlformats.org/drawingml/2006/main" noGrp="1"/>
          </p:cNvSpPr>
          <p:nvPr/>
        </p:nvSpPr>
        <p:spPr>
          <a:xfrm xmlns:a="http://schemas.openxmlformats.org/drawingml/2006/main">
            <a:off x="838200" y="1409700"/>
            <a:ext cx="607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i="0">
                <a:solidFill>
                  <a:srgbClr val="173B67"/>
                </a:solidFill>
                <a:latin typeface="Arial"/>
                <a:ea typeface="Arial"/>
                <a:cs typeface="Arial"/>
              </a:defRPr>
            </a:pPr>
            <a:r>
              <a:rPr sz="1350" b="1" i="0">
                <a:solidFill>
                  <a:srgbClr val="173B67"/>
                </a:solidFill>
                <a:latin typeface="Arial"/>
                <a:ea typeface="Arial"/>
                <a:cs typeface="Arial"/>
              </a:rPr>
              <a:t>Lecture industrielle de l’état actuel</a:t>
            </a:r>
          </a:p>
        </p:txBody>
      </p:sp>
      <p:sp>
        <p:nvSpPr>
          <p:cNvPr id="6" name="">
            <a:extLst xmlns:a="http://schemas.openxmlformats.org/drawingml/2006/main">
              <a:ext uri="{FF2B5EF4-FFF2-40B4-BE49-F238E27FC236}">
                <a16:creationId xmlns:a16="http://schemas.microsoft.com/office/drawing/2014/main" id="{26D3B0DE-AAF4-4CE0-97EC-F8450006D34C}"/>
              </a:ext>
            </a:extLst>
          </p:cNvPr>
          <p:cNvSpPr>
            <a:spLocks xmlns:a="http://schemas.openxmlformats.org/drawingml/2006/main" noGrp="1"/>
          </p:cNvSpPr>
          <p:nvPr/>
        </p:nvSpPr>
        <p:spPr>
          <a:xfrm xmlns:a="http://schemas.openxmlformats.org/drawingml/2006/main">
            <a:off x="838200" y="1866900"/>
            <a:ext cx="6076950" cy="428625"/>
          </a:xfrm>
          <a:prstGeom xmlns:a="http://schemas.openxmlformats.org/drawingml/2006/main" prst="rect">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0E668B2-61B1-42A2-A6AE-05C0EF0C0908}"/>
              </a:ext>
            </a:extLst>
          </p:cNvPr>
          <p:cNvSpPr>
            <a:spLocks xmlns:a="http://schemas.openxmlformats.org/drawingml/2006/main" noGrp="1"/>
          </p:cNvSpPr>
          <p:nvPr/>
        </p:nvSpPr>
        <p:spPr>
          <a:xfrm xmlns:a="http://schemas.openxmlformats.org/drawingml/2006/main">
            <a:off x="990600" y="19716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0F766E"/>
                </a:solidFill>
                <a:latin typeface="Arial"/>
                <a:ea typeface="Arial"/>
                <a:cs typeface="Arial"/>
              </a:defRPr>
            </a:pPr>
            <a:r>
              <a:rPr sz="1200" b="1" i="0">
                <a:solidFill>
                  <a:srgbClr val="0F766E"/>
                </a:solidFill>
                <a:latin typeface="Arial"/>
                <a:ea typeface="Arial"/>
                <a:cs typeface="Arial"/>
              </a:rPr>
              <a:t>Reproductibilité</a:t>
            </a:r>
          </a:p>
        </p:txBody>
      </p:sp>
      <p:sp>
        <p:nvSpPr>
          <p:cNvPr id="8" name="">
            <a:extLst xmlns:a="http://schemas.openxmlformats.org/drawingml/2006/main">
              <a:ext uri="{FF2B5EF4-FFF2-40B4-BE49-F238E27FC236}">
                <a16:creationId xmlns:a16="http://schemas.microsoft.com/office/drawing/2014/main" id="{E4AB1E02-0164-4A91-8B1C-6A5AA904411D}"/>
              </a:ext>
            </a:extLst>
          </p:cNvPr>
          <p:cNvSpPr>
            <a:spLocks xmlns:a="http://schemas.openxmlformats.org/drawingml/2006/main" noGrp="1"/>
          </p:cNvSpPr>
          <p:nvPr/>
        </p:nvSpPr>
        <p:spPr>
          <a:xfrm xmlns:a="http://schemas.openxmlformats.org/drawingml/2006/main">
            <a:off x="2781300" y="197167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DVC · lock 284 dépendances · R2</a:t>
            </a:r>
          </a:p>
        </p:txBody>
      </p:sp>
      <p:sp>
        <p:nvSpPr>
          <p:cNvPr id="9" name="">
            <a:extLst xmlns:a="http://schemas.openxmlformats.org/drawingml/2006/main">
              <a:ext uri="{FF2B5EF4-FFF2-40B4-BE49-F238E27FC236}">
                <a16:creationId xmlns:a16="http://schemas.microsoft.com/office/drawing/2014/main" id="{D3988DE1-57C1-4619-A4C3-76E6226EC013}"/>
              </a:ext>
            </a:extLst>
          </p:cNvPr>
          <p:cNvSpPr>
            <a:spLocks xmlns:a="http://schemas.openxmlformats.org/drawingml/2006/main" noGrp="1"/>
          </p:cNvSpPr>
          <p:nvPr/>
        </p:nvSpPr>
        <p:spPr>
          <a:xfrm xmlns:a="http://schemas.openxmlformats.org/drawingml/2006/main">
            <a:off x="5410200" y="197167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0F766E"/>
                </a:solidFill>
                <a:latin typeface="Arial"/>
                <a:ea typeface="Arial"/>
                <a:cs typeface="Arial"/>
              </a:defRPr>
            </a:pPr>
            <a:r>
              <a:rPr sz="975" b="1" i="0">
                <a:solidFill>
                  <a:srgbClr val="0F766E"/>
                </a:solidFill>
                <a:latin typeface="Arial"/>
                <a:ea typeface="Arial"/>
                <a:cs typeface="Arial"/>
              </a:rPr>
              <a:t>LIVRÉ</a:t>
            </a:r>
          </a:p>
        </p:txBody>
      </p:sp>
      <p:sp>
        <p:nvSpPr>
          <p:cNvPr id="10" name="">
            <a:extLst xmlns:a="http://schemas.openxmlformats.org/drawingml/2006/main">
              <a:ext uri="{FF2B5EF4-FFF2-40B4-BE49-F238E27FC236}">
                <a16:creationId xmlns:a16="http://schemas.microsoft.com/office/drawing/2014/main" id="{646F8429-40D4-4AEB-8421-6BA763019441}"/>
              </a:ext>
            </a:extLst>
          </p:cNvPr>
          <p:cNvSpPr>
            <a:spLocks xmlns:a="http://schemas.openxmlformats.org/drawingml/2006/main" noGrp="1"/>
          </p:cNvSpPr>
          <p:nvPr/>
        </p:nvSpPr>
        <p:spPr>
          <a:xfrm xmlns:a="http://schemas.openxmlformats.org/drawingml/2006/main">
            <a:off x="838200" y="2390775"/>
            <a:ext cx="6076950" cy="428625"/>
          </a:xfrm>
          <a:prstGeom xmlns:a="http://schemas.openxmlformats.org/drawingml/2006/main" prst="rect">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B00EABD4-C42F-4CAF-8AF7-801BD1FABF5D}"/>
              </a:ext>
            </a:extLst>
          </p:cNvPr>
          <p:cNvSpPr>
            <a:spLocks xmlns:a="http://schemas.openxmlformats.org/drawingml/2006/main" noGrp="1"/>
          </p:cNvSpPr>
          <p:nvPr/>
        </p:nvSpPr>
        <p:spPr>
          <a:xfrm xmlns:a="http://schemas.openxmlformats.org/drawingml/2006/main">
            <a:off x="990600" y="24955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0F766E"/>
                </a:solidFill>
                <a:latin typeface="Arial"/>
                <a:ea typeface="Arial"/>
                <a:cs typeface="Arial"/>
              </a:defRPr>
            </a:pPr>
            <a:r>
              <a:rPr sz="1200" b="1" i="0">
                <a:solidFill>
                  <a:srgbClr val="0F766E"/>
                </a:solidFill>
                <a:latin typeface="Arial"/>
                <a:ea typeface="Arial"/>
                <a:cs typeface="Arial"/>
              </a:rPr>
              <a:t>Tests &amp; CI</a:t>
            </a:r>
          </a:p>
        </p:txBody>
      </p:sp>
      <p:sp>
        <p:nvSpPr>
          <p:cNvPr id="12" name="">
            <a:extLst xmlns:a="http://schemas.openxmlformats.org/drawingml/2006/main">
              <a:ext uri="{FF2B5EF4-FFF2-40B4-BE49-F238E27FC236}">
                <a16:creationId xmlns:a16="http://schemas.microsoft.com/office/drawing/2014/main" id="{910AE2F7-5389-4CB5-B8B1-919CDE35B4B2}"/>
              </a:ext>
            </a:extLst>
          </p:cNvPr>
          <p:cNvSpPr>
            <a:spLocks xmlns:a="http://schemas.openxmlformats.org/drawingml/2006/main" noGrp="1"/>
          </p:cNvSpPr>
          <p:nvPr/>
        </p:nvSpPr>
        <p:spPr>
          <a:xfrm xmlns:a="http://schemas.openxmlformats.org/drawingml/2006/main">
            <a:off x="2781300" y="24955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792 tests · portes de release</a:t>
            </a:r>
          </a:p>
        </p:txBody>
      </p:sp>
      <p:sp>
        <p:nvSpPr>
          <p:cNvPr id="13" name="">
            <a:extLst xmlns:a="http://schemas.openxmlformats.org/drawingml/2006/main">
              <a:ext uri="{FF2B5EF4-FFF2-40B4-BE49-F238E27FC236}">
                <a16:creationId xmlns:a16="http://schemas.microsoft.com/office/drawing/2014/main" id="{CC742908-D687-45CE-B48C-A87E81E13BD3}"/>
              </a:ext>
            </a:extLst>
          </p:cNvPr>
          <p:cNvSpPr>
            <a:spLocks xmlns:a="http://schemas.openxmlformats.org/drawingml/2006/main" noGrp="1"/>
          </p:cNvSpPr>
          <p:nvPr/>
        </p:nvSpPr>
        <p:spPr>
          <a:xfrm xmlns:a="http://schemas.openxmlformats.org/drawingml/2006/main">
            <a:off x="5410200" y="24955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0F766E"/>
                </a:solidFill>
                <a:latin typeface="Arial"/>
                <a:ea typeface="Arial"/>
                <a:cs typeface="Arial"/>
              </a:defRPr>
            </a:pPr>
            <a:r>
              <a:rPr sz="975" b="1" i="0">
                <a:solidFill>
                  <a:srgbClr val="0F766E"/>
                </a:solidFill>
                <a:latin typeface="Arial"/>
                <a:ea typeface="Arial"/>
                <a:cs typeface="Arial"/>
              </a:rPr>
              <a:t>LIVRÉ</a:t>
            </a:r>
          </a:p>
        </p:txBody>
      </p:sp>
      <p:sp>
        <p:nvSpPr>
          <p:cNvPr id="14" name="">
            <a:extLst xmlns:a="http://schemas.openxmlformats.org/drawingml/2006/main">
              <a:ext uri="{FF2B5EF4-FFF2-40B4-BE49-F238E27FC236}">
                <a16:creationId xmlns:a16="http://schemas.microsoft.com/office/drawing/2014/main" id="{3494554E-6110-4AA5-9F2D-1312F37279FD}"/>
              </a:ext>
            </a:extLst>
          </p:cNvPr>
          <p:cNvSpPr>
            <a:spLocks xmlns:a="http://schemas.openxmlformats.org/drawingml/2006/main" noGrp="1"/>
          </p:cNvSpPr>
          <p:nvPr/>
        </p:nvSpPr>
        <p:spPr>
          <a:xfrm xmlns:a="http://schemas.openxmlformats.org/drawingml/2006/main">
            <a:off x="838200" y="2914650"/>
            <a:ext cx="6076950" cy="428625"/>
          </a:xfrm>
          <a:prstGeom xmlns:a="http://schemas.openxmlformats.org/drawingml/2006/main" prst="rect">
            <a:avLst/>
          </a:prstGeom>
          <a:solidFill xmlns:a="http://schemas.openxmlformats.org/drawingml/2006/main">
            <a:srgbClr val="DFF4EE"/>
          </a:solidFill>
          <a:ln xmlns:a="http://schemas.openxmlformats.org/drawingml/2006/main" w="0">
            <a:no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2014CB66-8EA6-4EAE-B445-08C8C51A8541}"/>
              </a:ext>
            </a:extLst>
          </p:cNvPr>
          <p:cNvSpPr>
            <a:spLocks xmlns:a="http://schemas.openxmlformats.org/drawingml/2006/main" noGrp="1"/>
          </p:cNvSpPr>
          <p:nvPr/>
        </p:nvSpPr>
        <p:spPr>
          <a:xfrm xmlns:a="http://schemas.openxmlformats.org/drawingml/2006/main">
            <a:off x="990600" y="30194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0F766E"/>
                </a:solidFill>
                <a:latin typeface="Arial"/>
                <a:ea typeface="Arial"/>
                <a:cs typeface="Arial"/>
              </a:defRPr>
            </a:pPr>
            <a:r>
              <a:rPr sz="1200" b="1" i="0">
                <a:solidFill>
                  <a:srgbClr val="0F766E"/>
                </a:solidFill>
                <a:latin typeface="Arial"/>
                <a:ea typeface="Arial"/>
                <a:cs typeface="Arial"/>
              </a:rPr>
              <a:t>Explicabilité</a:t>
            </a:r>
          </a:p>
        </p:txBody>
      </p:sp>
      <p:sp>
        <p:nvSpPr>
          <p:cNvPr id="16" name="">
            <a:extLst xmlns:a="http://schemas.openxmlformats.org/drawingml/2006/main">
              <a:ext uri="{FF2B5EF4-FFF2-40B4-BE49-F238E27FC236}">
                <a16:creationId xmlns:a16="http://schemas.microsoft.com/office/drawing/2014/main" id="{4BA44D27-DB6F-4A8B-AF9C-EA0D4339AF97}"/>
              </a:ext>
            </a:extLst>
          </p:cNvPr>
          <p:cNvSpPr>
            <a:spLocks xmlns:a="http://schemas.openxmlformats.org/drawingml/2006/main" noGrp="1"/>
          </p:cNvSpPr>
          <p:nvPr/>
        </p:nvSpPr>
        <p:spPr>
          <a:xfrm xmlns:a="http://schemas.openxmlformats.org/drawingml/2006/main">
            <a:off x="2781300" y="301942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trace HMM · attributions exactes</a:t>
            </a:r>
          </a:p>
        </p:txBody>
      </p:sp>
      <p:sp>
        <p:nvSpPr>
          <p:cNvPr id="17" name="">
            <a:extLst xmlns:a="http://schemas.openxmlformats.org/drawingml/2006/main">
              <a:ext uri="{FF2B5EF4-FFF2-40B4-BE49-F238E27FC236}">
                <a16:creationId xmlns:a16="http://schemas.microsoft.com/office/drawing/2014/main" id="{48345298-1E0D-428F-B34A-09FE971C0A1C}"/>
              </a:ext>
            </a:extLst>
          </p:cNvPr>
          <p:cNvSpPr>
            <a:spLocks xmlns:a="http://schemas.openxmlformats.org/drawingml/2006/main" noGrp="1"/>
          </p:cNvSpPr>
          <p:nvPr/>
        </p:nvSpPr>
        <p:spPr>
          <a:xfrm xmlns:a="http://schemas.openxmlformats.org/drawingml/2006/main">
            <a:off x="5410200" y="301942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0F766E"/>
                </a:solidFill>
                <a:latin typeface="Arial"/>
                <a:ea typeface="Arial"/>
                <a:cs typeface="Arial"/>
              </a:defRPr>
            </a:pPr>
            <a:r>
              <a:rPr sz="975" b="1" i="0">
                <a:solidFill>
                  <a:srgbClr val="0F766E"/>
                </a:solidFill>
                <a:latin typeface="Arial"/>
                <a:ea typeface="Arial"/>
                <a:cs typeface="Arial"/>
              </a:rPr>
              <a:t>LIVRÉ</a:t>
            </a:r>
          </a:p>
        </p:txBody>
      </p:sp>
      <p:sp>
        <p:nvSpPr>
          <p:cNvPr id="18" name="">
            <a:extLst xmlns:a="http://schemas.openxmlformats.org/drawingml/2006/main">
              <a:ext uri="{FF2B5EF4-FFF2-40B4-BE49-F238E27FC236}">
                <a16:creationId xmlns:a16="http://schemas.microsoft.com/office/drawing/2014/main" id="{93CCD9DE-0B0C-4C3D-A13B-E11EEB687230}"/>
              </a:ext>
            </a:extLst>
          </p:cNvPr>
          <p:cNvSpPr>
            <a:spLocks xmlns:a="http://schemas.openxmlformats.org/drawingml/2006/main" noGrp="1"/>
          </p:cNvSpPr>
          <p:nvPr/>
        </p:nvSpPr>
        <p:spPr>
          <a:xfrm xmlns:a="http://schemas.openxmlformats.org/drawingml/2006/main">
            <a:off x="838200" y="3438525"/>
            <a:ext cx="6076950" cy="428625"/>
          </a:xfrm>
          <a:prstGeom xmlns:a="http://schemas.openxmlformats.org/drawingml/2006/main" prst="rect">
            <a:avLst/>
          </a:prstGeom>
          <a:solidFill xmlns:a="http://schemas.openxmlformats.org/drawingml/2006/main">
            <a:srgbClr val="DDEEFF"/>
          </a:solidFill>
          <a:ln xmlns:a="http://schemas.openxmlformats.org/drawingml/2006/main" w="0">
            <a:no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1D970FA3-BF5C-444E-9C31-8FBD122FA18B}"/>
              </a:ext>
            </a:extLst>
          </p:cNvPr>
          <p:cNvSpPr>
            <a:spLocks xmlns:a="http://schemas.openxmlformats.org/drawingml/2006/main" noGrp="1"/>
          </p:cNvSpPr>
          <p:nvPr/>
        </p:nvSpPr>
        <p:spPr>
          <a:xfrm xmlns:a="http://schemas.openxmlformats.org/drawingml/2006/main">
            <a:off x="990600" y="354330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173B67"/>
                </a:solidFill>
                <a:latin typeface="Arial"/>
                <a:ea typeface="Arial"/>
                <a:cs typeface="Arial"/>
              </a:defRPr>
            </a:pPr>
            <a:r>
              <a:rPr sz="1200" b="1" i="0">
                <a:solidFill>
                  <a:srgbClr val="173B67"/>
                </a:solidFill>
                <a:latin typeface="Arial"/>
                <a:ea typeface="Arial"/>
                <a:cs typeface="Arial"/>
              </a:rPr>
              <a:t>Service</a:t>
            </a:r>
          </a:p>
        </p:txBody>
      </p:sp>
      <p:sp>
        <p:nvSpPr>
          <p:cNvPr id="20" name="">
            <a:extLst xmlns:a="http://schemas.openxmlformats.org/drawingml/2006/main">
              <a:ext uri="{FF2B5EF4-FFF2-40B4-BE49-F238E27FC236}">
                <a16:creationId xmlns:a16="http://schemas.microsoft.com/office/drawing/2014/main" id="{2EE9A3CC-5934-4BBE-AAEF-F3A94745E95A}"/>
              </a:ext>
            </a:extLst>
          </p:cNvPr>
          <p:cNvSpPr>
            <a:spLocks xmlns:a="http://schemas.openxmlformats.org/drawingml/2006/main" noGrp="1"/>
          </p:cNvSpPr>
          <p:nvPr/>
        </p:nvSpPr>
        <p:spPr>
          <a:xfrm xmlns:a="http://schemas.openxmlformats.org/drawingml/2006/main">
            <a:off x="2781300" y="35433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API · dashboard · Docker</a:t>
            </a:r>
          </a:p>
        </p:txBody>
      </p:sp>
      <p:sp>
        <p:nvSpPr>
          <p:cNvPr id="21" name="">
            <a:extLst xmlns:a="http://schemas.openxmlformats.org/drawingml/2006/main">
              <a:ext uri="{FF2B5EF4-FFF2-40B4-BE49-F238E27FC236}">
                <a16:creationId xmlns:a16="http://schemas.microsoft.com/office/drawing/2014/main" id="{C76D533F-D424-4EDC-A37E-8441C2E199AB}"/>
              </a:ext>
            </a:extLst>
          </p:cNvPr>
          <p:cNvSpPr>
            <a:spLocks xmlns:a="http://schemas.openxmlformats.org/drawingml/2006/main" noGrp="1"/>
          </p:cNvSpPr>
          <p:nvPr/>
        </p:nvSpPr>
        <p:spPr>
          <a:xfrm xmlns:a="http://schemas.openxmlformats.org/drawingml/2006/main">
            <a:off x="5410200" y="354330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173B67"/>
                </a:solidFill>
                <a:latin typeface="Arial"/>
                <a:ea typeface="Arial"/>
                <a:cs typeface="Arial"/>
              </a:defRPr>
            </a:pPr>
            <a:r>
              <a:rPr sz="975" b="1" i="0">
                <a:solidFill>
                  <a:srgbClr val="173B67"/>
                </a:solidFill>
                <a:latin typeface="Arial"/>
                <a:ea typeface="Arial"/>
                <a:cs typeface="Arial"/>
              </a:rPr>
              <a:t>PROTOTYPE</a:t>
            </a:r>
          </a:p>
        </p:txBody>
      </p:sp>
      <p:sp>
        <p:nvSpPr>
          <p:cNvPr id="22" name="">
            <a:extLst xmlns:a="http://schemas.openxmlformats.org/drawingml/2006/main">
              <a:ext uri="{FF2B5EF4-FFF2-40B4-BE49-F238E27FC236}">
                <a16:creationId xmlns:a16="http://schemas.microsoft.com/office/drawing/2014/main" id="{04F9B922-7B9A-46AD-9F67-A77445A27870}"/>
              </a:ext>
            </a:extLst>
          </p:cNvPr>
          <p:cNvSpPr>
            <a:spLocks xmlns:a="http://schemas.openxmlformats.org/drawingml/2006/main" noGrp="1"/>
          </p:cNvSpPr>
          <p:nvPr/>
        </p:nvSpPr>
        <p:spPr>
          <a:xfrm xmlns:a="http://schemas.openxmlformats.org/drawingml/2006/main">
            <a:off x="838200" y="3962400"/>
            <a:ext cx="6076950" cy="428625"/>
          </a:xfrm>
          <a:prstGeom xmlns:a="http://schemas.openxmlformats.org/drawingml/2006/main" prst="rect">
            <a:avLst/>
          </a:prstGeom>
          <a:solidFill xmlns:a="http://schemas.openxmlformats.org/drawingml/2006/main">
            <a:srgbClr val="FFF0D5"/>
          </a:solidFill>
          <a:ln xmlns:a="http://schemas.openxmlformats.org/drawingml/2006/main" w="0">
            <a:no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859745C1-B1BE-4795-BBFB-0285271139CE}"/>
              </a:ext>
            </a:extLst>
          </p:cNvPr>
          <p:cNvSpPr>
            <a:spLocks xmlns:a="http://schemas.openxmlformats.org/drawingml/2006/main" noGrp="1"/>
          </p:cNvSpPr>
          <p:nvPr/>
        </p:nvSpPr>
        <p:spPr>
          <a:xfrm xmlns:a="http://schemas.openxmlformats.org/drawingml/2006/main">
            <a:off x="990600" y="40671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A86812"/>
                </a:solidFill>
                <a:latin typeface="Arial"/>
                <a:ea typeface="Arial"/>
                <a:cs typeface="Arial"/>
              </a:defRPr>
            </a:pPr>
            <a:r>
              <a:rPr sz="1200" b="1" i="0">
                <a:solidFill>
                  <a:srgbClr val="A86812"/>
                </a:solidFill>
                <a:latin typeface="Arial"/>
                <a:ea typeface="Arial"/>
                <a:cs typeface="Arial"/>
              </a:rPr>
              <a:t>Monitoring</a:t>
            </a:r>
          </a:p>
        </p:txBody>
      </p:sp>
      <p:sp>
        <p:nvSpPr>
          <p:cNvPr id="24" name="">
            <a:extLst xmlns:a="http://schemas.openxmlformats.org/drawingml/2006/main">
              <a:ext uri="{FF2B5EF4-FFF2-40B4-BE49-F238E27FC236}">
                <a16:creationId xmlns:a16="http://schemas.microsoft.com/office/drawing/2014/main" id="{6E57BCE9-BC7F-4220-8DEC-E97F489C14C2}"/>
              </a:ext>
            </a:extLst>
          </p:cNvPr>
          <p:cNvSpPr>
            <a:spLocks xmlns:a="http://schemas.openxmlformats.org/drawingml/2006/main" noGrp="1"/>
          </p:cNvSpPr>
          <p:nvPr/>
        </p:nvSpPr>
        <p:spPr>
          <a:xfrm xmlns:a="http://schemas.openxmlformats.org/drawingml/2006/main">
            <a:off x="2781300" y="4067175"/>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PSI · baseline hors ligne</a:t>
            </a:r>
          </a:p>
        </p:txBody>
      </p:sp>
      <p:sp>
        <p:nvSpPr>
          <p:cNvPr id="25" name="">
            <a:extLst xmlns:a="http://schemas.openxmlformats.org/drawingml/2006/main">
              <a:ext uri="{FF2B5EF4-FFF2-40B4-BE49-F238E27FC236}">
                <a16:creationId xmlns:a16="http://schemas.microsoft.com/office/drawing/2014/main" id="{3C64BDA4-6726-4586-ADA1-8C5F08024EBA}"/>
              </a:ext>
            </a:extLst>
          </p:cNvPr>
          <p:cNvSpPr>
            <a:spLocks xmlns:a="http://schemas.openxmlformats.org/drawingml/2006/main" noGrp="1"/>
          </p:cNvSpPr>
          <p:nvPr/>
        </p:nvSpPr>
        <p:spPr>
          <a:xfrm xmlns:a="http://schemas.openxmlformats.org/drawingml/2006/main">
            <a:off x="5410200" y="4067175"/>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A86812"/>
                </a:solidFill>
                <a:latin typeface="Arial"/>
                <a:ea typeface="Arial"/>
                <a:cs typeface="Arial"/>
              </a:defRPr>
            </a:pPr>
            <a:r>
              <a:rPr sz="975" b="1" i="0">
                <a:solidFill>
                  <a:srgbClr val="A86812"/>
                </a:solidFill>
                <a:latin typeface="Arial"/>
                <a:ea typeface="Arial"/>
                <a:cs typeface="Arial"/>
              </a:rPr>
              <a:t>PRÊT, NON ACTIF</a:t>
            </a:r>
          </a:p>
        </p:txBody>
      </p:sp>
      <p:sp>
        <p:nvSpPr>
          <p:cNvPr id="26" name="">
            <a:extLst xmlns:a="http://schemas.openxmlformats.org/drawingml/2006/main">
              <a:ext uri="{FF2B5EF4-FFF2-40B4-BE49-F238E27FC236}">
                <a16:creationId xmlns:a16="http://schemas.microsoft.com/office/drawing/2014/main" id="{2DEA3290-3F43-4F73-90C9-A10835E4D846}"/>
              </a:ext>
            </a:extLst>
          </p:cNvPr>
          <p:cNvSpPr>
            <a:spLocks xmlns:a="http://schemas.openxmlformats.org/drawingml/2006/main" noGrp="1"/>
          </p:cNvSpPr>
          <p:nvPr/>
        </p:nvSpPr>
        <p:spPr>
          <a:xfrm xmlns:a="http://schemas.openxmlformats.org/drawingml/2006/main">
            <a:off x="838200" y="4486275"/>
            <a:ext cx="6076950" cy="428625"/>
          </a:xfrm>
          <a:prstGeom xmlns:a="http://schemas.openxmlformats.org/drawingml/2006/main" prst="rect">
            <a:avLst/>
          </a:prstGeom>
          <a:solidFill xmlns:a="http://schemas.openxmlformats.org/drawingml/2006/main">
            <a:srgbClr val="FCE9E7"/>
          </a:solidFill>
          <a:ln xmlns:a="http://schemas.openxmlformats.org/drawingml/2006/main" w="0">
            <a:no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9253C882-03D4-4EA7-9B8F-8D3B63A30A17}"/>
              </a:ext>
            </a:extLst>
          </p:cNvPr>
          <p:cNvSpPr>
            <a:spLocks xmlns:a="http://schemas.openxmlformats.org/drawingml/2006/main" noGrp="1"/>
          </p:cNvSpPr>
          <p:nvPr/>
        </p:nvSpPr>
        <p:spPr>
          <a:xfrm xmlns:a="http://schemas.openxmlformats.org/drawingml/2006/main">
            <a:off x="990600" y="4591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i="0">
                <a:solidFill>
                  <a:srgbClr val="B7433E"/>
                </a:solidFill>
                <a:latin typeface="Arial"/>
                <a:ea typeface="Arial"/>
                <a:cs typeface="Arial"/>
              </a:defRPr>
            </a:pPr>
            <a:r>
              <a:rPr sz="1200" b="1" i="0">
                <a:solidFill>
                  <a:srgbClr val="B7433E"/>
                </a:solidFill>
                <a:latin typeface="Arial"/>
                <a:ea typeface="Arial"/>
                <a:cs typeface="Arial"/>
              </a:rPr>
              <a:t>Validation indép.</a:t>
            </a:r>
          </a:p>
        </p:txBody>
      </p:sp>
      <p:sp>
        <p:nvSpPr>
          <p:cNvPr id="28" name="">
            <a:extLst xmlns:a="http://schemas.openxmlformats.org/drawingml/2006/main">
              <a:ext uri="{FF2B5EF4-FFF2-40B4-BE49-F238E27FC236}">
                <a16:creationId xmlns:a16="http://schemas.microsoft.com/office/drawing/2014/main" id="{B82E69A0-B252-4BD2-A901-F056177BBB92}"/>
              </a:ext>
            </a:extLst>
          </p:cNvPr>
          <p:cNvSpPr>
            <a:spLocks xmlns:a="http://schemas.openxmlformats.org/drawingml/2006/main" noGrp="1"/>
          </p:cNvSpPr>
          <p:nvPr/>
        </p:nvSpPr>
        <p:spPr>
          <a:xfrm xmlns:a="http://schemas.openxmlformats.org/drawingml/2006/main">
            <a:off x="2781300" y="45910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revue par une seconde ligne</a:t>
            </a:r>
          </a:p>
        </p:txBody>
      </p:sp>
      <p:sp>
        <p:nvSpPr>
          <p:cNvPr id="29" name="">
            <a:extLst xmlns:a="http://schemas.openxmlformats.org/drawingml/2006/main">
              <a:ext uri="{FF2B5EF4-FFF2-40B4-BE49-F238E27FC236}">
                <a16:creationId xmlns:a16="http://schemas.microsoft.com/office/drawing/2014/main" id="{49CEB76A-BE8A-4826-AA83-9361184C25C1}"/>
              </a:ext>
            </a:extLst>
          </p:cNvPr>
          <p:cNvSpPr>
            <a:spLocks xmlns:a="http://schemas.openxmlformats.org/drawingml/2006/main" noGrp="1"/>
          </p:cNvSpPr>
          <p:nvPr/>
        </p:nvSpPr>
        <p:spPr>
          <a:xfrm xmlns:a="http://schemas.openxmlformats.org/drawingml/2006/main">
            <a:off x="5410200" y="4591050"/>
            <a:ext cx="1352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r">
              <a:defRPr sz="975" b="1" i="0">
                <a:solidFill>
                  <a:srgbClr val="B7433E"/>
                </a:solidFill>
                <a:latin typeface="Arial"/>
                <a:ea typeface="Arial"/>
                <a:cs typeface="Arial"/>
              </a:defRPr>
            </a:pPr>
            <a:r>
              <a:rPr sz="975" b="1" i="0">
                <a:solidFill>
                  <a:srgbClr val="B7433E"/>
                </a:solidFill>
                <a:latin typeface="Arial"/>
                <a:ea typeface="Arial"/>
                <a:cs typeface="Arial"/>
              </a:rPr>
              <a:t>À RÉALISER</a:t>
            </a:r>
          </a:p>
        </p:txBody>
      </p:sp>
      <p:sp>
        <p:nvSpPr>
          <p:cNvPr id="30" name="">
            <a:extLst xmlns:a="http://schemas.openxmlformats.org/drawingml/2006/main">
              <a:ext uri="{FF2B5EF4-FFF2-40B4-BE49-F238E27FC236}">
                <a16:creationId xmlns:a16="http://schemas.microsoft.com/office/drawing/2014/main" id="{33E2E35B-5899-4CD1-84BC-56BA07B053D9}"/>
              </a:ext>
            </a:extLst>
          </p:cNvPr>
          <p:cNvSpPr>
            <a:spLocks xmlns:a="http://schemas.openxmlformats.org/drawingml/2006/main" noGrp="1"/>
          </p:cNvSpPr>
          <p:nvPr/>
        </p:nvSpPr>
        <p:spPr>
          <a:xfrm xmlns:a="http://schemas.openxmlformats.org/drawingml/2006/main">
            <a:off x="7486650" y="1200150"/>
            <a:ext cx="4095750" cy="2724150"/>
          </a:xfrm>
          <a:prstGeom xmlns:a="http://schemas.openxmlformats.org/drawingml/2006/main" prst="roundRect">
            <a:avLst>
              <a:gd name="adj" fmla="val 4196"/>
            </a:avLst>
          </a:prstGeom>
          <a:solidFill xmlns:a="http://schemas.openxmlformats.org/drawingml/2006/main">
            <a:srgbClr val="F3F4F6"/>
          </a:solidFill>
          <a:ln xmlns:a="http://schemas.openxmlformats.org/drawingml/2006/main" w="9525">
            <a:solidFill>
              <a:srgbClr val="D1D5DB"/>
            </a:solidFill>
            <a:prstDash val="solid"/>
          </a:ln>
        </p:spPr>
        <p:txBody xmlns:a="http://schemas.openxmlformats.org/drawingml/2006/main">
          <a:bodyP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a3c04459c6b64d9c"/>
          <a:stretch xmlns:a="http://schemas.openxmlformats.org/drawingml/2006/main"/>
        </p:blipFill>
        <p:spPr>
          <a:xfrm xmlns:a="http://schemas.openxmlformats.org/drawingml/2006/main">
            <a:off x="8509271" y="1314450"/>
            <a:ext cx="2050508" cy="226695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452D0373-2E3E-4C9E-AC9D-0F43575BB49B}"/>
              </a:ext>
            </a:extLst>
          </p:cNvPr>
          <p:cNvSpPr>
            <a:spLocks xmlns:a="http://schemas.openxmlformats.org/drawingml/2006/main" noGrp="1"/>
          </p:cNvSpPr>
          <p:nvPr/>
        </p:nvSpPr>
        <p:spPr>
          <a:xfrm xmlns:a="http://schemas.openxmlformats.org/drawingml/2006/main">
            <a:off x="7658100" y="3638550"/>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111827"/>
                </a:solidFill>
                <a:latin typeface="Arial"/>
                <a:ea typeface="Arial"/>
                <a:cs typeface="Arial"/>
              </a:defRPr>
            </a:pPr>
            <a:r>
              <a:rPr sz="1125" b="1" i="0">
                <a:solidFill>
                  <a:srgbClr val="111827"/>
                </a:solidFill>
                <a:latin typeface="Arial"/>
                <a:ea typeface="Arial"/>
                <a:cs typeface="Arial"/>
              </a:rPr>
              <a:t>API contractuelle · numéraire obligatoire</a:t>
            </a:r>
          </a:p>
        </p:txBody>
      </p:sp>
      <p:sp>
        <p:nvSpPr>
          <p:cNvPr id="33" name="">
            <a:extLst xmlns:a="http://schemas.openxmlformats.org/drawingml/2006/main">
              <a:ext uri="{FF2B5EF4-FFF2-40B4-BE49-F238E27FC236}">
                <a16:creationId xmlns:a16="http://schemas.microsoft.com/office/drawing/2014/main" id="{7A90B957-88A6-45E6-A7C5-7967D2131CA6}"/>
              </a:ext>
            </a:extLst>
          </p:cNvPr>
          <p:cNvSpPr>
            <a:spLocks xmlns:a="http://schemas.openxmlformats.org/drawingml/2006/main" noGrp="1"/>
          </p:cNvSpPr>
          <p:nvPr/>
        </p:nvSpPr>
        <p:spPr>
          <a:xfrm xmlns:a="http://schemas.openxmlformats.org/drawingml/2006/main">
            <a:off x="7639050" y="42862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3D8DFF"/>
                </a:solidFill>
                <a:latin typeface="Arial"/>
                <a:ea typeface="Arial"/>
                <a:cs typeface="Arial"/>
              </a:defRPr>
            </a:pPr>
            <a:r>
              <a:rPr sz="3000" b="1" i="0">
                <a:solidFill>
                  <a:srgbClr val="3D8DFF"/>
                </a:solidFill>
                <a:latin typeface="Arial"/>
                <a:ea typeface="Arial"/>
                <a:cs typeface="Arial"/>
              </a:rPr>
              <a:t>792</a:t>
            </a:r>
          </a:p>
        </p:txBody>
      </p:sp>
      <p:sp>
        <p:nvSpPr>
          <p:cNvPr id="34" name="">
            <a:extLst xmlns:a="http://schemas.openxmlformats.org/drawingml/2006/main">
              <a:ext uri="{FF2B5EF4-FFF2-40B4-BE49-F238E27FC236}">
                <a16:creationId xmlns:a16="http://schemas.microsoft.com/office/drawing/2014/main" id="{F1C8F1BC-C10B-4881-BF2C-0CB875B211EF}"/>
              </a:ext>
            </a:extLst>
          </p:cNvPr>
          <p:cNvSpPr>
            <a:spLocks xmlns:a="http://schemas.openxmlformats.org/drawingml/2006/main" noGrp="1"/>
          </p:cNvSpPr>
          <p:nvPr/>
        </p:nvSpPr>
        <p:spPr>
          <a:xfrm xmlns:a="http://schemas.openxmlformats.org/drawingml/2006/main">
            <a:off x="7639050" y="48577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tests automatisés</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sur l’état actuel</a:t>
            </a:r>
          </a:p>
        </p:txBody>
      </p:sp>
      <p:sp>
        <p:nvSpPr>
          <p:cNvPr id="35" name="">
            <a:extLst xmlns:a="http://schemas.openxmlformats.org/drawingml/2006/main">
              <a:ext uri="{FF2B5EF4-FFF2-40B4-BE49-F238E27FC236}">
                <a16:creationId xmlns:a16="http://schemas.microsoft.com/office/drawing/2014/main" id="{60BDA370-DCE4-4975-96AC-D5FDA4E50F7A}"/>
              </a:ext>
            </a:extLst>
          </p:cNvPr>
          <p:cNvSpPr>
            <a:spLocks xmlns:a="http://schemas.openxmlformats.org/drawingml/2006/main" noGrp="1"/>
          </p:cNvSpPr>
          <p:nvPr/>
        </p:nvSpPr>
        <p:spPr>
          <a:xfrm xmlns:a="http://schemas.openxmlformats.org/drawingml/2006/main">
            <a:off x="9429750" y="42862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i="0">
                <a:solidFill>
                  <a:srgbClr val="0F766E"/>
                </a:solidFill>
                <a:latin typeface="Arial"/>
                <a:ea typeface="Arial"/>
                <a:cs typeface="Arial"/>
              </a:defRPr>
            </a:pPr>
            <a:r>
              <a:rPr sz="3000" b="1" i="0">
                <a:solidFill>
                  <a:srgbClr val="0F766E"/>
                </a:solidFill>
                <a:latin typeface="Arial"/>
                <a:ea typeface="Arial"/>
                <a:cs typeface="Arial"/>
              </a:rPr>
              <a:t>0 / 1 188</a:t>
            </a:r>
          </a:p>
        </p:txBody>
      </p:sp>
      <p:sp>
        <p:nvSpPr>
          <p:cNvPr id="36" name="">
            <a:extLst xmlns:a="http://schemas.openxmlformats.org/drawingml/2006/main">
              <a:ext uri="{FF2B5EF4-FFF2-40B4-BE49-F238E27FC236}">
                <a16:creationId xmlns:a16="http://schemas.microsoft.com/office/drawing/2014/main" id="{3B99528A-9D78-4A42-B1D4-4DEDC4EEAFC5}"/>
              </a:ext>
            </a:extLst>
          </p:cNvPr>
          <p:cNvSpPr>
            <a:spLocks xmlns:a="http://schemas.openxmlformats.org/drawingml/2006/main" noGrp="1"/>
          </p:cNvSpPr>
          <p:nvPr/>
        </p:nvSpPr>
        <p:spPr>
          <a:xfrm xmlns:a="http://schemas.openxmlformats.org/drawingml/2006/main">
            <a:off x="9429750" y="4857750"/>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fallbacks mesurés</a:t>
            </a:r>
          </a:p>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sur le snapshot</a:t>
            </a:r>
          </a:p>
        </p:txBody>
      </p:sp>
      <p:sp>
        <p:nvSpPr>
          <p:cNvPr id="37" name="">
            <a:extLst xmlns:a="http://schemas.openxmlformats.org/drawingml/2006/main">
              <a:ext uri="{FF2B5EF4-FFF2-40B4-BE49-F238E27FC236}">
                <a16:creationId xmlns:a16="http://schemas.microsoft.com/office/drawing/2014/main" id="{D8497D1D-923C-4BB3-9355-D9FAC3311403}"/>
              </a:ext>
            </a:extLst>
          </p:cNvPr>
          <p:cNvSpPr>
            <a:spLocks xmlns:a="http://schemas.openxmlformats.org/drawingml/2006/main" noGrp="1"/>
          </p:cNvSpPr>
          <p:nvPr/>
        </p:nvSpPr>
        <p:spPr>
          <a:xfrm xmlns:a="http://schemas.openxmlformats.org/drawingml/2006/main">
            <a:off x="7524750" y="5619750"/>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200" b="1" i="0">
                <a:solidFill>
                  <a:srgbClr val="173B67"/>
                </a:solidFill>
                <a:latin typeface="Arial"/>
                <a:ea typeface="Arial"/>
                <a:cs typeface="Arial"/>
              </a:defRPr>
            </a:pPr>
            <a:r>
              <a:rPr sz="1200" b="1" i="0">
                <a:solidFill>
                  <a:srgbClr val="173B67"/>
                </a:solidFill>
                <a:latin typeface="Arial"/>
                <a:ea typeface="Arial"/>
                <a:cs typeface="Arial"/>
              </a:rPr>
              <a:t>DVC + R2 · Docker · CI · model cards · manifest de snapshot · monitoring hors ligne</a:t>
            </a:r>
          </a:p>
        </p:txBody>
      </p:sp>
    </p:spTree>
    <p:extLst>
      <p:ext uri="{BB962C8B-B14F-4D97-AF65-F5344CB8AC3E}">
        <p14:creationId xmlns:p14="http://schemas.microsoft.com/office/powerpoint/2010/main" val="2208783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23EA41B-4EE4-400E-B92E-6AED98A0E328}"/>
              </a:ext>
            </a:extLst>
          </p:cNvPr>
          <p:cNvSpPr>
            <a:spLocks xmlns:a="http://schemas.openxmlformats.org/drawingml/2006/main" noGrp="1"/>
          </p:cNvSpPr>
          <p:nvPr/>
        </p:nvSpPr>
        <p:spPr>
          <a:xfrm xmlns:a="http://schemas.openxmlformats.org/drawingml/2006/main">
            <a:off x="609600" y="285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i="0">
                <a:solidFill>
                  <a:srgbClr val="3D8DFF"/>
                </a:solidFill>
                <a:latin typeface="Arial"/>
                <a:ea typeface="Arial"/>
                <a:cs typeface="Arial"/>
              </a:defRPr>
            </a:pPr>
            <a:r>
              <a:rPr sz="900" b="1" i="0">
                <a:solidFill>
                  <a:srgbClr val="3D8DFF"/>
                </a:solidFill>
                <a:latin typeface="Arial"/>
                <a:ea typeface="Arial"/>
                <a:cs typeface="Arial"/>
              </a:rPr>
              <a:t>LIMITES &amp; PERSPECTIVES</a:t>
            </a:r>
          </a:p>
        </p:txBody>
      </p:sp>
      <p:sp>
        <p:nvSpPr>
          <p:cNvPr id="2" name="">
            <a:extLst xmlns:a="http://schemas.openxmlformats.org/drawingml/2006/main">
              <a:ext uri="{FF2B5EF4-FFF2-40B4-BE49-F238E27FC236}">
                <a16:creationId xmlns:a16="http://schemas.microsoft.com/office/drawing/2014/main" id="{0CF32922-5023-4023-8F97-5FC15E36119E}"/>
              </a:ext>
            </a:extLst>
          </p:cNvPr>
          <p:cNvSpPr>
            <a:spLocks xmlns:a="http://schemas.openxmlformats.org/drawingml/2006/main" noGrp="1"/>
          </p:cNvSpPr>
          <p:nvPr/>
        </p:nvSpPr>
        <p:spPr>
          <a:xfrm xmlns:a="http://schemas.openxmlformats.org/drawingml/2006/main">
            <a:off x="609600" y="5524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700" b="1" i="0">
                <a:solidFill>
                  <a:srgbClr val="111827"/>
                </a:solidFill>
                <a:latin typeface="Arial"/>
                <a:ea typeface="Arial"/>
                <a:cs typeface="Arial"/>
              </a:defRPr>
            </a:pPr>
            <a:r>
              <a:rPr sz="2700" b="1" i="0">
                <a:solidFill>
                  <a:srgbClr val="111827"/>
                </a:solidFill>
                <a:latin typeface="Arial"/>
                <a:ea typeface="Arial"/>
                <a:cs typeface="Arial"/>
              </a:rPr>
              <a:t>Ce qui reste pour passer de prototype à dispositif validé</a:t>
            </a:r>
          </a:p>
        </p:txBody>
      </p:sp>
      <p:sp>
        <p:nvSpPr>
          <p:cNvPr id="3" name="">
            <a:extLst xmlns:a="http://schemas.openxmlformats.org/drawingml/2006/main">
              <a:ext uri="{FF2B5EF4-FFF2-40B4-BE49-F238E27FC236}">
                <a16:creationId xmlns:a16="http://schemas.microsoft.com/office/drawing/2014/main" id="{41527ABC-34EF-440E-BD07-30C1AA14C217}"/>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5D6675"/>
                </a:solidFill>
                <a:latin typeface="Arial"/>
                <a:ea typeface="Arial"/>
                <a:cs typeface="Arial"/>
              </a:defRPr>
            </a:pPr>
            <a:r>
              <a:rPr sz="900" b="1" i="0">
                <a:solidFill>
                  <a:srgbClr val="5D6675"/>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F5A4B1D2-EDD5-465E-8672-4B506BD4B541}"/>
              </a:ext>
            </a:extLst>
          </p:cNvPr>
          <p:cNvSpPr>
            <a:spLocks xmlns:a="http://schemas.openxmlformats.org/drawingml/2006/main" noGrp="1"/>
          </p:cNvSpPr>
          <p:nvPr/>
        </p:nvSpPr>
        <p:spPr>
          <a:xfrm xmlns:a="http://schemas.openxmlformats.org/drawingml/2006/main">
            <a:off x="666750" y="13811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3D8DFF"/>
                </a:solidFill>
                <a:latin typeface="Arial"/>
                <a:ea typeface="Arial"/>
                <a:cs typeface="Arial"/>
              </a:defRPr>
            </a:pPr>
            <a:r>
              <a:rPr sz="1800" b="1" i="0">
                <a:solidFill>
                  <a:srgbClr val="3D8D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8FED99E-EA4B-4B1D-9E45-B299AEEC210F}"/>
              </a:ext>
            </a:extLst>
          </p:cNvPr>
          <p:cNvSpPr>
            <a:spLocks xmlns:a="http://schemas.openxmlformats.org/drawingml/2006/main" noGrp="1"/>
          </p:cNvSpPr>
          <p:nvPr/>
        </p:nvSpPr>
        <p:spPr>
          <a:xfrm xmlns:a="http://schemas.openxmlformats.org/drawingml/2006/main">
            <a:off x="1295400" y="1514475"/>
            <a:ext cx="4000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A46C3C2-0639-4382-8BF4-DF68E1A7883C}"/>
              </a:ext>
            </a:extLst>
          </p:cNvPr>
          <p:cNvSpPr>
            <a:spLocks xmlns:a="http://schemas.openxmlformats.org/drawingml/2006/main" noGrp="1"/>
          </p:cNvSpPr>
          <p:nvPr/>
        </p:nvSpPr>
        <p:spPr>
          <a:xfrm xmlns:a="http://schemas.openxmlformats.org/drawingml/2006/main">
            <a:off x="1924050" y="1352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Industrialiser le Maroc profond</a:t>
            </a:r>
          </a:p>
        </p:txBody>
      </p:sp>
      <p:sp>
        <p:nvSpPr>
          <p:cNvPr id="7" name="">
            <a:extLst xmlns:a="http://schemas.openxmlformats.org/drawingml/2006/main">
              <a:ext uri="{FF2B5EF4-FFF2-40B4-BE49-F238E27FC236}">
                <a16:creationId xmlns:a16="http://schemas.microsoft.com/office/drawing/2014/main" id="{66C11BBE-CFEA-4610-96A2-2B2879C00614}"/>
              </a:ext>
            </a:extLst>
          </p:cNvPr>
          <p:cNvSpPr>
            <a:spLocks xmlns:a="http://schemas.openxmlformats.org/drawingml/2006/main" noGrp="1"/>
          </p:cNvSpPr>
          <p:nvPr/>
        </p:nvSpPr>
        <p:spPr>
          <a:xfrm xmlns:a="http://schemas.openxmlformats.org/drawingml/2006/main">
            <a:off x="5619750" y="135255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Réconcilier les sources, ajuster dividendes et corporate actions, contractualiser la licence.</a:t>
            </a:r>
          </a:p>
        </p:txBody>
      </p:sp>
      <p:sp>
        <p:nvSpPr>
          <p:cNvPr id="8" name="">
            <a:extLst xmlns:a="http://schemas.openxmlformats.org/drawingml/2006/main">
              <a:ext uri="{FF2B5EF4-FFF2-40B4-BE49-F238E27FC236}">
                <a16:creationId xmlns:a16="http://schemas.microsoft.com/office/drawing/2014/main" id="{1B3A9F9E-63D6-4766-86DA-B9C8D30CF7B4}"/>
              </a:ext>
            </a:extLst>
          </p:cNvPr>
          <p:cNvSpPr>
            <a:spLocks xmlns:a="http://schemas.openxmlformats.org/drawingml/2006/main" noGrp="1"/>
          </p:cNvSpPr>
          <p:nvPr/>
        </p:nvSpPr>
        <p:spPr>
          <a:xfrm xmlns:a="http://schemas.openxmlformats.org/drawingml/2006/main">
            <a:off x="666750" y="231457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3D8DFF"/>
                </a:solidFill>
                <a:latin typeface="Arial"/>
                <a:ea typeface="Arial"/>
                <a:cs typeface="Arial"/>
              </a:defRPr>
            </a:pPr>
            <a:r>
              <a:rPr sz="1800" b="1" i="0">
                <a:solidFill>
                  <a:srgbClr val="3D8D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6CAA24D9-8291-4A71-BCFB-3D2B656B9F57}"/>
              </a:ext>
            </a:extLst>
          </p:cNvPr>
          <p:cNvSpPr>
            <a:spLocks xmlns:a="http://schemas.openxmlformats.org/drawingml/2006/main" noGrp="1"/>
          </p:cNvSpPr>
          <p:nvPr/>
        </p:nvSpPr>
        <p:spPr>
          <a:xfrm xmlns:a="http://schemas.openxmlformats.org/drawingml/2006/main">
            <a:off x="1295400" y="2447925"/>
            <a:ext cx="400050" cy="28575"/>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0E0F6E92-1734-4CA3-9B42-0A6677B2FD07}"/>
              </a:ext>
            </a:extLst>
          </p:cNvPr>
          <p:cNvSpPr>
            <a:spLocks xmlns:a="http://schemas.openxmlformats.org/drawingml/2006/main" noGrp="1"/>
          </p:cNvSpPr>
          <p:nvPr/>
        </p:nvSpPr>
        <p:spPr>
          <a:xfrm xmlns:a="http://schemas.openxmlformats.org/drawingml/2006/main">
            <a:off x="1924050" y="22860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Validation indépendante</a:t>
            </a:r>
          </a:p>
        </p:txBody>
      </p:sp>
      <p:sp>
        <p:nvSpPr>
          <p:cNvPr id="11" name="">
            <a:extLst xmlns:a="http://schemas.openxmlformats.org/drawingml/2006/main">
              <a:ext uri="{FF2B5EF4-FFF2-40B4-BE49-F238E27FC236}">
                <a16:creationId xmlns:a16="http://schemas.microsoft.com/office/drawing/2014/main" id="{4E2A6226-194D-453D-AB8D-C3AA47FDF362}"/>
              </a:ext>
            </a:extLst>
          </p:cNvPr>
          <p:cNvSpPr>
            <a:spLocks xmlns:a="http://schemas.openxmlformats.org/drawingml/2006/main" noGrp="1"/>
          </p:cNvSpPr>
          <p:nvPr/>
        </p:nvSpPr>
        <p:spPr>
          <a:xfrm xmlns:a="http://schemas.openxmlformats.org/drawingml/2006/main">
            <a:off x="5619750" y="228600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Séparer équipe de développement et fonction de validation modèle; challenger les hypothèses.</a:t>
            </a:r>
          </a:p>
        </p:txBody>
      </p:sp>
      <p:sp>
        <p:nvSpPr>
          <p:cNvPr id="12" name="">
            <a:extLst xmlns:a="http://schemas.openxmlformats.org/drawingml/2006/main">
              <a:ext uri="{FF2B5EF4-FFF2-40B4-BE49-F238E27FC236}">
                <a16:creationId xmlns:a16="http://schemas.microsoft.com/office/drawing/2014/main" id="{C430BD2C-7BA9-4C71-8571-D86D3649B208}"/>
              </a:ext>
            </a:extLst>
          </p:cNvPr>
          <p:cNvSpPr>
            <a:spLocks xmlns:a="http://schemas.openxmlformats.org/drawingml/2006/main" noGrp="1"/>
          </p:cNvSpPr>
          <p:nvPr/>
        </p:nvSpPr>
        <p:spPr>
          <a:xfrm xmlns:a="http://schemas.openxmlformats.org/drawingml/2006/main">
            <a:off x="666750" y="32480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5D6675"/>
                </a:solidFill>
                <a:latin typeface="Arial"/>
                <a:ea typeface="Arial"/>
                <a:cs typeface="Arial"/>
              </a:defRPr>
            </a:pPr>
            <a:r>
              <a:rPr sz="1800" b="1" i="0">
                <a:solidFill>
                  <a:srgbClr val="5D667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3111E23-0B08-4BFF-87E1-BE4C83938D59}"/>
              </a:ext>
            </a:extLst>
          </p:cNvPr>
          <p:cNvSpPr>
            <a:spLocks xmlns:a="http://schemas.openxmlformats.org/drawingml/2006/main" noGrp="1"/>
          </p:cNvSpPr>
          <p:nvPr/>
        </p:nvSpPr>
        <p:spPr>
          <a:xfrm xmlns:a="http://schemas.openxmlformats.org/drawingml/2006/main">
            <a:off x="1295400" y="3381375"/>
            <a:ext cx="400050" cy="2857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23A15FE6-631C-478B-91B0-4CB465514484}"/>
              </a:ext>
            </a:extLst>
          </p:cNvPr>
          <p:cNvSpPr>
            <a:spLocks xmlns:a="http://schemas.openxmlformats.org/drawingml/2006/main" noGrp="1"/>
          </p:cNvSpPr>
          <p:nvPr/>
        </p:nvSpPr>
        <p:spPr>
          <a:xfrm xmlns:a="http://schemas.openxmlformats.org/drawingml/2006/main">
            <a:off x="1924050" y="32194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Publication atomique</a:t>
            </a:r>
          </a:p>
        </p:txBody>
      </p:sp>
      <p:sp>
        <p:nvSpPr>
          <p:cNvPr id="15" name="">
            <a:extLst xmlns:a="http://schemas.openxmlformats.org/drawingml/2006/main">
              <a:ext uri="{FF2B5EF4-FFF2-40B4-BE49-F238E27FC236}">
                <a16:creationId xmlns:a16="http://schemas.microsoft.com/office/drawing/2014/main" id="{31478EFE-053D-4EEE-9B89-DAA65217A6FF}"/>
              </a:ext>
            </a:extLst>
          </p:cNvPr>
          <p:cNvSpPr>
            <a:spLocks xmlns:a="http://schemas.openxmlformats.org/drawingml/2006/main" noGrp="1"/>
          </p:cNvSpPr>
          <p:nvPr/>
        </p:nvSpPr>
        <p:spPr>
          <a:xfrm xmlns:a="http://schemas.openxmlformats.org/drawingml/2006/main">
            <a:off x="5619750" y="321945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Versionner les releases, vérifier le manifest avant lecture et exercer un rollback réel.</a:t>
            </a:r>
          </a:p>
        </p:txBody>
      </p:sp>
      <p:sp>
        <p:nvSpPr>
          <p:cNvPr id="16" name="">
            <a:extLst xmlns:a="http://schemas.openxmlformats.org/drawingml/2006/main">
              <a:ext uri="{FF2B5EF4-FFF2-40B4-BE49-F238E27FC236}">
                <a16:creationId xmlns:a16="http://schemas.microsoft.com/office/drawing/2014/main" id="{9515599D-7F3F-4531-A8FF-8FA26BA21E76}"/>
              </a:ext>
            </a:extLst>
          </p:cNvPr>
          <p:cNvSpPr>
            <a:spLocks xmlns:a="http://schemas.openxmlformats.org/drawingml/2006/main" noGrp="1"/>
          </p:cNvSpPr>
          <p:nvPr/>
        </p:nvSpPr>
        <p:spPr>
          <a:xfrm xmlns:a="http://schemas.openxmlformats.org/drawingml/2006/main">
            <a:off x="666750" y="418147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5D6675"/>
                </a:solidFill>
                <a:latin typeface="Arial"/>
                <a:ea typeface="Arial"/>
                <a:cs typeface="Arial"/>
              </a:defRPr>
            </a:pPr>
            <a:r>
              <a:rPr sz="1800" b="1" i="0">
                <a:solidFill>
                  <a:srgbClr val="5D6675"/>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D423C665-8F21-4307-9709-E7B83C4415F7}"/>
              </a:ext>
            </a:extLst>
          </p:cNvPr>
          <p:cNvSpPr>
            <a:spLocks xmlns:a="http://schemas.openxmlformats.org/drawingml/2006/main" noGrp="1"/>
          </p:cNvSpPr>
          <p:nvPr/>
        </p:nvSpPr>
        <p:spPr>
          <a:xfrm xmlns:a="http://schemas.openxmlformats.org/drawingml/2006/main">
            <a:off x="1295400" y="4314825"/>
            <a:ext cx="400050" cy="2857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55805C11-B22B-4137-9E13-38143615FB38}"/>
              </a:ext>
            </a:extLst>
          </p:cNvPr>
          <p:cNvSpPr>
            <a:spLocks xmlns:a="http://schemas.openxmlformats.org/drawingml/2006/main" noGrp="1"/>
          </p:cNvSpPr>
          <p:nvPr/>
        </p:nvSpPr>
        <p:spPr>
          <a:xfrm xmlns:a="http://schemas.openxmlformats.org/drawingml/2006/main">
            <a:off x="1924050" y="4152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Re-tests pré-spécifiés</a:t>
            </a:r>
          </a:p>
        </p:txBody>
      </p:sp>
      <p:sp>
        <p:nvSpPr>
          <p:cNvPr id="19" name="">
            <a:extLst xmlns:a="http://schemas.openxmlformats.org/drawingml/2006/main">
              <a:ext uri="{FF2B5EF4-FFF2-40B4-BE49-F238E27FC236}">
                <a16:creationId xmlns:a16="http://schemas.microsoft.com/office/drawing/2014/main" id="{C680A89E-1603-4864-B4DB-A17B21CE5EA0}"/>
              </a:ext>
            </a:extLst>
          </p:cNvPr>
          <p:cNvSpPr>
            <a:spLocks xmlns:a="http://schemas.openxmlformats.org/drawingml/2006/main" noGrp="1"/>
          </p:cNvSpPr>
          <p:nvPr/>
        </p:nvSpPr>
        <p:spPr>
          <a:xfrm xmlns:a="http://schemas.openxmlformats.org/drawingml/2006/main">
            <a:off x="5619750" y="415290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Définir à l’avance fenêtres, coûts, seuils et benchmark avant toute nouvelle expérience.</a:t>
            </a:r>
          </a:p>
        </p:txBody>
      </p:sp>
      <p:sp>
        <p:nvSpPr>
          <p:cNvPr id="20" name="">
            <a:extLst xmlns:a="http://schemas.openxmlformats.org/drawingml/2006/main">
              <a:ext uri="{FF2B5EF4-FFF2-40B4-BE49-F238E27FC236}">
                <a16:creationId xmlns:a16="http://schemas.microsoft.com/office/drawing/2014/main" id="{05966301-7436-4C57-9CFF-866F278FB641}"/>
              </a:ext>
            </a:extLst>
          </p:cNvPr>
          <p:cNvSpPr>
            <a:spLocks xmlns:a="http://schemas.openxmlformats.org/drawingml/2006/main" noGrp="1"/>
          </p:cNvSpPr>
          <p:nvPr/>
        </p:nvSpPr>
        <p:spPr>
          <a:xfrm xmlns:a="http://schemas.openxmlformats.org/drawingml/2006/main">
            <a:off x="666750" y="5114925"/>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i="0">
                <a:solidFill>
                  <a:srgbClr val="5D6675"/>
                </a:solidFill>
                <a:latin typeface="Arial"/>
                <a:ea typeface="Arial"/>
                <a:cs typeface="Arial"/>
              </a:defRPr>
            </a:pPr>
            <a:r>
              <a:rPr sz="1800" b="1" i="0">
                <a:solidFill>
                  <a:srgbClr val="5D6675"/>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7A2DDB3C-10A7-47D3-8727-CAD40FF1DD48}"/>
              </a:ext>
            </a:extLst>
          </p:cNvPr>
          <p:cNvSpPr>
            <a:spLocks xmlns:a="http://schemas.openxmlformats.org/drawingml/2006/main" noGrp="1"/>
          </p:cNvSpPr>
          <p:nvPr/>
        </p:nvSpPr>
        <p:spPr>
          <a:xfrm xmlns:a="http://schemas.openxmlformats.org/drawingml/2006/main">
            <a:off x="1295400" y="5248275"/>
            <a:ext cx="400050" cy="28575"/>
          </a:xfrm>
          <a:prstGeom xmlns:a="http://schemas.openxmlformats.org/drawingml/2006/main" prst="rect">
            <a:avLst/>
          </a:prstGeom>
          <a:solidFill xmlns:a="http://schemas.openxmlformats.org/drawingml/2006/main">
            <a:srgbClr val="D1D5DB"/>
          </a:solidFill>
          <a:ln xmlns:a="http://schemas.openxmlformats.org/drawingml/2006/main" w="0">
            <a:no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A23D432A-6DE8-40BC-85F2-91B327C7A03D}"/>
              </a:ext>
            </a:extLst>
          </p:cNvPr>
          <p:cNvSpPr>
            <a:spLocks xmlns:a="http://schemas.openxmlformats.org/drawingml/2006/main" noGrp="1"/>
          </p:cNvSpPr>
          <p:nvPr/>
        </p:nvSpPr>
        <p:spPr>
          <a:xfrm xmlns:a="http://schemas.openxmlformats.org/drawingml/2006/main">
            <a:off x="1924050" y="50863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i="0">
                <a:solidFill>
                  <a:srgbClr val="111827"/>
                </a:solidFill>
                <a:latin typeface="Arial"/>
                <a:ea typeface="Arial"/>
                <a:cs typeface="Arial"/>
              </a:defRPr>
            </a:pPr>
            <a:r>
              <a:rPr sz="1575" b="1" i="0">
                <a:solidFill>
                  <a:srgbClr val="111827"/>
                </a:solidFill>
                <a:latin typeface="Arial"/>
                <a:ea typeface="Arial"/>
                <a:cs typeface="Arial"/>
              </a:rPr>
              <a:t>Risque de change opérationnel</a:t>
            </a:r>
          </a:p>
        </p:txBody>
      </p:sp>
      <p:sp>
        <p:nvSpPr>
          <p:cNvPr id="23" name="">
            <a:extLst xmlns:a="http://schemas.openxmlformats.org/drawingml/2006/main">
              <a:ext uri="{FF2B5EF4-FFF2-40B4-BE49-F238E27FC236}">
                <a16:creationId xmlns:a16="http://schemas.microsoft.com/office/drawing/2014/main" id="{456C34B8-90C0-46C7-9386-804338275E21}"/>
              </a:ext>
            </a:extLst>
          </p:cNvPr>
          <p:cNvSpPr>
            <a:spLocks xmlns:a="http://schemas.openxmlformats.org/drawingml/2006/main" noGrp="1"/>
          </p:cNvSpPr>
          <p:nvPr/>
        </p:nvSpPr>
        <p:spPr>
          <a:xfrm xmlns:a="http://schemas.openxmlformats.org/drawingml/2006/main">
            <a:off x="5619750" y="5086350"/>
            <a:ext cx="571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5D6675"/>
                </a:solidFill>
                <a:latin typeface="Arial"/>
                <a:ea typeface="Arial"/>
                <a:cs typeface="Arial"/>
              </a:defRPr>
            </a:pPr>
            <a:r>
              <a:rPr sz="1200" b="0" i="0">
                <a:solidFill>
                  <a:srgbClr val="5D6675"/>
                </a:solidFill>
                <a:latin typeface="Arial"/>
                <a:ea typeface="Arial"/>
                <a:cs typeface="Arial"/>
              </a:rPr>
              <a:t>Ajouter politique de couverture, liquidité, impact marché, capacité et exécution d’ordres.</a:t>
            </a:r>
          </a:p>
        </p:txBody>
      </p:sp>
      <p:sp>
        <p:nvSpPr>
          <p:cNvPr id="24" name="">
            <a:extLst xmlns:a="http://schemas.openxmlformats.org/drawingml/2006/main">
              <a:ext uri="{FF2B5EF4-FFF2-40B4-BE49-F238E27FC236}">
                <a16:creationId xmlns:a16="http://schemas.microsoft.com/office/drawing/2014/main" id="{0C3F0DF5-EF63-4473-AFC1-113ABFE4FB69}"/>
              </a:ext>
            </a:extLst>
          </p:cNvPr>
          <p:cNvSpPr>
            <a:spLocks xmlns:a="http://schemas.openxmlformats.org/drawingml/2006/main" noGrp="1"/>
          </p:cNvSpPr>
          <p:nvPr/>
        </p:nvSpPr>
        <p:spPr>
          <a:xfrm xmlns:a="http://schemas.openxmlformats.org/drawingml/2006/main">
            <a:off x="609600" y="6057900"/>
            <a:ext cx="10972800" cy="400050"/>
          </a:xfrm>
          <a:prstGeom xmlns:a="http://schemas.openxmlformats.org/drawingml/2006/main" prst="roundRect">
            <a:avLst>
              <a:gd name="adj" fmla="val 50000"/>
            </a:avLst>
          </a:prstGeom>
          <a:solidFill xmlns:a="http://schemas.openxmlformats.org/drawingml/2006/main">
            <a:srgbClr val="F3F4F6"/>
          </a:solidFill>
          <a:ln xmlns:a="http://schemas.openxmlformats.org/drawingml/2006/main" w="0">
            <a:no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81E0587-6063-4E1D-B535-CC613EFA88E2}"/>
              </a:ext>
            </a:extLst>
          </p:cNvPr>
          <p:cNvSpPr>
            <a:spLocks xmlns:a="http://schemas.openxmlformats.org/drawingml/2006/main" noGrp="1"/>
          </p:cNvSpPr>
          <p:nvPr/>
        </p:nvSpPr>
        <p:spPr>
          <a:xfrm xmlns:a="http://schemas.openxmlformats.org/drawingml/2006/main">
            <a:off x="857250" y="6162675"/>
            <a:ext cx="1047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defRPr sz="1125" b="1" i="0">
                <a:solidFill>
                  <a:srgbClr val="B7433E"/>
                </a:solidFill>
                <a:latin typeface="Arial"/>
                <a:ea typeface="Arial"/>
                <a:cs typeface="Arial"/>
              </a:defRPr>
            </a:pPr>
            <a:r>
              <a:rPr sz="1125" b="1" i="0">
                <a:solidFill>
                  <a:srgbClr val="B7433E"/>
                </a:solidFill>
                <a:latin typeface="Arial"/>
                <a:ea typeface="Arial"/>
                <a:cs typeface="Arial"/>
              </a:rPr>
              <a:t>Monitoring prêt ≠ monitoring actif · Prototype de recherche ≠ conseil en investissement</a:t>
            </a:r>
          </a:p>
        </p:txBody>
      </p:sp>
    </p:spTree>
    <p:extLst>
      <p:ext uri="{BB962C8B-B14F-4D97-AF65-F5344CB8AC3E}">
        <p14:creationId xmlns:p14="http://schemas.microsoft.com/office/powerpoint/2010/main" val="209516073"/>
      </p:ext>
    </p:extLst>
  </p:cSld>
</p:sld>
</file>

<file path=ppt/slides/slide18.xml><?xml version="1.0" encoding="utf-8"?>
<p:sld xmlns:p="http://schemas.openxmlformats.org/presentationml/2006/main">
  <p:cSld>
    <p:bg>
      <p:bgPr>
        <a:solidFill xmlns:a="http://schemas.openxmlformats.org/drawingml/2006/main">
          <a:srgbClr val="090B1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8E50F0E-275F-4922-A02B-46C2DA435C02}"/>
              </a:ext>
            </a:extLst>
          </p:cNvPr>
          <p:cNvSpPr>
            <a:spLocks xmlns:a="http://schemas.openxmlformats.org/drawingml/2006/main" noGrp="1"/>
          </p:cNvSpPr>
          <p:nvPr/>
        </p:nvSpPr>
        <p:spPr>
          <a:xfrm xmlns:a="http://schemas.openxmlformats.org/drawingml/2006/main">
            <a:off x="11144250" y="342900"/>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defRPr sz="900" b="1" i="0">
                <a:solidFill>
                  <a:srgbClr val="9CA3AF"/>
                </a:solidFill>
                <a:latin typeface="Arial"/>
                <a:ea typeface="Arial"/>
                <a:cs typeface="Arial"/>
              </a:defRPr>
            </a:pPr>
            <a:r>
              <a:rPr sz="900" b="1" i="0">
                <a:solidFill>
                  <a:srgbClr val="9CA3AF"/>
                </a:solidFill>
                <a:latin typeface="Arial"/>
                <a:ea typeface="Arial"/>
                <a:cs typeface="Arial"/>
              </a:rPr>
              <a:t>23</a:t>
            </a:r>
          </a:p>
        </p:txBody>
      </p:sp>
      <p:sp>
        <p:nvSpPr>
          <p:cNvPr id="2" name="">
            <a:extLst xmlns:a="http://schemas.openxmlformats.org/drawingml/2006/main">
              <a:ext uri="{FF2B5EF4-FFF2-40B4-BE49-F238E27FC236}">
                <a16:creationId xmlns:a16="http://schemas.microsoft.com/office/drawing/2014/main" id="{D46E5910-C5DE-4AF6-8E41-4B1F18A5D284}"/>
              </a:ext>
            </a:extLst>
          </p:cNvPr>
          <p:cNvSpPr>
            <a:spLocks xmlns:a="http://schemas.openxmlformats.org/drawingml/2006/main" noGrp="1"/>
          </p:cNvSpPr>
          <p:nvPr/>
        </p:nvSpPr>
        <p:spPr>
          <a:xfrm xmlns:a="http://schemas.openxmlformats.org/drawingml/2006/main">
            <a:off x="685800" y="571500"/>
            <a:ext cx="1200150" cy="323850"/>
          </a:xfrm>
          <a:prstGeom xmlns:a="http://schemas.openxmlformats.org/drawingml/2006/main" prst="roundRect">
            <a:avLst>
              <a:gd name="adj" fmla="val 50000"/>
            </a:avLst>
          </a:prstGeom>
          <a:solidFill xmlns:a="http://schemas.openxmlformats.org/drawingml/2006/main">
            <a:srgbClr val="172334"/>
          </a:solidFill>
          <a:ln xmlns:a="http://schemas.openxmlformats.org/drawingml/2006/main" w="0">
            <a:noFill/>
            <a:prstDash val="solid"/>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BDD57386-FB7A-4304-B4F9-04A9B3D56DB6}"/>
              </a:ext>
            </a:extLst>
          </p:cNvPr>
          <p:cNvSpPr>
            <a:spLocks xmlns:a="http://schemas.openxmlformats.org/drawingml/2006/main" noGrp="1"/>
          </p:cNvSpPr>
          <p:nvPr/>
        </p:nvSpPr>
        <p:spPr>
          <a:xfrm xmlns:a="http://schemas.openxmlformats.org/drawingml/2006/main">
            <a:off x="800100" y="638175"/>
            <a:ext cx="971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i="0">
                <a:solidFill>
                  <a:srgbClr val="D0EDFA"/>
                </a:solidFill>
                <a:latin typeface="Arial"/>
                <a:ea typeface="Arial"/>
                <a:cs typeface="Arial"/>
              </a:defRPr>
            </a:pPr>
            <a:r>
              <a:rPr sz="900" b="1" i="0">
                <a:solidFill>
                  <a:srgbClr val="D0EDFA"/>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275EF466-2A80-4B21-BC33-23D2375AED05}"/>
              </a:ext>
            </a:extLst>
          </p:cNvPr>
          <p:cNvSpPr>
            <a:spLocks xmlns:a="http://schemas.openxmlformats.org/drawingml/2006/main" noGrp="1"/>
          </p:cNvSpPr>
          <p:nvPr/>
        </p:nvSpPr>
        <p:spPr>
          <a:xfrm xmlns:a="http://schemas.openxmlformats.org/drawingml/2006/main">
            <a:off x="685800" y="12573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i="0">
                <a:solidFill>
                  <a:srgbClr val="FFFFFF"/>
                </a:solidFill>
                <a:latin typeface="Arial"/>
                <a:ea typeface="Arial"/>
                <a:cs typeface="Arial"/>
              </a:defRPr>
            </a:pPr>
            <a:r>
              <a:rPr sz="3600" b="1" i="0">
                <a:solidFill>
                  <a:srgbClr val="FFFFFF"/>
                </a:solidFill>
                <a:latin typeface="Arial"/>
                <a:ea typeface="Arial"/>
                <a:cs typeface="Arial"/>
              </a:rPr>
              <a:t>Nous n’avons pas prouvé</a:t>
            </a:r>
          </a:p>
          <a:p xmlns:a="http://schemas.openxmlformats.org/drawingml/2006/main">
            <a:pPr algn="l">
              <a:defRPr sz="3600" b="1" i="0">
                <a:solidFill>
                  <a:srgbClr val="FFFFFF"/>
                </a:solidFill>
                <a:latin typeface="Arial"/>
                <a:ea typeface="Arial"/>
                <a:cs typeface="Arial"/>
              </a:defRPr>
            </a:pPr>
            <a:r>
              <a:rPr sz="3600" b="1" i="0">
                <a:solidFill>
                  <a:srgbClr val="FFFFFF"/>
                </a:solidFill>
                <a:latin typeface="Arial"/>
                <a:ea typeface="Arial"/>
                <a:cs typeface="Arial"/>
              </a:rPr>
              <a:t>que le ML gagne.</a:t>
            </a:r>
          </a:p>
        </p:txBody>
      </p:sp>
      <p:sp>
        <p:nvSpPr>
          <p:cNvPr id="5" name="">
            <a:extLst xmlns:a="http://schemas.openxmlformats.org/drawingml/2006/main">
              <a:ext uri="{FF2B5EF4-FFF2-40B4-BE49-F238E27FC236}">
                <a16:creationId xmlns:a16="http://schemas.microsoft.com/office/drawing/2014/main" id="{270E7574-D9F8-40CE-88F9-BAAA837A5E3F}"/>
              </a:ext>
            </a:extLst>
          </p:cNvPr>
          <p:cNvSpPr>
            <a:spLocks xmlns:a="http://schemas.openxmlformats.org/drawingml/2006/main" noGrp="1"/>
          </p:cNvSpPr>
          <p:nvPr/>
        </p:nvSpPr>
        <p:spPr>
          <a:xfrm xmlns:a="http://schemas.openxmlformats.org/drawingml/2006/main">
            <a:off x="685800" y="2724150"/>
            <a:ext cx="8191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441"/>
          </a:bodyPr>
          <a:lstStyle xmlns:a="http://schemas.openxmlformats.org/drawingml/2006/main"/>
          <a:p xmlns:a="http://schemas.openxmlformats.org/drawingml/2006/main">
            <a:pPr algn="l">
              <a:defRPr sz="2850" b="1" i="0">
                <a:solidFill>
                  <a:srgbClr val="D0EDFA"/>
                </a:solidFill>
                <a:latin typeface="Arial"/>
                <a:ea typeface="Arial"/>
                <a:cs typeface="Arial"/>
              </a:defRPr>
            </a:pPr>
            <a:r>
              <a:rPr sz="2850" b="1" i="0">
                <a:solidFill>
                  <a:srgbClr val="D0EDFA"/>
                </a:solidFill>
                <a:latin typeface="Arial"/>
                <a:ea typeface="Arial"/>
                <a:cs typeface="Arial"/>
              </a:rPr>
              <a:t>Nous avons construit la chaîne qui permet de le savoir.</a:t>
            </a:r>
          </a:p>
        </p:txBody>
      </p:sp>
      <p:sp>
        <p:nvSpPr>
          <p:cNvPr id="6" name="">
            <a:extLst xmlns:a="http://schemas.openxmlformats.org/drawingml/2006/main">
              <a:ext uri="{FF2B5EF4-FFF2-40B4-BE49-F238E27FC236}">
                <a16:creationId xmlns:a16="http://schemas.microsoft.com/office/drawing/2014/main" id="{4B9AE070-1517-45DC-BC2F-A2E46FB84AE8}"/>
              </a:ext>
            </a:extLst>
          </p:cNvPr>
          <p:cNvSpPr>
            <a:spLocks xmlns:a="http://schemas.openxmlformats.org/drawingml/2006/main" noGrp="1"/>
          </p:cNvSpPr>
          <p:nvPr/>
        </p:nvSpPr>
        <p:spPr>
          <a:xfrm xmlns:a="http://schemas.openxmlformats.org/drawingml/2006/main">
            <a:off x="685800" y="3886200"/>
            <a:ext cx="10820400" cy="9525"/>
          </a:xfrm>
          <a:prstGeom xmlns:a="http://schemas.openxmlformats.org/drawingml/2006/main" prst="rect">
            <a:avLst/>
          </a:prstGeom>
          <a:solidFill xmlns:a="http://schemas.openxmlformats.org/drawingml/2006/main">
            <a:srgbClr val="334155"/>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AA8F4EB5-3EBC-457C-BEAB-0B74CAE464C1}"/>
              </a:ext>
            </a:extLst>
          </p:cNvPr>
          <p:cNvSpPr>
            <a:spLocks xmlns:a="http://schemas.openxmlformats.org/drawingml/2006/main" noGrp="1"/>
          </p:cNvSpPr>
          <p:nvPr/>
        </p:nvSpPr>
        <p:spPr>
          <a:xfrm xmlns:a="http://schemas.openxmlformats.org/drawingml/2006/main">
            <a:off x="685800" y="4305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Rigueur</a:t>
            </a:r>
          </a:p>
        </p:txBody>
      </p:sp>
      <p:sp>
        <p:nvSpPr>
          <p:cNvPr id="8" name="">
            <a:extLst xmlns:a="http://schemas.openxmlformats.org/drawingml/2006/main">
              <a:ext uri="{FF2B5EF4-FFF2-40B4-BE49-F238E27FC236}">
                <a16:creationId xmlns:a16="http://schemas.microsoft.com/office/drawing/2014/main" id="{C697F7C1-D0C0-403C-BD3A-42BFC5CED7C0}"/>
              </a:ext>
            </a:extLst>
          </p:cNvPr>
          <p:cNvSpPr>
            <a:spLocks xmlns:a="http://schemas.openxmlformats.org/drawingml/2006/main" noGrp="1"/>
          </p:cNvSpPr>
          <p:nvPr/>
        </p:nvSpPr>
        <p:spPr>
          <a:xfrm xmlns:a="http://schemas.openxmlformats.org/drawingml/2006/main">
            <a:off x="685800" y="47053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B9C3D0"/>
                </a:solidFill>
                <a:latin typeface="Arial"/>
                <a:ea typeface="Arial"/>
                <a:cs typeface="Arial"/>
              </a:defRPr>
            </a:pPr>
            <a:r>
              <a:rPr sz="1200" b="0" i="0">
                <a:solidFill>
                  <a:srgbClr val="B9C3D0"/>
                </a:solidFill>
                <a:latin typeface="Arial"/>
                <a:ea typeface="Arial"/>
                <a:cs typeface="Arial"/>
              </a:rPr>
              <a:t>forward-only · test gelé · correction multiple</a:t>
            </a:r>
          </a:p>
        </p:txBody>
      </p:sp>
      <p:sp>
        <p:nvSpPr>
          <p:cNvPr id="9" name="">
            <a:extLst xmlns:a="http://schemas.openxmlformats.org/drawingml/2006/main">
              <a:ext uri="{FF2B5EF4-FFF2-40B4-BE49-F238E27FC236}">
                <a16:creationId xmlns:a16="http://schemas.microsoft.com/office/drawing/2014/main" id="{87D73C2A-6212-4181-B252-F9EAADD985C1}"/>
              </a:ext>
            </a:extLst>
          </p:cNvPr>
          <p:cNvSpPr>
            <a:spLocks xmlns:a="http://schemas.openxmlformats.org/drawingml/2006/main" noGrp="1"/>
          </p:cNvSpPr>
          <p:nvPr/>
        </p:nvSpPr>
        <p:spPr>
          <a:xfrm xmlns:a="http://schemas.openxmlformats.org/drawingml/2006/main">
            <a:off x="4305300" y="4305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Traçabilité</a:t>
            </a:r>
          </a:p>
        </p:txBody>
      </p:sp>
      <p:sp>
        <p:nvSpPr>
          <p:cNvPr id="10" name="">
            <a:extLst xmlns:a="http://schemas.openxmlformats.org/drawingml/2006/main">
              <a:ext uri="{FF2B5EF4-FFF2-40B4-BE49-F238E27FC236}">
                <a16:creationId xmlns:a16="http://schemas.microsoft.com/office/drawing/2014/main" id="{949945EE-8B46-4B47-A28C-D4B8DE7EF155}"/>
              </a:ext>
            </a:extLst>
          </p:cNvPr>
          <p:cNvSpPr>
            <a:spLocks xmlns:a="http://schemas.openxmlformats.org/drawingml/2006/main" noGrp="1"/>
          </p:cNvSpPr>
          <p:nvPr/>
        </p:nvSpPr>
        <p:spPr>
          <a:xfrm xmlns:a="http://schemas.openxmlformats.org/drawingml/2006/main">
            <a:off x="4305300" y="47053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B9C3D0"/>
                </a:solidFill>
                <a:latin typeface="Arial"/>
                <a:ea typeface="Arial"/>
                <a:cs typeface="Arial"/>
              </a:defRPr>
            </a:pPr>
            <a:r>
              <a:rPr sz="1200" b="0" i="0">
                <a:solidFill>
                  <a:srgbClr val="B9C3D0"/>
                </a:solidFill>
                <a:latin typeface="Arial"/>
                <a:ea typeface="Arial"/>
                <a:cs typeface="Arial"/>
              </a:rPr>
              <a:t>DVC · snapshot · artifacts générés</a:t>
            </a:r>
          </a:p>
        </p:txBody>
      </p:sp>
      <p:sp>
        <p:nvSpPr>
          <p:cNvPr id="11" name="">
            <a:extLst xmlns:a="http://schemas.openxmlformats.org/drawingml/2006/main">
              <a:ext uri="{FF2B5EF4-FFF2-40B4-BE49-F238E27FC236}">
                <a16:creationId xmlns:a16="http://schemas.microsoft.com/office/drawing/2014/main" id="{A62E1CEA-E726-414C-A14B-52AC023842CB}"/>
              </a:ext>
            </a:extLst>
          </p:cNvPr>
          <p:cNvSpPr>
            <a:spLocks xmlns:a="http://schemas.openxmlformats.org/drawingml/2006/main" noGrp="1"/>
          </p:cNvSpPr>
          <p:nvPr/>
        </p:nvSpPr>
        <p:spPr>
          <a:xfrm xmlns:a="http://schemas.openxmlformats.org/drawingml/2006/main">
            <a:off x="7924800" y="43053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i="0">
                <a:solidFill>
                  <a:srgbClr val="FFFFFF"/>
                </a:solidFill>
                <a:latin typeface="Arial"/>
                <a:ea typeface="Arial"/>
                <a:cs typeface="Arial"/>
              </a:defRPr>
            </a:pPr>
            <a:r>
              <a:rPr sz="1500" b="1" i="0">
                <a:solidFill>
                  <a:srgbClr val="FFFFFF"/>
                </a:solidFill>
                <a:latin typeface="Arial"/>
                <a:ea typeface="Arial"/>
                <a:cs typeface="Arial"/>
              </a:rPr>
              <a:t>Transparence</a:t>
            </a:r>
          </a:p>
        </p:txBody>
      </p:sp>
      <p:sp>
        <p:nvSpPr>
          <p:cNvPr id="12" name="">
            <a:extLst xmlns:a="http://schemas.openxmlformats.org/drawingml/2006/main">
              <a:ext uri="{FF2B5EF4-FFF2-40B4-BE49-F238E27FC236}">
                <a16:creationId xmlns:a16="http://schemas.microsoft.com/office/drawing/2014/main" id="{25FA9219-0621-4A19-9F75-A9D5E6041790}"/>
              </a:ext>
            </a:extLst>
          </p:cNvPr>
          <p:cNvSpPr>
            <a:spLocks xmlns:a="http://schemas.openxmlformats.org/drawingml/2006/main" noGrp="1"/>
          </p:cNvSpPr>
          <p:nvPr/>
        </p:nvSpPr>
        <p:spPr>
          <a:xfrm xmlns:a="http://schemas.openxmlformats.org/drawingml/2006/main">
            <a:off x="7924800" y="47053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i="0">
                <a:solidFill>
                  <a:srgbClr val="B9C3D0"/>
                </a:solidFill>
                <a:latin typeface="Arial"/>
                <a:ea typeface="Arial"/>
                <a:cs typeface="Arial"/>
              </a:defRPr>
            </a:pPr>
            <a:r>
              <a:rPr sz="1200" b="0" i="0">
                <a:solidFill>
                  <a:srgbClr val="B9C3D0"/>
                </a:solidFill>
                <a:latin typeface="Arial"/>
                <a:ea typeface="Arial"/>
                <a:cs typeface="Arial"/>
              </a:rPr>
              <a:t>résultat négatif · limites explicites · explications exactes</a:t>
            </a:r>
          </a:p>
        </p:txBody>
      </p:sp>
      <p:sp>
        <p:nvSpPr>
          <p:cNvPr id="13" name="">
            <a:extLst xmlns:a="http://schemas.openxmlformats.org/drawingml/2006/main">
              <a:ext uri="{FF2B5EF4-FFF2-40B4-BE49-F238E27FC236}">
                <a16:creationId xmlns:a16="http://schemas.microsoft.com/office/drawing/2014/main" id="{65ECB101-3653-4A24-A6B3-4F81A0DC1A2F}"/>
              </a:ext>
            </a:extLst>
          </p:cNvPr>
          <p:cNvSpPr>
            <a:spLocks xmlns:a="http://schemas.openxmlformats.org/drawingml/2006/main" noGrp="1"/>
          </p:cNvSpPr>
          <p:nvPr/>
        </p:nvSpPr>
        <p:spPr>
          <a:xfrm xmlns:a="http://schemas.openxmlformats.org/drawingml/2006/main">
            <a:off x="685800" y="5924550"/>
            <a:ext cx="571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i="0">
                <a:solidFill>
                  <a:srgbClr val="FFFFFF"/>
                </a:solidFill>
                <a:latin typeface="Arial"/>
                <a:ea typeface="Arial"/>
                <a:cs typeface="Arial"/>
              </a:defRPr>
            </a:pPr>
            <a:r>
              <a:rPr sz="1950" b="1" i="0">
                <a:solidFill>
                  <a:srgbClr val="FFFFFF"/>
                </a:solidFill>
                <a:latin typeface="Arial"/>
                <a:ea typeface="Arial"/>
                <a:cs typeface="Arial"/>
              </a:rPr>
              <a:t>Merci — Questions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1c96916ae024832"/>
          <a:stretch xmlns:a="http://schemas.openxmlformats.org/drawingml/2006/main"/>
        </p:blipFill>
        <p:spPr>
          <a:xfrm xmlns:a="http://schemas.openxmlformats.org/drawingml/2006/main">
            <a:off x="9086850" y="5747499"/>
            <a:ext cx="990600" cy="487451"/>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0d303eb5a97549c5"/>
          <a:stretch xmlns:a="http://schemas.openxmlformats.org/drawingml/2006/main"/>
        </p:blipFill>
        <p:spPr>
          <a:xfrm xmlns:a="http://schemas.openxmlformats.org/drawingml/2006/main">
            <a:off x="10353297" y="5657850"/>
            <a:ext cx="1010405" cy="666750"/>
          </a:xfrm>
          <a:prstGeom xmlns:a="http://schemas.openxmlformats.org/drawingml/2006/main" prst="rect">
            <a:avLst/>
          </a:prstGeom>
        </p:spPr>
      </p:pic>
    </p:spTree>
    <p:extLst>
      <p:ext uri="{BB962C8B-B14F-4D97-AF65-F5344CB8AC3E}">
        <p14:creationId xmlns:p14="http://schemas.microsoft.com/office/powerpoint/2010/main" val="1725761742"/>
      </p:ext>
    </p:extLst>
  </p:cSld>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40000" y="-2540000"/>
            <a:ext cx="508000" cy="127000"/>
          </a:xfrm>
          <a:prstGeom prst="rect">
            <a:avLst/>
          </a:prstGeom>
          <a:noFill/>
        </p:spPr>
        <p:txBody>
          <a:bodyPr wrap="square" lIns="0" rIns="0" tIns="0" bIns="0">
            <a:spAutoFit/>
          </a:bodyPr>
          <a:lstStyle/>
          <a:p>
            <a:r>
              <a:rPr sz="100" b="0">
                <a:solidFill>
                  <a:srgbClr val="5D6675"/>
                </a:solidFill>
                <a:latin typeface="Arial"/>
              </a:rPr>
              <a:t>GLOBAL2004</a:t>
            </a:r>
          </a:p>
        </p:txBody>
      </p:sp>
      <p:sp>
        <p:nvSpPr>
          <p:cNvPr id="3" name="TextBox 2"/>
          <p:cNvSpPr txBox="1"/>
          <p:nvPr/>
        </p:nvSpPr>
        <p:spPr>
          <a:xfrm>
            <a:off x="609600" y="279400"/>
            <a:ext cx="4762500" cy="203200"/>
          </a:xfrm>
          <a:prstGeom prst="rect">
            <a:avLst/>
          </a:prstGeom>
          <a:noFill/>
        </p:spPr>
        <p:txBody>
          <a:bodyPr wrap="square" lIns="0" rIns="0" tIns="0" bIns="0">
            <a:spAutoFit/>
          </a:bodyPr>
          <a:lstStyle/>
          <a:p>
            <a:r>
              <a:rPr sz="900" b="1">
                <a:solidFill>
                  <a:srgbClr val="3D8DFF"/>
                </a:solidFill>
                <a:latin typeface="Arial"/>
              </a:rPr>
              <a:t>EXTENSION DE RECHERCHE</a:t>
            </a:r>
          </a:p>
        </p:txBody>
      </p:sp>
      <p:sp>
        <p:nvSpPr>
          <p:cNvPr id="4" name="TextBox 3"/>
          <p:cNvSpPr txBox="1"/>
          <p:nvPr/>
        </p:nvSpPr>
        <p:spPr>
          <a:xfrm>
            <a:off x="609600" y="558800"/>
            <a:ext cx="10668000" cy="558800"/>
          </a:xfrm>
          <a:prstGeom prst="rect">
            <a:avLst/>
          </a:prstGeom>
          <a:noFill/>
        </p:spPr>
        <p:txBody>
          <a:bodyPr wrap="square" lIns="0" rIns="0" tIns="0" bIns="0">
            <a:spAutoFit/>
          </a:bodyPr>
          <a:lstStyle/>
          <a:p>
            <a:r>
              <a:rPr sz="2700" b="1">
                <a:solidFill>
                  <a:srgbClr val="111827"/>
                </a:solidFill>
                <a:latin typeface="Arial"/>
              </a:rPr>
              <a:t>Un troisième univers pour lever un doute d'identification</a:t>
            </a:r>
          </a:p>
        </p:txBody>
      </p:sp>
      <p:sp>
        <p:nvSpPr>
          <p:cNvPr id="5" name="TextBox 4"/>
          <p:cNvSpPr txBox="1"/>
          <p:nvPr/>
        </p:nvSpPr>
        <p:spPr>
          <a:xfrm>
            <a:off x="11150600" y="342900"/>
            <a:ext cx="431800" cy="228600"/>
          </a:xfrm>
          <a:prstGeom prst="rect">
            <a:avLst/>
          </a:prstGeom>
          <a:noFill/>
        </p:spPr>
        <p:txBody>
          <a:bodyPr wrap="square" lIns="0" rIns="0" tIns="0" bIns="0">
            <a:spAutoFit/>
          </a:bodyPr>
          <a:lstStyle/>
          <a:p>
            <a:r>
              <a:rPr sz="900" b="1">
                <a:solidFill>
                  <a:srgbClr val="5D6675"/>
                </a:solidFill>
                <a:latin typeface="Arial"/>
              </a:rPr>
              <a:t>14</a:t>
            </a:r>
          </a:p>
        </p:txBody>
      </p:sp>
      <p:sp>
        <p:nvSpPr>
          <p:cNvPr id="6" name="Rounded Rectangle 5"/>
          <p:cNvSpPr/>
          <p:nvPr/>
        </p:nvSpPr>
        <p:spPr>
          <a:xfrm>
            <a:off x="609600" y="1422400"/>
            <a:ext cx="5156200" cy="254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9000" y="1676400"/>
            <a:ext cx="4572000" cy="266700"/>
          </a:xfrm>
          <a:prstGeom prst="rect">
            <a:avLst/>
          </a:prstGeom>
          <a:noFill/>
        </p:spPr>
        <p:txBody>
          <a:bodyPr wrap="square" lIns="0" rIns="0" tIns="0" bIns="0">
            <a:spAutoFit/>
          </a:bodyPr>
          <a:lstStyle/>
          <a:p>
            <a:r>
              <a:rPr sz="1300" b="1">
                <a:solidFill>
                  <a:srgbClr val="111827"/>
                </a:solidFill>
                <a:latin typeface="Arial"/>
              </a:rPr>
              <a:t>etf_2017 — la contrainte domine</a:t>
            </a:r>
          </a:p>
        </p:txBody>
      </p:sp>
      <p:sp>
        <p:nvSpPr>
          <p:cNvPr id="8" name="TextBox 7"/>
          <p:cNvSpPr txBox="1"/>
          <p:nvPr/>
        </p:nvSpPr>
        <p:spPr>
          <a:xfrm>
            <a:off x="889000" y="2108200"/>
            <a:ext cx="2540000" cy="584200"/>
          </a:xfrm>
          <a:prstGeom prst="rect">
            <a:avLst/>
          </a:prstGeom>
          <a:noFill/>
        </p:spPr>
        <p:txBody>
          <a:bodyPr wrap="square" lIns="0" rIns="0" tIns="0" bIns="0">
            <a:spAutoFit/>
          </a:bodyPr>
          <a:lstStyle/>
          <a:p>
            <a:r>
              <a:rPr sz="3000" b="1">
                <a:solidFill>
                  <a:srgbClr val="B7433E"/>
                </a:solidFill>
                <a:latin typeface="Arial"/>
              </a:rPr>
              <a:t>1 / 248</a:t>
            </a:r>
          </a:p>
        </p:txBody>
      </p:sp>
      <p:sp>
        <p:nvSpPr>
          <p:cNvPr id="9" name="TextBox 8"/>
          <p:cNvSpPr txBox="1"/>
          <p:nvPr/>
        </p:nvSpPr>
        <p:spPr>
          <a:xfrm>
            <a:off x="889000" y="2717800"/>
            <a:ext cx="4572000" cy="1016000"/>
          </a:xfrm>
          <a:prstGeom prst="rect">
            <a:avLst/>
          </a:prstGeom>
          <a:noFill/>
        </p:spPr>
        <p:txBody>
          <a:bodyPr wrap="square" lIns="0" rIns="0" tIns="0" bIns="0">
            <a:spAutoFit/>
          </a:bodyPr>
          <a:lstStyle/>
          <a:p>
            <a:pPr>
              <a:lnSpc>
                <a:spcPct val="130000"/>
              </a:lnSpc>
            </a:pPr>
            <a:r>
              <a:rPr sz="1200" b="0">
                <a:solidFill>
                  <a:srgbClr val="5D6675"/>
                </a:solidFill>
                <a:latin typeface="Arial"/>
              </a:rPr>
              <a:t>allocations distinctes de la variance minimale.</a:t>
            </a:r>
          </a:p>
          <a:p>
            <a:pPr>
              <a:lnSpc>
                <a:spcPct val="130000"/>
              </a:lnSpc>
            </a:pPr>
            <a:r>
              <a:rPr sz="1200" b="0">
                <a:solidFill>
                  <a:srgbClr val="5D6675"/>
                </a:solidFill>
                <a:latin typeface="Arial"/>
              </a:rPr>
              <a:t>À cinq actifs sous un plafond de 25 %, c'est la</a:t>
            </a:r>
          </a:p>
          <a:p>
            <a:pPr>
              <a:lnSpc>
                <a:spcPct val="130000"/>
              </a:lnSpc>
            </a:pPr>
            <a:r>
              <a:rPr sz="1200" b="0">
                <a:solidFill>
                  <a:srgbClr val="5D6675"/>
                </a:solidFill>
                <a:latin typeface="Arial"/>
              </a:rPr>
              <a:t>contrainte — non le modèle — qui choisit.</a:t>
            </a:r>
          </a:p>
        </p:txBody>
      </p:sp>
      <p:sp>
        <p:nvSpPr>
          <p:cNvPr id="10" name="Rounded Rectangle 9"/>
          <p:cNvSpPr/>
          <p:nvPr/>
        </p:nvSpPr>
        <p:spPr>
          <a:xfrm>
            <a:off x="6045200" y="1422400"/>
            <a:ext cx="5156200" cy="2540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4600" y="1676400"/>
            <a:ext cx="4572000" cy="266700"/>
          </a:xfrm>
          <a:prstGeom prst="rect">
            <a:avLst/>
          </a:prstGeom>
          <a:noFill/>
        </p:spPr>
        <p:txBody>
          <a:bodyPr wrap="square" lIns="0" rIns="0" tIns="0" bIns="0">
            <a:spAutoFit/>
          </a:bodyPr>
          <a:lstStyle/>
          <a:p>
            <a:r>
              <a:rPr sz="1300" b="1">
                <a:solidFill>
                  <a:srgbClr val="111827"/>
                </a:solidFill>
                <a:latin typeface="Arial"/>
              </a:rPr>
              <a:t>full_2021 — la covariance est biaisée</a:t>
            </a:r>
          </a:p>
        </p:txBody>
      </p:sp>
      <p:sp>
        <p:nvSpPr>
          <p:cNvPr id="12" name="TextBox 11"/>
          <p:cNvSpPr txBox="1"/>
          <p:nvPr/>
        </p:nvSpPr>
        <p:spPr>
          <a:xfrm>
            <a:off x="6324600" y="2108200"/>
            <a:ext cx="2540000" cy="584200"/>
          </a:xfrm>
          <a:prstGeom prst="rect">
            <a:avLst/>
          </a:prstGeom>
          <a:noFill/>
        </p:spPr>
        <p:txBody>
          <a:bodyPr wrap="square" lIns="0" rIns="0" tIns="0" bIns="0">
            <a:spAutoFit/>
          </a:bodyPr>
          <a:lstStyle/>
          <a:p>
            <a:r>
              <a:rPr sz="3000" b="1">
                <a:solidFill>
                  <a:srgbClr val="B7433E"/>
                </a:solidFill>
                <a:latin typeface="Arial"/>
              </a:rPr>
              <a:t>×19,1</a:t>
            </a:r>
          </a:p>
        </p:txBody>
      </p:sp>
      <p:sp>
        <p:nvSpPr>
          <p:cNvPr id="13" name="TextBox 12"/>
          <p:cNvSpPr txBox="1"/>
          <p:nvPr/>
        </p:nvSpPr>
        <p:spPr>
          <a:xfrm>
            <a:off x="6324600" y="2717800"/>
            <a:ext cx="4572000" cy="1016000"/>
          </a:xfrm>
          <a:prstGeom prst="rect">
            <a:avLst/>
          </a:prstGeom>
          <a:noFill/>
        </p:spPr>
        <p:txBody>
          <a:bodyPr wrap="square" lIns="0" rIns="0" tIns="0" bIns="0">
            <a:spAutoFit/>
          </a:bodyPr>
          <a:lstStyle/>
          <a:p>
            <a:pPr>
              <a:lnSpc>
                <a:spcPct val="130000"/>
              </a:lnSpc>
            </a:pPr>
            <a:r>
              <a:rPr sz="1200" b="0">
                <a:solidFill>
                  <a:srgbClr val="5D6675"/>
                </a:solidFill>
                <a:latin typeface="Arial"/>
              </a:rPr>
              <a:t>corrélation décalée / contemporaine face au SPY.</a:t>
            </a:r>
          </a:p>
          <a:p>
            <a:pPr>
              <a:lnSpc>
                <a:spcPct val="130000"/>
              </a:lnSpc>
            </a:pPr>
            <a:r>
              <a:rPr sz="1200" b="0">
                <a:solidFill>
                  <a:srgbClr val="5D6675"/>
                </a:solidFill>
                <a:latin typeface="Arial"/>
              </a:rPr>
              <a:t>Séances non recouvrantes et prix figés</a:t>
            </a:r>
          </a:p>
          <a:p>
            <a:pPr>
              <a:lnSpc>
                <a:spcPct val="130000"/>
              </a:lnSpc>
            </a:pPr>
            <a:r>
              <a:rPr sz="1200" b="0">
                <a:solidFill>
                  <a:srgbClr val="5D6675"/>
                </a:solidFill>
                <a:latin typeface="Arial"/>
              </a:rPr>
              <a:t>(17,1 % de journées à rendement nul).</a:t>
            </a:r>
          </a:p>
        </p:txBody>
      </p:sp>
      <p:sp>
        <p:nvSpPr>
          <p:cNvPr id="14" name="Rounded Rectangle 13"/>
          <p:cNvSpPr/>
          <p:nvPr/>
        </p:nvSpPr>
        <p:spPr>
          <a:xfrm>
            <a:off x="609600" y="4292600"/>
            <a:ext cx="10591800" cy="11684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9000" y="4521200"/>
            <a:ext cx="5080000" cy="228600"/>
          </a:xfrm>
          <a:prstGeom prst="rect">
            <a:avLst/>
          </a:prstGeom>
          <a:noFill/>
        </p:spPr>
        <p:txBody>
          <a:bodyPr wrap="square" lIns="0" rIns="0" tIns="0" bIns="0">
            <a:spAutoFit/>
          </a:bodyPr>
          <a:lstStyle/>
          <a:p>
            <a:r>
              <a:rPr sz="1050" b="1">
                <a:solidFill>
                  <a:srgbClr val="A86812"/>
                </a:solidFill>
                <a:latin typeface="Arial"/>
              </a:rPr>
              <a:t>Le doute que cela crée</a:t>
            </a:r>
          </a:p>
        </p:txBody>
      </p:sp>
      <p:sp>
        <p:nvSpPr>
          <p:cNvPr id="16" name="TextBox 15"/>
          <p:cNvSpPr txBox="1"/>
          <p:nvPr/>
        </p:nvSpPr>
        <p:spPr>
          <a:xfrm>
            <a:off x="889000" y="4826000"/>
            <a:ext cx="10033000" cy="508000"/>
          </a:xfrm>
          <a:prstGeom prst="rect">
            <a:avLst/>
          </a:prstGeom>
          <a:noFill/>
        </p:spPr>
        <p:txBody>
          <a:bodyPr wrap="square" lIns="0" rIns="0" tIns="0" bIns="0">
            <a:spAutoFit/>
          </a:bodyPr>
          <a:lstStyle/>
          <a:p>
            <a:pPr>
              <a:lnSpc>
                <a:spcPct val="125000"/>
              </a:lnSpc>
            </a:pPr>
            <a:r>
              <a:rPr sz="1250" b="1">
                <a:solidFill>
                  <a:srgbClr val="111827"/>
                </a:solidFill>
                <a:latin typeface="Arial"/>
              </a:rPr>
              <a:t>Sur ces deux univers, impossible de distinguer « le modèle n'apporte rien »</a:t>
            </a:r>
          </a:p>
          <a:p>
            <a:pPr>
              <a:lnSpc>
                <a:spcPct val="125000"/>
              </a:lnSpc>
            </a:pPr>
            <a:r>
              <a:rPr sz="1250" b="1">
                <a:solidFill>
                  <a:srgbClr val="111827"/>
                </a:solidFill>
                <a:latin typeface="Arial"/>
              </a:rPr>
              <a:t>de « le dispositif ne lui permet pas de s'exprimer ».</a:t>
            </a:r>
          </a:p>
        </p:txBody>
      </p:sp>
      <p:sp>
        <p:nvSpPr>
          <p:cNvPr id="17" name="TextBox 16"/>
          <p:cNvSpPr txBox="1"/>
          <p:nvPr/>
        </p:nvSpPr>
        <p:spPr>
          <a:xfrm>
            <a:off x="609600" y="5689600"/>
            <a:ext cx="10591800" cy="431800"/>
          </a:xfrm>
          <a:prstGeom prst="rect">
            <a:avLst/>
          </a:prstGeom>
          <a:noFill/>
        </p:spPr>
        <p:txBody>
          <a:bodyPr wrap="square" lIns="0" rIns="0" tIns="0" bIns="0">
            <a:spAutoFit/>
          </a:bodyPr>
          <a:lstStyle/>
          <a:p>
            <a:r>
              <a:rPr sz="1150" b="0">
                <a:solidFill>
                  <a:srgbClr val="5D6675"/>
                </a:solidFill>
                <a:latin typeface="Arial"/>
              </a:rPr>
              <a:t>Réponse : un univers pré-enregistré et horodaté AVANT toute ingestion — dix ETF américains, 21,7 ans, à contrainte strictement identique.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40000" y="-2540000"/>
            <a:ext cx="508000" cy="127000"/>
          </a:xfrm>
          <a:prstGeom prst="rect">
            <a:avLst/>
          </a:prstGeom>
          <a:noFill/>
        </p:spPr>
        <p:txBody>
          <a:bodyPr wrap="square" lIns="0" rIns="0" tIns="0" bIns="0">
            <a:spAutoFit/>
          </a:bodyPr>
          <a:lstStyle/>
          <a:p>
            <a:r>
              <a:rPr sz="100" b="0">
                <a:solidFill>
                  <a:srgbClr val="5D6675"/>
                </a:solidFill>
                <a:latin typeface="Arial"/>
              </a:rPr>
              <a:t>GLOBAL2004</a:t>
            </a:r>
          </a:p>
        </p:txBody>
      </p:sp>
      <p:sp>
        <p:nvSpPr>
          <p:cNvPr id="3" name="TextBox 2"/>
          <p:cNvSpPr txBox="1"/>
          <p:nvPr/>
        </p:nvSpPr>
        <p:spPr>
          <a:xfrm>
            <a:off x="609600" y="279400"/>
            <a:ext cx="4762500" cy="203200"/>
          </a:xfrm>
          <a:prstGeom prst="rect">
            <a:avLst/>
          </a:prstGeom>
          <a:noFill/>
        </p:spPr>
        <p:txBody>
          <a:bodyPr wrap="square" lIns="0" rIns="0" tIns="0" bIns="0">
            <a:spAutoFit/>
          </a:bodyPr>
          <a:lstStyle/>
          <a:p>
            <a:r>
              <a:rPr sz="900" b="1">
                <a:solidFill>
                  <a:srgbClr val="3D8DFF"/>
                </a:solidFill>
                <a:latin typeface="Arial"/>
              </a:rPr>
              <a:t>EXPRESSIVITÉ</a:t>
            </a:r>
          </a:p>
        </p:txBody>
      </p:sp>
      <p:sp>
        <p:nvSpPr>
          <p:cNvPr id="4" name="TextBox 3"/>
          <p:cNvSpPr txBox="1"/>
          <p:nvPr/>
        </p:nvSpPr>
        <p:spPr>
          <a:xfrm>
            <a:off x="609600" y="558800"/>
            <a:ext cx="10668000" cy="558800"/>
          </a:xfrm>
          <a:prstGeom prst="rect">
            <a:avLst/>
          </a:prstGeom>
          <a:noFill/>
        </p:spPr>
        <p:txBody>
          <a:bodyPr wrap="square" lIns="0" rIns="0" tIns="0" bIns="0">
            <a:spAutoFit/>
          </a:bodyPr>
          <a:lstStyle/>
          <a:p>
            <a:r>
              <a:rPr sz="2700" b="1">
                <a:solidFill>
                  <a:srgbClr val="111827"/>
                </a:solidFill>
                <a:latin typeface="Arial"/>
              </a:rPr>
              <a:t>À contrainte identique, l'optimiseur peut enfin exprimer une vue</a:t>
            </a:r>
          </a:p>
        </p:txBody>
      </p:sp>
      <p:sp>
        <p:nvSpPr>
          <p:cNvPr id="5" name="TextBox 4"/>
          <p:cNvSpPr txBox="1"/>
          <p:nvPr/>
        </p:nvSpPr>
        <p:spPr>
          <a:xfrm>
            <a:off x="11150600" y="342900"/>
            <a:ext cx="431800" cy="228600"/>
          </a:xfrm>
          <a:prstGeom prst="rect">
            <a:avLst/>
          </a:prstGeom>
          <a:noFill/>
        </p:spPr>
        <p:txBody>
          <a:bodyPr wrap="square" lIns="0" rIns="0" tIns="0" bIns="0">
            <a:spAutoFit/>
          </a:bodyPr>
          <a:lstStyle/>
          <a:p>
            <a:r>
              <a:rPr sz="900" b="1">
                <a:solidFill>
                  <a:srgbClr val="5D6675"/>
                </a:solidFill>
                <a:latin typeface="Arial"/>
              </a:rPr>
              <a:t>15</a:t>
            </a:r>
          </a:p>
        </p:txBody>
      </p:sp>
      <p:sp>
        <p:nvSpPr>
          <p:cNvPr id="6" name="Rounded Rectangle 5"/>
          <p:cNvSpPr/>
          <p:nvPr/>
        </p:nvSpPr>
        <p:spPr>
          <a:xfrm>
            <a:off x="609600" y="1371600"/>
            <a:ext cx="6934200" cy="31750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al_2004_expressivite.png"/>
          <p:cNvPicPr>
            <a:picLocks noChangeAspect="1"/>
          </p:cNvPicPr>
          <p:nvPr/>
        </p:nvPicPr>
        <p:blipFill>
          <a:blip r:embed="rId2"/>
          <a:stretch>
            <a:fillRect/>
          </a:stretch>
        </p:blipFill>
        <p:spPr>
          <a:xfrm>
            <a:off x="762000" y="1651000"/>
            <a:ext cx="6629400" cy="2641104"/>
          </a:xfrm>
          <a:prstGeom prst="rect">
            <a:avLst/>
          </a:prstGeom>
        </p:spPr>
      </p:pic>
      <p:sp>
        <p:nvSpPr>
          <p:cNvPr id="8" name="TextBox 7"/>
          <p:cNvSpPr txBox="1"/>
          <p:nvPr/>
        </p:nvSpPr>
        <p:spPr>
          <a:xfrm>
            <a:off x="8001000" y="1549400"/>
            <a:ext cx="3048000" cy="584200"/>
          </a:xfrm>
          <a:prstGeom prst="rect">
            <a:avLst/>
          </a:prstGeom>
          <a:noFill/>
        </p:spPr>
        <p:txBody>
          <a:bodyPr wrap="square" lIns="0" rIns="0" tIns="0" bIns="0">
            <a:spAutoFit/>
          </a:bodyPr>
          <a:lstStyle/>
          <a:p>
            <a:r>
              <a:rPr sz="3000" b="1">
                <a:solidFill>
                  <a:srgbClr val="B7433E"/>
                </a:solidFill>
                <a:latin typeface="Arial"/>
              </a:rPr>
              <a:t>1 / 248</a:t>
            </a:r>
          </a:p>
        </p:txBody>
      </p:sp>
      <p:sp>
        <p:nvSpPr>
          <p:cNvPr id="9" name="TextBox 8"/>
          <p:cNvSpPr txBox="1"/>
          <p:nvPr/>
        </p:nvSpPr>
        <p:spPr>
          <a:xfrm>
            <a:off x="8001000" y="2133600"/>
            <a:ext cx="3048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allocations distinctes</a:t>
            </a:r>
          </a:p>
          <a:p>
            <a:pPr>
              <a:lnSpc>
                <a:spcPct val="115000"/>
              </a:lnSpc>
            </a:pPr>
            <a:r>
              <a:rPr sz="1200" b="0">
                <a:solidFill>
                  <a:srgbClr val="5D6675"/>
                </a:solidFill>
                <a:latin typeface="Arial"/>
              </a:rPr>
              <a:t>sur etf_2017</a:t>
            </a:r>
          </a:p>
        </p:txBody>
      </p:sp>
      <p:sp>
        <p:nvSpPr>
          <p:cNvPr id="10" name="TextBox 9"/>
          <p:cNvSpPr txBox="1"/>
          <p:nvPr/>
        </p:nvSpPr>
        <p:spPr>
          <a:xfrm>
            <a:off x="8001000" y="2870200"/>
            <a:ext cx="3048000" cy="584200"/>
          </a:xfrm>
          <a:prstGeom prst="rect">
            <a:avLst/>
          </a:prstGeom>
          <a:noFill/>
        </p:spPr>
        <p:txBody>
          <a:bodyPr wrap="square" lIns="0" rIns="0" tIns="0" bIns="0">
            <a:spAutoFit/>
          </a:bodyPr>
          <a:lstStyle/>
          <a:p>
            <a:r>
              <a:rPr sz="3000" b="1">
                <a:solidFill>
                  <a:srgbClr val="0F766E"/>
                </a:solidFill>
                <a:latin typeface="Arial"/>
              </a:rPr>
              <a:t>249 / 249</a:t>
            </a:r>
          </a:p>
        </p:txBody>
      </p:sp>
      <p:sp>
        <p:nvSpPr>
          <p:cNvPr id="11" name="TextBox 10"/>
          <p:cNvSpPr txBox="1"/>
          <p:nvPr/>
        </p:nvSpPr>
        <p:spPr>
          <a:xfrm>
            <a:off x="8001000" y="3454400"/>
            <a:ext cx="3048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allocations distinctes</a:t>
            </a:r>
          </a:p>
          <a:p>
            <a:pPr>
              <a:lnSpc>
                <a:spcPct val="115000"/>
              </a:lnSpc>
            </a:pPr>
            <a:r>
              <a:rPr sz="1200" b="0">
                <a:solidFill>
                  <a:srgbClr val="5D6675"/>
                </a:solidFill>
                <a:latin typeface="Arial"/>
              </a:rPr>
              <a:t>sur global_2004</a:t>
            </a:r>
          </a:p>
        </p:txBody>
      </p:sp>
      <p:sp>
        <p:nvSpPr>
          <p:cNvPr id="12" name="Rounded Rectangle 11"/>
          <p:cNvSpPr/>
          <p:nvPr/>
        </p:nvSpPr>
        <p:spPr>
          <a:xfrm>
            <a:off x="609600" y="4800600"/>
            <a:ext cx="10591800" cy="7112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000" y="5003800"/>
            <a:ext cx="10033000" cy="330200"/>
          </a:xfrm>
          <a:prstGeom prst="rect">
            <a:avLst/>
          </a:prstGeom>
          <a:noFill/>
        </p:spPr>
        <p:txBody>
          <a:bodyPr wrap="square" lIns="0" rIns="0" tIns="0" bIns="0">
            <a:spAutoFit/>
          </a:bodyPr>
          <a:lstStyle/>
          <a:p>
            <a:r>
              <a:rPr sz="1250" b="1">
                <a:solidFill>
                  <a:srgbClr val="111827"/>
                </a:solidFill>
                <a:latin typeface="Arial"/>
              </a:rPr>
              <a:t>Même plafond de 25 %, mêmes coûts, même moteur — READY sur 10 critères de préparation.</a:t>
            </a:r>
          </a:p>
        </p:txBody>
      </p:sp>
      <p:sp>
        <p:nvSpPr>
          <p:cNvPr id="14" name="TextBox 13"/>
          <p:cNvSpPr txBox="1"/>
          <p:nvPr/>
        </p:nvSpPr>
        <p:spPr>
          <a:xfrm>
            <a:off x="609600" y="5740400"/>
            <a:ext cx="10591800" cy="431800"/>
          </a:xfrm>
          <a:prstGeom prst="rect">
            <a:avLst/>
          </a:prstGeom>
          <a:noFill/>
        </p:spPr>
        <p:txBody>
          <a:bodyPr wrap="square" lIns="0" rIns="0" tIns="0" bIns="0">
            <a:spAutoFit/>
          </a:bodyPr>
          <a:lstStyle/>
          <a:p>
            <a:r>
              <a:rPr sz="1150" b="0">
                <a:solidFill>
                  <a:srgbClr val="5D6675"/>
                </a:solidFill>
                <a:latin typeface="Arial"/>
              </a:rPr>
              <a:t>C'est la condition nécessaire pour qu'un test de modèle ait un sens : sans elle, un résultat négatif ne s'interprète pas.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40000" y="-2540000"/>
            <a:ext cx="508000" cy="127000"/>
          </a:xfrm>
          <a:prstGeom prst="rect">
            <a:avLst/>
          </a:prstGeom>
          <a:noFill/>
        </p:spPr>
        <p:txBody>
          <a:bodyPr wrap="square" lIns="0" rIns="0" tIns="0" bIns="0">
            <a:spAutoFit/>
          </a:bodyPr>
          <a:lstStyle/>
          <a:p>
            <a:r>
              <a:rPr sz="100" b="0">
                <a:solidFill>
                  <a:srgbClr val="5D6675"/>
                </a:solidFill>
                <a:latin typeface="Arial"/>
              </a:rPr>
              <a:t>GLOBAL2004</a:t>
            </a:r>
          </a:p>
        </p:txBody>
      </p:sp>
      <p:sp>
        <p:nvSpPr>
          <p:cNvPr id="3" name="TextBox 2"/>
          <p:cNvSpPr txBox="1"/>
          <p:nvPr/>
        </p:nvSpPr>
        <p:spPr>
          <a:xfrm>
            <a:off x="609600" y="279400"/>
            <a:ext cx="4762500" cy="203200"/>
          </a:xfrm>
          <a:prstGeom prst="rect">
            <a:avLst/>
          </a:prstGeom>
          <a:noFill/>
        </p:spPr>
        <p:txBody>
          <a:bodyPr wrap="square" lIns="0" rIns="0" tIns="0" bIns="0">
            <a:spAutoFit/>
          </a:bodyPr>
          <a:lstStyle/>
          <a:p>
            <a:r>
              <a:rPr sz="900" b="1">
                <a:solidFill>
                  <a:srgbClr val="3D8DFF"/>
                </a:solidFill>
                <a:latin typeface="Arial"/>
              </a:rPr>
              <a:t>TEST ÉQUITABLE — Q1</a:t>
            </a:r>
          </a:p>
        </p:txBody>
      </p:sp>
      <p:sp>
        <p:nvSpPr>
          <p:cNvPr id="4" name="TextBox 3"/>
          <p:cNvSpPr txBox="1"/>
          <p:nvPr/>
        </p:nvSpPr>
        <p:spPr>
          <a:xfrm>
            <a:off x="609600" y="558800"/>
            <a:ext cx="10668000" cy="558800"/>
          </a:xfrm>
          <a:prstGeom prst="rect">
            <a:avLst/>
          </a:prstGeom>
          <a:noFill/>
        </p:spPr>
        <p:txBody>
          <a:bodyPr wrap="square" lIns="0" rIns="0" tIns="0" bIns="0">
            <a:spAutoFit/>
          </a:bodyPr>
          <a:lstStyle/>
          <a:p>
            <a:r>
              <a:rPr sz="2700" b="1">
                <a:solidFill>
                  <a:srgbClr val="111827"/>
                </a:solidFill>
                <a:latin typeface="Arial"/>
              </a:rPr>
              <a:t>La couche de régimes ne bat pas le comparateur classique</a:t>
            </a:r>
          </a:p>
        </p:txBody>
      </p:sp>
      <p:sp>
        <p:nvSpPr>
          <p:cNvPr id="5" name="TextBox 4"/>
          <p:cNvSpPr txBox="1"/>
          <p:nvPr/>
        </p:nvSpPr>
        <p:spPr>
          <a:xfrm>
            <a:off x="11150600" y="342900"/>
            <a:ext cx="431800" cy="228600"/>
          </a:xfrm>
          <a:prstGeom prst="rect">
            <a:avLst/>
          </a:prstGeom>
          <a:noFill/>
        </p:spPr>
        <p:txBody>
          <a:bodyPr wrap="square" lIns="0" rIns="0" tIns="0" bIns="0">
            <a:spAutoFit/>
          </a:bodyPr>
          <a:lstStyle/>
          <a:p>
            <a:r>
              <a:rPr sz="900" b="1">
                <a:solidFill>
                  <a:srgbClr val="5D6675"/>
                </a:solidFill>
                <a:latin typeface="Arial"/>
              </a:rPr>
              <a:t>16</a:t>
            </a:r>
          </a:p>
        </p:txBody>
      </p:sp>
      <p:sp>
        <p:nvSpPr>
          <p:cNvPr id="6" name="TextBox 5"/>
          <p:cNvSpPr txBox="1"/>
          <p:nvPr/>
        </p:nvSpPr>
        <p:spPr>
          <a:xfrm>
            <a:off x="609600" y="1498600"/>
            <a:ext cx="2540000" cy="584200"/>
          </a:xfrm>
          <a:prstGeom prst="rect">
            <a:avLst/>
          </a:prstGeom>
          <a:noFill/>
        </p:spPr>
        <p:txBody>
          <a:bodyPr wrap="square" lIns="0" rIns="0" tIns="0" bIns="0">
            <a:spAutoFit/>
          </a:bodyPr>
          <a:lstStyle/>
          <a:p>
            <a:r>
              <a:rPr sz="3000" b="1">
                <a:solidFill>
                  <a:srgbClr val="0F766E"/>
                </a:solidFill>
                <a:latin typeface="Arial"/>
              </a:rPr>
              <a:t>0,9785</a:t>
            </a:r>
          </a:p>
        </p:txBody>
      </p:sp>
      <p:sp>
        <p:nvSpPr>
          <p:cNvPr id="7" name="TextBox 6"/>
          <p:cNvSpPr txBox="1"/>
          <p:nvPr/>
        </p:nvSpPr>
        <p:spPr>
          <a:xfrm>
            <a:off x="609600" y="2082800"/>
            <a:ext cx="2540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max_sharpe</a:t>
            </a:r>
          </a:p>
          <a:p>
            <a:pPr>
              <a:lnSpc>
                <a:spcPct val="115000"/>
              </a:lnSpc>
            </a:pPr>
            <a:r>
              <a:rPr sz="1200" b="0">
                <a:solidFill>
                  <a:srgbClr val="5D6675"/>
                </a:solidFill>
                <a:latin typeface="Arial"/>
              </a:rPr>
              <a:t>comparateur pré-spécifié</a:t>
            </a:r>
          </a:p>
        </p:txBody>
      </p:sp>
      <p:sp>
        <p:nvSpPr>
          <p:cNvPr id="8" name="TextBox 7"/>
          <p:cNvSpPr txBox="1"/>
          <p:nvPr/>
        </p:nvSpPr>
        <p:spPr>
          <a:xfrm>
            <a:off x="3403600" y="1498600"/>
            <a:ext cx="2540000" cy="584200"/>
          </a:xfrm>
          <a:prstGeom prst="rect">
            <a:avLst/>
          </a:prstGeom>
          <a:noFill/>
        </p:spPr>
        <p:txBody>
          <a:bodyPr wrap="square" lIns="0" rIns="0" tIns="0" bIns="0">
            <a:spAutoFit/>
          </a:bodyPr>
          <a:lstStyle/>
          <a:p>
            <a:r>
              <a:rPr sz="3000" b="1">
                <a:solidFill>
                  <a:srgbClr val="3D8DFF"/>
                </a:solidFill>
                <a:latin typeface="Arial"/>
              </a:rPr>
              <a:t>0,8923</a:t>
            </a:r>
          </a:p>
        </p:txBody>
      </p:sp>
      <p:sp>
        <p:nvSpPr>
          <p:cNvPr id="9" name="TextBox 8"/>
          <p:cNvSpPr txBox="1"/>
          <p:nvPr/>
        </p:nvSpPr>
        <p:spPr>
          <a:xfrm>
            <a:off x="3403600" y="2082800"/>
            <a:ext cx="2540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regime_conditional</a:t>
            </a:r>
          </a:p>
          <a:p>
            <a:pPr>
              <a:lnSpc>
                <a:spcPct val="115000"/>
              </a:lnSpc>
            </a:pPr>
            <a:r>
              <a:rPr sz="1200" b="0">
                <a:solidFill>
                  <a:srgbClr val="5D6675"/>
                </a:solidFill>
                <a:latin typeface="Arial"/>
              </a:rPr>
              <a:t>stratégie candidate</a:t>
            </a:r>
          </a:p>
        </p:txBody>
      </p:sp>
      <p:sp>
        <p:nvSpPr>
          <p:cNvPr id="10" name="TextBox 9"/>
          <p:cNvSpPr txBox="1"/>
          <p:nvPr/>
        </p:nvSpPr>
        <p:spPr>
          <a:xfrm>
            <a:off x="6197600" y="1498600"/>
            <a:ext cx="2540000" cy="584200"/>
          </a:xfrm>
          <a:prstGeom prst="rect">
            <a:avLst/>
          </a:prstGeom>
          <a:noFill/>
        </p:spPr>
        <p:txBody>
          <a:bodyPr wrap="square" lIns="0" rIns="0" tIns="0" bIns="0">
            <a:spAutoFit/>
          </a:bodyPr>
          <a:lstStyle/>
          <a:p>
            <a:r>
              <a:rPr sz="3000" b="1">
                <a:solidFill>
                  <a:srgbClr val="B7433E"/>
                </a:solidFill>
                <a:latin typeface="Arial"/>
              </a:rPr>
              <a:t>−0,0862</a:t>
            </a:r>
          </a:p>
        </p:txBody>
      </p:sp>
      <p:sp>
        <p:nvSpPr>
          <p:cNvPr id="11" name="TextBox 10"/>
          <p:cNvSpPr txBox="1"/>
          <p:nvPr/>
        </p:nvSpPr>
        <p:spPr>
          <a:xfrm>
            <a:off x="6197600" y="2082800"/>
            <a:ext cx="2540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écart de Sharpe net</a:t>
            </a:r>
          </a:p>
          <a:p>
            <a:pPr>
              <a:lnSpc>
                <a:spcPct val="115000"/>
              </a:lnSpc>
            </a:pPr>
            <a:r>
              <a:rPr sz="1200" b="0">
                <a:solidFill>
                  <a:srgbClr val="5D6675"/>
                </a:solidFill>
                <a:latin typeface="Arial"/>
              </a:rPr>
              <a:t>observé</a:t>
            </a:r>
          </a:p>
        </p:txBody>
      </p:sp>
      <p:sp>
        <p:nvSpPr>
          <p:cNvPr id="12" name="TextBox 11"/>
          <p:cNvSpPr txBox="1"/>
          <p:nvPr/>
        </p:nvSpPr>
        <p:spPr>
          <a:xfrm>
            <a:off x="8991600" y="1498600"/>
            <a:ext cx="2209800" cy="584200"/>
          </a:xfrm>
          <a:prstGeom prst="rect">
            <a:avLst/>
          </a:prstGeom>
          <a:noFill/>
        </p:spPr>
        <p:txBody>
          <a:bodyPr wrap="square" lIns="0" rIns="0" tIns="0" bIns="0">
            <a:spAutoFit/>
          </a:bodyPr>
          <a:lstStyle/>
          <a:p>
            <a:r>
              <a:rPr sz="3000" b="1">
                <a:solidFill>
                  <a:srgbClr val="5D6675"/>
                </a:solidFill>
                <a:latin typeface="Arial"/>
              </a:rPr>
              <a:t>0,860</a:t>
            </a:r>
          </a:p>
        </p:txBody>
      </p:sp>
      <p:sp>
        <p:nvSpPr>
          <p:cNvPr id="13" name="TextBox 12"/>
          <p:cNvSpPr txBox="1"/>
          <p:nvPr/>
        </p:nvSpPr>
        <p:spPr>
          <a:xfrm>
            <a:off x="8991600" y="2082800"/>
            <a:ext cx="22098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valeur p unilatérale</a:t>
            </a:r>
          </a:p>
          <a:p>
            <a:pPr>
              <a:lnSpc>
                <a:spcPct val="115000"/>
              </a:lnSpc>
            </a:pPr>
            <a:r>
              <a:rPr sz="1200" b="0">
                <a:solidFill>
                  <a:srgbClr val="5D6675"/>
                </a:solidFill>
                <a:latin typeface="Arial"/>
              </a:rPr>
              <a:t>test pairé</a:t>
            </a:r>
          </a:p>
        </p:txBody>
      </p:sp>
      <p:sp>
        <p:nvSpPr>
          <p:cNvPr id="14" name="Rounded Rectangle 13"/>
          <p:cNvSpPr/>
          <p:nvPr/>
        </p:nvSpPr>
        <p:spPr>
          <a:xfrm>
            <a:off x="609600" y="3048000"/>
            <a:ext cx="5156200" cy="2235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9000" y="3276600"/>
            <a:ext cx="4572000" cy="254000"/>
          </a:xfrm>
          <a:prstGeom prst="rect">
            <a:avLst/>
          </a:prstGeom>
          <a:noFill/>
        </p:spPr>
        <p:txBody>
          <a:bodyPr wrap="square" lIns="0" rIns="0" tIns="0" bIns="0">
            <a:spAutoFit/>
          </a:bodyPr>
          <a:lstStyle/>
          <a:p>
            <a:r>
              <a:rPr sz="1250" b="1">
                <a:solidFill>
                  <a:srgbClr val="111827"/>
                </a:solidFill>
                <a:latin typeface="Arial"/>
              </a:rPr>
              <a:t>Ce que les coûts n'expliquent pas</a:t>
            </a:r>
          </a:p>
        </p:txBody>
      </p:sp>
      <p:sp>
        <p:nvSpPr>
          <p:cNvPr id="16" name="TextBox 15"/>
          <p:cNvSpPr txBox="1"/>
          <p:nvPr/>
        </p:nvSpPr>
        <p:spPr>
          <a:xfrm>
            <a:off x="889000" y="3657600"/>
            <a:ext cx="4648200" cy="1422400"/>
          </a:xfrm>
          <a:prstGeom prst="rect">
            <a:avLst/>
          </a:prstGeom>
          <a:noFill/>
        </p:spPr>
        <p:txBody>
          <a:bodyPr wrap="square" lIns="0" rIns="0" tIns="0" bIns="0">
            <a:spAutoFit/>
          </a:bodyPr>
          <a:lstStyle/>
          <a:p>
            <a:pPr>
              <a:lnSpc>
                <a:spcPct val="130000"/>
              </a:lnSpc>
            </a:pPr>
            <a:r>
              <a:rPr sz="1200" b="0">
                <a:solidFill>
                  <a:srgbClr val="5D6675"/>
                </a:solidFill>
                <a:latin typeface="Arial"/>
              </a:rPr>
              <a:t>Le Sharpe BRUT était déjà inférieur : 0,9080 contre 0,9820.</a:t>
            </a:r>
          </a:p>
          <a:p>
            <a:pPr>
              <a:lnSpc>
                <a:spcPct val="130000"/>
              </a:lnSpc>
            </a:pPr>
            <a:r>
              <a:rPr sz="1200" b="0">
                <a:solidFill>
                  <a:srgbClr val="5D6675"/>
                </a:solidFill>
                <a:latin typeface="Arial"/>
              </a:rPr>
              <a:t/>
            </a:r>
          </a:p>
          <a:p>
            <a:pPr>
              <a:lnSpc>
                <a:spcPct val="130000"/>
              </a:lnSpc>
            </a:pPr>
            <a:r>
              <a:rPr sz="1200" b="0">
                <a:solidFill>
                  <a:srgbClr val="5D6675"/>
                </a:solidFill>
                <a:latin typeface="Arial"/>
              </a:rPr>
              <a:t>Ce n'est donc pas un signal informatif annulé par les frais de transaction.</a:t>
            </a:r>
          </a:p>
        </p:txBody>
      </p:sp>
      <p:sp>
        <p:nvSpPr>
          <p:cNvPr id="17" name="Rounded Rectangle 16"/>
          <p:cNvSpPr/>
          <p:nvPr/>
        </p:nvSpPr>
        <p:spPr>
          <a:xfrm>
            <a:off x="6045200" y="3048000"/>
            <a:ext cx="5156200" cy="2235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600" y="3276600"/>
            <a:ext cx="4572000" cy="254000"/>
          </a:xfrm>
          <a:prstGeom prst="rect">
            <a:avLst/>
          </a:prstGeom>
          <a:noFill/>
        </p:spPr>
        <p:txBody>
          <a:bodyPr wrap="square" lIns="0" rIns="0" tIns="0" bIns="0">
            <a:spAutoFit/>
          </a:bodyPr>
          <a:lstStyle/>
          <a:p>
            <a:r>
              <a:rPr sz="1250" b="1">
                <a:solidFill>
                  <a:srgbClr val="111827"/>
                </a:solidFill>
                <a:latin typeface="Arial"/>
              </a:rPr>
              <a:t>Ce que le Sharpe seul masquerait</a:t>
            </a:r>
          </a:p>
        </p:txBody>
      </p:sp>
      <p:sp>
        <p:nvSpPr>
          <p:cNvPr id="19" name="TextBox 18"/>
          <p:cNvSpPr txBox="1"/>
          <p:nvPr/>
        </p:nvSpPr>
        <p:spPr>
          <a:xfrm>
            <a:off x="6324600" y="3657600"/>
            <a:ext cx="4648200" cy="1422400"/>
          </a:xfrm>
          <a:prstGeom prst="rect">
            <a:avLst/>
          </a:prstGeom>
          <a:noFill/>
        </p:spPr>
        <p:txBody>
          <a:bodyPr wrap="square" lIns="0" rIns="0" tIns="0" bIns="0">
            <a:spAutoFit/>
          </a:bodyPr>
          <a:lstStyle/>
          <a:p>
            <a:pPr>
              <a:lnSpc>
                <a:spcPct val="130000"/>
              </a:lnSpc>
            </a:pPr>
            <a:r>
              <a:rPr sz="1200" b="0">
                <a:solidFill>
                  <a:srgbClr val="5D6675"/>
                </a:solidFill>
                <a:latin typeface="Arial"/>
              </a:rPr>
              <a:t>Rotation 4,3× supérieure (0,122 contre 0,028).</a:t>
            </a:r>
          </a:p>
          <a:p>
            <a:pPr>
              <a:lnSpc>
                <a:spcPct val="130000"/>
              </a:lnSpc>
            </a:pPr>
            <a:r>
              <a:rPr sz="1200" b="0">
                <a:solidFill>
                  <a:srgbClr val="5D6675"/>
                </a:solidFill>
                <a:latin typeface="Arial"/>
              </a:rPr>
              <a:t/>
            </a:r>
          </a:p>
          <a:p>
            <a:pPr>
              <a:lnSpc>
                <a:spcPct val="130000"/>
              </a:lnSpc>
            </a:pPr>
            <a:r>
              <a:rPr sz="1200" b="0">
                <a:solidFill>
                  <a:srgbClr val="5D6675"/>
                </a:solidFill>
                <a:latin typeface="Arial"/>
              </a:rPr>
              <a:t>Mais perte maximale MOINDRE : −24,22 % contre −25,27 % — la stratégie ne perd pas sur toutes les dimensions.</a:t>
            </a:r>
          </a:p>
        </p:txBody>
      </p:sp>
      <p:sp>
        <p:nvSpPr>
          <p:cNvPr id="20" name="TextBox 19"/>
          <p:cNvSpPr txBox="1"/>
          <p:nvPr/>
        </p:nvSpPr>
        <p:spPr>
          <a:xfrm>
            <a:off x="609600" y="5588000"/>
            <a:ext cx="10591800" cy="431800"/>
          </a:xfrm>
          <a:prstGeom prst="rect">
            <a:avLst/>
          </a:prstGeom>
          <a:noFill/>
        </p:spPr>
        <p:txBody>
          <a:bodyPr wrap="square" lIns="0" rIns="0" tIns="0" bIns="0">
            <a:spAutoFit/>
          </a:bodyPr>
          <a:lstStyle/>
          <a:p>
            <a:r>
              <a:rPr sz="1150" b="0">
                <a:solidFill>
                  <a:srgbClr val="5D6675"/>
                </a:solidFill>
                <a:latin typeface="Arial"/>
              </a:rPr>
              <a:t>Les deux verdicts pré-enregistrés sont négatifs. L'intervalle contient zéro : aucune supériorité n'est établie, dans aucun sens.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40000" y="-2540000"/>
            <a:ext cx="508000" cy="127000"/>
          </a:xfrm>
          <a:prstGeom prst="rect">
            <a:avLst/>
          </a:prstGeom>
          <a:noFill/>
        </p:spPr>
        <p:txBody>
          <a:bodyPr wrap="square" lIns="0" rIns="0" tIns="0" bIns="0">
            <a:spAutoFit/>
          </a:bodyPr>
          <a:lstStyle/>
          <a:p>
            <a:r>
              <a:rPr sz="100" b="0">
                <a:solidFill>
                  <a:srgbClr val="5D6675"/>
                </a:solidFill>
                <a:latin typeface="Arial"/>
              </a:rPr>
              <a:t>GLOBAL2004</a:t>
            </a:r>
          </a:p>
        </p:txBody>
      </p:sp>
      <p:sp>
        <p:nvSpPr>
          <p:cNvPr id="3" name="TextBox 2"/>
          <p:cNvSpPr txBox="1"/>
          <p:nvPr/>
        </p:nvSpPr>
        <p:spPr>
          <a:xfrm>
            <a:off x="609600" y="279400"/>
            <a:ext cx="4762500" cy="203200"/>
          </a:xfrm>
          <a:prstGeom prst="rect">
            <a:avLst/>
          </a:prstGeom>
          <a:noFill/>
        </p:spPr>
        <p:txBody>
          <a:bodyPr wrap="square" lIns="0" rIns="0" tIns="0" bIns="0">
            <a:spAutoFit/>
          </a:bodyPr>
          <a:lstStyle/>
          <a:p>
            <a:r>
              <a:rPr sz="900" b="1">
                <a:solidFill>
                  <a:srgbClr val="3D8DFF"/>
                </a:solidFill>
                <a:latin typeface="Arial"/>
              </a:rPr>
              <a:t>CORRECTION — Q2</a:t>
            </a:r>
          </a:p>
        </p:txBody>
      </p:sp>
      <p:sp>
        <p:nvSpPr>
          <p:cNvPr id="4" name="TextBox 3"/>
          <p:cNvSpPr txBox="1"/>
          <p:nvPr/>
        </p:nvSpPr>
        <p:spPr>
          <a:xfrm>
            <a:off x="609600" y="558800"/>
            <a:ext cx="10668000" cy="558800"/>
          </a:xfrm>
          <a:prstGeom prst="rect">
            <a:avLst/>
          </a:prstGeom>
          <a:noFill/>
        </p:spPr>
        <p:txBody>
          <a:bodyPr wrap="square" lIns="0" rIns="0" tIns="0" bIns="0">
            <a:spAutoFit/>
          </a:bodyPr>
          <a:lstStyle/>
          <a:p>
            <a:r>
              <a:rPr sz="2700" b="1">
                <a:solidFill>
                  <a:srgbClr val="111827"/>
                </a:solidFill>
                <a:latin typeface="Arial"/>
              </a:rPr>
              <a:t>Le meilleur candidat brut est séduisant — et refusé</a:t>
            </a:r>
          </a:p>
        </p:txBody>
      </p:sp>
      <p:sp>
        <p:nvSpPr>
          <p:cNvPr id="5" name="TextBox 4"/>
          <p:cNvSpPr txBox="1"/>
          <p:nvPr/>
        </p:nvSpPr>
        <p:spPr>
          <a:xfrm>
            <a:off x="11150600" y="342900"/>
            <a:ext cx="431800" cy="228600"/>
          </a:xfrm>
          <a:prstGeom prst="rect">
            <a:avLst/>
          </a:prstGeom>
          <a:noFill/>
        </p:spPr>
        <p:txBody>
          <a:bodyPr wrap="square" lIns="0" rIns="0" tIns="0" bIns="0">
            <a:spAutoFit/>
          </a:bodyPr>
          <a:lstStyle/>
          <a:p>
            <a:r>
              <a:rPr sz="900" b="1">
                <a:solidFill>
                  <a:srgbClr val="5D6675"/>
                </a:solidFill>
                <a:latin typeface="Arial"/>
              </a:rPr>
              <a:t>17</a:t>
            </a:r>
          </a:p>
        </p:txBody>
      </p:sp>
      <p:sp>
        <p:nvSpPr>
          <p:cNvPr id="6" name="Rounded Rectangle 5"/>
          <p:cNvSpPr/>
          <p:nvPr/>
        </p:nvSpPr>
        <p:spPr>
          <a:xfrm>
            <a:off x="609600" y="1371600"/>
            <a:ext cx="6934200" cy="33528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lobal_2004_correction.png"/>
          <p:cNvPicPr>
            <a:picLocks noChangeAspect="1"/>
          </p:cNvPicPr>
          <p:nvPr/>
        </p:nvPicPr>
        <p:blipFill>
          <a:blip r:embed="rId2"/>
          <a:stretch>
            <a:fillRect/>
          </a:stretch>
        </p:blipFill>
        <p:spPr>
          <a:xfrm>
            <a:off x="736600" y="1549400"/>
            <a:ext cx="6680200" cy="3559053"/>
          </a:xfrm>
          <a:prstGeom prst="rect">
            <a:avLst/>
          </a:prstGeom>
        </p:spPr>
      </p:pic>
      <p:sp>
        <p:nvSpPr>
          <p:cNvPr id="8" name="TextBox 7"/>
          <p:cNvSpPr txBox="1"/>
          <p:nvPr/>
        </p:nvSpPr>
        <p:spPr>
          <a:xfrm>
            <a:off x="8001000" y="1473200"/>
            <a:ext cx="3048000" cy="584200"/>
          </a:xfrm>
          <a:prstGeom prst="rect">
            <a:avLst/>
          </a:prstGeom>
          <a:noFill/>
        </p:spPr>
        <p:txBody>
          <a:bodyPr wrap="square" lIns="0" rIns="0" tIns="0" bIns="0">
            <a:spAutoFit/>
          </a:bodyPr>
          <a:lstStyle/>
          <a:p>
            <a:r>
              <a:rPr sz="3000" b="1">
                <a:solidFill>
                  <a:srgbClr val="B7433E"/>
                </a:solidFill>
                <a:latin typeface="Arial"/>
              </a:rPr>
              <a:t>+0,093</a:t>
            </a:r>
          </a:p>
        </p:txBody>
      </p:sp>
      <p:sp>
        <p:nvSpPr>
          <p:cNvPr id="9" name="TextBox 8"/>
          <p:cNvSpPr txBox="1"/>
          <p:nvPr/>
        </p:nvSpPr>
        <p:spPr>
          <a:xfrm>
            <a:off x="8001000" y="2057400"/>
            <a:ext cx="3048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meilleur écart BRUT</a:t>
            </a:r>
          </a:p>
          <a:p>
            <a:pPr>
              <a:lnSpc>
                <a:spcPct val="115000"/>
              </a:lnSpc>
            </a:pPr>
            <a:r>
              <a:rPr sz="1200" b="0">
                <a:solidFill>
                  <a:srgbClr val="5D6675"/>
                </a:solidFill>
                <a:latin typeface="Arial"/>
              </a:rPr>
              <a:t>sur 240 configurations</a:t>
            </a:r>
          </a:p>
        </p:txBody>
      </p:sp>
      <p:sp>
        <p:nvSpPr>
          <p:cNvPr id="10" name="TextBox 9"/>
          <p:cNvSpPr txBox="1"/>
          <p:nvPr/>
        </p:nvSpPr>
        <p:spPr>
          <a:xfrm>
            <a:off x="8001000" y="2692400"/>
            <a:ext cx="3048000" cy="584200"/>
          </a:xfrm>
          <a:prstGeom prst="rect">
            <a:avLst/>
          </a:prstGeom>
          <a:noFill/>
        </p:spPr>
        <p:txBody>
          <a:bodyPr wrap="square" lIns="0" rIns="0" tIns="0" bIns="0">
            <a:spAutoFit/>
          </a:bodyPr>
          <a:lstStyle/>
          <a:p>
            <a:r>
              <a:rPr sz="3000" b="1">
                <a:solidFill>
                  <a:srgbClr val="0F766E"/>
                </a:solidFill>
                <a:latin typeface="Arial"/>
              </a:rPr>
              <a:t>0,905 / 0,866</a:t>
            </a:r>
          </a:p>
        </p:txBody>
      </p:sp>
      <p:sp>
        <p:nvSpPr>
          <p:cNvPr id="11" name="TextBox 10"/>
          <p:cNvSpPr txBox="1"/>
          <p:nvPr/>
        </p:nvSpPr>
        <p:spPr>
          <a:xfrm>
            <a:off x="8001000" y="3276600"/>
            <a:ext cx="3048000" cy="457200"/>
          </a:xfrm>
          <a:prstGeom prst="rect">
            <a:avLst/>
          </a:prstGeom>
          <a:noFill/>
        </p:spPr>
        <p:txBody>
          <a:bodyPr wrap="square" lIns="0" rIns="0" tIns="0" bIns="0">
            <a:spAutoFit/>
          </a:bodyPr>
          <a:lstStyle/>
          <a:p>
            <a:pPr>
              <a:lnSpc>
                <a:spcPct val="115000"/>
              </a:lnSpc>
            </a:pPr>
            <a:r>
              <a:rPr sz="1200" b="0">
                <a:solidFill>
                  <a:srgbClr val="5D6675"/>
                </a:solidFill>
                <a:latin typeface="Arial"/>
              </a:rPr>
              <a:t>White RC / Hansen SPA</a:t>
            </a:r>
          </a:p>
          <a:p>
            <a:pPr>
              <a:lnSpc>
                <a:spcPct val="115000"/>
              </a:lnSpc>
            </a:pPr>
            <a:r>
              <a:rPr sz="1200" b="0">
                <a:solidFill>
                  <a:srgbClr val="5D6675"/>
                </a:solidFill>
                <a:latin typeface="Arial"/>
              </a:rPr>
              <a:t>aucun ne rejette</a:t>
            </a:r>
          </a:p>
        </p:txBody>
      </p:sp>
      <p:sp>
        <p:nvSpPr>
          <p:cNvPr id="12" name="Rounded Rectangle 11"/>
          <p:cNvSpPr/>
          <p:nvPr/>
        </p:nvSpPr>
        <p:spPr>
          <a:xfrm>
            <a:off x="7899400" y="3886200"/>
            <a:ext cx="3302000" cy="8382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8000" y="4038600"/>
            <a:ext cx="2870200" cy="203200"/>
          </a:xfrm>
          <a:prstGeom prst="rect">
            <a:avLst/>
          </a:prstGeom>
          <a:noFill/>
        </p:spPr>
        <p:txBody>
          <a:bodyPr wrap="square" lIns="0" rIns="0" tIns="0" bIns="0">
            <a:spAutoFit/>
          </a:bodyPr>
          <a:lstStyle/>
          <a:p>
            <a:r>
              <a:rPr sz="1050" b="1">
                <a:solidFill>
                  <a:srgbClr val="A86812"/>
                </a:solidFill>
                <a:latin typeface="Arial"/>
              </a:rPr>
              <a:t>Pourquoi il est refusé</a:t>
            </a:r>
          </a:p>
        </p:txBody>
      </p:sp>
      <p:sp>
        <p:nvSpPr>
          <p:cNvPr id="14" name="TextBox 13"/>
          <p:cNvSpPr txBox="1"/>
          <p:nvPr/>
        </p:nvSpPr>
        <p:spPr>
          <a:xfrm>
            <a:off x="8128000" y="4292600"/>
            <a:ext cx="2870200" cy="381000"/>
          </a:xfrm>
          <a:prstGeom prst="rect">
            <a:avLst/>
          </a:prstGeom>
          <a:noFill/>
        </p:spPr>
        <p:txBody>
          <a:bodyPr wrap="square" lIns="0" rIns="0" tIns="0" bIns="0">
            <a:spAutoFit/>
          </a:bodyPr>
          <a:lstStyle/>
          <a:p>
            <a:pPr>
              <a:lnSpc>
                <a:spcPct val="120000"/>
              </a:lnSpc>
            </a:pPr>
            <a:r>
              <a:rPr sz="1050" b="1">
                <a:solidFill>
                  <a:srgbClr val="111827"/>
                </a:solidFill>
                <a:latin typeface="Arial"/>
              </a:rPr>
              <a:t>C'est le maximum d'une recherche de 240 configurations. Seules 17 dépassent la référence.</a:t>
            </a:r>
          </a:p>
        </p:txBody>
      </p:sp>
      <p:sp>
        <p:nvSpPr>
          <p:cNvPr id="15" name="TextBox 14"/>
          <p:cNvSpPr txBox="1"/>
          <p:nvPr/>
        </p:nvSpPr>
        <p:spPr>
          <a:xfrm>
            <a:off x="609600" y="5054600"/>
            <a:ext cx="10591800" cy="762000"/>
          </a:xfrm>
          <a:prstGeom prst="rect">
            <a:avLst/>
          </a:prstGeom>
          <a:noFill/>
        </p:spPr>
        <p:txBody>
          <a:bodyPr wrap="square" lIns="0" rIns="0" tIns="0" bIns="0">
            <a:spAutoFit/>
          </a:bodyPr>
          <a:lstStyle/>
          <a:p>
            <a:pPr>
              <a:lnSpc>
                <a:spcPct val="130000"/>
              </a:lnSpc>
            </a:pPr>
            <a:r>
              <a:rPr sz="1250" b="1">
                <a:solidFill>
                  <a:srgbClr val="111827"/>
                </a:solidFill>
                <a:latin typeface="Arial"/>
              </a:rPr>
              <a:t>Cité seul, ce +0,093 aurait fait un titre défendable — supérieur en valeur absolue à l'écart de Q1, et de sens inverse.</a:t>
            </a:r>
          </a:p>
          <a:p>
            <a:pPr>
              <a:lnSpc>
                <a:spcPct val="130000"/>
              </a:lnSpc>
            </a:pPr>
            <a:r>
              <a:rPr sz="1250" b="1">
                <a:solidFill>
                  <a:srgbClr val="111827"/>
                </a:solidFill>
                <a:latin typeface="Arial"/>
              </a:rPr>
              <a:t>La correction pour tests multiples est exactement ce qui l'en empêche.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40000" y="-2540000"/>
            <a:ext cx="508000" cy="127000"/>
          </a:xfrm>
          <a:prstGeom prst="rect">
            <a:avLst/>
          </a:prstGeom>
          <a:noFill/>
        </p:spPr>
        <p:txBody>
          <a:bodyPr wrap="square" lIns="0" rIns="0" tIns="0" bIns="0">
            <a:spAutoFit/>
          </a:bodyPr>
          <a:lstStyle/>
          <a:p>
            <a:r>
              <a:rPr sz="100" b="0">
                <a:solidFill>
                  <a:srgbClr val="5D6675"/>
                </a:solidFill>
                <a:latin typeface="Arial"/>
              </a:rPr>
              <a:t>GLOBAL2004</a:t>
            </a:r>
          </a:p>
        </p:txBody>
      </p:sp>
      <p:sp>
        <p:nvSpPr>
          <p:cNvPr id="3" name="TextBox 2"/>
          <p:cNvSpPr txBox="1"/>
          <p:nvPr/>
        </p:nvSpPr>
        <p:spPr>
          <a:xfrm>
            <a:off x="609600" y="279400"/>
            <a:ext cx="4762500" cy="203200"/>
          </a:xfrm>
          <a:prstGeom prst="rect">
            <a:avLst/>
          </a:prstGeom>
          <a:noFill/>
        </p:spPr>
        <p:txBody>
          <a:bodyPr wrap="square" lIns="0" rIns="0" tIns="0" bIns="0">
            <a:spAutoFit/>
          </a:bodyPr>
          <a:lstStyle/>
          <a:p>
            <a:r>
              <a:rPr sz="900" b="1">
                <a:solidFill>
                  <a:srgbClr val="3D8DFF"/>
                </a:solidFill>
                <a:latin typeface="Arial"/>
              </a:rPr>
              <a:t>SYNTHÈSE</a:t>
            </a:r>
          </a:p>
        </p:txBody>
      </p:sp>
      <p:sp>
        <p:nvSpPr>
          <p:cNvPr id="4" name="TextBox 3"/>
          <p:cNvSpPr txBox="1"/>
          <p:nvPr/>
        </p:nvSpPr>
        <p:spPr>
          <a:xfrm>
            <a:off x="609600" y="558800"/>
            <a:ext cx="10668000" cy="558800"/>
          </a:xfrm>
          <a:prstGeom prst="rect">
            <a:avLst/>
          </a:prstGeom>
          <a:noFill/>
        </p:spPr>
        <p:txBody>
          <a:bodyPr wrap="square" lIns="0" rIns="0" tIns="0" bIns="0">
            <a:spAutoFit/>
          </a:bodyPr>
          <a:lstStyle/>
          <a:p>
            <a:r>
              <a:rPr sz="2700" b="1">
                <a:solidFill>
                  <a:srgbClr val="111827"/>
                </a:solidFill>
                <a:latin typeface="Arial"/>
              </a:rPr>
              <a:t>Trois résultats à ne pas confondre</a:t>
            </a:r>
          </a:p>
        </p:txBody>
      </p:sp>
      <p:sp>
        <p:nvSpPr>
          <p:cNvPr id="5" name="TextBox 4"/>
          <p:cNvSpPr txBox="1"/>
          <p:nvPr/>
        </p:nvSpPr>
        <p:spPr>
          <a:xfrm>
            <a:off x="11150600" y="342900"/>
            <a:ext cx="431800" cy="228600"/>
          </a:xfrm>
          <a:prstGeom prst="rect">
            <a:avLst/>
          </a:prstGeom>
          <a:noFill/>
        </p:spPr>
        <p:txBody>
          <a:bodyPr wrap="square" lIns="0" rIns="0" tIns="0" bIns="0">
            <a:spAutoFit/>
          </a:bodyPr>
          <a:lstStyle/>
          <a:p>
            <a:r>
              <a:rPr sz="900" b="1">
                <a:solidFill>
                  <a:srgbClr val="5D6675"/>
                </a:solidFill>
                <a:latin typeface="Arial"/>
              </a:rPr>
              <a:t>22</a:t>
            </a:r>
          </a:p>
        </p:txBody>
      </p:sp>
      <p:sp>
        <p:nvSpPr>
          <p:cNvPr id="6" name="Rounded Rectangle 5"/>
          <p:cNvSpPr/>
          <p:nvPr/>
        </p:nvSpPr>
        <p:spPr>
          <a:xfrm>
            <a:off x="609600" y="1498600"/>
            <a:ext cx="3479800" cy="2489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3600" y="1752600"/>
            <a:ext cx="2997200" cy="508000"/>
          </a:xfrm>
          <a:prstGeom prst="rect">
            <a:avLst/>
          </a:prstGeom>
          <a:noFill/>
        </p:spPr>
        <p:txBody>
          <a:bodyPr wrap="square" lIns="0" rIns="0" tIns="0" bIns="0">
            <a:spAutoFit/>
          </a:bodyPr>
          <a:lstStyle/>
          <a:p>
            <a:pPr>
              <a:lnSpc>
                <a:spcPct val="115000"/>
              </a:lnSpc>
            </a:pPr>
            <a:r>
              <a:rPr sz="1300" b="1">
                <a:solidFill>
                  <a:srgbClr val="0F766E"/>
                </a:solidFill>
                <a:latin typeface="Arial"/>
              </a:rPr>
              <a:t>Réussite d'ingénierie</a:t>
            </a:r>
          </a:p>
        </p:txBody>
      </p:sp>
      <p:sp>
        <p:nvSpPr>
          <p:cNvPr id="8" name="TextBox 7"/>
          <p:cNvSpPr txBox="1"/>
          <p:nvPr/>
        </p:nvSpPr>
        <p:spPr>
          <a:xfrm>
            <a:off x="863600" y="2286000"/>
            <a:ext cx="3022600" cy="1600200"/>
          </a:xfrm>
          <a:prstGeom prst="rect">
            <a:avLst/>
          </a:prstGeom>
          <a:noFill/>
        </p:spPr>
        <p:txBody>
          <a:bodyPr wrap="square" lIns="0" rIns="0" tIns="0" bIns="0">
            <a:spAutoFit/>
          </a:bodyPr>
          <a:lstStyle/>
          <a:p>
            <a:pPr>
              <a:lnSpc>
                <a:spcPct val="135000"/>
              </a:lnSpc>
            </a:pPr>
            <a:r>
              <a:rPr sz="1150" b="0">
                <a:solidFill>
                  <a:srgbClr val="5D6675"/>
                </a:solidFill>
                <a:latin typeface="Arial"/>
              </a:rPr>
              <a:t>Univers pré-enregistré et horodaté avant</a:t>
            </a:r>
          </a:p>
          <a:p>
            <a:pPr>
              <a:lnSpc>
                <a:spcPct val="135000"/>
              </a:lnSpc>
            </a:pPr>
            <a:r>
              <a:rPr sz="1150" b="0">
                <a:solidFill>
                  <a:srgbClr val="5D6675"/>
                </a:solidFill>
                <a:latin typeface="Arial"/>
              </a:rPr>
              <a:t>toute donnée, dix critères de</a:t>
            </a:r>
          </a:p>
          <a:p>
            <a:pPr>
              <a:lnSpc>
                <a:spcPct val="135000"/>
              </a:lnSpc>
            </a:pPr>
            <a:r>
              <a:rPr sz="1150" b="0">
                <a:solidFill>
                  <a:srgbClr val="5D6675"/>
                </a:solidFill>
                <a:latin typeface="Arial"/>
              </a:rPr>
              <a:t>préparation, raccordé à DVC et Dagster,</a:t>
            </a:r>
          </a:p>
          <a:p>
            <a:pPr>
              <a:lnSpc>
                <a:spcPct val="135000"/>
              </a:lnSpc>
            </a:pPr>
            <a:r>
              <a:rPr sz="1150" b="0">
                <a:solidFill>
                  <a:srgbClr val="5D6675"/>
                </a:solidFill>
                <a:latin typeface="Arial"/>
              </a:rPr>
              <a:t>puis gelé comme preuve à usage unique.</a:t>
            </a:r>
          </a:p>
        </p:txBody>
      </p:sp>
      <p:sp>
        <p:nvSpPr>
          <p:cNvPr id="9" name="Rounded Rectangle 8"/>
          <p:cNvSpPr/>
          <p:nvPr/>
        </p:nvSpPr>
        <p:spPr>
          <a:xfrm>
            <a:off x="4343400" y="1498600"/>
            <a:ext cx="3479800" cy="2489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7400" y="1752600"/>
            <a:ext cx="2997200" cy="508000"/>
          </a:xfrm>
          <a:prstGeom prst="rect">
            <a:avLst/>
          </a:prstGeom>
          <a:noFill/>
        </p:spPr>
        <p:txBody>
          <a:bodyPr wrap="square" lIns="0" rIns="0" tIns="0" bIns="0">
            <a:spAutoFit/>
          </a:bodyPr>
          <a:lstStyle/>
          <a:p>
            <a:pPr>
              <a:lnSpc>
                <a:spcPct val="115000"/>
              </a:lnSpc>
            </a:pPr>
            <a:r>
              <a:rPr sz="1300" b="1">
                <a:solidFill>
                  <a:srgbClr val="3D8DFF"/>
                </a:solidFill>
                <a:latin typeface="Arial"/>
              </a:rPr>
              <a:t>Réussite méthodologique</a:t>
            </a:r>
          </a:p>
        </p:txBody>
      </p:sp>
      <p:sp>
        <p:nvSpPr>
          <p:cNvPr id="11" name="TextBox 10"/>
          <p:cNvSpPr txBox="1"/>
          <p:nvPr/>
        </p:nvSpPr>
        <p:spPr>
          <a:xfrm>
            <a:off x="4597400" y="2286000"/>
            <a:ext cx="3022600" cy="1600200"/>
          </a:xfrm>
          <a:prstGeom prst="rect">
            <a:avLst/>
          </a:prstGeom>
          <a:noFill/>
        </p:spPr>
        <p:txBody>
          <a:bodyPr wrap="square" lIns="0" rIns="0" tIns="0" bIns="0">
            <a:spAutoFit/>
          </a:bodyPr>
          <a:lstStyle/>
          <a:p>
            <a:pPr>
              <a:lnSpc>
                <a:spcPct val="135000"/>
              </a:lnSpc>
            </a:pPr>
            <a:r>
              <a:rPr sz="1150" b="0">
                <a:solidFill>
                  <a:srgbClr val="5D6675"/>
                </a:solidFill>
                <a:latin typeface="Arial"/>
              </a:rPr>
              <a:t>Un écart sélectionné de +0,093 de Sharpe</a:t>
            </a:r>
          </a:p>
          <a:p>
            <a:pPr>
              <a:lnSpc>
                <a:spcPct val="135000"/>
              </a:lnSpc>
            </a:pPr>
            <a:r>
              <a:rPr sz="1150" b="0">
                <a:solidFill>
                  <a:srgbClr val="5D6675"/>
                </a:solidFill>
                <a:latin typeface="Arial"/>
              </a:rPr>
              <a:t>a été empêché de devenir un titre.</a:t>
            </a:r>
          </a:p>
          <a:p>
            <a:pPr>
              <a:lnSpc>
                <a:spcPct val="135000"/>
              </a:lnSpc>
            </a:pPr>
            <a:r>
              <a:rPr sz="1150" b="0">
                <a:solidFill>
                  <a:srgbClr val="5D6675"/>
                </a:solidFill>
                <a:latin typeface="Arial"/>
              </a:rPr>
              <a:t>C'est la contribution la plus</a:t>
            </a:r>
          </a:p>
          <a:p>
            <a:pPr>
              <a:lnSpc>
                <a:spcPct val="135000"/>
              </a:lnSpc>
            </a:pPr>
            <a:r>
              <a:rPr sz="1150" b="0">
                <a:solidFill>
                  <a:srgbClr val="5D6675"/>
                </a:solidFill>
                <a:latin typeface="Arial"/>
              </a:rPr>
              <a:t>transportable du projet.</a:t>
            </a:r>
          </a:p>
        </p:txBody>
      </p:sp>
      <p:sp>
        <p:nvSpPr>
          <p:cNvPr id="12" name="Rounded Rectangle 11"/>
          <p:cNvSpPr/>
          <p:nvPr/>
        </p:nvSpPr>
        <p:spPr>
          <a:xfrm>
            <a:off x="8077200" y="1498600"/>
            <a:ext cx="3479800" cy="2489200"/>
          </a:xfrm>
          <a:prstGeom prst="roundRect">
            <a:avLst>
              <a:gd name="adj" fmla="val 3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1200" y="1752600"/>
            <a:ext cx="2997200" cy="508000"/>
          </a:xfrm>
          <a:prstGeom prst="rect">
            <a:avLst/>
          </a:prstGeom>
          <a:noFill/>
        </p:spPr>
        <p:txBody>
          <a:bodyPr wrap="square" lIns="0" rIns="0" tIns="0" bIns="0">
            <a:spAutoFit/>
          </a:bodyPr>
          <a:lstStyle/>
          <a:p>
            <a:pPr>
              <a:lnSpc>
                <a:spcPct val="115000"/>
              </a:lnSpc>
            </a:pPr>
            <a:r>
              <a:rPr sz="1300" b="1">
                <a:solidFill>
                  <a:srgbClr val="B7433E"/>
                </a:solidFill>
                <a:latin typeface="Arial"/>
              </a:rPr>
              <a:t>Absence d'avantage établi</a:t>
            </a:r>
          </a:p>
        </p:txBody>
      </p:sp>
      <p:sp>
        <p:nvSpPr>
          <p:cNvPr id="14" name="TextBox 13"/>
          <p:cNvSpPr txBox="1"/>
          <p:nvPr/>
        </p:nvSpPr>
        <p:spPr>
          <a:xfrm>
            <a:off x="8331200" y="2286000"/>
            <a:ext cx="3022600" cy="1600200"/>
          </a:xfrm>
          <a:prstGeom prst="rect">
            <a:avLst/>
          </a:prstGeom>
          <a:noFill/>
        </p:spPr>
        <p:txBody>
          <a:bodyPr wrap="square" lIns="0" rIns="0" tIns="0" bIns="0">
            <a:spAutoFit/>
          </a:bodyPr>
          <a:lstStyle/>
          <a:p>
            <a:pPr>
              <a:lnSpc>
                <a:spcPct val="135000"/>
              </a:lnSpc>
            </a:pPr>
            <a:r>
              <a:rPr sz="1150" b="0">
                <a:solidFill>
                  <a:srgbClr val="5D6675"/>
                </a:solidFill>
                <a:latin typeface="Arial"/>
              </a:rPr>
              <a:t>Ni la couche de régimes (Q1) ni la</a:t>
            </a:r>
          </a:p>
          <a:p>
            <a:pPr>
              <a:lnSpc>
                <a:spcPct val="135000"/>
              </a:lnSpc>
            </a:pPr>
            <a:r>
              <a:rPr sz="1150" b="0">
                <a:solidFill>
                  <a:srgbClr val="5D6675"/>
                </a:solidFill>
                <a:latin typeface="Arial"/>
              </a:rPr>
              <a:t>famille de challengers (Q2) n'établit</a:t>
            </a:r>
          </a:p>
          <a:p>
            <a:pPr>
              <a:lnSpc>
                <a:spcPct val="135000"/>
              </a:lnSpc>
            </a:pPr>
            <a:r>
              <a:rPr sz="1150" b="0">
                <a:solidFill>
                  <a:srgbClr val="5D6675"/>
                </a:solidFill>
                <a:latin typeface="Arial"/>
              </a:rPr>
              <a:t>de supériorité sur des règles de</a:t>
            </a:r>
          </a:p>
          <a:p>
            <a:pPr>
              <a:lnSpc>
                <a:spcPct val="135000"/>
              </a:lnSpc>
            </a:pPr>
            <a:r>
              <a:rPr sz="1150" b="0">
                <a:solidFill>
                  <a:srgbClr val="5D6675"/>
                </a:solidFill>
                <a:latin typeface="Arial"/>
              </a:rPr>
              <a:t>portefeuille plus simples.</a:t>
            </a:r>
          </a:p>
        </p:txBody>
      </p:sp>
      <p:sp>
        <p:nvSpPr>
          <p:cNvPr id="15" name="Rounded Rectangle 14"/>
          <p:cNvSpPr/>
          <p:nvPr/>
        </p:nvSpPr>
        <p:spPr>
          <a:xfrm>
            <a:off x="609600" y="4470400"/>
            <a:ext cx="10591800" cy="1041400"/>
          </a:xfrm>
          <a:prstGeom prst="roundRect">
            <a:avLst>
              <a:gd name="adj" fmla="val 3000"/>
            </a:avLst>
          </a:prstGeom>
          <a:solidFill>
            <a:srgbClr val="FFF0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9000" y="4673600"/>
            <a:ext cx="5080000" cy="228600"/>
          </a:xfrm>
          <a:prstGeom prst="rect">
            <a:avLst/>
          </a:prstGeom>
          <a:noFill/>
        </p:spPr>
        <p:txBody>
          <a:bodyPr wrap="square" lIns="0" rIns="0" tIns="0" bIns="0">
            <a:spAutoFit/>
          </a:bodyPr>
          <a:lstStyle/>
          <a:p>
            <a:r>
              <a:rPr sz="1050" b="1">
                <a:solidFill>
                  <a:srgbClr val="A86812"/>
                </a:solidFill>
                <a:latin typeface="Arial"/>
              </a:rPr>
              <a:t>Le message</a:t>
            </a:r>
          </a:p>
        </p:txBody>
      </p:sp>
      <p:sp>
        <p:nvSpPr>
          <p:cNvPr id="17" name="TextBox 16"/>
          <p:cNvSpPr txBox="1"/>
          <p:nvPr/>
        </p:nvSpPr>
        <p:spPr>
          <a:xfrm>
            <a:off x="889000" y="4953000"/>
            <a:ext cx="10033000" cy="457200"/>
          </a:xfrm>
          <a:prstGeom prst="rect">
            <a:avLst/>
          </a:prstGeom>
          <a:noFill/>
        </p:spPr>
        <p:txBody>
          <a:bodyPr wrap="square" lIns="0" rIns="0" tIns="0" bIns="0">
            <a:spAutoFit/>
          </a:bodyPr>
          <a:lstStyle/>
          <a:p>
            <a:pPr>
              <a:lnSpc>
                <a:spcPct val="125000"/>
              </a:lnSpc>
            </a:pPr>
            <a:r>
              <a:rPr sz="1250" b="1">
                <a:solidFill>
                  <a:srgbClr val="111827"/>
                </a:solidFill>
                <a:latin typeface="Arial"/>
              </a:rPr>
              <a:t>Une fois les deux défauts d'identification levés, les modèles complexes ont enfin reçu un test équitable — et n'ont toujours pas établi d'avantage.</a:t>
            </a:r>
          </a:p>
        </p:txBody>
      </p:sp>
      <p:sp>
        <p:nvSpPr>
          <p:cNvPr id="18" name="TextBox 17"/>
          <p:cNvSpPr txBox="1"/>
          <p:nvPr/>
        </p:nvSpPr>
        <p:spPr>
          <a:xfrm>
            <a:off x="609600" y="5715000"/>
            <a:ext cx="10591800" cy="431800"/>
          </a:xfrm>
          <a:prstGeom prst="rect">
            <a:avLst/>
          </a:prstGeom>
          <a:noFill/>
        </p:spPr>
        <p:txBody>
          <a:bodyPr wrap="square" lIns="0" rIns="0" tIns="0" bIns="0">
            <a:spAutoFit/>
          </a:bodyPr>
          <a:lstStyle/>
          <a:p>
            <a:r>
              <a:rPr sz="1150" b="0">
                <a:solidFill>
                  <a:srgbClr val="5D6675"/>
                </a:solidFill>
                <a:latin typeface="Arial"/>
              </a:rPr>
              <a:t>La contribution est la preuve auditable montrant pourquoi le gagnant brut, pourtant séduisant, ne doit pas être cru.</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2026-08-09T07:33:28.1180000Z</dcterms:created>
  <dcterms:modified xsi:type="dcterms:W3CDTF">2026-08-09T07:33:28.1180000Z</dcterms:modified>
</coreProperties>
</file>