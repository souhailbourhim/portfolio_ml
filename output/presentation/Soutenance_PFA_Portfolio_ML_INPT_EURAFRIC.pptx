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31947edbe149b6" /><Relationship Type="http://schemas.openxmlformats.org/officeDocument/2006/relationships/extended-properties" Target="/docProps/app.xml" Id="R756508cd796845a1" /><Relationship Type="http://schemas.openxmlformats.org/officeDocument/2006/relationships/officeDocument" Target="/ppt/presentation.xml" Id="R96747de112d740e4" /></Relationships>
</file>

<file path=ppt/presentation.xml><?xml version="1.0" encoding="utf-8"?>
<p:presentation xmlns:p="http://schemas.openxmlformats.org/presentationml/2006/main">
  <p:sldMasterIdLst>
    <p:sldMasterId xmlns:r="http://schemas.openxmlformats.org/officeDocument/2006/relationships" id="2147483648" r:id="R7354d36443e642b7"/>
  </p:sldMasterIdLst>
  <p:notesMasterIdLst>
    <p:notesMasterId xmlns:r="http://schemas.openxmlformats.org/officeDocument/2006/relationships" r:id="R8550e99eb58d4a68"/>
  </p:notesMasterIdLst>
  <p:sldIdLst>
    <p:sldId xmlns:r="http://schemas.openxmlformats.org/officeDocument/2006/relationships" id="256" r:id="R8a004abdbea345f0"/>
    <p:sldId xmlns:r="http://schemas.openxmlformats.org/officeDocument/2006/relationships" id="257" r:id="R0bdb091fb8dc4f79"/>
    <p:sldId xmlns:r="http://schemas.openxmlformats.org/officeDocument/2006/relationships" id="258" r:id="Rd9f6e29d8c7042b8"/>
    <p:sldId xmlns:r="http://schemas.openxmlformats.org/officeDocument/2006/relationships" id="259" r:id="R82ffcdc04ebc4498"/>
    <p:sldId xmlns:r="http://schemas.openxmlformats.org/officeDocument/2006/relationships" id="260" r:id="R74aa6584465c41c3"/>
    <p:sldId xmlns:r="http://schemas.openxmlformats.org/officeDocument/2006/relationships" id="261" r:id="R70fa18e1902844d9"/>
    <p:sldId xmlns:r="http://schemas.openxmlformats.org/officeDocument/2006/relationships" id="262" r:id="R2a3a93e6a4b24ea8"/>
    <p:sldId xmlns:r="http://schemas.openxmlformats.org/officeDocument/2006/relationships" id="263" r:id="Ra7016ce8d5ab4de3"/>
    <p:sldId xmlns:r="http://schemas.openxmlformats.org/officeDocument/2006/relationships" id="264" r:id="Rb2b42b5f5f7d47b2"/>
    <p:sldId xmlns:r="http://schemas.openxmlformats.org/officeDocument/2006/relationships" id="265" r:id="Rae27adbe9d2e4b93"/>
    <p:sldId xmlns:r="http://schemas.openxmlformats.org/officeDocument/2006/relationships" id="266" r:id="Rfa6d69768af34a43"/>
    <p:sldId xmlns:r="http://schemas.openxmlformats.org/officeDocument/2006/relationships" id="267" r:id="Rebbdf58fb6c24cbb"/>
    <p:sldId xmlns:r="http://schemas.openxmlformats.org/officeDocument/2006/relationships" id="268" r:id="Rea3eb73d639f4416"/>
    <p:sldId xmlns:r="http://schemas.openxmlformats.org/officeDocument/2006/relationships" id="269" r:id="Rc46d43967ae14217"/>
    <p:sldId xmlns:r="http://schemas.openxmlformats.org/officeDocument/2006/relationships" id="270" r:id="R570479f6abc143be"/>
    <p:sldId xmlns:r="http://schemas.openxmlformats.org/officeDocument/2006/relationships" id="271" r:id="R8197a2e283d047d2"/>
    <p:sldId xmlns:r="http://schemas.openxmlformats.org/officeDocument/2006/relationships" id="272" r:id="Rc24437f2c9e24674"/>
    <p:sldId xmlns:r="http://schemas.openxmlformats.org/officeDocument/2006/relationships" id="273" r:id="Re7c87c24c92642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ece9b72aa34101" /><Relationship Type="http://schemas.openxmlformats.org/officeDocument/2006/relationships/slideMaster" Target="/ppt/slideMasters/slideMaster1.xml" Id="R7354d36443e642b7" /><Relationship Type="http://schemas.openxmlformats.org/officeDocument/2006/relationships/notesMaster" Target="/ppt/notesMasters/notesMaster1.xml" Id="R8550e99eb58d4a68" /><Relationship Type="http://schemas.openxmlformats.org/officeDocument/2006/relationships/presProps" Target="/ppt/presProps.xml" Id="Rf7e7fadda5a04ca1" /><Relationship Type="http://schemas.openxmlformats.org/officeDocument/2006/relationships/tableStyles" Target="/ppt/tableStyles.xml" Id="R879492a47c9e49bd" /><Relationship Type="http://schemas.openxmlformats.org/officeDocument/2006/relationships/slide" Target="/ppt/slides/slide1.xml" Id="R8a004abdbea345f0" /><Relationship Type="http://schemas.openxmlformats.org/officeDocument/2006/relationships/slide" Target="/ppt/slides/slide2.xml" Id="R0bdb091fb8dc4f79" /><Relationship Type="http://schemas.openxmlformats.org/officeDocument/2006/relationships/slide" Target="/ppt/slides/slide3.xml" Id="Rd9f6e29d8c7042b8" /><Relationship Type="http://schemas.openxmlformats.org/officeDocument/2006/relationships/slide" Target="/ppt/slides/slide4.xml" Id="R82ffcdc04ebc4498" /><Relationship Type="http://schemas.openxmlformats.org/officeDocument/2006/relationships/slide" Target="/ppt/slides/slide5.xml" Id="R74aa6584465c41c3" /><Relationship Type="http://schemas.openxmlformats.org/officeDocument/2006/relationships/slide" Target="/ppt/slides/slide6.xml" Id="R70fa18e1902844d9" /><Relationship Type="http://schemas.openxmlformats.org/officeDocument/2006/relationships/slide" Target="/ppt/slides/slide7.xml" Id="R2a3a93e6a4b24ea8" /><Relationship Type="http://schemas.openxmlformats.org/officeDocument/2006/relationships/slide" Target="/ppt/slides/slide8.xml" Id="Ra7016ce8d5ab4de3" /><Relationship Type="http://schemas.openxmlformats.org/officeDocument/2006/relationships/slide" Target="/ppt/slides/slide9.xml" Id="Rb2b42b5f5f7d47b2" /><Relationship Type="http://schemas.openxmlformats.org/officeDocument/2006/relationships/slide" Target="/ppt/slides/slide10.xml" Id="Rae27adbe9d2e4b93" /><Relationship Type="http://schemas.openxmlformats.org/officeDocument/2006/relationships/slide" Target="/ppt/slides/slide11.xml" Id="Rfa6d69768af34a43" /><Relationship Type="http://schemas.openxmlformats.org/officeDocument/2006/relationships/slide" Target="/ppt/slides/slide12.xml" Id="Rebbdf58fb6c24cbb" /><Relationship Type="http://schemas.openxmlformats.org/officeDocument/2006/relationships/slide" Target="/ppt/slides/slide13.xml" Id="Rea3eb73d639f4416" /><Relationship Type="http://schemas.openxmlformats.org/officeDocument/2006/relationships/slide" Target="/ppt/slides/slide14.xml" Id="Rc46d43967ae14217" /><Relationship Type="http://schemas.openxmlformats.org/officeDocument/2006/relationships/slide" Target="/ppt/slides/slide15.xml" Id="R570479f6abc143be" /><Relationship Type="http://schemas.openxmlformats.org/officeDocument/2006/relationships/slide" Target="/ppt/slides/slide16.xml" Id="R8197a2e283d047d2" /><Relationship Type="http://schemas.openxmlformats.org/officeDocument/2006/relationships/slide" Target="/ppt/slides/slide17.xml" Id="Rc24437f2c9e24674" /><Relationship Type="http://schemas.openxmlformats.org/officeDocument/2006/relationships/slide" Target="/ppt/slides/slide18.xml" Id="Re7c87c24c92642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dbac656c5e4f3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d59e3b118d461b" /><Relationship Type="http://schemas.openxmlformats.org/officeDocument/2006/relationships/notesMaster" Target="/ppt/notesMasters/notesMaster1.xml" Id="R87a72e0013a042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f16daa90f824b98" /><Relationship Type="http://schemas.openxmlformats.org/officeDocument/2006/relationships/notesMaster" Target="/ppt/notesMasters/notesMaster1.xml" Id="R17aadf91440c44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2fd701135a4903" /><Relationship Type="http://schemas.openxmlformats.org/officeDocument/2006/relationships/notesMaster" Target="/ppt/notesMasters/notesMaster1.xml" Id="Ra5602678727e4f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d68fffec0049b2" /><Relationship Type="http://schemas.openxmlformats.org/officeDocument/2006/relationships/notesMaster" Target="/ppt/notesMasters/notesMaster1.xml" Id="R7a878f0a7e3e4d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f831011987414b" /><Relationship Type="http://schemas.openxmlformats.org/officeDocument/2006/relationships/notesMaster" Target="/ppt/notesMasters/notesMaster1.xml" Id="R07bc3d46f4c042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b7a8f18326448b" /><Relationship Type="http://schemas.openxmlformats.org/officeDocument/2006/relationships/notesMaster" Target="/ppt/notesMasters/notesMaster1.xml" Id="R264218dc39744e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aaf3b733ec45d1" /><Relationship Type="http://schemas.openxmlformats.org/officeDocument/2006/relationships/notesMaster" Target="/ppt/notesMasters/notesMaster1.xml" Id="Racbe205ee92341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1ccfe4bfb04116" /><Relationship Type="http://schemas.openxmlformats.org/officeDocument/2006/relationships/notesMaster" Target="/ppt/notesMasters/notesMaster1.xml" Id="Re0110244cdfa45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33f152508d584186" /><Relationship Type="http://schemas.openxmlformats.org/officeDocument/2006/relationships/notesMaster" Target="/ppt/notesMasters/notesMaster1.xml" Id="Rd7b404650e4546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f36138baec24386" /><Relationship Type="http://schemas.openxmlformats.org/officeDocument/2006/relationships/notesMaster" Target="/ppt/notesMasters/notesMaster1.xml" Id="R76ef6d44c66248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d9ea4b3f7654df4" /><Relationship Type="http://schemas.openxmlformats.org/officeDocument/2006/relationships/notesMaster" Target="/ppt/notesMasters/notesMaster1.xml" Id="Raa7de6495fca4c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197b32925441ed" /><Relationship Type="http://schemas.openxmlformats.org/officeDocument/2006/relationships/notesMaster" Target="/ppt/notesMasters/notesMaster1.xml" Id="Rf95b80d7ba0b4f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e7291483f7485e" /><Relationship Type="http://schemas.openxmlformats.org/officeDocument/2006/relationships/notesMaster" Target="/ppt/notesMasters/notesMaster1.xml" Id="R904865e9d3fb4f0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15b0476daf447f7" /><Relationship Type="http://schemas.openxmlformats.org/officeDocument/2006/relationships/notesMaster" Target="/ppt/notesMasters/notesMaster1.xml" Id="Rfb69882b666c4a9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ecb6804f76416b" /><Relationship Type="http://schemas.openxmlformats.org/officeDocument/2006/relationships/notesMaster" Target="/ppt/notesMasters/notesMaster1.xml" Id="R14ca99d57721443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8a98f21607746f9" /><Relationship Type="http://schemas.openxmlformats.org/officeDocument/2006/relationships/notesMaster" Target="/ppt/notesMasters/notesMaster1.xml" Id="R1323b40b41c04a7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0da98d83b884093" /><Relationship Type="http://schemas.openxmlformats.org/officeDocument/2006/relationships/notesMaster" Target="/ppt/notesMasters/notesMaster1.xml" Id="R4fb5a6a27cd6468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4a7988e853146bc" /><Relationship Type="http://schemas.openxmlformats.org/officeDocument/2006/relationships/notesMaster" Target="/ppt/notesMasters/notesMaster1.xml" Id="R20ce2af7ccc04c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Bonjour. Notre projet porte sur l’optimisation de portefeuille pilotée par le machine learning. Notre objectif n’était pas seulement de produire un bon ratio de Sharpe, mais de construire une chaîne complète capable de vérifier si ce résultat est réellement défendable.</a:t>
            </a:r>
          </a:p>
          <a:p xmlns:a="http://schemas.openxmlformats.org/drawingml/2006/main">
            <a:r>
              <a:t/>
            </a:r>
          </a:p>
          <a:p xmlns:a="http://schemas.openxmlformats.org/drawingml/2006/main">
            <a:r>
              <a:t>[Sources]</a:t>
            </a:r>
          </a:p>
          <a:p xmlns:a="http://schemas.openxmlformats.org/drawingml/2006/main">
            <a:r>
              <a:t>- docs/rapport_final/main.tex</a:t>
            </a:r>
          </a:p>
          <a:p xmlns:a="http://schemas.openxmlformats.org/drawingml/2006/main">
            <a:r>
              <a:t>- AGENTS.md — sections 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slide donne immédiatement le fil directeur. Le résultat ML final est négatif après la correction de devise. Ce n’est pas un échec du projet : c’est précisément la preuve que notre protocole détecte les illusions de performance au lieu de les publier.</a:t>
            </a:r>
          </a:p>
          <a:p xmlns:a="http://schemas.openxmlformats.org/drawingml/2006/main">
            <a:r>
              <a:t/>
            </a:r>
          </a:p>
          <a:p xmlns:a="http://schemas.openxmlformats.org/drawingml/2006/main">
            <a:r>
              <a:t>[Sources]</a:t>
            </a:r>
          </a:p>
          <a:p xmlns:a="http://schemas.openxmlformats.org/drawingml/2006/main">
            <a:r>
              <a:t>- data/gold/dashboard_data.json</a:t>
            </a:r>
          </a:p>
          <a:p xmlns:a="http://schemas.openxmlformats.org/drawingml/2006/main">
            <a:r>
              <a:t>- data/gold/reality_check_results.json</a:t>
            </a:r>
          </a:p>
          <a:p xmlns:a="http://schemas.openxmlformats.org/drawingml/2006/main">
            <a:r>
              <a:t>- data/gold/fit_report_summary.json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Chaque composant du projet répond à l’un de ces quatre problèmes. P1 concerne l’estimation du risque, P2 la non-stationnarité, P3 la rupture de diversification en crise, et P4 le surapprentissage du backtest.</a:t>
            </a:r>
          </a:p>
          <a:p xmlns:a="http://schemas.openxmlformats.org/drawingml/2006/main">
            <a:r>
              <a:t/>
            </a:r>
          </a:p>
          <a:p xmlns:a="http://schemas.openxmlformats.org/drawingml/2006/main">
            <a:r>
              <a:t>[Sources]</a:t>
            </a:r>
          </a:p>
          <a:p xmlns:a="http://schemas.openxmlformats.org/drawingml/2006/main">
            <a:r>
              <a:t>- docs/rapport_final/chapters/Chapter1.tex</a:t>
            </a:r>
          </a:p>
          <a:p xmlns:a="http://schemas.openxmlformats.org/drawingml/2006/main">
            <a:r>
              <a:t>- docs/rapport_final/assets/figures/quatre_problemes.pdf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projet n’est pas un notebook isolé. Les données passent par une architecture médaillon, puis alimentent un moteur de backtest, une sélection walk-forward, des tests statistiques et enfin des surfaces de restitution et de gouvernance.</a:t>
            </a:r>
          </a:p>
          <a:p xmlns:a="http://schemas.openxmlformats.org/drawingml/2006/main">
            <a:r>
              <a:t/>
            </a:r>
          </a:p>
          <a:p xmlns:a="http://schemas.openxmlformats.org/drawingml/2006/main">
            <a:r>
              <a:t>[Sources]</a:t>
            </a:r>
          </a:p>
          <a:p xmlns:a="http://schemas.openxmlformats.org/drawingml/2006/main">
            <a:r>
              <a:t>- dvc.yaml</a:t>
            </a:r>
          </a:p>
          <a:p xmlns:a="http://schemas.openxmlformats.org/drawingml/2006/main">
            <a:r>
              <a:t>- src/orchestration/</a:t>
            </a:r>
          </a:p>
          <a:p xmlns:a="http://schemas.openxmlformats.org/drawingml/2006/main">
            <a:r>
              <a:t>- docs/rapport_final/assets/figures/architecture_globale.pdf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correction la plus importante du projet a été celle du numéraire. L’univers mixte est désormais converti en MAD avec le taux de référence officiel Bank Al-Maghrib. L’univers ETF reste en USD car il ne mélange aucune devise. Les deux univers constituent deux évaluations distinctes.</a:t>
            </a:r>
          </a:p>
          <a:p xmlns:a="http://schemas.openxmlformats.org/drawingml/2006/main">
            <a:r>
              <a:t/>
            </a:r>
          </a:p>
          <a:p xmlns:a="http://schemas.openxmlformats.org/drawingml/2006/main">
            <a:r>
              <a:t>[Sources]</a:t>
            </a:r>
          </a:p>
          <a:p xmlns:a="http://schemas.openxmlformats.org/drawingml/2006/main">
            <a:r>
              <a:t>- src/currency.py</a:t>
            </a:r>
          </a:p>
          <a:p xmlns:a="http://schemas.openxmlformats.org/drawingml/2006/main">
            <a:r>
              <a:t>- data/gold/currency_manifest.json</a:t>
            </a:r>
          </a:p>
          <a:p xmlns:a="http://schemas.openxmlformats.org/drawingml/2006/main">
            <a:r>
              <a:t>- data/bronze/bam_fx_reference.parquet</a:t>
            </a:r>
          </a:p>
          <a:p xmlns:a="http://schemas.openxmlformats.org/drawingml/2006/main">
            <a:r>
              <a:t>- docs/rapport_final/assets/figures/numeraire.pdf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Nous n’avons pas commencé par le modèle le plus complexe. Nous avons construit une échelle d’ablation : références classiques, estimateurs de covariance, HMM, signaux supervisés puis optimisation sensible aux coûts. Chaque ajout doit justifier sa complexité hors échantillon.</a:t>
            </a:r>
          </a:p>
          <a:p xmlns:a="http://schemas.openxmlformats.org/drawingml/2006/main">
            <a:r>
              <a:t/>
            </a:r>
          </a:p>
          <a:p xmlns:a="http://schemas.openxmlformats.org/drawingml/2006/main">
            <a:r>
              <a:t>[Sources]</a:t>
            </a:r>
          </a:p>
          <a:p xmlns:a="http://schemas.openxmlformats.org/drawingml/2006/main">
            <a:r>
              <a:t>- src/strategies.py</a:t>
            </a:r>
          </a:p>
          <a:p xmlns:a="http://schemas.openxmlformats.org/drawingml/2006/main">
            <a:r>
              <a:t>- src/dcc_garch.py</a:t>
            </a:r>
          </a:p>
          <a:p xmlns:a="http://schemas.openxmlformats.org/drawingml/2006/main">
            <a:r>
              <a:t>- src/model_selection.py</a:t>
            </a:r>
          </a:p>
          <a:p xmlns:a="http://schemas.openxmlformats.org/drawingml/2006/main">
            <a:r>
              <a:t>- params.yaml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changement méthodologique central a été le passage à un walk-forward purgé et strictement forward-only. Chaque décision est apprise uniquement avec le passé. Le test final est gelé, les comparaisons sont appariées, et la recherche multiple est corrigée.</a:t>
            </a:r>
          </a:p>
          <a:p xmlns:a="http://schemas.openxmlformats.org/drawingml/2006/main">
            <a:r>
              <a:t/>
            </a:r>
          </a:p>
          <a:p xmlns:a="http://schemas.openxmlformats.org/drawingml/2006/main">
            <a:r>
              <a:t>[Sources]</a:t>
            </a:r>
          </a:p>
          <a:p xmlns:a="http://schemas.openxmlformats.org/drawingml/2006/main">
            <a:r>
              <a:t>- src/purged_kfold.py</a:t>
            </a:r>
          </a:p>
          <a:p xmlns:a="http://schemas.openxmlformats.org/drawingml/2006/main">
            <a:r>
              <a:t>- src/model_selection.py</a:t>
            </a:r>
          </a:p>
          <a:p xmlns:a="http://schemas.openxmlformats.org/drawingml/2006/main">
            <a:r>
              <a:t>- src/metrics.py</a:t>
            </a:r>
          </a:p>
          <a:p xmlns:a="http://schemas.openxmlformats.org/drawingml/2006/main">
            <a:r>
              <a:t>- src/reality_check.py</a:t>
            </a:r>
          </a:p>
          <a:p xmlns:a="http://schemas.openxmlformats.org/drawingml/2006/main">
            <a:r>
              <a:t>- data/gold/phase5_validation_protocol.json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trajectoire est importante. Le résultat est passé de plus 14,3 à plus 6,2 puis à moins 10,47 pour cent. Nous n’avons pas caché ces révisions. Elles révèlent successivement un biais de dividendes, l’effet d’une fenêtre plus profonde, puis un défaut de numéraire. La conclusion actuelle est celle de la dernière correction.</a:t>
            </a:r>
          </a:p>
          <a:p xmlns:a="http://schemas.openxmlformats.org/drawingml/2006/main">
            <a:r>
              <a:t/>
            </a:r>
          </a:p>
          <a:p xmlns:a="http://schemas.openxmlformats.org/drawingml/2006/main">
            <a:r>
              <a:t>[Sources]</a:t>
            </a:r>
          </a:p>
          <a:p xmlns:a="http://schemas.openxmlformats.org/drawingml/2006/main">
            <a:r>
              <a:t>- docs/DIVIDEND_BIAS.md</a:t>
            </a:r>
          </a:p>
          <a:p xmlns:a="http://schemas.openxmlformats.org/drawingml/2006/main">
            <a:r>
              <a:t>- docs/ETF_DEEP_HISTORY_EXPERIMENT.md</a:t>
            </a:r>
          </a:p>
          <a:p xmlns:a="http://schemas.openxmlformats.org/drawingml/2006/main">
            <a:r>
              <a:t>- data/gold/dashboard_data.json</a:t>
            </a:r>
          </a:p>
          <a:p xmlns:a="http://schemas.openxmlformats.org/drawingml/2006/main">
            <a:r>
              <a:t>- docs/rapport_final/assets/figures/revisions_resultat.pdf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Sur l’univers full_2021 exprimé en MAD, le régime obtient 0,9571 contre 1,0690 pour maximum Sharpe, soit moins 10,47 pour cent. Sur les ETF, l’écart est moins 1,62 pour cent. Ce sont des écarts descriptifs : nous ne transformons pas l’absence de gain ML en preuve de supériorité classique.</a:t>
            </a:r>
          </a:p>
          <a:p xmlns:a="http://schemas.openxmlformats.org/drawingml/2006/main">
            <a:r>
              <a:t/>
            </a:r>
          </a:p>
          <a:p xmlns:a="http://schemas.openxmlformats.org/drawingml/2006/main">
            <a:r>
              <a:t>[Sources]</a:t>
            </a:r>
          </a:p>
          <a:p xmlns:a="http://schemas.openxmlformats.org/drawingml/2006/main">
            <a:r>
              <a:t>- data/gold/dashboard_data.json</a:t>
            </a:r>
          </a:p>
          <a:p xmlns:a="http://schemas.openxmlformats.org/drawingml/2006/main">
            <a:r>
              <a:t>- data/gold/phase5_results.json</a:t>
            </a:r>
          </a:p>
          <a:p xmlns:a="http://schemas.openxmlformats.org/drawingml/2006/main">
            <a:r>
              <a:t>- docs/rapport_final/assets/figures/courbes_equity.pdf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intervalles appariés des huit comparaisons incluent tous zéro. Ensuite, White Reality Check et Hansen SPA corrigent le fait que 240 configurations ont été essayées. Contre le benchmark primaire fixé avant observation, aucun candidat n’établit une surperformance. Les résultats contre l’équipondéré restent exploratoires.</a:t>
            </a:r>
          </a:p>
          <a:p xmlns:a="http://schemas.openxmlformats.org/drawingml/2006/main">
            <a:r>
              <a:t/>
            </a:r>
          </a:p>
          <a:p xmlns:a="http://schemas.openxmlformats.org/drawingml/2006/main">
            <a:r>
              <a:t>[Sources]</a:t>
            </a:r>
          </a:p>
          <a:p xmlns:a="http://schemas.openxmlformats.org/drawingml/2006/main">
            <a:r>
              <a:t>- data/gold/paired_comparison_results.json</a:t>
            </a:r>
          </a:p>
          <a:p xmlns:a="http://schemas.openxmlformats.org/drawingml/2006/main">
            <a:r>
              <a:t>- data/gold/reality_check_results.json</a:t>
            </a:r>
          </a:p>
          <a:p xmlns:a="http://schemas.openxmlformats.org/drawingml/2006/main">
            <a:r>
              <a:t>- data/gold/reality_check_series.parquet</a:t>
            </a:r>
          </a:p>
          <a:p xmlns:a="http://schemas.openxmlformats.org/drawingml/2006/main">
            <a:r>
              <a:t>- docs/MULTIPLE_TESTING.md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Nous avons aussi testé l’hypothèse selon laquelle cinq années étaient simplement insuffisantes. Un panel marocain 2005–2024 sur douze actions augmente l’information prédictive de deux à quatre fois, mais ne crée pas d’avantage d’allocation établi. Cette expérience corrige une ancienne formulation trop simple de la limite de données.</a:t>
            </a:r>
          </a:p>
          <a:p xmlns:a="http://schemas.openxmlformats.org/drawingml/2006/main">
            <a:r>
              <a:t/>
            </a:r>
          </a:p>
          <a:p xmlns:a="http://schemas.openxmlformats.org/drawingml/2006/main">
            <a:r>
              <a:t>[Sources]</a:t>
            </a:r>
          </a:p>
          <a:p xmlns:a="http://schemas.openxmlformats.org/drawingml/2006/main">
            <a:r>
              <a:t>- docs/DEEP_MOROCCO_EXPERIMENT.md</a:t>
            </a:r>
          </a:p>
          <a:p xmlns:a="http://schemas.openxmlformats.org/drawingml/2006/main">
            <a:r>
              <a:t>- experiments/deep_morocco/</a:t>
            </a:r>
          </a:p>
          <a:p xmlns:a="http://schemas.openxmlformats.org/drawingml/2006/main">
            <a:r>
              <a:t>- docs/rapport_final/chapters/Conclusion.tex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résultat économique le plus stable concerne la contrainte de poids. Sur l’univers ETF, le plafond de 25 pour cent améliore le Sharpe net par rapport à l’absence de plafond. Il agit comme un régularisateur de l’erreur d’estimation, conformément à l’intuition de Jagannathan et Ma.</a:t>
            </a:r>
          </a:p>
          <a:p xmlns:a="http://schemas.openxmlformats.org/drawingml/2006/main">
            <a:r>
              <a:t/>
            </a:r>
          </a:p>
          <a:p xmlns:a="http://schemas.openxmlformats.org/drawingml/2006/main">
            <a:r>
              <a:t>[Sources]</a:t>
            </a:r>
          </a:p>
          <a:p xmlns:a="http://schemas.openxmlformats.org/drawingml/2006/main">
            <a:r>
              <a:t>- data/gold/etf_cap_verdict.json</a:t>
            </a:r>
          </a:p>
          <a:p xmlns:a="http://schemas.openxmlformats.org/drawingml/2006/main">
            <a:r>
              <a:t>- experiments/etf_cap_sweep.py</a:t>
            </a:r>
          </a:p>
          <a:p xmlns:a="http://schemas.openxmlformats.org/drawingml/2006/main">
            <a:r>
              <a:t>- docs/ETF_DEEP_HISTORY_EXPERIMENT.md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HMM reconnaît bien les périodes de stress : 91,7 pour cent des jours dans cinq fenêtres de crise sont classés baissiers, contre 29,2 hors crise. Mais les fenêtres sont rétrospectives et l’échantillon est très petit. La protection observée vient surtout de la covariance et du plafond, pas d’une preuve isolée de valeur du HMM.</a:t>
            </a:r>
          </a:p>
          <a:p xmlns:a="http://schemas.openxmlformats.org/drawingml/2006/main">
            <a:r>
              <a:t/>
            </a:r>
          </a:p>
          <a:p xmlns:a="http://schemas.openxmlformats.org/drawingml/2006/main">
            <a:r>
              <a:t>[Sources]</a:t>
            </a:r>
          </a:p>
          <a:p xmlns:a="http://schemas.openxmlformats.org/drawingml/2006/main">
            <a:r>
              <a:t>- data/gold/crisis_windows.json</a:t>
            </a:r>
          </a:p>
          <a:p xmlns:a="http://schemas.openxmlformats.org/drawingml/2006/main">
            <a:r>
              <a:t>- docs/CRISIS_WINDOWS_EXPERIMENT.md</a:t>
            </a:r>
          </a:p>
          <a:p xmlns:a="http://schemas.openxmlformats.org/drawingml/2006/main">
            <a:r>
              <a:t>- docs/rapport_final/assets/figures/crises.pdf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Une banque ou un assureur ne peut pas déployer une boîte noire sans chaîne de décision. Nous expliquons donc le régime et l’optimiseur pour le système principal, et les attributions exactes des arbres pour les challengers. Surtout, nous mesurons si le classement prédit survit aux contraintes d’allocation. Dans un cas, la concordance vaut moins un : la prédiction et la décision sont exactement inversées.</a:t>
            </a:r>
          </a:p>
          <a:p xmlns:a="http://schemas.openxmlformats.org/drawingml/2006/main">
            <a:r>
              <a:t/>
            </a:r>
          </a:p>
          <a:p xmlns:a="http://schemas.openxmlformats.org/drawingml/2006/main">
            <a:r>
              <a:t>[Sources]</a:t>
            </a:r>
          </a:p>
          <a:p xmlns:a="http://schemas.openxmlformats.org/drawingml/2006/main">
            <a:r>
              <a:t>- src/explainability.py</a:t>
            </a:r>
          </a:p>
          <a:p xmlns:a="http://schemas.openxmlformats.org/drawingml/2006/main">
            <a:r>
              <a:t>- data/gold/model_explanations.json</a:t>
            </a:r>
          </a:p>
          <a:p xmlns:a="http://schemas.openxmlformats.org/drawingml/2006/main">
            <a:r>
              <a:t>- docs/EXPLAINABILITY.md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dashboard comporte deux pages. La première répond aux questions d’un décideur : qu’avons-nous appris, dans quelle devise et avec quelles limites ? La seconde permet d’explorer les stratégies. Les deux partagent la même couche de données et ne peuvent pas diverger sur les chiffres publiés.</a:t>
            </a:r>
          </a:p>
          <a:p xmlns:a="http://schemas.openxmlformats.org/drawingml/2006/main">
            <a:r>
              <a:t/>
            </a:r>
          </a:p>
          <a:p xmlns:a="http://schemas.openxmlformats.org/drawingml/2006/main">
            <a:r>
              <a:t>[Sources]</a:t>
            </a:r>
          </a:p>
          <a:p xmlns:a="http://schemas.openxmlformats.org/drawingml/2006/main">
            <a:r>
              <a:t>- dashboard/pages/1_Resultats_de_recherche.py</a:t>
            </a:r>
          </a:p>
          <a:p xmlns:a="http://schemas.openxmlformats.org/drawingml/2006/main">
            <a:r>
              <a:t>- dashboard/pages/2_Explorateur_de_strategies.py</a:t>
            </a:r>
          </a:p>
          <a:p xmlns:a="http://schemas.openxmlformats.org/drawingml/2006/main">
            <a:r>
              <a:t>- dashboard/data.py</a:t>
            </a:r>
          </a:p>
          <a:p xmlns:a="http://schemas.openxmlformats.org/drawingml/2006/main">
            <a:r>
              <a:t>- docs/rapport_final/assets/figures/dashboard_page1.png</a:t>
            </a:r>
          </a:p>
          <a:p xmlns:a="http://schemas.openxmlformats.org/drawingml/2006/main">
            <a:r>
              <a:t>- docs/rapport_final/assets/figures/dashboard_page2.png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L’industrialisation comprend une API FastAPI, Docker, DVC avec stockage R2, des model cards générées, un manifest de snapshot et une suite de tests. Le compteur actuel est 792 tests. La télémétrie vérifie que zéro des 1 188 fits publiés n’a utilisé de fallback. Le monitoring est prêt hors ligne mais volontairement non actif.</a:t>
            </a:r>
          </a:p>
          <a:p xmlns:a="http://schemas.openxmlformats.org/drawingml/2006/main">
            <a:r>
              <a:t/>
            </a:r>
          </a:p>
          <a:p xmlns:a="http://schemas.openxmlformats.org/drawingml/2006/main">
            <a:r>
              <a:t>[Sources]</a:t>
            </a:r>
          </a:p>
          <a:p xmlns:a="http://schemas.openxmlformats.org/drawingml/2006/main">
            <a:r>
              <a:t>- tests/</a:t>
            </a:r>
          </a:p>
          <a:p xmlns:a="http://schemas.openxmlformats.org/drawingml/2006/main">
            <a:r>
              <a:t>- Dockerfile</a:t>
            </a:r>
          </a:p>
          <a:p xmlns:a="http://schemas.openxmlformats.org/drawingml/2006/main">
            <a:r>
              <a:t>- src/api/</a:t>
            </a:r>
          </a:p>
          <a:p xmlns:a="http://schemas.openxmlformats.org/drawingml/2006/main">
            <a:r>
              <a:t>- MODEL_GOVERNANCE.md</a:t>
            </a:r>
          </a:p>
          <a:p xmlns:a="http://schemas.openxmlformats.org/drawingml/2006/main">
            <a:r>
              <a:t>- data/gold/fit_report_summary.json</a:t>
            </a:r>
          </a:p>
          <a:p xmlns:a="http://schemas.openxmlformats.org/drawingml/2006/main">
            <a:r>
              <a:t>- docs/rapport_final/assets/figures/industrialisation.pdf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prochaines étapes ne consistent pas à ajouter un modèle de plus. Elles concernent la qualité contractuelle du Maroc profond, la validation indépendante, la publication atomique, des re-tests pré-spécifiés et une vraie politique de risque de change et d’exécution.</a:t>
            </a:r>
          </a:p>
          <a:p xmlns:a="http://schemas.openxmlformats.org/drawingml/2006/main">
            <a:r>
              <a:t/>
            </a:r>
          </a:p>
          <a:p xmlns:a="http://schemas.openxmlformats.org/drawingml/2006/main">
            <a:r>
              <a:t>[Sources]</a:t>
            </a:r>
          </a:p>
          <a:p xmlns:a="http://schemas.openxmlformats.org/drawingml/2006/main">
            <a:r>
              <a:t>- MODEL_GOVERNANCE.md</a:t>
            </a:r>
          </a:p>
          <a:p xmlns:a="http://schemas.openxmlformats.org/drawingml/2006/main">
            <a:r>
              <a:t>- docs/DEEP_MOROCCO_EXPERIMENT.md</a:t>
            </a:r>
          </a:p>
          <a:p xmlns:a="http://schemas.openxmlformats.org/drawingml/2006/main">
            <a:r>
              <a:t>- docs/rapport_final/chapters/Conclusion.tex</a:t>
            </a:r>
          </a:p>
          <a:p xmlns:a="http://schemas.openxmlformats.org/drawingml/2006/main">
            <a:r>
              <a:t>- docs/MODEL_INTEGRITY.md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Pour conclure, nous n’avons pas démontré que le machine learning améliore l’allocation sur nos deux univers. Nous avons cependant livré une chaîne complète, reproductible et gouvernée, capable de découvrir ses propres erreurs et de publier un résultat négatif sans le maquiller. C’est cette fiabilité qui rend le travail utile dans un environnement financier réglementé. Merci, nous sommes prêts pour vos questions.</a:t>
            </a:r>
          </a:p>
          <a:p xmlns:a="http://schemas.openxmlformats.org/drawingml/2006/main">
            <a:r>
              <a:t/>
            </a:r>
          </a:p>
          <a:p xmlns:a="http://schemas.openxmlformats.org/drawingml/2006/main">
            <a:r>
              <a:t>[Sources]</a:t>
            </a:r>
          </a:p>
          <a:p xmlns:a="http://schemas.openxmlformats.org/drawingml/2006/main">
            <a:r>
              <a:t>- docs/rapport_final/chapters/Conclusion.tex</a:t>
            </a:r>
          </a:p>
          <a:p xmlns:a="http://schemas.openxmlformats.org/drawingml/2006/main">
            <a:r>
              <a:t>- output/pdf/Rapport_PFA_Final_2026.pdf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58be0ea92f4b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791aa0cba44df7" /><Relationship Type="http://schemas.openxmlformats.org/officeDocument/2006/relationships/slideLayout" Target="/ppt/slideLayouts/slideLayout1.xml" Id="R95a2e251ff7a42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a2e251ff7a42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9fe40275fd640bd" /><Relationship Type="http://schemas.openxmlformats.org/officeDocument/2006/relationships/image" Target="/ppt/media/image.png" Id="R09f6118f9d1d4388" /><Relationship Type="http://schemas.openxmlformats.org/officeDocument/2006/relationships/image" Target="/ppt/media/image2.png" Id="R78d429b5b1584875" /><Relationship Type="http://schemas.openxmlformats.org/officeDocument/2006/relationships/notesSlide" Target="/ppt/notesSlides/notesSlide1.xml" Id="R16300a73d07743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e96620bb0145a6" /><Relationship Type="http://schemas.openxmlformats.org/officeDocument/2006/relationships/notesSlide" Target="/ppt/notesSlides/notesSlide2.xml" Id="Rc7bd6973481c49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cbf156b58484d5c" /><Relationship Type="http://schemas.openxmlformats.org/officeDocument/2006/relationships/image" Target="/ppt/media/image3.png" Id="R9511a94e0e774c69" /><Relationship Type="http://schemas.openxmlformats.org/officeDocument/2006/relationships/notesSlide" Target="/ppt/notesSlides/notesSlide3.xml" Id="Rc950176486b145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d999f6ad5534421" /><Relationship Type="http://schemas.openxmlformats.org/officeDocument/2006/relationships/image" Target="/ppt/media/image4.png" Id="R5e5f8bc1210f42d9" /><Relationship Type="http://schemas.openxmlformats.org/officeDocument/2006/relationships/notesSlide" Target="/ppt/notesSlides/notesSlide4.xml" Id="Ra5c0669d9e8a4c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8eb26a5d97d4afe" /><Relationship Type="http://schemas.openxmlformats.org/officeDocument/2006/relationships/image" Target="/ppt/media/image5.png" Id="R83605b3aa3114141" /><Relationship Type="http://schemas.openxmlformats.org/officeDocument/2006/relationships/notesSlide" Target="/ppt/notesSlides/notesSlide5.xml" Id="R28d519e2c98f48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a2d7b75e5f942c4" /><Relationship Type="http://schemas.openxmlformats.org/officeDocument/2006/relationships/notesSlide" Target="/ppt/notesSlides/notesSlide6.xml" Id="R71dfcc67cdd04e8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decada9dfbc4d20" /><Relationship Type="http://schemas.openxmlformats.org/officeDocument/2006/relationships/image" Target="/ppt/media/image6.png" Id="Ra8155f48680340c9" /><Relationship Type="http://schemas.openxmlformats.org/officeDocument/2006/relationships/notesSlide" Target="/ppt/notesSlides/notesSlide7.xml" Id="R61d4bd5ce1a442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c419c78fe484c63" /><Relationship Type="http://schemas.openxmlformats.org/officeDocument/2006/relationships/image" Target="/ppt/media/image7.png" Id="R0b4775df65374d91" /><Relationship Type="http://schemas.openxmlformats.org/officeDocument/2006/relationships/notesSlide" Target="/ppt/notesSlides/notesSlide8.xml" Id="R3bb355e51d1c40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3ea230a27d148a0" /><Relationship Type="http://schemas.openxmlformats.org/officeDocument/2006/relationships/image" Target="/ppt/media/image8.png" Id="Rad1309540aa44918" /><Relationship Type="http://schemas.openxmlformats.org/officeDocument/2006/relationships/notesSlide" Target="/ppt/notesSlides/notesSlide9.xml" Id="R1ec43f6d7f524b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2d692e130cc464c" /><Relationship Type="http://schemas.openxmlformats.org/officeDocument/2006/relationships/image" Target="/ppt/media/image9.png" Id="R3d05ac5862794ae6" /><Relationship Type="http://schemas.openxmlformats.org/officeDocument/2006/relationships/notesSlide" Target="/ppt/notesSlides/notesSlide10.xml" Id="R98c18e94139542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f7e2d9c635346cf" /><Relationship Type="http://schemas.openxmlformats.org/officeDocument/2006/relationships/notesSlide" Target="/ppt/notesSlides/notesSlide11.xml" Id="Rb64097847df34b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01691e02d1d42c0" /><Relationship Type="http://schemas.openxmlformats.org/officeDocument/2006/relationships/image" Target="/ppt/media/image10.png" Id="R1c804cd0c9814b0e" /><Relationship Type="http://schemas.openxmlformats.org/officeDocument/2006/relationships/notesSlide" Target="/ppt/notesSlides/notesSlide12.xml" Id="R81895a7208e1420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366d541abae461d" /><Relationship Type="http://schemas.openxmlformats.org/officeDocument/2006/relationships/image" Target="/ppt/media/image11.png" Id="Re4a6dbf80c0d4bc0" /><Relationship Type="http://schemas.openxmlformats.org/officeDocument/2006/relationships/notesSlide" Target="/ppt/notesSlides/notesSlide13.xml" Id="Reb8c60b8338349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13ea5ed918a4a2b" /><Relationship Type="http://schemas.openxmlformats.org/officeDocument/2006/relationships/image" Target="/ppt/media/image12.png" Id="Rd22b6efbe32749e4" /><Relationship Type="http://schemas.openxmlformats.org/officeDocument/2006/relationships/notesSlide" Target="/ppt/notesSlides/notesSlide14.xml" Id="R4e7b7afce8e5411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8a4815610da4b4f" /><Relationship Type="http://schemas.openxmlformats.org/officeDocument/2006/relationships/image" Target="/ppt/media/image13.png" Id="Rb6dce82cc47045f3" /><Relationship Type="http://schemas.openxmlformats.org/officeDocument/2006/relationships/image" Target="/ppt/media/image14.png" Id="Rf35e9b0addbb4261" /><Relationship Type="http://schemas.openxmlformats.org/officeDocument/2006/relationships/notesSlide" Target="/ppt/notesSlides/notesSlide15.xml" Id="R24cd2a8cbd024f9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bf3bf0e6cfd4830" /><Relationship Type="http://schemas.openxmlformats.org/officeDocument/2006/relationships/image" Target="/ppt/media/image15.png" Id="Ra3c04459c6b64d9c" /><Relationship Type="http://schemas.openxmlformats.org/officeDocument/2006/relationships/notesSlide" Target="/ppt/notesSlides/notesSlide16.xml" Id="R526da928ec7645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8d6193780a04d0a" /><Relationship Type="http://schemas.openxmlformats.org/officeDocument/2006/relationships/notesSlide" Target="/ppt/notesSlides/notesSlide17.xml" Id="Ra8e790c852e345e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803498a905e48c1" /><Relationship Type="http://schemas.openxmlformats.org/officeDocument/2006/relationships/image" Target="/ppt/media/image16.png" Id="R81c96916ae024832" /><Relationship Type="http://schemas.openxmlformats.org/officeDocument/2006/relationships/image" Target="/ppt/media/image17.png" Id="R0d303eb5a97549c5" /><Relationship Type="http://schemas.openxmlformats.org/officeDocument/2006/relationships/notesSlide" Target="/ppt/notesSlides/notesSlide18.xml" Id="R2b2af4343a1c4846" /></Relationships>
</file>

<file path=ppt/slides/slide1.xml><?xml version="1.0" encoding="utf-8"?>
<p:sld xmlns:p="http://schemas.openxmlformats.org/presentationml/2006/main">
  <p:cSld>
    <p:bg>
      <p:bgPr>
        <a:solidFill xmlns:a="http://schemas.openxmlformats.org/drawingml/2006/main">
          <a:srgbClr val="090B1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6CB361-23F6-47E2-BF08-BA519CF8DA72}"/>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9CA3AF"/>
                </a:solidFill>
                <a:latin typeface="Arial"/>
                <a:ea typeface="Arial"/>
                <a:cs typeface="Arial"/>
              </a:defRPr>
            </a:pPr>
            <a:r>
              <a:rPr sz="900" b="1" i="0">
                <a:solidFill>
                  <a:srgbClr val="9CA3A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8615882B-D42E-4E77-9750-43129F846CC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FC5ED91-A295-4F40-BCBB-A2CEAD0500EA}"/>
              </a:ext>
            </a:extLst>
          </p:cNvPr>
          <p:cNvSpPr>
            <a:spLocks xmlns:a="http://schemas.openxmlformats.org/drawingml/2006/main" noGrp="1"/>
          </p:cNvSpPr>
          <p:nvPr/>
        </p:nvSpPr>
        <p:spPr>
          <a:xfrm xmlns:a="http://schemas.openxmlformats.org/drawingml/2006/main">
            <a:off x="685800" y="55245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1" i="0">
                <a:solidFill>
                  <a:srgbClr val="D0EDFA"/>
                </a:solidFill>
                <a:latin typeface="Arial"/>
                <a:ea typeface="Arial"/>
                <a:cs typeface="Arial"/>
              </a:defRPr>
            </a:pPr>
            <a:r>
              <a:rPr sz="1125" b="1" i="0">
                <a:solidFill>
                  <a:srgbClr val="D0EDFA"/>
                </a:solidFill>
                <a:latin typeface="Arial"/>
                <a:ea typeface="Arial"/>
                <a:cs typeface="Arial"/>
              </a:rPr>
              <a:t>PROJET DE FIN D’ANNÉE · INPT × EURAFRIC INFORMATION</a:t>
            </a:r>
          </a:p>
        </p:txBody>
      </p:sp>
      <p:sp>
        <p:nvSpPr>
          <p:cNvPr id="4" name="">
            <a:extLst xmlns:a="http://schemas.openxmlformats.org/drawingml/2006/main">
              <a:ext uri="{FF2B5EF4-FFF2-40B4-BE49-F238E27FC236}">
                <a16:creationId xmlns:a16="http://schemas.microsoft.com/office/drawing/2014/main" id="{70782823-6A54-4503-ACF6-5559DC9625F4}"/>
              </a:ext>
            </a:extLst>
          </p:cNvPr>
          <p:cNvSpPr>
            <a:spLocks xmlns:a="http://schemas.openxmlformats.org/drawingml/2006/main" noGrp="1"/>
          </p:cNvSpPr>
          <p:nvPr/>
        </p:nvSpPr>
        <p:spPr>
          <a:xfrm xmlns:a="http://schemas.openxmlformats.org/drawingml/2006/main">
            <a:off x="685800" y="1219200"/>
            <a:ext cx="876300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900" b="1" i="0">
                <a:solidFill>
                  <a:srgbClr val="FFFFFF"/>
                </a:solidFill>
                <a:latin typeface="Arial"/>
                <a:ea typeface="Arial"/>
                <a:cs typeface="Arial"/>
              </a:defRPr>
            </a:pPr>
            <a:r>
              <a:rPr sz="3900" b="1" i="0">
                <a:solidFill>
                  <a:srgbClr val="FFFFFF"/>
                </a:solidFill>
                <a:latin typeface="Arial"/>
                <a:ea typeface="Arial"/>
                <a:cs typeface="Arial"/>
              </a:rPr>
              <a:t>Optimisation de portefeuille</a:t>
            </a:r>
          </a:p>
          <a:p xmlns:a="http://schemas.openxmlformats.org/drawingml/2006/main">
            <a:pPr algn="l">
              <a:defRPr sz="3900" b="1" i="0">
                <a:solidFill>
                  <a:srgbClr val="FFFFFF"/>
                </a:solidFill>
                <a:latin typeface="Arial"/>
                <a:ea typeface="Arial"/>
                <a:cs typeface="Arial"/>
              </a:defRPr>
            </a:pPr>
            <a:r>
              <a:rPr sz="3900" b="1" i="0">
                <a:solidFill>
                  <a:srgbClr val="FFFFFF"/>
                </a:solidFill>
                <a:latin typeface="Arial"/>
                <a:ea typeface="Arial"/>
                <a:cs typeface="Arial"/>
              </a:rPr>
              <a:t>pilotée par Machine Learning</a:t>
            </a:r>
          </a:p>
        </p:txBody>
      </p:sp>
      <p:sp>
        <p:nvSpPr>
          <p:cNvPr id="5" name="">
            <a:extLst xmlns:a="http://schemas.openxmlformats.org/drawingml/2006/main">
              <a:ext uri="{FF2B5EF4-FFF2-40B4-BE49-F238E27FC236}">
                <a16:creationId xmlns:a16="http://schemas.microsoft.com/office/drawing/2014/main" id="{30853398-B627-488C-BCA8-D86458E1235A}"/>
              </a:ext>
            </a:extLst>
          </p:cNvPr>
          <p:cNvSpPr>
            <a:spLocks xmlns:a="http://schemas.openxmlformats.org/drawingml/2006/main" noGrp="1"/>
          </p:cNvSpPr>
          <p:nvPr/>
        </p:nvSpPr>
        <p:spPr>
          <a:xfrm xmlns:a="http://schemas.openxmlformats.org/drawingml/2006/main">
            <a:off x="704850" y="2971800"/>
            <a:ext cx="7810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0" i="0">
                <a:solidFill>
                  <a:srgbClr val="D1D5DB"/>
                </a:solidFill>
                <a:latin typeface="Arial"/>
                <a:ea typeface="Arial"/>
                <a:cs typeface="Arial"/>
              </a:defRPr>
            </a:pPr>
            <a:r>
              <a:rPr sz="1650" b="0" i="0">
                <a:solidFill>
                  <a:srgbClr val="D1D5DB"/>
                </a:solidFill>
                <a:latin typeface="Arial"/>
                <a:ea typeface="Arial"/>
                <a:cs typeface="Arial"/>
              </a:rPr>
              <a:t>Construire une allocation robuste — et une chaîne de preuve capable de dire honnêtement quand le ML n’ajoute pas de valeur.</a:t>
            </a:r>
          </a:p>
        </p:txBody>
      </p:sp>
      <p:sp>
        <p:nvSpPr>
          <p:cNvPr id="6" name="">
            <a:extLst xmlns:a="http://schemas.openxmlformats.org/drawingml/2006/main">
              <a:ext uri="{FF2B5EF4-FFF2-40B4-BE49-F238E27FC236}">
                <a16:creationId xmlns:a16="http://schemas.microsoft.com/office/drawing/2014/main" id="{683398D6-5253-4EC1-9DA7-D85F03E903A9}"/>
              </a:ext>
            </a:extLst>
          </p:cNvPr>
          <p:cNvSpPr>
            <a:spLocks xmlns:a="http://schemas.openxmlformats.org/drawingml/2006/main" noGrp="1"/>
          </p:cNvSpPr>
          <p:nvPr/>
        </p:nvSpPr>
        <p:spPr>
          <a:xfrm xmlns:a="http://schemas.openxmlformats.org/drawingml/2006/main">
            <a:off x="704850" y="4171950"/>
            <a:ext cx="5905500" cy="9525"/>
          </a:xfrm>
          <a:prstGeom xmlns:a="http://schemas.openxmlformats.org/drawingml/2006/main" prst="rect">
            <a:avLst/>
          </a:prstGeom>
          <a:solidFill xmlns:a="http://schemas.openxmlformats.org/drawingml/2006/main">
            <a:srgbClr val="37415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A600AC-467B-410E-A0CA-5006C5B8805B}"/>
              </a:ext>
            </a:extLst>
          </p:cNvPr>
          <p:cNvSpPr>
            <a:spLocks xmlns:a="http://schemas.openxmlformats.org/drawingml/2006/main" noGrp="1"/>
          </p:cNvSpPr>
          <p:nvPr/>
        </p:nvSpPr>
        <p:spPr>
          <a:xfrm xmlns:a="http://schemas.openxmlformats.org/drawingml/2006/main">
            <a:off x="704850" y="440055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defRPr sz="1275" b="1" i="0">
                <a:solidFill>
                  <a:srgbClr val="FFFFFF"/>
                </a:solidFill>
                <a:latin typeface="Arial"/>
                <a:ea typeface="Arial"/>
                <a:cs typeface="Arial"/>
              </a:defRPr>
            </a:pPr>
            <a:r>
              <a:rPr sz="1275" b="1" i="0">
                <a:solidFill>
                  <a:srgbClr val="FFFFFF"/>
                </a:solidFill>
                <a:latin typeface="Arial"/>
                <a:ea typeface="Arial"/>
                <a:cs typeface="Arial"/>
              </a:rPr>
              <a:t>Souhail BOURHIM · Zakarya EL WALI · Yasmine BOUAJINE</a:t>
            </a:r>
          </a:p>
        </p:txBody>
      </p:sp>
      <p:sp>
        <p:nvSpPr>
          <p:cNvPr id="8" name="">
            <a:extLst xmlns:a="http://schemas.openxmlformats.org/drawingml/2006/main">
              <a:ext uri="{FF2B5EF4-FFF2-40B4-BE49-F238E27FC236}">
                <a16:creationId xmlns:a16="http://schemas.microsoft.com/office/drawing/2014/main" id="{79AC4D89-2BA8-45DD-AD64-00FA4FA14988}"/>
              </a:ext>
            </a:extLst>
          </p:cNvPr>
          <p:cNvSpPr>
            <a:spLocks xmlns:a="http://schemas.openxmlformats.org/drawingml/2006/main" noGrp="1"/>
          </p:cNvSpPr>
          <p:nvPr/>
        </p:nvSpPr>
        <p:spPr>
          <a:xfrm xmlns:a="http://schemas.openxmlformats.org/drawingml/2006/main">
            <a:off x="704850" y="4772025"/>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defRPr sz="1125" b="0" i="0">
                <a:solidFill>
                  <a:srgbClr val="B9C3D0"/>
                </a:solidFill>
                <a:latin typeface="Arial"/>
                <a:ea typeface="Arial"/>
                <a:cs typeface="Arial"/>
              </a:defRPr>
            </a:pPr>
            <a:r>
              <a:rPr sz="1125" b="0" i="0">
                <a:solidFill>
                  <a:srgbClr val="B9C3D0"/>
                </a:solidFill>
                <a:latin typeface="Arial"/>
                <a:ea typeface="Arial"/>
                <a:cs typeface="Arial"/>
              </a:rPr>
              <a:t>Encadré par M. Abdelmouttalib MAQIL</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9f6118f9d1d4388"/>
          <a:stretch xmlns:a="http://schemas.openxmlformats.org/drawingml/2006/main"/>
        </p:blipFill>
        <p:spPr>
          <a:xfrm xmlns:a="http://schemas.openxmlformats.org/drawingml/2006/main">
            <a:off x="8953500" y="5043253"/>
            <a:ext cx="1143000" cy="562444"/>
          </a:xfrm>
          <a:prstGeom xmlns:a="http://schemas.openxmlformats.org/drawingml/2006/main" prst="rect">
            <a:avLst/>
          </a:prstGeom>
        </p:spPr>
      </p:pic>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8d429b5b1584875"/>
          <a:stretch xmlns:a="http://schemas.openxmlformats.org/drawingml/2006/main"/>
        </p:blipFill>
        <p:spPr>
          <a:xfrm xmlns:a="http://schemas.openxmlformats.org/drawingml/2006/main">
            <a:off x="10242732" y="4914900"/>
            <a:ext cx="1212486" cy="8001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EB5C42B-4EC4-4D27-8EA0-D14DCF69167F}"/>
              </a:ext>
            </a:extLst>
          </p:cNvPr>
          <p:cNvSpPr>
            <a:spLocks xmlns:a="http://schemas.openxmlformats.org/drawingml/2006/main" noGrp="1"/>
          </p:cNvSpPr>
          <p:nvPr/>
        </p:nvSpPr>
        <p:spPr>
          <a:xfrm xmlns:a="http://schemas.openxmlformats.org/drawingml/2006/main">
            <a:off x="704850" y="5676900"/>
            <a:ext cx="1952625" cy="323850"/>
          </a:xfrm>
          <a:prstGeom xmlns:a="http://schemas.openxmlformats.org/drawingml/2006/main" prst="roundRect">
            <a:avLst>
              <a:gd name="adj" fmla="val 50000"/>
            </a:avLst>
          </a:prstGeom>
          <a:solidFill xmlns:a="http://schemas.openxmlformats.org/drawingml/2006/main">
            <a:srgbClr val="17233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E5BBD0-6474-47D6-AF91-0C7F3254964E}"/>
              </a:ext>
            </a:extLst>
          </p:cNvPr>
          <p:cNvSpPr>
            <a:spLocks xmlns:a="http://schemas.openxmlformats.org/drawingml/2006/main" noGrp="1"/>
          </p:cNvSpPr>
          <p:nvPr/>
        </p:nvSpPr>
        <p:spPr>
          <a:xfrm xmlns:a="http://schemas.openxmlformats.org/drawingml/2006/main">
            <a:off x="819150" y="5743575"/>
            <a:ext cx="17240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D0EDFA"/>
                </a:solidFill>
                <a:latin typeface="Arial"/>
                <a:ea typeface="Arial"/>
                <a:cs typeface="Arial"/>
              </a:defRPr>
            </a:pPr>
            <a:r>
              <a:rPr sz="900" b="1" i="0">
                <a:solidFill>
                  <a:srgbClr val="D0EDFA"/>
                </a:solidFill>
                <a:latin typeface="Arial"/>
                <a:ea typeface="Arial"/>
                <a:cs typeface="Arial"/>
              </a:rPr>
              <a:t>Soutenance PFA · 2026</a:t>
            </a:r>
          </a:p>
        </p:txBody>
      </p:sp>
    </p:spTree>
    <p:extLst>
      <p:ext uri="{BB962C8B-B14F-4D97-AF65-F5344CB8AC3E}">
        <p14:creationId xmlns:p14="http://schemas.microsoft.com/office/powerpoint/2010/main" val="2046103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2F2A6CF-6851-4827-A85D-05975ADF1161}"/>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POINT DE DÉPART</a:t>
            </a:r>
          </a:p>
        </p:txBody>
      </p:sp>
      <p:sp>
        <p:nvSpPr>
          <p:cNvPr id="2" name="">
            <a:extLst xmlns:a="http://schemas.openxmlformats.org/drawingml/2006/main">
              <a:ext uri="{FF2B5EF4-FFF2-40B4-BE49-F238E27FC236}">
                <a16:creationId xmlns:a16="http://schemas.microsoft.com/office/drawing/2014/main" id="{7A984DA8-FADB-4108-9861-340BFC03F3CD}"/>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Le vrai défi : distinguer un résultat d’une illusion</a:t>
            </a:r>
          </a:p>
        </p:txBody>
      </p:sp>
      <p:sp>
        <p:nvSpPr>
          <p:cNvPr id="3" name="">
            <a:extLst xmlns:a="http://schemas.openxmlformats.org/drawingml/2006/main">
              <a:ext uri="{FF2B5EF4-FFF2-40B4-BE49-F238E27FC236}">
                <a16:creationId xmlns:a16="http://schemas.microsoft.com/office/drawing/2014/main" id="{4B0881E9-3702-4F5A-A131-0C8C2EBD840F}"/>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D38E8033-1E3B-451B-99D9-D6E3039F6CCD}"/>
              </a:ext>
            </a:extLst>
          </p:cNvPr>
          <p:cNvSpPr>
            <a:spLocks xmlns:a="http://schemas.openxmlformats.org/drawingml/2006/main" noGrp="1"/>
          </p:cNvSpPr>
          <p:nvPr/>
        </p:nvSpPr>
        <p:spPr>
          <a:xfrm xmlns:a="http://schemas.openxmlformats.org/drawingml/2006/main">
            <a:off x="609600" y="131445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i="0">
                <a:solidFill>
                  <a:srgbClr val="111827"/>
                </a:solidFill>
                <a:latin typeface="Arial"/>
                <a:ea typeface="Arial"/>
                <a:cs typeface="Arial"/>
              </a:defRPr>
            </a:pPr>
            <a:r>
              <a:rPr sz="1950" b="1" i="0">
                <a:solidFill>
                  <a:srgbClr val="111827"/>
                </a:solidFill>
                <a:latin typeface="Arial"/>
                <a:ea typeface="Arial"/>
                <a:cs typeface="Arial"/>
              </a:rPr>
              <a:t>Un backtest peut être techniquement correct, visuellement convaincant… et pourtant faux pour la décision.</a:t>
            </a:r>
          </a:p>
        </p:txBody>
      </p:sp>
      <p:sp>
        <p:nvSpPr>
          <p:cNvPr id="5" name="">
            <a:extLst xmlns:a="http://schemas.openxmlformats.org/drawingml/2006/main">
              <a:ext uri="{FF2B5EF4-FFF2-40B4-BE49-F238E27FC236}">
                <a16:creationId xmlns:a16="http://schemas.microsoft.com/office/drawing/2014/main" id="{67FE559E-491D-494A-9847-40C359F85B97}"/>
              </a:ext>
            </a:extLst>
          </p:cNvPr>
          <p:cNvSpPr>
            <a:spLocks xmlns:a="http://schemas.openxmlformats.org/drawingml/2006/main" noGrp="1"/>
          </p:cNvSpPr>
          <p:nvPr/>
        </p:nvSpPr>
        <p:spPr>
          <a:xfrm xmlns:a="http://schemas.openxmlformats.org/drawingml/2006/main">
            <a:off x="609600" y="2247900"/>
            <a:ext cx="10972800" cy="9525"/>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AE8D00-FE13-4F11-9710-BA9E6CB11D3F}"/>
              </a:ext>
            </a:extLst>
          </p:cNvPr>
          <p:cNvSpPr>
            <a:spLocks xmlns:a="http://schemas.openxmlformats.org/drawingml/2006/main" noGrp="1"/>
          </p:cNvSpPr>
          <p:nvPr/>
        </p:nvSpPr>
        <p:spPr>
          <a:xfrm xmlns:a="http://schemas.openxmlformats.org/drawingml/2006/main">
            <a:off x="647700" y="27051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3D8DFF"/>
                </a:solidFill>
                <a:latin typeface="Arial"/>
                <a:ea typeface="Arial"/>
                <a:cs typeface="Arial"/>
              </a:defRPr>
            </a:pPr>
            <a:r>
              <a:rPr sz="3000" b="1" i="0">
                <a:solidFill>
                  <a:srgbClr val="3D8DFF"/>
                </a:solidFill>
                <a:latin typeface="Arial"/>
                <a:ea typeface="Arial"/>
                <a:cs typeface="Arial"/>
              </a:rPr>
              <a:t>240</a:t>
            </a:r>
          </a:p>
        </p:txBody>
      </p:sp>
      <p:sp>
        <p:nvSpPr>
          <p:cNvPr id="7" name="">
            <a:extLst xmlns:a="http://schemas.openxmlformats.org/drawingml/2006/main">
              <a:ext uri="{FF2B5EF4-FFF2-40B4-BE49-F238E27FC236}">
                <a16:creationId xmlns:a16="http://schemas.microsoft.com/office/drawing/2014/main" id="{82658F2C-16A6-4C39-8C7A-E9F5D3113EB0}"/>
              </a:ext>
            </a:extLst>
          </p:cNvPr>
          <p:cNvSpPr>
            <a:spLocks xmlns:a="http://schemas.openxmlformats.org/drawingml/2006/main" noGrp="1"/>
          </p:cNvSpPr>
          <p:nvPr/>
        </p:nvSpPr>
        <p:spPr>
          <a:xfrm xmlns:a="http://schemas.openxmlformats.org/drawingml/2006/main">
            <a:off x="647700" y="327660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configurations évaluées</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et corrigées pour la sélection</a:t>
            </a:r>
          </a:p>
        </p:txBody>
      </p:sp>
      <p:sp>
        <p:nvSpPr>
          <p:cNvPr id="8" name="">
            <a:extLst xmlns:a="http://schemas.openxmlformats.org/drawingml/2006/main">
              <a:ext uri="{FF2B5EF4-FFF2-40B4-BE49-F238E27FC236}">
                <a16:creationId xmlns:a16="http://schemas.microsoft.com/office/drawing/2014/main" id="{519285DC-20F2-49D7-BFBA-7B8750708331}"/>
              </a:ext>
            </a:extLst>
          </p:cNvPr>
          <p:cNvSpPr>
            <a:spLocks xmlns:a="http://schemas.openxmlformats.org/drawingml/2006/main" noGrp="1"/>
          </p:cNvSpPr>
          <p:nvPr/>
        </p:nvSpPr>
        <p:spPr>
          <a:xfrm xmlns:a="http://schemas.openxmlformats.org/drawingml/2006/main">
            <a:off x="4095750" y="2705100"/>
            <a:ext cx="304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B7433E"/>
                </a:solidFill>
                <a:latin typeface="Arial"/>
                <a:ea typeface="Arial"/>
                <a:cs typeface="Arial"/>
              </a:defRPr>
            </a:pPr>
            <a:r>
              <a:rPr sz="3000" b="1" i="0">
                <a:solidFill>
                  <a:srgbClr val="B7433E"/>
                </a:solidFill>
                <a:latin typeface="Arial"/>
                <a:ea typeface="Arial"/>
                <a:cs typeface="Arial"/>
              </a:rPr>
              <a:t>−10,47 %</a:t>
            </a:r>
          </a:p>
        </p:txBody>
      </p:sp>
      <p:sp>
        <p:nvSpPr>
          <p:cNvPr id="9" name="">
            <a:extLst xmlns:a="http://schemas.openxmlformats.org/drawingml/2006/main">
              <a:ext uri="{FF2B5EF4-FFF2-40B4-BE49-F238E27FC236}">
                <a16:creationId xmlns:a16="http://schemas.microsoft.com/office/drawing/2014/main" id="{CBA5D76A-B1B4-4DF0-9A88-9A6B28AFA698}"/>
              </a:ext>
            </a:extLst>
          </p:cNvPr>
          <p:cNvSpPr>
            <a:spLocks xmlns:a="http://schemas.openxmlformats.org/drawingml/2006/main" noGrp="1"/>
          </p:cNvSpPr>
          <p:nvPr/>
        </p:nvSpPr>
        <p:spPr>
          <a:xfrm xmlns:a="http://schemas.openxmlformats.org/drawingml/2006/main">
            <a:off x="4095750" y="327660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écart observé du régime ML</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après correction du numéraire</a:t>
            </a:r>
          </a:p>
        </p:txBody>
      </p:sp>
      <p:sp>
        <p:nvSpPr>
          <p:cNvPr id="10" name="">
            <a:extLst xmlns:a="http://schemas.openxmlformats.org/drawingml/2006/main">
              <a:ext uri="{FF2B5EF4-FFF2-40B4-BE49-F238E27FC236}">
                <a16:creationId xmlns:a16="http://schemas.microsoft.com/office/drawing/2014/main" id="{CB43495B-4EAF-4DF5-AA2A-143558F8BFD2}"/>
              </a:ext>
            </a:extLst>
          </p:cNvPr>
          <p:cNvSpPr>
            <a:spLocks xmlns:a="http://schemas.openxmlformats.org/drawingml/2006/main" noGrp="1"/>
          </p:cNvSpPr>
          <p:nvPr/>
        </p:nvSpPr>
        <p:spPr>
          <a:xfrm xmlns:a="http://schemas.openxmlformats.org/drawingml/2006/main">
            <a:off x="7734300" y="2705100"/>
            <a:ext cx="3143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0F766E"/>
                </a:solidFill>
                <a:latin typeface="Arial"/>
                <a:ea typeface="Arial"/>
                <a:cs typeface="Arial"/>
              </a:defRPr>
            </a:pPr>
            <a:r>
              <a:rPr sz="3000" b="1" i="0">
                <a:solidFill>
                  <a:srgbClr val="0F766E"/>
                </a:solidFill>
                <a:latin typeface="Arial"/>
                <a:ea typeface="Arial"/>
                <a:cs typeface="Arial"/>
              </a:rPr>
              <a:t>0 / 1 188</a:t>
            </a:r>
          </a:p>
        </p:txBody>
      </p:sp>
      <p:sp>
        <p:nvSpPr>
          <p:cNvPr id="11" name="">
            <a:extLst xmlns:a="http://schemas.openxmlformats.org/drawingml/2006/main">
              <a:ext uri="{FF2B5EF4-FFF2-40B4-BE49-F238E27FC236}">
                <a16:creationId xmlns:a16="http://schemas.microsoft.com/office/drawing/2014/main" id="{BDB99BEA-0AF4-4D1A-845E-41F4F54F5E84}"/>
              </a:ext>
            </a:extLst>
          </p:cNvPr>
          <p:cNvSpPr>
            <a:spLocks xmlns:a="http://schemas.openxmlformats.org/drawingml/2006/main" noGrp="1"/>
          </p:cNvSpPr>
          <p:nvPr/>
        </p:nvSpPr>
        <p:spPr>
          <a:xfrm xmlns:a="http://schemas.openxmlformats.org/drawingml/2006/main">
            <a:off x="7734300" y="32766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fallback sur le snapshot publié</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mesuré, versionné, auditable</a:t>
            </a:r>
          </a:p>
        </p:txBody>
      </p:sp>
      <p:sp>
        <p:nvSpPr>
          <p:cNvPr id="12" name="">
            <a:extLst xmlns:a="http://schemas.openxmlformats.org/drawingml/2006/main">
              <a:ext uri="{FF2B5EF4-FFF2-40B4-BE49-F238E27FC236}">
                <a16:creationId xmlns:a16="http://schemas.microsoft.com/office/drawing/2014/main" id="{92C645D9-48A6-459B-91C1-1559AFF75647}"/>
              </a:ext>
            </a:extLst>
          </p:cNvPr>
          <p:cNvSpPr>
            <a:spLocks xmlns:a="http://schemas.openxmlformats.org/drawingml/2006/main" noGrp="1"/>
          </p:cNvSpPr>
          <p:nvPr/>
        </p:nvSpPr>
        <p:spPr>
          <a:xfrm xmlns:a="http://schemas.openxmlformats.org/drawingml/2006/main">
            <a:off x="609600" y="4895850"/>
            <a:ext cx="10972800" cy="1047750"/>
          </a:xfrm>
          <a:prstGeom xmlns:a="http://schemas.openxmlformats.org/drawingml/2006/main" prst="roundRect">
            <a:avLst>
              <a:gd name="adj" fmla="val 10909"/>
            </a:avLst>
          </a:prstGeom>
          <a:solidFill xmlns:a="http://schemas.openxmlformats.org/drawingml/2006/main">
            <a:srgbClr val="173B6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47070D0-7C17-4A4C-9F8F-FA256A6F10D6}"/>
              </a:ext>
            </a:extLst>
          </p:cNvPr>
          <p:cNvSpPr>
            <a:spLocks xmlns:a="http://schemas.openxmlformats.org/drawingml/2006/main" noGrp="1"/>
          </p:cNvSpPr>
          <p:nvPr/>
        </p:nvSpPr>
        <p:spPr>
          <a:xfrm xmlns:a="http://schemas.openxmlformats.org/drawingml/2006/main">
            <a:off x="838200" y="511492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defRPr sz="1125" b="1" i="0">
                <a:solidFill>
                  <a:srgbClr val="D0EDFA"/>
                </a:solidFill>
                <a:latin typeface="Arial"/>
                <a:ea typeface="Arial"/>
                <a:cs typeface="Arial"/>
              </a:defRPr>
            </a:pPr>
            <a:r>
              <a:rPr sz="1125" b="1" i="0">
                <a:solidFill>
                  <a:srgbClr val="D0EDFA"/>
                </a:solidFill>
                <a:latin typeface="Arial"/>
                <a:ea typeface="Arial"/>
                <a:cs typeface="Arial"/>
              </a:rPr>
              <a:t>Notre contribution principale</a:t>
            </a:r>
          </a:p>
        </p:txBody>
      </p:sp>
      <p:sp>
        <p:nvSpPr>
          <p:cNvPr id="14" name="">
            <a:extLst xmlns:a="http://schemas.openxmlformats.org/drawingml/2006/main">
              <a:ext uri="{FF2B5EF4-FFF2-40B4-BE49-F238E27FC236}">
                <a16:creationId xmlns:a16="http://schemas.microsoft.com/office/drawing/2014/main" id="{8E217B22-9B5D-4FA4-B4B8-1C763EFEB448}"/>
              </a:ext>
            </a:extLst>
          </p:cNvPr>
          <p:cNvSpPr>
            <a:spLocks xmlns:a="http://schemas.openxmlformats.org/drawingml/2006/main" noGrp="1"/>
          </p:cNvSpPr>
          <p:nvPr/>
        </p:nvSpPr>
        <p:spPr>
          <a:xfrm xmlns:a="http://schemas.openxmlformats.org/drawingml/2006/main">
            <a:off x="838200" y="5429250"/>
            <a:ext cx="981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98"/>
          </a:bodyPr>
          <a:lstStyle xmlns:a="http://schemas.openxmlformats.org/drawingml/2006/main"/>
          <a:p xmlns:a="http://schemas.openxmlformats.org/drawingml/2006/main">
            <a:pPr algn="l">
              <a:defRPr sz="1725" b="1" i="0">
                <a:solidFill>
                  <a:srgbClr val="FFFFFF"/>
                </a:solidFill>
                <a:latin typeface="Arial"/>
                <a:ea typeface="Arial"/>
                <a:cs typeface="Arial"/>
              </a:defRPr>
            </a:pPr>
            <a:r>
              <a:rPr sz="1725" b="1" i="0">
                <a:solidFill>
                  <a:srgbClr val="FFFFFF"/>
                </a:solidFill>
                <a:latin typeface="Arial"/>
                <a:ea typeface="Arial"/>
                <a:cs typeface="Arial"/>
              </a:rPr>
              <a:t>Une chaîne de preuve reproductible qui résiste aux corrections de données, au surapprentissage et aux claims trop optimistes.</a:t>
            </a:r>
          </a:p>
        </p:txBody>
      </p:sp>
    </p:spTree>
    <p:extLst>
      <p:ext uri="{BB962C8B-B14F-4D97-AF65-F5344CB8AC3E}">
        <p14:creationId xmlns:p14="http://schemas.microsoft.com/office/powerpoint/2010/main" val="15541398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16B3ABE-01A1-4649-989A-336651131666}"/>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PROBLÉMATIQUE</a:t>
            </a:r>
          </a:p>
        </p:txBody>
      </p:sp>
      <p:sp>
        <p:nvSpPr>
          <p:cNvPr id="2" name="">
            <a:extLst xmlns:a="http://schemas.openxmlformats.org/drawingml/2006/main">
              <a:ext uri="{FF2B5EF4-FFF2-40B4-BE49-F238E27FC236}">
                <a16:creationId xmlns:a16="http://schemas.microsoft.com/office/drawing/2014/main" id="{2BFC55C9-8F47-4CF9-A19E-EDF9E76FA244}"/>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Quatre problèmes structurent tout le projet</a:t>
            </a:r>
          </a:p>
        </p:txBody>
      </p:sp>
      <p:sp>
        <p:nvSpPr>
          <p:cNvPr id="3" name="">
            <a:extLst xmlns:a="http://schemas.openxmlformats.org/drawingml/2006/main">
              <a:ext uri="{FF2B5EF4-FFF2-40B4-BE49-F238E27FC236}">
                <a16:creationId xmlns:a16="http://schemas.microsoft.com/office/drawing/2014/main" id="{262E5331-EC56-4D94-8357-D53322F7FEF8}"/>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D0CB7BE5-2AB8-4EEF-90D4-3552CC49BF45}"/>
              </a:ext>
            </a:extLst>
          </p:cNvPr>
          <p:cNvSpPr>
            <a:spLocks xmlns:a="http://schemas.openxmlformats.org/drawingml/2006/main" noGrp="1"/>
          </p:cNvSpPr>
          <p:nvPr/>
        </p:nvSpPr>
        <p:spPr>
          <a:xfrm xmlns:a="http://schemas.openxmlformats.org/drawingml/2006/main">
            <a:off x="609600" y="1257300"/>
            <a:ext cx="7620000" cy="4400550"/>
          </a:xfrm>
          <a:prstGeom xmlns:a="http://schemas.openxmlformats.org/drawingml/2006/main" prst="roundRect">
            <a:avLst>
              <a:gd name="adj" fmla="val 2597"/>
            </a:avLst>
          </a:prstGeom>
          <a:solidFill xmlns:a="http://schemas.openxmlformats.org/drawingml/2006/main">
            <a:srgbClr val="F3F4F6"/>
          </a:solidFill>
          <a:ln xmlns:a="http://schemas.openxmlformats.org/drawingml/2006/main" w="9525">
            <a:solidFill>
              <a:srgbClr val="D1D5DB"/>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511a94e0e774c69"/>
          <a:stretch xmlns:a="http://schemas.openxmlformats.org/drawingml/2006/main"/>
        </p:blipFill>
        <p:spPr>
          <a:xfrm xmlns:a="http://schemas.openxmlformats.org/drawingml/2006/main">
            <a:off x="723900" y="1745727"/>
            <a:ext cx="7391400" cy="3423696"/>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B112E3B-5E26-432F-A65A-2F671842E5F1}"/>
              </a:ext>
            </a:extLst>
          </p:cNvPr>
          <p:cNvSpPr>
            <a:spLocks xmlns:a="http://schemas.openxmlformats.org/drawingml/2006/main" noGrp="1"/>
          </p:cNvSpPr>
          <p:nvPr/>
        </p:nvSpPr>
        <p:spPr>
          <a:xfrm xmlns:a="http://schemas.openxmlformats.org/drawingml/2006/main">
            <a:off x="8648700" y="13716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defRPr sz="1200" b="1" i="0">
                <a:solidFill>
                  <a:srgbClr val="3D8DFF"/>
                </a:solidFill>
                <a:latin typeface="Arial"/>
                <a:ea typeface="Arial"/>
                <a:cs typeface="Arial"/>
              </a:defRPr>
            </a:pPr>
            <a:r>
              <a:rPr sz="1200" b="1" i="0">
                <a:solidFill>
                  <a:srgbClr val="3D8DFF"/>
                </a:solidFill>
                <a:latin typeface="Arial"/>
                <a:ea typeface="Arial"/>
                <a:cs typeface="Arial"/>
              </a:rPr>
              <a:t>La question de recherche</a:t>
            </a:r>
          </a:p>
        </p:txBody>
      </p:sp>
      <p:sp>
        <p:nvSpPr>
          <p:cNvPr id="7" name="">
            <a:extLst xmlns:a="http://schemas.openxmlformats.org/drawingml/2006/main">
              <a:ext uri="{FF2B5EF4-FFF2-40B4-BE49-F238E27FC236}">
                <a16:creationId xmlns:a16="http://schemas.microsoft.com/office/drawing/2014/main" id="{3E56D76D-4E49-45D4-A816-E4DCF6DC6E64}"/>
              </a:ext>
            </a:extLst>
          </p:cNvPr>
          <p:cNvSpPr>
            <a:spLocks xmlns:a="http://schemas.openxmlformats.org/drawingml/2006/main" noGrp="1"/>
          </p:cNvSpPr>
          <p:nvPr/>
        </p:nvSpPr>
        <p:spPr>
          <a:xfrm xmlns:a="http://schemas.openxmlformats.org/drawingml/2006/main">
            <a:off x="8648700" y="1771650"/>
            <a:ext cx="27622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02"/>
          </a:bodyPr>
          <a:lstStyle xmlns:a="http://schemas.openxmlformats.org/drawingml/2006/main"/>
          <a:p xmlns:a="http://schemas.openxmlformats.org/drawingml/2006/main">
            <a:pPr algn="l">
              <a:defRPr sz="1800" b="1" i="0">
                <a:solidFill>
                  <a:srgbClr val="111827"/>
                </a:solidFill>
                <a:latin typeface="Arial"/>
                <a:ea typeface="Arial"/>
                <a:cs typeface="Arial"/>
              </a:defRPr>
            </a:pPr>
            <a:r>
              <a:rPr sz="1800" b="1" i="0">
                <a:solidFill>
                  <a:srgbClr val="111827"/>
                </a:solidFill>
                <a:latin typeface="Arial"/>
                <a:ea typeface="Arial"/>
                <a:cs typeface="Arial"/>
              </a:rPr>
              <a:t>Peut-on améliorer une allocation classique par des signaux ML sans payer cette amélioration en instabilité, coûts ou biais de validation ?</a:t>
            </a:r>
          </a:p>
        </p:txBody>
      </p:sp>
      <p:sp>
        <p:nvSpPr>
          <p:cNvPr id="8" name="">
            <a:extLst xmlns:a="http://schemas.openxmlformats.org/drawingml/2006/main">
              <a:ext uri="{FF2B5EF4-FFF2-40B4-BE49-F238E27FC236}">
                <a16:creationId xmlns:a16="http://schemas.microsoft.com/office/drawing/2014/main" id="{0E75A281-FBAA-4D2A-8FF9-1C40A466854B}"/>
              </a:ext>
            </a:extLst>
          </p:cNvPr>
          <p:cNvSpPr>
            <a:spLocks xmlns:a="http://schemas.openxmlformats.org/drawingml/2006/main" noGrp="1"/>
          </p:cNvSpPr>
          <p:nvPr/>
        </p:nvSpPr>
        <p:spPr>
          <a:xfrm xmlns:a="http://schemas.openxmlformats.org/drawingml/2006/main">
            <a:off x="8648700" y="3590925"/>
            <a:ext cx="76200" cy="7620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92930D-5812-4C97-934A-69BA3EA66AFE}"/>
              </a:ext>
            </a:extLst>
          </p:cNvPr>
          <p:cNvSpPr>
            <a:spLocks xmlns:a="http://schemas.openxmlformats.org/drawingml/2006/main" noGrp="1"/>
          </p:cNvSpPr>
          <p:nvPr/>
        </p:nvSpPr>
        <p:spPr>
          <a:xfrm xmlns:a="http://schemas.openxmlformats.org/drawingml/2006/main">
            <a:off x="8858250" y="3524250"/>
            <a:ext cx="2362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P1 · Estimation</a:t>
            </a:r>
          </a:p>
        </p:txBody>
      </p:sp>
      <p:sp>
        <p:nvSpPr>
          <p:cNvPr id="10" name="">
            <a:extLst xmlns:a="http://schemas.openxmlformats.org/drawingml/2006/main">
              <a:ext uri="{FF2B5EF4-FFF2-40B4-BE49-F238E27FC236}">
                <a16:creationId xmlns:a16="http://schemas.microsoft.com/office/drawing/2014/main" id="{0C83371B-015E-4A6B-B29F-88440C69704C}"/>
              </a:ext>
            </a:extLst>
          </p:cNvPr>
          <p:cNvSpPr>
            <a:spLocks xmlns:a="http://schemas.openxmlformats.org/drawingml/2006/main" noGrp="1"/>
          </p:cNvSpPr>
          <p:nvPr/>
        </p:nvSpPr>
        <p:spPr>
          <a:xfrm xmlns:a="http://schemas.openxmlformats.org/drawingml/2006/main">
            <a:off x="8858250" y="3800475"/>
            <a:ext cx="23622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Covariances bruitées.</a:t>
            </a:r>
          </a:p>
        </p:txBody>
      </p:sp>
      <p:sp>
        <p:nvSpPr>
          <p:cNvPr id="11" name="">
            <a:extLst xmlns:a="http://schemas.openxmlformats.org/drawingml/2006/main">
              <a:ext uri="{FF2B5EF4-FFF2-40B4-BE49-F238E27FC236}">
                <a16:creationId xmlns:a16="http://schemas.microsoft.com/office/drawing/2014/main" id="{5A0C1D84-334E-43BD-BA66-9664F63C751C}"/>
              </a:ext>
            </a:extLst>
          </p:cNvPr>
          <p:cNvSpPr>
            <a:spLocks xmlns:a="http://schemas.openxmlformats.org/drawingml/2006/main" noGrp="1"/>
          </p:cNvSpPr>
          <p:nvPr/>
        </p:nvSpPr>
        <p:spPr>
          <a:xfrm xmlns:a="http://schemas.openxmlformats.org/drawingml/2006/main">
            <a:off x="8648700" y="4276725"/>
            <a:ext cx="76200" cy="76200"/>
          </a:xfrm>
          <a:prstGeom xmlns:a="http://schemas.openxmlformats.org/drawingml/2006/main" prst="roundRect">
            <a:avLst>
              <a:gd name="adj" fmla="val 50000"/>
            </a:avLst>
          </a:prstGeom>
          <a:solidFill xmlns:a="http://schemas.openxmlformats.org/drawingml/2006/main">
            <a:srgbClr val="A8681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4CB4CDA-B14D-4508-B2F7-E58E6B4AB5C8}"/>
              </a:ext>
            </a:extLst>
          </p:cNvPr>
          <p:cNvSpPr>
            <a:spLocks xmlns:a="http://schemas.openxmlformats.org/drawingml/2006/main" noGrp="1"/>
          </p:cNvSpPr>
          <p:nvPr/>
        </p:nvSpPr>
        <p:spPr>
          <a:xfrm xmlns:a="http://schemas.openxmlformats.org/drawingml/2006/main">
            <a:off x="8858250" y="4210050"/>
            <a:ext cx="2362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P2–P3 · Marché</a:t>
            </a:r>
          </a:p>
        </p:txBody>
      </p:sp>
      <p:sp>
        <p:nvSpPr>
          <p:cNvPr id="13" name="">
            <a:extLst xmlns:a="http://schemas.openxmlformats.org/drawingml/2006/main">
              <a:ext uri="{FF2B5EF4-FFF2-40B4-BE49-F238E27FC236}">
                <a16:creationId xmlns:a16="http://schemas.microsoft.com/office/drawing/2014/main" id="{F9A85316-E0C9-4127-888F-2B0788C7F8BB}"/>
              </a:ext>
            </a:extLst>
          </p:cNvPr>
          <p:cNvSpPr>
            <a:spLocks xmlns:a="http://schemas.openxmlformats.org/drawingml/2006/main" noGrp="1"/>
          </p:cNvSpPr>
          <p:nvPr/>
        </p:nvSpPr>
        <p:spPr>
          <a:xfrm xmlns:a="http://schemas.openxmlformats.org/drawingml/2006/main">
            <a:off x="8858250" y="4486275"/>
            <a:ext cx="23622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Non-stationnarité et crises.</a:t>
            </a:r>
          </a:p>
        </p:txBody>
      </p:sp>
      <p:sp>
        <p:nvSpPr>
          <p:cNvPr id="14" name="">
            <a:extLst xmlns:a="http://schemas.openxmlformats.org/drawingml/2006/main">
              <a:ext uri="{FF2B5EF4-FFF2-40B4-BE49-F238E27FC236}">
                <a16:creationId xmlns:a16="http://schemas.microsoft.com/office/drawing/2014/main" id="{4972BF9C-8213-4BE5-A9ED-C85CD147034F}"/>
              </a:ext>
            </a:extLst>
          </p:cNvPr>
          <p:cNvSpPr>
            <a:spLocks xmlns:a="http://schemas.openxmlformats.org/drawingml/2006/main" noGrp="1"/>
          </p:cNvSpPr>
          <p:nvPr/>
        </p:nvSpPr>
        <p:spPr>
          <a:xfrm xmlns:a="http://schemas.openxmlformats.org/drawingml/2006/main">
            <a:off x="8648700" y="4962525"/>
            <a:ext cx="76200" cy="76200"/>
          </a:xfrm>
          <a:prstGeom xmlns:a="http://schemas.openxmlformats.org/drawingml/2006/main" prst="roundRect">
            <a:avLst>
              <a:gd name="adj" fmla="val 50000"/>
            </a:avLst>
          </a:prstGeom>
          <a:solidFill xmlns:a="http://schemas.openxmlformats.org/drawingml/2006/main">
            <a:srgbClr val="B7433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9FE55FB-01C1-4884-8766-6E9D6521E99E}"/>
              </a:ext>
            </a:extLst>
          </p:cNvPr>
          <p:cNvSpPr>
            <a:spLocks xmlns:a="http://schemas.openxmlformats.org/drawingml/2006/main" noGrp="1"/>
          </p:cNvSpPr>
          <p:nvPr/>
        </p:nvSpPr>
        <p:spPr>
          <a:xfrm xmlns:a="http://schemas.openxmlformats.org/drawingml/2006/main">
            <a:off x="8858250" y="4895850"/>
            <a:ext cx="2362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P4 · Preuve</a:t>
            </a:r>
          </a:p>
        </p:txBody>
      </p:sp>
      <p:sp>
        <p:nvSpPr>
          <p:cNvPr id="16" name="">
            <a:extLst xmlns:a="http://schemas.openxmlformats.org/drawingml/2006/main">
              <a:ext uri="{FF2B5EF4-FFF2-40B4-BE49-F238E27FC236}">
                <a16:creationId xmlns:a16="http://schemas.microsoft.com/office/drawing/2014/main" id="{75FE6B4F-8443-4233-8BE2-976F016B04B1}"/>
              </a:ext>
            </a:extLst>
          </p:cNvPr>
          <p:cNvSpPr>
            <a:spLocks xmlns:a="http://schemas.openxmlformats.org/drawingml/2006/main" noGrp="1"/>
          </p:cNvSpPr>
          <p:nvPr/>
        </p:nvSpPr>
        <p:spPr>
          <a:xfrm xmlns:a="http://schemas.openxmlformats.org/drawingml/2006/main">
            <a:off x="8858250" y="5172075"/>
            <a:ext cx="23622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Surapprentissage du backtest.</a:t>
            </a:r>
          </a:p>
        </p:txBody>
      </p:sp>
    </p:spTree>
    <p:extLst>
      <p:ext uri="{BB962C8B-B14F-4D97-AF65-F5344CB8AC3E}">
        <p14:creationId xmlns:p14="http://schemas.microsoft.com/office/powerpoint/2010/main" val="15538033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CCB5BF9-54E7-4396-9C13-BBE020220C43}"/>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ARCHITECTURE</a:t>
            </a:r>
          </a:p>
        </p:txBody>
      </p:sp>
      <p:sp>
        <p:nvSpPr>
          <p:cNvPr id="2" name="">
            <a:extLst xmlns:a="http://schemas.openxmlformats.org/drawingml/2006/main">
              <a:ext uri="{FF2B5EF4-FFF2-40B4-BE49-F238E27FC236}">
                <a16:creationId xmlns:a16="http://schemas.microsoft.com/office/drawing/2014/main" id="{85CC0713-0356-40DD-B2EE-4C64C4F1A57E}"/>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Une chaîne complète, de la donnée à la décision</a:t>
            </a:r>
          </a:p>
        </p:txBody>
      </p:sp>
      <p:sp>
        <p:nvSpPr>
          <p:cNvPr id="3" name="">
            <a:extLst xmlns:a="http://schemas.openxmlformats.org/drawingml/2006/main">
              <a:ext uri="{FF2B5EF4-FFF2-40B4-BE49-F238E27FC236}">
                <a16:creationId xmlns:a16="http://schemas.microsoft.com/office/drawing/2014/main" id="{B70C9489-F603-4432-8722-C3FACCF31498}"/>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41A262FB-2432-45E9-A755-6F4DC0C09599}"/>
              </a:ext>
            </a:extLst>
          </p:cNvPr>
          <p:cNvSpPr>
            <a:spLocks xmlns:a="http://schemas.openxmlformats.org/drawingml/2006/main" noGrp="1"/>
          </p:cNvSpPr>
          <p:nvPr/>
        </p:nvSpPr>
        <p:spPr>
          <a:xfrm xmlns:a="http://schemas.openxmlformats.org/drawingml/2006/main">
            <a:off x="609600" y="1181100"/>
            <a:ext cx="10972800" cy="4762500"/>
          </a:xfrm>
          <a:prstGeom xmlns:a="http://schemas.openxmlformats.org/drawingml/2006/main" prst="roundRect">
            <a:avLst>
              <a:gd name="adj" fmla="val 2400"/>
            </a:avLst>
          </a:prstGeom>
          <a:solidFill xmlns:a="http://schemas.openxmlformats.org/drawingml/2006/main">
            <a:srgbClr val="F3F4F6"/>
          </a:solidFill>
          <a:ln xmlns:a="http://schemas.openxmlformats.org/drawingml/2006/main" w="9525">
            <a:solidFill>
              <a:srgbClr val="D1D5DB"/>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e5f8bc1210f42d9"/>
          <a:stretch xmlns:a="http://schemas.openxmlformats.org/drawingml/2006/main"/>
        </p:blipFill>
        <p:spPr>
          <a:xfrm xmlns:a="http://schemas.openxmlformats.org/drawingml/2006/main">
            <a:off x="2265128" y="1295400"/>
            <a:ext cx="7661744" cy="45339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40D4356-9110-49CA-AD4A-6854E11B9F5A}"/>
              </a:ext>
            </a:extLst>
          </p:cNvPr>
          <p:cNvSpPr>
            <a:spLocks xmlns:a="http://schemas.openxmlformats.org/drawingml/2006/main" noGrp="1"/>
          </p:cNvSpPr>
          <p:nvPr/>
        </p:nvSpPr>
        <p:spPr>
          <a:xfrm xmlns:a="http://schemas.openxmlformats.org/drawingml/2006/main">
            <a:off x="800100" y="6115050"/>
            <a:ext cx="2095500" cy="323850"/>
          </a:xfrm>
          <a:prstGeom xmlns:a="http://schemas.openxmlformats.org/drawingml/2006/main" prst="roundRect">
            <a:avLst>
              <a:gd name="adj" fmla="val 50000"/>
            </a:avLst>
          </a:prstGeom>
          <a:solidFill xmlns:a="http://schemas.openxmlformats.org/drawingml/2006/main">
            <a:srgbClr val="DDEE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0049887-431D-4656-A4DF-8FF3560A56B6}"/>
              </a:ext>
            </a:extLst>
          </p:cNvPr>
          <p:cNvSpPr>
            <a:spLocks xmlns:a="http://schemas.openxmlformats.org/drawingml/2006/main" noGrp="1"/>
          </p:cNvSpPr>
          <p:nvPr/>
        </p:nvSpPr>
        <p:spPr>
          <a:xfrm xmlns:a="http://schemas.openxmlformats.org/drawingml/2006/main">
            <a:off x="914400" y="6181725"/>
            <a:ext cx="1866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3D8DFF"/>
                </a:solidFill>
                <a:latin typeface="Arial"/>
                <a:ea typeface="Arial"/>
                <a:cs typeface="Arial"/>
              </a:defRPr>
            </a:pPr>
            <a:r>
              <a:rPr sz="900" b="1" i="0">
                <a:solidFill>
                  <a:srgbClr val="3D8DFF"/>
                </a:solidFill>
                <a:latin typeface="Arial"/>
                <a:ea typeface="Arial"/>
                <a:cs typeface="Arial"/>
              </a:rPr>
              <a:t>Bronze → Silver → Gold</a:t>
            </a:r>
          </a:p>
        </p:txBody>
      </p:sp>
      <p:sp>
        <p:nvSpPr>
          <p:cNvPr id="8" name="">
            <a:extLst xmlns:a="http://schemas.openxmlformats.org/drawingml/2006/main">
              <a:ext uri="{FF2B5EF4-FFF2-40B4-BE49-F238E27FC236}">
                <a16:creationId xmlns:a16="http://schemas.microsoft.com/office/drawing/2014/main" id="{15F2D4C4-FD09-4C90-AE4F-E20F9F52E541}"/>
              </a:ext>
            </a:extLst>
          </p:cNvPr>
          <p:cNvSpPr>
            <a:spLocks xmlns:a="http://schemas.openxmlformats.org/drawingml/2006/main" noGrp="1"/>
          </p:cNvSpPr>
          <p:nvPr/>
        </p:nvSpPr>
        <p:spPr>
          <a:xfrm xmlns:a="http://schemas.openxmlformats.org/drawingml/2006/main">
            <a:off x="2914650" y="6115050"/>
            <a:ext cx="1809750" cy="323850"/>
          </a:xfrm>
          <a:prstGeom xmlns:a="http://schemas.openxmlformats.org/drawingml/2006/main" prst="roundRect">
            <a:avLst>
              <a:gd name="adj" fmla="val 50000"/>
            </a:avLst>
          </a:prstGeom>
          <a:solidFill xmlns:a="http://schemas.openxmlformats.org/drawingml/2006/main">
            <a:srgbClr val="DFF4E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598109F-5A90-44E8-9B68-EAEF49346862}"/>
              </a:ext>
            </a:extLst>
          </p:cNvPr>
          <p:cNvSpPr>
            <a:spLocks xmlns:a="http://schemas.openxmlformats.org/drawingml/2006/main" noGrp="1"/>
          </p:cNvSpPr>
          <p:nvPr/>
        </p:nvSpPr>
        <p:spPr>
          <a:xfrm xmlns:a="http://schemas.openxmlformats.org/drawingml/2006/main">
            <a:off x="3028950" y="6181725"/>
            <a:ext cx="1581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0F766E"/>
                </a:solidFill>
                <a:latin typeface="Arial"/>
                <a:ea typeface="Arial"/>
                <a:cs typeface="Arial"/>
              </a:defRPr>
            </a:pPr>
            <a:r>
              <a:rPr sz="900" b="1" i="0">
                <a:solidFill>
                  <a:srgbClr val="0F766E"/>
                </a:solidFill>
                <a:latin typeface="Arial"/>
                <a:ea typeface="Arial"/>
                <a:cs typeface="Arial"/>
              </a:rPr>
              <a:t>Backtest sans fuite</a:t>
            </a:r>
          </a:p>
        </p:txBody>
      </p:sp>
      <p:sp>
        <p:nvSpPr>
          <p:cNvPr id="10" name="">
            <a:extLst xmlns:a="http://schemas.openxmlformats.org/drawingml/2006/main">
              <a:ext uri="{FF2B5EF4-FFF2-40B4-BE49-F238E27FC236}">
                <a16:creationId xmlns:a16="http://schemas.microsoft.com/office/drawing/2014/main" id="{71FB73B5-5146-4580-9BCE-B54D0A833302}"/>
              </a:ext>
            </a:extLst>
          </p:cNvPr>
          <p:cNvSpPr>
            <a:spLocks xmlns:a="http://schemas.openxmlformats.org/drawingml/2006/main" noGrp="1"/>
          </p:cNvSpPr>
          <p:nvPr/>
        </p:nvSpPr>
        <p:spPr>
          <a:xfrm xmlns:a="http://schemas.openxmlformats.org/drawingml/2006/main">
            <a:off x="4743450" y="6115050"/>
            <a:ext cx="2000250" cy="323850"/>
          </a:xfrm>
          <a:prstGeom xmlns:a="http://schemas.openxmlformats.org/drawingml/2006/main" prst="roundRect">
            <a:avLst>
              <a:gd name="adj" fmla="val 50000"/>
            </a:avLst>
          </a:prstGeom>
          <a:solidFill xmlns:a="http://schemas.openxmlformats.org/drawingml/2006/main">
            <a:srgbClr val="FFF0D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D1DC78A-E44D-4B20-8CE2-256CD5DEA064}"/>
              </a:ext>
            </a:extLst>
          </p:cNvPr>
          <p:cNvSpPr>
            <a:spLocks xmlns:a="http://schemas.openxmlformats.org/drawingml/2006/main" noGrp="1"/>
          </p:cNvSpPr>
          <p:nvPr/>
        </p:nvSpPr>
        <p:spPr>
          <a:xfrm xmlns:a="http://schemas.openxmlformats.org/drawingml/2006/main">
            <a:off x="4857750" y="6181725"/>
            <a:ext cx="1771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A86812"/>
                </a:solidFill>
                <a:latin typeface="Arial"/>
                <a:ea typeface="Arial"/>
                <a:cs typeface="Arial"/>
              </a:defRPr>
            </a:pPr>
            <a:r>
              <a:rPr sz="900" b="1" i="0">
                <a:solidFill>
                  <a:srgbClr val="A86812"/>
                </a:solidFill>
                <a:latin typeface="Arial"/>
                <a:ea typeface="Arial"/>
                <a:cs typeface="Arial"/>
              </a:rPr>
              <a:t>Validation statistique</a:t>
            </a:r>
          </a:p>
        </p:txBody>
      </p:sp>
      <p:sp>
        <p:nvSpPr>
          <p:cNvPr id="12" name="">
            <a:extLst xmlns:a="http://schemas.openxmlformats.org/drawingml/2006/main">
              <a:ext uri="{FF2B5EF4-FFF2-40B4-BE49-F238E27FC236}">
                <a16:creationId xmlns:a16="http://schemas.microsoft.com/office/drawing/2014/main" id="{B47AF766-2DAB-4075-959B-63034D3A2D8D}"/>
              </a:ext>
            </a:extLst>
          </p:cNvPr>
          <p:cNvSpPr>
            <a:spLocks xmlns:a="http://schemas.openxmlformats.org/drawingml/2006/main" noGrp="1"/>
          </p:cNvSpPr>
          <p:nvPr/>
        </p:nvSpPr>
        <p:spPr>
          <a:xfrm xmlns:a="http://schemas.openxmlformats.org/drawingml/2006/main">
            <a:off x="6762750" y="6115050"/>
            <a:ext cx="1714500" cy="323850"/>
          </a:xfrm>
          <a:prstGeom xmlns:a="http://schemas.openxmlformats.org/drawingml/2006/main" prst="roundRect">
            <a:avLst>
              <a:gd name="adj" fmla="val 50000"/>
            </a:avLst>
          </a:prstGeom>
          <a:solidFill xmlns:a="http://schemas.openxmlformats.org/drawingml/2006/main">
            <a:srgbClr val="D0EDF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0ABEAE6-E1B9-46EB-A3D4-EEC595EE695F}"/>
              </a:ext>
            </a:extLst>
          </p:cNvPr>
          <p:cNvSpPr>
            <a:spLocks xmlns:a="http://schemas.openxmlformats.org/drawingml/2006/main" noGrp="1"/>
          </p:cNvSpPr>
          <p:nvPr/>
        </p:nvSpPr>
        <p:spPr>
          <a:xfrm xmlns:a="http://schemas.openxmlformats.org/drawingml/2006/main">
            <a:off x="6877050" y="6181725"/>
            <a:ext cx="1485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173B67"/>
                </a:solidFill>
                <a:latin typeface="Arial"/>
                <a:ea typeface="Arial"/>
                <a:cs typeface="Arial"/>
              </a:defRPr>
            </a:pPr>
            <a:r>
              <a:rPr sz="900" b="1" i="0">
                <a:solidFill>
                  <a:srgbClr val="173B67"/>
                </a:solidFill>
                <a:latin typeface="Arial"/>
                <a:ea typeface="Arial"/>
                <a:cs typeface="Arial"/>
              </a:rPr>
              <a:t>API + dashboard</a:t>
            </a:r>
          </a:p>
        </p:txBody>
      </p:sp>
      <p:sp>
        <p:nvSpPr>
          <p:cNvPr id="14" name="">
            <a:extLst xmlns:a="http://schemas.openxmlformats.org/drawingml/2006/main">
              <a:ext uri="{FF2B5EF4-FFF2-40B4-BE49-F238E27FC236}">
                <a16:creationId xmlns:a16="http://schemas.microsoft.com/office/drawing/2014/main" id="{FA30434E-0CBB-4C9C-8F1E-83092F7ED2E3}"/>
              </a:ext>
            </a:extLst>
          </p:cNvPr>
          <p:cNvSpPr>
            <a:spLocks xmlns:a="http://schemas.openxmlformats.org/drawingml/2006/main" noGrp="1"/>
          </p:cNvSpPr>
          <p:nvPr/>
        </p:nvSpPr>
        <p:spPr>
          <a:xfrm xmlns:a="http://schemas.openxmlformats.org/drawingml/2006/main">
            <a:off x="8496300" y="6115050"/>
            <a:ext cx="1428750" cy="323850"/>
          </a:xfrm>
          <a:prstGeom xmlns:a="http://schemas.openxmlformats.org/drawingml/2006/main" prst="roundRect">
            <a:avLst>
              <a:gd name="adj" fmla="val 50000"/>
            </a:avLst>
          </a:prstGeom>
          <a:solidFill xmlns:a="http://schemas.openxmlformats.org/drawingml/2006/main">
            <a:srgbClr val="FCE9E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90EFC0C-64FB-4701-A61B-5734CC455066}"/>
              </a:ext>
            </a:extLst>
          </p:cNvPr>
          <p:cNvSpPr>
            <a:spLocks xmlns:a="http://schemas.openxmlformats.org/drawingml/2006/main" noGrp="1"/>
          </p:cNvSpPr>
          <p:nvPr/>
        </p:nvSpPr>
        <p:spPr>
          <a:xfrm xmlns:a="http://schemas.openxmlformats.org/drawingml/2006/main">
            <a:off x="8610600" y="6181725"/>
            <a:ext cx="12001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B7433E"/>
                </a:solidFill>
                <a:latin typeface="Arial"/>
                <a:ea typeface="Arial"/>
                <a:cs typeface="Arial"/>
              </a:defRPr>
            </a:pPr>
            <a:r>
              <a:rPr sz="900" b="1" i="0">
                <a:solidFill>
                  <a:srgbClr val="B7433E"/>
                </a:solidFill>
                <a:latin typeface="Arial"/>
                <a:ea typeface="Arial"/>
                <a:cs typeface="Arial"/>
              </a:rPr>
              <a:t>Gouvernance</a:t>
            </a:r>
          </a:p>
        </p:txBody>
      </p:sp>
    </p:spTree>
    <p:extLst>
      <p:ext uri="{BB962C8B-B14F-4D97-AF65-F5344CB8AC3E}">
        <p14:creationId xmlns:p14="http://schemas.microsoft.com/office/powerpoint/2010/main" val="5840335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E46919-B387-4207-9147-86B292054A03}"/>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DONNÉES</a:t>
            </a:r>
          </a:p>
        </p:txBody>
      </p:sp>
      <p:sp>
        <p:nvSpPr>
          <p:cNvPr id="2" name="">
            <a:extLst xmlns:a="http://schemas.openxmlformats.org/drawingml/2006/main">
              <a:ext uri="{FF2B5EF4-FFF2-40B4-BE49-F238E27FC236}">
                <a16:creationId xmlns:a16="http://schemas.microsoft.com/office/drawing/2014/main" id="{5ACD7A66-B275-4525-9807-ACCC7CA469DD}"/>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Deux univers, deux numéraires — jamais mélangés</a:t>
            </a:r>
          </a:p>
        </p:txBody>
      </p:sp>
      <p:sp>
        <p:nvSpPr>
          <p:cNvPr id="3" name="">
            <a:extLst xmlns:a="http://schemas.openxmlformats.org/drawingml/2006/main">
              <a:ext uri="{FF2B5EF4-FFF2-40B4-BE49-F238E27FC236}">
                <a16:creationId xmlns:a16="http://schemas.microsoft.com/office/drawing/2014/main" id="{8E0A9853-322F-45CC-801B-4A1D8ACC695F}"/>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1CD22509-74CB-4C81-8611-25ED2E303611}"/>
              </a:ext>
            </a:extLst>
          </p:cNvPr>
          <p:cNvSpPr>
            <a:spLocks xmlns:a="http://schemas.openxmlformats.org/drawingml/2006/main" noGrp="1"/>
          </p:cNvSpPr>
          <p:nvPr/>
        </p:nvSpPr>
        <p:spPr>
          <a:xfrm xmlns:a="http://schemas.openxmlformats.org/drawingml/2006/main">
            <a:off x="609600" y="1238250"/>
            <a:ext cx="6667500" cy="4267200"/>
          </a:xfrm>
          <a:prstGeom xmlns:a="http://schemas.openxmlformats.org/drawingml/2006/main" prst="roundRect">
            <a:avLst>
              <a:gd name="adj" fmla="val 2679"/>
            </a:avLst>
          </a:prstGeom>
          <a:solidFill xmlns:a="http://schemas.openxmlformats.org/drawingml/2006/main">
            <a:srgbClr val="F3F4F6"/>
          </a:solidFill>
          <a:ln xmlns:a="http://schemas.openxmlformats.org/drawingml/2006/main" w="9525">
            <a:solidFill>
              <a:srgbClr val="D1D5DB"/>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3605b3aa3114141"/>
          <a:stretch xmlns:a="http://schemas.openxmlformats.org/drawingml/2006/main"/>
        </p:blipFill>
        <p:spPr>
          <a:xfrm xmlns:a="http://schemas.openxmlformats.org/drawingml/2006/main">
            <a:off x="723900" y="1869316"/>
            <a:ext cx="6438900" cy="3005069"/>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262C739-7FEE-4C61-92B7-536698AE6557}"/>
              </a:ext>
            </a:extLst>
          </p:cNvPr>
          <p:cNvSpPr>
            <a:spLocks xmlns:a="http://schemas.openxmlformats.org/drawingml/2006/main" noGrp="1"/>
          </p:cNvSpPr>
          <p:nvPr/>
        </p:nvSpPr>
        <p:spPr>
          <a:xfrm xmlns:a="http://schemas.openxmlformats.org/drawingml/2006/main">
            <a:off x="7658100" y="1295400"/>
            <a:ext cx="3714750" cy="1714500"/>
          </a:xfrm>
          <a:prstGeom xmlns:a="http://schemas.openxmlformats.org/drawingml/2006/main" prst="roundRect">
            <a:avLst>
              <a:gd name="adj" fmla="val 6667"/>
            </a:avLst>
          </a:prstGeom>
          <a:solidFill xmlns:a="http://schemas.openxmlformats.org/drawingml/2006/main">
            <a:srgbClr val="DFF4EE"/>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9D241CE-BBDC-47AD-8EE5-842292F597D7}"/>
              </a:ext>
            </a:extLst>
          </p:cNvPr>
          <p:cNvSpPr>
            <a:spLocks xmlns:a="http://schemas.openxmlformats.org/drawingml/2006/main" noGrp="1"/>
          </p:cNvSpPr>
          <p:nvPr/>
        </p:nvSpPr>
        <p:spPr>
          <a:xfrm xmlns:a="http://schemas.openxmlformats.org/drawingml/2006/main">
            <a:off x="7905750" y="15240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833"/>
          </a:bodyPr>
          <a:lstStyle xmlns:a="http://schemas.openxmlformats.org/drawingml/2006/main"/>
          <a:p xmlns:a="http://schemas.openxmlformats.org/drawingml/2006/main">
            <a:pPr algn="l">
              <a:defRPr sz="1800" b="1" i="0">
                <a:solidFill>
                  <a:srgbClr val="0F766E"/>
                </a:solidFill>
                <a:latin typeface="Arial"/>
                <a:ea typeface="Arial"/>
                <a:cs typeface="Arial"/>
              </a:defRPr>
            </a:pPr>
            <a:r>
              <a:rPr sz="1800" b="1" i="0">
                <a:solidFill>
                  <a:srgbClr val="0F766E"/>
                </a:solidFill>
                <a:latin typeface="Arial"/>
                <a:ea typeface="Arial"/>
                <a:cs typeface="Arial"/>
              </a:rPr>
              <a:t>full_2021</a:t>
            </a:r>
          </a:p>
        </p:txBody>
      </p:sp>
      <p:sp>
        <p:nvSpPr>
          <p:cNvPr id="8" name="">
            <a:extLst xmlns:a="http://schemas.openxmlformats.org/drawingml/2006/main">
              <a:ext uri="{FF2B5EF4-FFF2-40B4-BE49-F238E27FC236}">
                <a16:creationId xmlns:a16="http://schemas.microsoft.com/office/drawing/2014/main" id="{FF67F1F0-5BB8-4930-8FDE-7A698E484234}"/>
              </a:ext>
            </a:extLst>
          </p:cNvPr>
          <p:cNvSpPr>
            <a:spLocks xmlns:a="http://schemas.openxmlformats.org/drawingml/2006/main" noGrp="1"/>
          </p:cNvSpPr>
          <p:nvPr/>
        </p:nvSpPr>
        <p:spPr>
          <a:xfrm xmlns:a="http://schemas.openxmlformats.org/drawingml/2006/main">
            <a:off x="7905750" y="1924050"/>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4 actions BVC + 5 ETF</a:t>
            </a:r>
          </a:p>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Exprimé en MAD</a:t>
            </a:r>
          </a:p>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Taux officiel BAM · non couvert</a:t>
            </a:r>
          </a:p>
        </p:txBody>
      </p:sp>
      <p:sp>
        <p:nvSpPr>
          <p:cNvPr id="9" name="">
            <a:extLst xmlns:a="http://schemas.openxmlformats.org/drawingml/2006/main">
              <a:ext uri="{FF2B5EF4-FFF2-40B4-BE49-F238E27FC236}">
                <a16:creationId xmlns:a16="http://schemas.microsoft.com/office/drawing/2014/main" id="{75F2BD58-EBC8-4501-A48E-F83DD22B7F93}"/>
              </a:ext>
            </a:extLst>
          </p:cNvPr>
          <p:cNvSpPr>
            <a:spLocks xmlns:a="http://schemas.openxmlformats.org/drawingml/2006/main" noGrp="1"/>
          </p:cNvSpPr>
          <p:nvPr/>
        </p:nvSpPr>
        <p:spPr>
          <a:xfrm xmlns:a="http://schemas.openxmlformats.org/drawingml/2006/main">
            <a:off x="7658100" y="3219450"/>
            <a:ext cx="3714750" cy="1714500"/>
          </a:xfrm>
          <a:prstGeom xmlns:a="http://schemas.openxmlformats.org/drawingml/2006/main" prst="roundRect">
            <a:avLst>
              <a:gd name="adj" fmla="val 6667"/>
            </a:avLst>
          </a:prstGeom>
          <a:solidFill xmlns:a="http://schemas.openxmlformats.org/drawingml/2006/main">
            <a:srgbClr val="DDEE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8ADCE1-DE2D-48A6-8F6B-4EE560823E94}"/>
              </a:ext>
            </a:extLst>
          </p:cNvPr>
          <p:cNvSpPr>
            <a:spLocks xmlns:a="http://schemas.openxmlformats.org/drawingml/2006/main" noGrp="1"/>
          </p:cNvSpPr>
          <p:nvPr/>
        </p:nvSpPr>
        <p:spPr>
          <a:xfrm xmlns:a="http://schemas.openxmlformats.org/drawingml/2006/main">
            <a:off x="7905750" y="34480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833"/>
          </a:bodyPr>
          <a:lstStyle xmlns:a="http://schemas.openxmlformats.org/drawingml/2006/main"/>
          <a:p xmlns:a="http://schemas.openxmlformats.org/drawingml/2006/main">
            <a:pPr algn="l">
              <a:defRPr sz="1800" b="1" i="0">
                <a:solidFill>
                  <a:srgbClr val="3D8DFF"/>
                </a:solidFill>
                <a:latin typeface="Arial"/>
                <a:ea typeface="Arial"/>
                <a:cs typeface="Arial"/>
              </a:defRPr>
            </a:pPr>
            <a:r>
              <a:rPr sz="1800" b="1" i="0">
                <a:solidFill>
                  <a:srgbClr val="3D8DFF"/>
                </a:solidFill>
                <a:latin typeface="Arial"/>
                <a:ea typeface="Arial"/>
                <a:cs typeface="Arial"/>
              </a:rPr>
              <a:t>etf_2017</a:t>
            </a:r>
          </a:p>
        </p:txBody>
      </p:sp>
      <p:sp>
        <p:nvSpPr>
          <p:cNvPr id="11" name="">
            <a:extLst xmlns:a="http://schemas.openxmlformats.org/drawingml/2006/main">
              <a:ext uri="{FF2B5EF4-FFF2-40B4-BE49-F238E27FC236}">
                <a16:creationId xmlns:a16="http://schemas.microsoft.com/office/drawing/2014/main" id="{11959945-F138-4A8F-973B-F852BF2F63DC}"/>
              </a:ext>
            </a:extLst>
          </p:cNvPr>
          <p:cNvSpPr>
            <a:spLocks xmlns:a="http://schemas.openxmlformats.org/drawingml/2006/main" noGrp="1"/>
          </p:cNvSpPr>
          <p:nvPr/>
        </p:nvSpPr>
        <p:spPr>
          <a:xfrm xmlns:a="http://schemas.openxmlformats.org/drawingml/2006/main">
            <a:off x="7905750" y="3848100"/>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5 ETF internationaux</a:t>
            </a:r>
          </a:p>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Historique depuis novembre 2004</a:t>
            </a:r>
          </a:p>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Univers mono-devise USD</a:t>
            </a:r>
          </a:p>
        </p:txBody>
      </p:sp>
      <p:sp>
        <p:nvSpPr>
          <p:cNvPr id="12" name="">
            <a:extLst xmlns:a="http://schemas.openxmlformats.org/drawingml/2006/main">
              <a:ext uri="{FF2B5EF4-FFF2-40B4-BE49-F238E27FC236}">
                <a16:creationId xmlns:a16="http://schemas.microsoft.com/office/drawing/2014/main" id="{9A9D3A48-3568-4D76-BB9F-56DAE1D3C73A}"/>
              </a:ext>
            </a:extLst>
          </p:cNvPr>
          <p:cNvSpPr>
            <a:spLocks xmlns:a="http://schemas.openxmlformats.org/drawingml/2006/main" noGrp="1"/>
          </p:cNvSpPr>
          <p:nvPr/>
        </p:nvSpPr>
        <p:spPr>
          <a:xfrm xmlns:a="http://schemas.openxmlformats.org/drawingml/2006/main">
            <a:off x="7658100" y="52387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534"/>
          </a:bodyPr>
          <a:lstStyle xmlns:a="http://schemas.openxmlformats.org/drawingml/2006/main"/>
          <a:p xmlns:a="http://schemas.openxmlformats.org/drawingml/2006/main">
            <a:pPr algn="l">
              <a:defRPr sz="1200" b="1" i="0">
                <a:solidFill>
                  <a:srgbClr val="B7433E"/>
                </a:solidFill>
                <a:latin typeface="Arial"/>
                <a:ea typeface="Arial"/>
                <a:cs typeface="Arial"/>
              </a:defRPr>
            </a:pPr>
            <a:r>
              <a:rPr sz="1200" b="1" i="0">
                <a:solidFill>
                  <a:srgbClr val="B7433E"/>
                </a:solidFill>
                <a:latin typeface="Arial"/>
                <a:ea typeface="Arial"/>
                <a:cs typeface="Arial"/>
              </a:rPr>
              <a:t>Les Sharpe des deux univers ne sont pas comparés entre eux : fenêtres, actifs et devises diffèrent.</a:t>
            </a:r>
          </a:p>
        </p:txBody>
      </p:sp>
    </p:spTree>
    <p:extLst>
      <p:ext uri="{BB962C8B-B14F-4D97-AF65-F5344CB8AC3E}">
        <p14:creationId xmlns:p14="http://schemas.microsoft.com/office/powerpoint/2010/main" val="88322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E939911-5536-41C3-9F7F-AFE74AE05B6C}"/>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MODÉLISATION</a:t>
            </a:r>
          </a:p>
        </p:txBody>
      </p:sp>
      <p:sp>
        <p:nvSpPr>
          <p:cNvPr id="2" name="">
            <a:extLst xmlns:a="http://schemas.openxmlformats.org/drawingml/2006/main">
              <a:ext uri="{FF2B5EF4-FFF2-40B4-BE49-F238E27FC236}">
                <a16:creationId xmlns:a16="http://schemas.microsoft.com/office/drawing/2014/main" id="{4ABDCF39-A5D3-4372-84D5-9E8456F4A906}"/>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Nous avons ajouté la complexité par paliers contrôlés</a:t>
            </a:r>
          </a:p>
        </p:txBody>
      </p:sp>
      <p:sp>
        <p:nvSpPr>
          <p:cNvPr id="3" name="">
            <a:extLst xmlns:a="http://schemas.openxmlformats.org/drawingml/2006/main">
              <a:ext uri="{FF2B5EF4-FFF2-40B4-BE49-F238E27FC236}">
                <a16:creationId xmlns:a16="http://schemas.microsoft.com/office/drawing/2014/main" id="{B0DFD002-D0DF-4CC0-B02F-A92C9977CEDC}"/>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B49C32D5-BAB6-4940-9A85-CC72E24FCA6A}"/>
              </a:ext>
            </a:extLst>
          </p:cNvPr>
          <p:cNvSpPr>
            <a:spLocks xmlns:a="http://schemas.openxmlformats.org/drawingml/2006/main" noGrp="1"/>
          </p:cNvSpPr>
          <p:nvPr/>
        </p:nvSpPr>
        <p:spPr>
          <a:xfrm xmlns:a="http://schemas.openxmlformats.org/drawingml/2006/main">
            <a:off x="666750" y="1752600"/>
            <a:ext cx="1866900" cy="2876550"/>
          </a:xfrm>
          <a:prstGeom xmlns:a="http://schemas.openxmlformats.org/drawingml/2006/main" prst="roundRect">
            <a:avLst>
              <a:gd name="adj" fmla="val 6122"/>
            </a:avLst>
          </a:prstGeom>
          <a:solidFill xmlns:a="http://schemas.openxmlformats.org/drawingml/2006/main">
            <a:srgbClr val="F3F4F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790BEE2-EF2C-4888-9EF5-1BE1FEC27A7C}"/>
              </a:ext>
            </a:extLst>
          </p:cNvPr>
          <p:cNvSpPr>
            <a:spLocks xmlns:a="http://schemas.openxmlformats.org/drawingml/2006/main" noGrp="1"/>
          </p:cNvSpPr>
          <p:nvPr/>
        </p:nvSpPr>
        <p:spPr>
          <a:xfrm xmlns:a="http://schemas.openxmlformats.org/drawingml/2006/main">
            <a:off x="838200" y="200025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111827"/>
                </a:solidFill>
                <a:latin typeface="Arial"/>
                <a:ea typeface="Arial"/>
                <a:cs typeface="Arial"/>
              </a:defRPr>
            </a:pPr>
            <a:r>
              <a:rPr sz="1425" b="1" i="0">
                <a:solidFill>
                  <a:srgbClr val="111827"/>
                </a:solidFill>
                <a:latin typeface="Arial"/>
                <a:ea typeface="Arial"/>
                <a:cs typeface="Arial"/>
              </a:rPr>
              <a:t>1 · Références</a:t>
            </a:r>
          </a:p>
        </p:txBody>
      </p:sp>
      <p:sp>
        <p:nvSpPr>
          <p:cNvPr id="6" name="">
            <a:extLst xmlns:a="http://schemas.openxmlformats.org/drawingml/2006/main">
              <a:ext uri="{FF2B5EF4-FFF2-40B4-BE49-F238E27FC236}">
                <a16:creationId xmlns:a16="http://schemas.microsoft.com/office/drawing/2014/main" id="{4FC706B6-6F41-4A84-97AF-3CA147BB8BE2}"/>
              </a:ext>
            </a:extLst>
          </p:cNvPr>
          <p:cNvSpPr>
            <a:spLocks xmlns:a="http://schemas.openxmlformats.org/drawingml/2006/main" noGrp="1"/>
          </p:cNvSpPr>
          <p:nvPr/>
        </p:nvSpPr>
        <p:spPr>
          <a:xfrm xmlns:a="http://schemas.openxmlformats.org/drawingml/2006/main">
            <a:off x="838200" y="2743200"/>
            <a:ext cx="1524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1/N, minimum variance, maximum Sharpe</a:t>
            </a:r>
          </a:p>
        </p:txBody>
      </p:sp>
      <p:sp>
        <p:nvSpPr>
          <p:cNvPr id="7" name="">
            <a:extLst xmlns:a="http://schemas.openxmlformats.org/drawingml/2006/main">
              <a:ext uri="{FF2B5EF4-FFF2-40B4-BE49-F238E27FC236}">
                <a16:creationId xmlns:a16="http://schemas.microsoft.com/office/drawing/2014/main" id="{24917038-D1EC-4F51-9756-E3F9A01EC451}"/>
              </a:ext>
            </a:extLst>
          </p:cNvPr>
          <p:cNvSpPr>
            <a:spLocks xmlns:a="http://schemas.openxmlformats.org/drawingml/2006/main" noGrp="1"/>
          </p:cNvSpPr>
          <p:nvPr/>
        </p:nvSpPr>
        <p:spPr>
          <a:xfrm xmlns:a="http://schemas.openxmlformats.org/drawingml/2006/main">
            <a:off x="838200" y="4019550"/>
            <a:ext cx="1524000" cy="19050"/>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12D644-F8DC-47D6-AD05-90EE8E620A3B}"/>
              </a:ext>
            </a:extLst>
          </p:cNvPr>
          <p:cNvSpPr>
            <a:spLocks xmlns:a="http://schemas.openxmlformats.org/drawingml/2006/main" noGrp="1"/>
          </p:cNvSpPr>
          <p:nvPr/>
        </p:nvSpPr>
        <p:spPr>
          <a:xfrm xmlns:a="http://schemas.openxmlformats.org/drawingml/2006/main">
            <a:off x="838200" y="42100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975" b="1" i="0">
                <a:solidFill>
                  <a:srgbClr val="173B67"/>
                </a:solidFill>
                <a:latin typeface="Arial"/>
                <a:ea typeface="Arial"/>
                <a:cs typeface="Arial"/>
              </a:defRPr>
            </a:pPr>
            <a:r>
              <a:rPr sz="975" b="1" i="0">
                <a:solidFill>
                  <a:srgbClr val="173B67"/>
                </a:solidFill>
                <a:latin typeface="Arial"/>
                <a:ea typeface="Arial"/>
                <a:cs typeface="Arial"/>
              </a:rPr>
              <a:t>Le plancher</a:t>
            </a:r>
          </a:p>
        </p:txBody>
      </p:sp>
      <p:sp>
        <p:nvSpPr>
          <p:cNvPr id="9" name="">
            <a:extLst xmlns:a="http://schemas.openxmlformats.org/drawingml/2006/main">
              <a:ext uri="{FF2B5EF4-FFF2-40B4-BE49-F238E27FC236}">
                <a16:creationId xmlns:a16="http://schemas.microsoft.com/office/drawing/2014/main" id="{6C34D1CC-9C0A-44C8-8EA4-6ED58EA1CFF1}"/>
              </a:ext>
            </a:extLst>
          </p:cNvPr>
          <p:cNvSpPr>
            <a:spLocks xmlns:a="http://schemas.openxmlformats.org/drawingml/2006/main" noGrp="1"/>
          </p:cNvSpPr>
          <p:nvPr/>
        </p:nvSpPr>
        <p:spPr>
          <a:xfrm xmlns:a="http://schemas.openxmlformats.org/drawingml/2006/main">
            <a:off x="2552700" y="2914650"/>
            <a:ext cx="30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202"/>
          </a:bodyPr>
          <a:lstStyle xmlns:a="http://schemas.openxmlformats.org/drawingml/2006/main"/>
          <a:p xmlns:a="http://schemas.openxmlformats.org/drawingml/2006/main">
            <a:pPr algn="ctr">
              <a:defRPr sz="2025" b="1" i="0">
                <a:solidFill>
                  <a:srgbClr val="5D6675"/>
                </a:solidFill>
                <a:latin typeface="Arial"/>
                <a:ea typeface="Arial"/>
                <a:cs typeface="Arial"/>
              </a:defRPr>
            </a:pPr>
            <a:r>
              <a:rPr sz="2025" b="1" i="0">
                <a:solidFill>
                  <a:srgbClr val="5D6675"/>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4A3EC693-33C9-49B9-A4E7-5011A897F64D}"/>
              </a:ext>
            </a:extLst>
          </p:cNvPr>
          <p:cNvSpPr>
            <a:spLocks xmlns:a="http://schemas.openxmlformats.org/drawingml/2006/main" noGrp="1"/>
          </p:cNvSpPr>
          <p:nvPr/>
        </p:nvSpPr>
        <p:spPr>
          <a:xfrm xmlns:a="http://schemas.openxmlformats.org/drawingml/2006/main">
            <a:off x="2857500" y="1752600"/>
            <a:ext cx="1866900" cy="2876550"/>
          </a:xfrm>
          <a:prstGeom xmlns:a="http://schemas.openxmlformats.org/drawingml/2006/main" prst="roundRect">
            <a:avLst>
              <a:gd name="adj" fmla="val 6122"/>
            </a:avLst>
          </a:prstGeom>
          <a:solidFill xmlns:a="http://schemas.openxmlformats.org/drawingml/2006/main">
            <a:srgbClr val="DDEE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72F3A99-677E-4830-82A6-C891B2927EF6}"/>
              </a:ext>
            </a:extLst>
          </p:cNvPr>
          <p:cNvSpPr>
            <a:spLocks xmlns:a="http://schemas.openxmlformats.org/drawingml/2006/main" noGrp="1"/>
          </p:cNvSpPr>
          <p:nvPr/>
        </p:nvSpPr>
        <p:spPr>
          <a:xfrm xmlns:a="http://schemas.openxmlformats.org/drawingml/2006/main">
            <a:off x="3028950" y="200025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111827"/>
                </a:solidFill>
                <a:latin typeface="Arial"/>
                <a:ea typeface="Arial"/>
                <a:cs typeface="Arial"/>
              </a:defRPr>
            </a:pPr>
            <a:r>
              <a:rPr sz="1425" b="1" i="0">
                <a:solidFill>
                  <a:srgbClr val="111827"/>
                </a:solidFill>
                <a:latin typeface="Arial"/>
                <a:ea typeface="Arial"/>
                <a:cs typeface="Arial"/>
              </a:rPr>
              <a:t>2 · Covariance</a:t>
            </a:r>
          </a:p>
        </p:txBody>
      </p:sp>
      <p:sp>
        <p:nvSpPr>
          <p:cNvPr id="12" name="">
            <a:extLst xmlns:a="http://schemas.openxmlformats.org/drawingml/2006/main">
              <a:ext uri="{FF2B5EF4-FFF2-40B4-BE49-F238E27FC236}">
                <a16:creationId xmlns:a16="http://schemas.microsoft.com/office/drawing/2014/main" id="{501F82B6-A483-4D90-969E-41AD9103A770}"/>
              </a:ext>
            </a:extLst>
          </p:cNvPr>
          <p:cNvSpPr>
            <a:spLocks xmlns:a="http://schemas.openxmlformats.org/drawingml/2006/main" noGrp="1"/>
          </p:cNvSpPr>
          <p:nvPr/>
        </p:nvSpPr>
        <p:spPr>
          <a:xfrm xmlns:a="http://schemas.openxmlformats.org/drawingml/2006/main">
            <a:off x="3028950" y="2743200"/>
            <a:ext cx="1524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Ledoit–Wolf, EWMA, DCC–GARCH</a:t>
            </a:r>
          </a:p>
        </p:txBody>
      </p:sp>
      <p:sp>
        <p:nvSpPr>
          <p:cNvPr id="13" name="">
            <a:extLst xmlns:a="http://schemas.openxmlformats.org/drawingml/2006/main">
              <a:ext uri="{FF2B5EF4-FFF2-40B4-BE49-F238E27FC236}">
                <a16:creationId xmlns:a16="http://schemas.microsoft.com/office/drawing/2014/main" id="{1A25ECE5-FC57-4C71-B85D-B4815E17BD4B}"/>
              </a:ext>
            </a:extLst>
          </p:cNvPr>
          <p:cNvSpPr>
            <a:spLocks xmlns:a="http://schemas.openxmlformats.org/drawingml/2006/main" noGrp="1"/>
          </p:cNvSpPr>
          <p:nvPr/>
        </p:nvSpPr>
        <p:spPr>
          <a:xfrm xmlns:a="http://schemas.openxmlformats.org/drawingml/2006/main">
            <a:off x="3028950" y="4019550"/>
            <a:ext cx="1524000" cy="190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CDDD93-74B3-4362-B061-9F113971BAFD}"/>
              </a:ext>
            </a:extLst>
          </p:cNvPr>
          <p:cNvSpPr>
            <a:spLocks xmlns:a="http://schemas.openxmlformats.org/drawingml/2006/main" noGrp="1"/>
          </p:cNvSpPr>
          <p:nvPr/>
        </p:nvSpPr>
        <p:spPr>
          <a:xfrm xmlns:a="http://schemas.openxmlformats.org/drawingml/2006/main">
            <a:off x="3028950" y="42100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975" b="1" i="0">
                <a:solidFill>
                  <a:srgbClr val="173B67"/>
                </a:solidFill>
                <a:latin typeface="Arial"/>
                <a:ea typeface="Arial"/>
                <a:cs typeface="Arial"/>
              </a:defRPr>
            </a:pPr>
            <a:r>
              <a:rPr sz="975" b="1" i="0">
                <a:solidFill>
                  <a:srgbClr val="173B67"/>
                </a:solidFill>
                <a:latin typeface="Arial"/>
                <a:ea typeface="Arial"/>
                <a:cs typeface="Arial"/>
              </a:rPr>
              <a:t>P1–P2</a:t>
            </a:r>
          </a:p>
        </p:txBody>
      </p:sp>
      <p:sp>
        <p:nvSpPr>
          <p:cNvPr id="15" name="">
            <a:extLst xmlns:a="http://schemas.openxmlformats.org/drawingml/2006/main">
              <a:ext uri="{FF2B5EF4-FFF2-40B4-BE49-F238E27FC236}">
                <a16:creationId xmlns:a16="http://schemas.microsoft.com/office/drawing/2014/main" id="{AEB21273-1544-4AE9-977C-FF06C987F337}"/>
              </a:ext>
            </a:extLst>
          </p:cNvPr>
          <p:cNvSpPr>
            <a:spLocks xmlns:a="http://schemas.openxmlformats.org/drawingml/2006/main" noGrp="1"/>
          </p:cNvSpPr>
          <p:nvPr/>
        </p:nvSpPr>
        <p:spPr>
          <a:xfrm xmlns:a="http://schemas.openxmlformats.org/drawingml/2006/main">
            <a:off x="4743450" y="2914650"/>
            <a:ext cx="30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202"/>
          </a:bodyPr>
          <a:lstStyle xmlns:a="http://schemas.openxmlformats.org/drawingml/2006/main"/>
          <a:p xmlns:a="http://schemas.openxmlformats.org/drawingml/2006/main">
            <a:pPr algn="ctr">
              <a:defRPr sz="2025" b="1" i="0">
                <a:solidFill>
                  <a:srgbClr val="5D6675"/>
                </a:solidFill>
                <a:latin typeface="Arial"/>
                <a:ea typeface="Arial"/>
                <a:cs typeface="Arial"/>
              </a:defRPr>
            </a:pPr>
            <a:r>
              <a:rPr sz="2025" b="1" i="0">
                <a:solidFill>
                  <a:srgbClr val="5D6675"/>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5E15DD96-2AEC-4E60-B11C-BBDD12DCA08A}"/>
              </a:ext>
            </a:extLst>
          </p:cNvPr>
          <p:cNvSpPr>
            <a:spLocks xmlns:a="http://schemas.openxmlformats.org/drawingml/2006/main" noGrp="1"/>
          </p:cNvSpPr>
          <p:nvPr/>
        </p:nvSpPr>
        <p:spPr>
          <a:xfrm xmlns:a="http://schemas.openxmlformats.org/drawingml/2006/main">
            <a:off x="5048250" y="1752600"/>
            <a:ext cx="1866900" cy="2876550"/>
          </a:xfrm>
          <a:prstGeom xmlns:a="http://schemas.openxmlformats.org/drawingml/2006/main" prst="roundRect">
            <a:avLst>
              <a:gd name="adj" fmla="val 6122"/>
            </a:avLst>
          </a:prstGeom>
          <a:solidFill xmlns:a="http://schemas.openxmlformats.org/drawingml/2006/main">
            <a:srgbClr val="DFF4E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64540CE-5D16-4CF8-9D06-45F6797DC594}"/>
              </a:ext>
            </a:extLst>
          </p:cNvPr>
          <p:cNvSpPr>
            <a:spLocks xmlns:a="http://schemas.openxmlformats.org/drawingml/2006/main" noGrp="1"/>
          </p:cNvSpPr>
          <p:nvPr/>
        </p:nvSpPr>
        <p:spPr>
          <a:xfrm xmlns:a="http://schemas.openxmlformats.org/drawingml/2006/main">
            <a:off x="5219700" y="200025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111827"/>
                </a:solidFill>
                <a:latin typeface="Arial"/>
                <a:ea typeface="Arial"/>
                <a:cs typeface="Arial"/>
              </a:defRPr>
            </a:pPr>
            <a:r>
              <a:rPr sz="1425" b="1" i="0">
                <a:solidFill>
                  <a:srgbClr val="111827"/>
                </a:solidFill>
                <a:latin typeface="Arial"/>
                <a:ea typeface="Arial"/>
                <a:cs typeface="Arial"/>
              </a:rPr>
              <a:t>3 · Régimes</a:t>
            </a:r>
          </a:p>
        </p:txBody>
      </p:sp>
      <p:sp>
        <p:nvSpPr>
          <p:cNvPr id="18" name="">
            <a:extLst xmlns:a="http://schemas.openxmlformats.org/drawingml/2006/main">
              <a:ext uri="{FF2B5EF4-FFF2-40B4-BE49-F238E27FC236}">
                <a16:creationId xmlns:a16="http://schemas.microsoft.com/office/drawing/2014/main" id="{573C6E25-C29D-4F26-90CE-731839CB3DD9}"/>
              </a:ext>
            </a:extLst>
          </p:cNvPr>
          <p:cNvSpPr>
            <a:spLocks xmlns:a="http://schemas.openxmlformats.org/drawingml/2006/main" noGrp="1"/>
          </p:cNvSpPr>
          <p:nvPr/>
        </p:nvSpPr>
        <p:spPr>
          <a:xfrm xmlns:a="http://schemas.openxmlformats.org/drawingml/2006/main">
            <a:off x="5219700" y="2743200"/>
            <a:ext cx="1524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HMM à 2 états + allocation conditionnelle</a:t>
            </a:r>
          </a:p>
        </p:txBody>
      </p:sp>
      <p:sp>
        <p:nvSpPr>
          <p:cNvPr id="19" name="">
            <a:extLst xmlns:a="http://schemas.openxmlformats.org/drawingml/2006/main">
              <a:ext uri="{FF2B5EF4-FFF2-40B4-BE49-F238E27FC236}">
                <a16:creationId xmlns:a16="http://schemas.microsoft.com/office/drawing/2014/main" id="{A8395C0E-6DEB-4957-94D7-7AA5904F6123}"/>
              </a:ext>
            </a:extLst>
          </p:cNvPr>
          <p:cNvSpPr>
            <a:spLocks xmlns:a="http://schemas.openxmlformats.org/drawingml/2006/main" noGrp="1"/>
          </p:cNvSpPr>
          <p:nvPr/>
        </p:nvSpPr>
        <p:spPr>
          <a:xfrm xmlns:a="http://schemas.openxmlformats.org/drawingml/2006/main">
            <a:off x="5219700" y="4019550"/>
            <a:ext cx="1524000" cy="190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AADF56-AE8C-4A8B-BE35-64CB89E2D0E1}"/>
              </a:ext>
            </a:extLst>
          </p:cNvPr>
          <p:cNvSpPr>
            <a:spLocks xmlns:a="http://schemas.openxmlformats.org/drawingml/2006/main" noGrp="1"/>
          </p:cNvSpPr>
          <p:nvPr/>
        </p:nvSpPr>
        <p:spPr>
          <a:xfrm xmlns:a="http://schemas.openxmlformats.org/drawingml/2006/main">
            <a:off x="5219700" y="42100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975" b="1" i="0">
                <a:solidFill>
                  <a:srgbClr val="173B67"/>
                </a:solidFill>
                <a:latin typeface="Arial"/>
                <a:ea typeface="Arial"/>
                <a:cs typeface="Arial"/>
              </a:defRPr>
            </a:pPr>
            <a:r>
              <a:rPr sz="975" b="1" i="0">
                <a:solidFill>
                  <a:srgbClr val="173B67"/>
                </a:solidFill>
                <a:latin typeface="Arial"/>
                <a:ea typeface="Arial"/>
                <a:cs typeface="Arial"/>
              </a:rPr>
              <a:t>P2–P3</a:t>
            </a:r>
          </a:p>
        </p:txBody>
      </p:sp>
      <p:sp>
        <p:nvSpPr>
          <p:cNvPr id="21" name="">
            <a:extLst xmlns:a="http://schemas.openxmlformats.org/drawingml/2006/main">
              <a:ext uri="{FF2B5EF4-FFF2-40B4-BE49-F238E27FC236}">
                <a16:creationId xmlns:a16="http://schemas.microsoft.com/office/drawing/2014/main" id="{C05BDDA0-1967-4583-AE93-F7F1C6F6E45E}"/>
              </a:ext>
            </a:extLst>
          </p:cNvPr>
          <p:cNvSpPr>
            <a:spLocks xmlns:a="http://schemas.openxmlformats.org/drawingml/2006/main" noGrp="1"/>
          </p:cNvSpPr>
          <p:nvPr/>
        </p:nvSpPr>
        <p:spPr>
          <a:xfrm xmlns:a="http://schemas.openxmlformats.org/drawingml/2006/main">
            <a:off x="6934200" y="2914650"/>
            <a:ext cx="30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202"/>
          </a:bodyPr>
          <a:lstStyle xmlns:a="http://schemas.openxmlformats.org/drawingml/2006/main"/>
          <a:p xmlns:a="http://schemas.openxmlformats.org/drawingml/2006/main">
            <a:pPr algn="ctr">
              <a:defRPr sz="2025" b="1" i="0">
                <a:solidFill>
                  <a:srgbClr val="5D6675"/>
                </a:solidFill>
                <a:latin typeface="Arial"/>
                <a:ea typeface="Arial"/>
                <a:cs typeface="Arial"/>
              </a:defRPr>
            </a:pPr>
            <a:r>
              <a:rPr sz="2025" b="1" i="0">
                <a:solidFill>
                  <a:srgbClr val="5D6675"/>
                </a:solidFill>
                <a:latin typeface="Arial"/>
                <a:ea typeface="Arial"/>
                <a:cs typeface="Arial"/>
              </a:rPr>
              <a:t>→</a:t>
            </a:r>
          </a:p>
        </p:txBody>
      </p:sp>
      <p:sp>
        <p:nvSpPr>
          <p:cNvPr id="22" name="">
            <a:extLst xmlns:a="http://schemas.openxmlformats.org/drawingml/2006/main">
              <a:ext uri="{FF2B5EF4-FFF2-40B4-BE49-F238E27FC236}">
                <a16:creationId xmlns:a16="http://schemas.microsoft.com/office/drawing/2014/main" id="{225E6764-9952-4926-8A85-01A2DD51BCE9}"/>
              </a:ext>
            </a:extLst>
          </p:cNvPr>
          <p:cNvSpPr>
            <a:spLocks xmlns:a="http://schemas.openxmlformats.org/drawingml/2006/main" noGrp="1"/>
          </p:cNvSpPr>
          <p:nvPr/>
        </p:nvSpPr>
        <p:spPr>
          <a:xfrm xmlns:a="http://schemas.openxmlformats.org/drawingml/2006/main">
            <a:off x="7239000" y="1752600"/>
            <a:ext cx="1866900" cy="2876550"/>
          </a:xfrm>
          <a:prstGeom xmlns:a="http://schemas.openxmlformats.org/drawingml/2006/main" prst="roundRect">
            <a:avLst>
              <a:gd name="adj" fmla="val 6122"/>
            </a:avLst>
          </a:prstGeom>
          <a:solidFill xmlns:a="http://schemas.openxmlformats.org/drawingml/2006/main">
            <a:srgbClr val="FFF0D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7C10DBC-D80A-4B12-B7F0-5F73210C6661}"/>
              </a:ext>
            </a:extLst>
          </p:cNvPr>
          <p:cNvSpPr>
            <a:spLocks xmlns:a="http://schemas.openxmlformats.org/drawingml/2006/main" noGrp="1"/>
          </p:cNvSpPr>
          <p:nvPr/>
        </p:nvSpPr>
        <p:spPr>
          <a:xfrm xmlns:a="http://schemas.openxmlformats.org/drawingml/2006/main">
            <a:off x="7410450" y="200025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111827"/>
                </a:solidFill>
                <a:latin typeface="Arial"/>
                <a:ea typeface="Arial"/>
                <a:cs typeface="Arial"/>
              </a:defRPr>
            </a:pPr>
            <a:r>
              <a:rPr sz="1425" b="1" i="0">
                <a:solidFill>
                  <a:srgbClr val="111827"/>
                </a:solidFill>
                <a:latin typeface="Arial"/>
                <a:ea typeface="Arial"/>
                <a:cs typeface="Arial"/>
              </a:rPr>
              <a:t>4 · Signaux</a:t>
            </a:r>
          </a:p>
        </p:txBody>
      </p:sp>
      <p:sp>
        <p:nvSpPr>
          <p:cNvPr id="24" name="">
            <a:extLst xmlns:a="http://schemas.openxmlformats.org/drawingml/2006/main">
              <a:ext uri="{FF2B5EF4-FFF2-40B4-BE49-F238E27FC236}">
                <a16:creationId xmlns:a16="http://schemas.microsoft.com/office/drawing/2014/main" id="{337A2344-CC42-4A8C-BD12-210752F74BD3}"/>
              </a:ext>
            </a:extLst>
          </p:cNvPr>
          <p:cNvSpPr>
            <a:spLocks xmlns:a="http://schemas.openxmlformats.org/drawingml/2006/main" noGrp="1"/>
          </p:cNvSpPr>
          <p:nvPr/>
        </p:nvSpPr>
        <p:spPr>
          <a:xfrm xmlns:a="http://schemas.openxmlformats.org/drawingml/2006/main">
            <a:off x="7410450" y="2743200"/>
            <a:ext cx="1524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Random Forest et XGBoost sur rendement futur</a:t>
            </a:r>
          </a:p>
        </p:txBody>
      </p:sp>
      <p:sp>
        <p:nvSpPr>
          <p:cNvPr id="25" name="">
            <a:extLst xmlns:a="http://schemas.openxmlformats.org/drawingml/2006/main">
              <a:ext uri="{FF2B5EF4-FFF2-40B4-BE49-F238E27FC236}">
                <a16:creationId xmlns:a16="http://schemas.microsoft.com/office/drawing/2014/main" id="{AEC3990C-6C8E-4432-9B2E-17DD5F253940}"/>
              </a:ext>
            </a:extLst>
          </p:cNvPr>
          <p:cNvSpPr>
            <a:spLocks xmlns:a="http://schemas.openxmlformats.org/drawingml/2006/main" noGrp="1"/>
          </p:cNvSpPr>
          <p:nvPr/>
        </p:nvSpPr>
        <p:spPr>
          <a:xfrm xmlns:a="http://schemas.openxmlformats.org/drawingml/2006/main">
            <a:off x="7410450" y="4019550"/>
            <a:ext cx="1524000" cy="190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824D0A-3E66-4893-890B-08D2B46FB570}"/>
              </a:ext>
            </a:extLst>
          </p:cNvPr>
          <p:cNvSpPr>
            <a:spLocks xmlns:a="http://schemas.openxmlformats.org/drawingml/2006/main" noGrp="1"/>
          </p:cNvSpPr>
          <p:nvPr/>
        </p:nvSpPr>
        <p:spPr>
          <a:xfrm xmlns:a="http://schemas.openxmlformats.org/drawingml/2006/main">
            <a:off x="7410450" y="42100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975" b="1" i="0">
                <a:solidFill>
                  <a:srgbClr val="173B67"/>
                </a:solidFill>
                <a:latin typeface="Arial"/>
                <a:ea typeface="Arial"/>
                <a:cs typeface="Arial"/>
              </a:defRPr>
            </a:pPr>
            <a:r>
              <a:rPr sz="975" b="1" i="0">
                <a:solidFill>
                  <a:srgbClr val="173B67"/>
                </a:solidFill>
                <a:latin typeface="Arial"/>
                <a:ea typeface="Arial"/>
                <a:cs typeface="Arial"/>
              </a:rPr>
              <a:t>F7 challenger</a:t>
            </a:r>
          </a:p>
        </p:txBody>
      </p:sp>
      <p:sp>
        <p:nvSpPr>
          <p:cNvPr id="27" name="">
            <a:extLst xmlns:a="http://schemas.openxmlformats.org/drawingml/2006/main">
              <a:ext uri="{FF2B5EF4-FFF2-40B4-BE49-F238E27FC236}">
                <a16:creationId xmlns:a16="http://schemas.microsoft.com/office/drawing/2014/main" id="{F8137F48-B5AF-42DD-A74D-2AC6666D4EA0}"/>
              </a:ext>
            </a:extLst>
          </p:cNvPr>
          <p:cNvSpPr>
            <a:spLocks xmlns:a="http://schemas.openxmlformats.org/drawingml/2006/main" noGrp="1"/>
          </p:cNvSpPr>
          <p:nvPr/>
        </p:nvSpPr>
        <p:spPr>
          <a:xfrm xmlns:a="http://schemas.openxmlformats.org/drawingml/2006/main">
            <a:off x="9124950" y="2914650"/>
            <a:ext cx="30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202"/>
          </a:bodyPr>
          <a:lstStyle xmlns:a="http://schemas.openxmlformats.org/drawingml/2006/main"/>
          <a:p xmlns:a="http://schemas.openxmlformats.org/drawingml/2006/main">
            <a:pPr algn="ctr">
              <a:defRPr sz="2025" b="1" i="0">
                <a:solidFill>
                  <a:srgbClr val="5D6675"/>
                </a:solidFill>
                <a:latin typeface="Arial"/>
                <a:ea typeface="Arial"/>
                <a:cs typeface="Arial"/>
              </a:defRPr>
            </a:pPr>
            <a:r>
              <a:rPr sz="2025" b="1" i="0">
                <a:solidFill>
                  <a:srgbClr val="5D6675"/>
                </a:solidFill>
                <a:latin typeface="Arial"/>
                <a:ea typeface="Arial"/>
                <a:cs typeface="Arial"/>
              </a:rPr>
              <a:t>→</a:t>
            </a:r>
          </a:p>
        </p:txBody>
      </p:sp>
      <p:sp>
        <p:nvSpPr>
          <p:cNvPr id="28" name="">
            <a:extLst xmlns:a="http://schemas.openxmlformats.org/drawingml/2006/main">
              <a:ext uri="{FF2B5EF4-FFF2-40B4-BE49-F238E27FC236}">
                <a16:creationId xmlns:a16="http://schemas.microsoft.com/office/drawing/2014/main" id="{FEE66CF4-3552-4F22-9343-4563B2C19B33}"/>
              </a:ext>
            </a:extLst>
          </p:cNvPr>
          <p:cNvSpPr>
            <a:spLocks xmlns:a="http://schemas.openxmlformats.org/drawingml/2006/main" noGrp="1"/>
          </p:cNvSpPr>
          <p:nvPr/>
        </p:nvSpPr>
        <p:spPr>
          <a:xfrm xmlns:a="http://schemas.openxmlformats.org/drawingml/2006/main">
            <a:off x="9429750" y="1752600"/>
            <a:ext cx="1866900" cy="2876550"/>
          </a:xfrm>
          <a:prstGeom xmlns:a="http://schemas.openxmlformats.org/drawingml/2006/main" prst="roundRect">
            <a:avLst>
              <a:gd name="adj" fmla="val 6122"/>
            </a:avLst>
          </a:prstGeom>
          <a:solidFill xmlns:a="http://schemas.openxmlformats.org/drawingml/2006/main">
            <a:srgbClr val="FCE9E7"/>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C8D9930-08EB-4D85-9CEC-ADBB68AA5EA4}"/>
              </a:ext>
            </a:extLst>
          </p:cNvPr>
          <p:cNvSpPr>
            <a:spLocks xmlns:a="http://schemas.openxmlformats.org/drawingml/2006/main" noGrp="1"/>
          </p:cNvSpPr>
          <p:nvPr/>
        </p:nvSpPr>
        <p:spPr>
          <a:xfrm xmlns:a="http://schemas.openxmlformats.org/drawingml/2006/main">
            <a:off x="9601200" y="200025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111827"/>
                </a:solidFill>
                <a:latin typeface="Arial"/>
                <a:ea typeface="Arial"/>
                <a:cs typeface="Arial"/>
              </a:defRPr>
            </a:pPr>
            <a:r>
              <a:rPr sz="1425" b="1" i="0">
                <a:solidFill>
                  <a:srgbClr val="111827"/>
                </a:solidFill>
                <a:latin typeface="Arial"/>
                <a:ea typeface="Arial"/>
                <a:cs typeface="Arial"/>
              </a:rPr>
              <a:t>5 · Coûts</a:t>
            </a:r>
          </a:p>
        </p:txBody>
      </p:sp>
      <p:sp>
        <p:nvSpPr>
          <p:cNvPr id="30" name="">
            <a:extLst xmlns:a="http://schemas.openxmlformats.org/drawingml/2006/main">
              <a:ext uri="{FF2B5EF4-FFF2-40B4-BE49-F238E27FC236}">
                <a16:creationId xmlns:a16="http://schemas.microsoft.com/office/drawing/2014/main" id="{C13CAFBA-64DA-4BDF-8C81-218E3DF5A516}"/>
              </a:ext>
            </a:extLst>
          </p:cNvPr>
          <p:cNvSpPr>
            <a:spLocks xmlns:a="http://schemas.openxmlformats.org/drawingml/2006/main" noGrp="1"/>
          </p:cNvSpPr>
          <p:nvPr/>
        </p:nvSpPr>
        <p:spPr>
          <a:xfrm xmlns:a="http://schemas.openxmlformats.org/drawingml/2006/main">
            <a:off x="9601200" y="2743200"/>
            <a:ext cx="1524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Pénalité de turnover et régularisation de μ</a:t>
            </a:r>
          </a:p>
        </p:txBody>
      </p:sp>
      <p:sp>
        <p:nvSpPr>
          <p:cNvPr id="31" name="">
            <a:extLst xmlns:a="http://schemas.openxmlformats.org/drawingml/2006/main">
              <a:ext uri="{FF2B5EF4-FFF2-40B4-BE49-F238E27FC236}">
                <a16:creationId xmlns:a16="http://schemas.microsoft.com/office/drawing/2014/main" id="{DBAF58F6-55F1-4E03-BFFD-E20F07E6FD54}"/>
              </a:ext>
            </a:extLst>
          </p:cNvPr>
          <p:cNvSpPr>
            <a:spLocks xmlns:a="http://schemas.openxmlformats.org/drawingml/2006/main" noGrp="1"/>
          </p:cNvSpPr>
          <p:nvPr/>
        </p:nvSpPr>
        <p:spPr>
          <a:xfrm xmlns:a="http://schemas.openxmlformats.org/drawingml/2006/main">
            <a:off x="9601200" y="4019550"/>
            <a:ext cx="1524000" cy="190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6A2172E-8D3C-4513-BD24-4846401F5AA0}"/>
              </a:ext>
            </a:extLst>
          </p:cNvPr>
          <p:cNvSpPr>
            <a:spLocks xmlns:a="http://schemas.openxmlformats.org/drawingml/2006/main" noGrp="1"/>
          </p:cNvSpPr>
          <p:nvPr/>
        </p:nvSpPr>
        <p:spPr>
          <a:xfrm xmlns:a="http://schemas.openxmlformats.org/drawingml/2006/main">
            <a:off x="9601200" y="42100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975" b="1" i="0">
                <a:solidFill>
                  <a:srgbClr val="B7433E"/>
                </a:solidFill>
                <a:latin typeface="Arial"/>
                <a:ea typeface="Arial"/>
                <a:cs typeface="Arial"/>
              </a:defRPr>
            </a:pPr>
            <a:r>
              <a:rPr sz="975" b="1" i="0">
                <a:solidFill>
                  <a:srgbClr val="B7433E"/>
                </a:solidFill>
                <a:latin typeface="Arial"/>
                <a:ea typeface="Arial"/>
                <a:cs typeface="Arial"/>
              </a:rPr>
              <a:t>Contrainte réelle</a:t>
            </a:r>
          </a:p>
        </p:txBody>
      </p:sp>
      <p:sp>
        <p:nvSpPr>
          <p:cNvPr id="33" name="">
            <a:extLst xmlns:a="http://schemas.openxmlformats.org/drawingml/2006/main">
              <a:ext uri="{FF2B5EF4-FFF2-40B4-BE49-F238E27FC236}">
                <a16:creationId xmlns:a16="http://schemas.microsoft.com/office/drawing/2014/main" id="{EEBE8521-823B-4ED4-AB4A-A2E111106FEE}"/>
              </a:ext>
            </a:extLst>
          </p:cNvPr>
          <p:cNvSpPr>
            <a:spLocks xmlns:a="http://schemas.openxmlformats.org/drawingml/2006/main" noGrp="1"/>
          </p:cNvSpPr>
          <p:nvPr/>
        </p:nvSpPr>
        <p:spPr>
          <a:xfrm xmlns:a="http://schemas.openxmlformats.org/drawingml/2006/main">
            <a:off x="666750" y="5143500"/>
            <a:ext cx="10629900" cy="800100"/>
          </a:xfrm>
          <a:prstGeom xmlns:a="http://schemas.openxmlformats.org/drawingml/2006/main" prst="roundRect">
            <a:avLst>
              <a:gd name="adj" fmla="val 14286"/>
            </a:avLst>
          </a:prstGeom>
          <a:solidFill xmlns:a="http://schemas.openxmlformats.org/drawingml/2006/main">
            <a:srgbClr val="173B67"/>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F1FC2210-6783-4350-8A9E-45E936235CE8}"/>
              </a:ext>
            </a:extLst>
          </p:cNvPr>
          <p:cNvSpPr>
            <a:spLocks xmlns:a="http://schemas.openxmlformats.org/drawingml/2006/main" noGrp="1"/>
          </p:cNvSpPr>
          <p:nvPr/>
        </p:nvSpPr>
        <p:spPr>
          <a:xfrm xmlns:a="http://schemas.openxmlformats.org/drawingml/2006/main">
            <a:off x="914400" y="5362575"/>
            <a:ext cx="10134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616"/>
          </a:bodyPr>
          <a:lstStyle xmlns:a="http://schemas.openxmlformats.org/drawingml/2006/main"/>
          <a:p xmlns:a="http://schemas.openxmlformats.org/drawingml/2006/main">
            <a:pPr algn="ctr">
              <a:defRPr sz="1650" b="1" i="0">
                <a:solidFill>
                  <a:srgbClr val="FFFFFF"/>
                </a:solidFill>
                <a:latin typeface="Arial"/>
                <a:ea typeface="Arial"/>
                <a:cs typeface="Arial"/>
              </a:defRPr>
            </a:pPr>
            <a:r>
              <a:rPr sz="1650" b="1" i="0">
                <a:solidFill>
                  <a:srgbClr val="FFFFFF"/>
                </a:solidFill>
                <a:latin typeface="Arial"/>
                <a:ea typeface="Arial"/>
                <a:cs typeface="Arial"/>
              </a:rPr>
              <a:t>Chaque palier doit battre la référence hors échantillon après coûts — sinon il reste un challenger exploratoire.</a:t>
            </a:r>
          </a:p>
        </p:txBody>
      </p:sp>
    </p:spTree>
    <p:extLst>
      <p:ext uri="{BB962C8B-B14F-4D97-AF65-F5344CB8AC3E}">
        <p14:creationId xmlns:p14="http://schemas.microsoft.com/office/powerpoint/2010/main" val="17560761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53A678A-5EBB-4A2F-93B5-E5529489553C}"/>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ÉVALUATION</a:t>
            </a:r>
          </a:p>
        </p:txBody>
      </p:sp>
      <p:sp>
        <p:nvSpPr>
          <p:cNvPr id="2" name="">
            <a:extLst xmlns:a="http://schemas.openxmlformats.org/drawingml/2006/main">
              <a:ext uri="{FF2B5EF4-FFF2-40B4-BE49-F238E27FC236}">
                <a16:creationId xmlns:a16="http://schemas.microsoft.com/office/drawing/2014/main" id="{138E42C2-9C60-4EE5-91E0-751D41E3FE82}"/>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Le protocole de validation simule la décision séquentielle</a:t>
            </a:r>
          </a:p>
        </p:txBody>
      </p:sp>
      <p:sp>
        <p:nvSpPr>
          <p:cNvPr id="3" name="">
            <a:extLst xmlns:a="http://schemas.openxmlformats.org/drawingml/2006/main">
              <a:ext uri="{FF2B5EF4-FFF2-40B4-BE49-F238E27FC236}">
                <a16:creationId xmlns:a16="http://schemas.microsoft.com/office/drawing/2014/main" id="{485222A4-9EB4-4995-8004-AFB8315CDC65}"/>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4B90920F-70A7-4224-9817-F1B611DBE50F}"/>
              </a:ext>
            </a:extLst>
          </p:cNvPr>
          <p:cNvSpPr>
            <a:spLocks xmlns:a="http://schemas.openxmlformats.org/drawingml/2006/main" noGrp="1"/>
          </p:cNvSpPr>
          <p:nvPr/>
        </p:nvSpPr>
        <p:spPr>
          <a:xfrm xmlns:a="http://schemas.openxmlformats.org/drawingml/2006/main">
            <a:off x="609600" y="1295400"/>
            <a:ext cx="7524750" cy="4171950"/>
          </a:xfrm>
          <a:prstGeom xmlns:a="http://schemas.openxmlformats.org/drawingml/2006/main" prst="roundRect">
            <a:avLst>
              <a:gd name="adj" fmla="val 2740"/>
            </a:avLst>
          </a:prstGeom>
          <a:solidFill xmlns:a="http://schemas.openxmlformats.org/drawingml/2006/main">
            <a:srgbClr val="F3F4F6"/>
          </a:solidFill>
          <a:ln xmlns:a="http://schemas.openxmlformats.org/drawingml/2006/main" w="9525">
            <a:solidFill>
              <a:srgbClr val="D1D5DB"/>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8155f48680340c9"/>
          <a:stretch xmlns:a="http://schemas.openxmlformats.org/drawingml/2006/main"/>
        </p:blipFill>
        <p:spPr>
          <a:xfrm xmlns:a="http://schemas.openxmlformats.org/drawingml/2006/main">
            <a:off x="723900" y="1859649"/>
            <a:ext cx="7296150" cy="3043452"/>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2FE136F-B539-4E9E-84B5-0C1B9E1D93A5}"/>
              </a:ext>
            </a:extLst>
          </p:cNvPr>
          <p:cNvSpPr>
            <a:spLocks xmlns:a="http://schemas.openxmlformats.org/drawingml/2006/main" noGrp="1"/>
          </p:cNvSpPr>
          <p:nvPr/>
        </p:nvSpPr>
        <p:spPr>
          <a:xfrm xmlns:a="http://schemas.openxmlformats.org/drawingml/2006/main">
            <a:off x="8572500" y="1571625"/>
            <a:ext cx="76200" cy="7620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0B41F9A-C159-46E7-A1A9-48AD293EF48F}"/>
              </a:ext>
            </a:extLst>
          </p:cNvPr>
          <p:cNvSpPr>
            <a:spLocks xmlns:a="http://schemas.openxmlformats.org/drawingml/2006/main" noGrp="1"/>
          </p:cNvSpPr>
          <p:nvPr/>
        </p:nvSpPr>
        <p:spPr>
          <a:xfrm xmlns:a="http://schemas.openxmlformats.org/drawingml/2006/main">
            <a:off x="8782050" y="1504950"/>
            <a:ext cx="2647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Walk-forward purgé</a:t>
            </a:r>
          </a:p>
        </p:txBody>
      </p:sp>
      <p:sp>
        <p:nvSpPr>
          <p:cNvPr id="8" name="">
            <a:extLst xmlns:a="http://schemas.openxmlformats.org/drawingml/2006/main">
              <a:ext uri="{FF2B5EF4-FFF2-40B4-BE49-F238E27FC236}">
                <a16:creationId xmlns:a16="http://schemas.microsoft.com/office/drawing/2014/main" id="{CF661B3C-A66E-4248-B7A6-3D3574EF1FAD}"/>
              </a:ext>
            </a:extLst>
          </p:cNvPr>
          <p:cNvSpPr>
            <a:spLocks xmlns:a="http://schemas.openxmlformats.org/drawingml/2006/main" noGrp="1"/>
          </p:cNvSpPr>
          <p:nvPr/>
        </p:nvSpPr>
        <p:spPr>
          <a:xfrm xmlns:a="http://schemas.openxmlformats.org/drawingml/2006/main">
            <a:off x="8782050" y="1781175"/>
            <a:ext cx="2647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95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Aucune date future dans l’entraînement; purge et embargo aux frontières.</a:t>
            </a:r>
          </a:p>
        </p:txBody>
      </p:sp>
      <p:sp>
        <p:nvSpPr>
          <p:cNvPr id="9" name="">
            <a:extLst xmlns:a="http://schemas.openxmlformats.org/drawingml/2006/main">
              <a:ext uri="{FF2B5EF4-FFF2-40B4-BE49-F238E27FC236}">
                <a16:creationId xmlns:a16="http://schemas.microsoft.com/office/drawing/2014/main" id="{FFDD9A8C-89F1-43F4-B3AF-D44046AABDE8}"/>
              </a:ext>
            </a:extLst>
          </p:cNvPr>
          <p:cNvSpPr>
            <a:spLocks xmlns:a="http://schemas.openxmlformats.org/drawingml/2006/main" noGrp="1"/>
          </p:cNvSpPr>
          <p:nvPr/>
        </p:nvSpPr>
        <p:spPr>
          <a:xfrm xmlns:a="http://schemas.openxmlformats.org/drawingml/2006/main">
            <a:off x="8572500" y="2733675"/>
            <a:ext cx="76200" cy="76200"/>
          </a:xfrm>
          <a:prstGeom xmlns:a="http://schemas.openxmlformats.org/drawingml/2006/main" prst="roundRect">
            <a:avLst>
              <a:gd name="adj" fmla="val 50000"/>
            </a:avLst>
          </a:prstGeom>
          <a:solidFill xmlns:a="http://schemas.openxmlformats.org/drawingml/2006/main">
            <a:srgbClr val="0F766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E61B12C-B5B4-489C-84AA-BF54E29BB769}"/>
              </a:ext>
            </a:extLst>
          </p:cNvPr>
          <p:cNvSpPr>
            <a:spLocks xmlns:a="http://schemas.openxmlformats.org/drawingml/2006/main" noGrp="1"/>
          </p:cNvSpPr>
          <p:nvPr/>
        </p:nvSpPr>
        <p:spPr>
          <a:xfrm xmlns:a="http://schemas.openxmlformats.org/drawingml/2006/main">
            <a:off x="8782050" y="2667000"/>
            <a:ext cx="2647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Test final gelé</a:t>
            </a:r>
          </a:p>
        </p:txBody>
      </p:sp>
      <p:sp>
        <p:nvSpPr>
          <p:cNvPr id="11" name="">
            <a:extLst xmlns:a="http://schemas.openxmlformats.org/drawingml/2006/main">
              <a:ext uri="{FF2B5EF4-FFF2-40B4-BE49-F238E27FC236}">
                <a16:creationId xmlns:a16="http://schemas.microsoft.com/office/drawing/2014/main" id="{95C93D7D-39AE-4EAB-AB7A-4655151F39DA}"/>
              </a:ext>
            </a:extLst>
          </p:cNvPr>
          <p:cNvSpPr>
            <a:spLocks xmlns:a="http://schemas.openxmlformats.org/drawingml/2006/main" noGrp="1"/>
          </p:cNvSpPr>
          <p:nvPr/>
        </p:nvSpPr>
        <p:spPr>
          <a:xfrm xmlns:a="http://schemas.openxmlformats.org/drawingml/2006/main">
            <a:off x="8782050" y="2943225"/>
            <a:ext cx="2647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Le dernier segment reste intact jusqu’à la comparaison finale.</a:t>
            </a:r>
          </a:p>
        </p:txBody>
      </p:sp>
      <p:sp>
        <p:nvSpPr>
          <p:cNvPr id="12" name="">
            <a:extLst xmlns:a="http://schemas.openxmlformats.org/drawingml/2006/main">
              <a:ext uri="{FF2B5EF4-FFF2-40B4-BE49-F238E27FC236}">
                <a16:creationId xmlns:a16="http://schemas.microsoft.com/office/drawing/2014/main" id="{5B7B6569-821A-4EE8-87AA-447BA68240A9}"/>
              </a:ext>
            </a:extLst>
          </p:cNvPr>
          <p:cNvSpPr>
            <a:spLocks xmlns:a="http://schemas.openxmlformats.org/drawingml/2006/main" noGrp="1"/>
          </p:cNvSpPr>
          <p:nvPr/>
        </p:nvSpPr>
        <p:spPr>
          <a:xfrm xmlns:a="http://schemas.openxmlformats.org/drawingml/2006/main">
            <a:off x="8572500" y="3895725"/>
            <a:ext cx="76200" cy="76200"/>
          </a:xfrm>
          <a:prstGeom xmlns:a="http://schemas.openxmlformats.org/drawingml/2006/main" prst="roundRect">
            <a:avLst>
              <a:gd name="adj" fmla="val 50000"/>
            </a:avLst>
          </a:prstGeom>
          <a:solidFill xmlns:a="http://schemas.openxmlformats.org/drawingml/2006/main">
            <a:srgbClr val="A8681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15242FF-EC2A-4E3E-8D53-F876F54695E6}"/>
              </a:ext>
            </a:extLst>
          </p:cNvPr>
          <p:cNvSpPr>
            <a:spLocks xmlns:a="http://schemas.openxmlformats.org/drawingml/2006/main" noGrp="1"/>
          </p:cNvSpPr>
          <p:nvPr/>
        </p:nvSpPr>
        <p:spPr>
          <a:xfrm xmlns:a="http://schemas.openxmlformats.org/drawingml/2006/main">
            <a:off x="8782050" y="3829050"/>
            <a:ext cx="2647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Comparaison appariée</a:t>
            </a:r>
          </a:p>
        </p:txBody>
      </p:sp>
      <p:sp>
        <p:nvSpPr>
          <p:cNvPr id="14" name="">
            <a:extLst xmlns:a="http://schemas.openxmlformats.org/drawingml/2006/main">
              <a:ext uri="{FF2B5EF4-FFF2-40B4-BE49-F238E27FC236}">
                <a16:creationId xmlns:a16="http://schemas.microsoft.com/office/drawing/2014/main" id="{D12889B0-09BE-4117-81B8-F91873CAEA2A}"/>
              </a:ext>
            </a:extLst>
          </p:cNvPr>
          <p:cNvSpPr>
            <a:spLocks xmlns:a="http://schemas.openxmlformats.org/drawingml/2006/main" noGrp="1"/>
          </p:cNvSpPr>
          <p:nvPr/>
        </p:nvSpPr>
        <p:spPr>
          <a:xfrm xmlns:a="http://schemas.openxmlformats.org/drawingml/2006/main">
            <a:off x="8782050" y="4105275"/>
            <a:ext cx="2647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Même calendrier et mêmes blocs pour deux stratégies comparées.</a:t>
            </a:r>
          </a:p>
        </p:txBody>
      </p:sp>
      <p:sp>
        <p:nvSpPr>
          <p:cNvPr id="15" name="">
            <a:extLst xmlns:a="http://schemas.openxmlformats.org/drawingml/2006/main">
              <a:ext uri="{FF2B5EF4-FFF2-40B4-BE49-F238E27FC236}">
                <a16:creationId xmlns:a16="http://schemas.microsoft.com/office/drawing/2014/main" id="{065AAAE4-F27F-4B03-8451-DC87841DD527}"/>
              </a:ext>
            </a:extLst>
          </p:cNvPr>
          <p:cNvSpPr>
            <a:spLocks xmlns:a="http://schemas.openxmlformats.org/drawingml/2006/main" noGrp="1"/>
          </p:cNvSpPr>
          <p:nvPr/>
        </p:nvSpPr>
        <p:spPr>
          <a:xfrm xmlns:a="http://schemas.openxmlformats.org/drawingml/2006/main">
            <a:off x="8572500" y="5057775"/>
            <a:ext cx="76200" cy="76200"/>
          </a:xfrm>
          <a:prstGeom xmlns:a="http://schemas.openxmlformats.org/drawingml/2006/main" prst="roundRect">
            <a:avLst>
              <a:gd name="adj" fmla="val 50000"/>
            </a:avLst>
          </a:prstGeom>
          <a:solidFill xmlns:a="http://schemas.openxmlformats.org/drawingml/2006/main">
            <a:srgbClr val="B7433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49D0F2B-E82D-4B97-99F8-7F692D4E9B16}"/>
              </a:ext>
            </a:extLst>
          </p:cNvPr>
          <p:cNvSpPr>
            <a:spLocks xmlns:a="http://schemas.openxmlformats.org/drawingml/2006/main" noGrp="1"/>
          </p:cNvSpPr>
          <p:nvPr/>
        </p:nvSpPr>
        <p:spPr>
          <a:xfrm xmlns:a="http://schemas.openxmlformats.org/drawingml/2006/main">
            <a:off x="8782050" y="4991100"/>
            <a:ext cx="2647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Recherche corrigée</a:t>
            </a:r>
          </a:p>
        </p:txBody>
      </p:sp>
      <p:sp>
        <p:nvSpPr>
          <p:cNvPr id="17" name="">
            <a:extLst xmlns:a="http://schemas.openxmlformats.org/drawingml/2006/main">
              <a:ext uri="{FF2B5EF4-FFF2-40B4-BE49-F238E27FC236}">
                <a16:creationId xmlns:a16="http://schemas.microsoft.com/office/drawing/2014/main" id="{38984E77-1424-4D4D-95B8-0CCC27D145D9}"/>
              </a:ext>
            </a:extLst>
          </p:cNvPr>
          <p:cNvSpPr>
            <a:spLocks xmlns:a="http://schemas.openxmlformats.org/drawingml/2006/main" noGrp="1"/>
          </p:cNvSpPr>
          <p:nvPr/>
        </p:nvSpPr>
        <p:spPr>
          <a:xfrm xmlns:a="http://schemas.openxmlformats.org/drawingml/2006/main">
            <a:off x="8782050" y="5267325"/>
            <a:ext cx="2647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White Reality Check et Hansen SPA sur 240 configurations.</a:t>
            </a:r>
          </a:p>
        </p:txBody>
      </p:sp>
    </p:spTree>
    <p:extLst>
      <p:ext uri="{BB962C8B-B14F-4D97-AF65-F5344CB8AC3E}">
        <p14:creationId xmlns:p14="http://schemas.microsoft.com/office/powerpoint/2010/main" val="6882581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FDA417E-03A9-4B71-8852-62BDDB012D07}"/>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INTÉGRITÉ SCIENTIFIQUE</a:t>
            </a:r>
          </a:p>
        </p:txBody>
      </p:sp>
      <p:sp>
        <p:nvSpPr>
          <p:cNvPr id="2" name="">
            <a:extLst xmlns:a="http://schemas.openxmlformats.org/drawingml/2006/main">
              <a:ext uri="{FF2B5EF4-FFF2-40B4-BE49-F238E27FC236}">
                <a16:creationId xmlns:a16="http://schemas.microsoft.com/office/drawing/2014/main" id="{6490E689-CDCE-43B1-B8A0-2C29C01647A8}"/>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Trois corrections ont réduit — puis inversé — le headline</a:t>
            </a:r>
          </a:p>
        </p:txBody>
      </p:sp>
      <p:sp>
        <p:nvSpPr>
          <p:cNvPr id="3" name="">
            <a:extLst xmlns:a="http://schemas.openxmlformats.org/drawingml/2006/main">
              <a:ext uri="{FF2B5EF4-FFF2-40B4-BE49-F238E27FC236}">
                <a16:creationId xmlns:a16="http://schemas.microsoft.com/office/drawing/2014/main" id="{64D14BF5-9D90-4C32-9132-58F22E59D6E6}"/>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0F2C13E3-930B-486F-B36C-5C1D68B54706}"/>
              </a:ext>
            </a:extLst>
          </p:cNvPr>
          <p:cNvSpPr>
            <a:spLocks xmlns:a="http://schemas.openxmlformats.org/drawingml/2006/main" noGrp="1"/>
          </p:cNvSpPr>
          <p:nvPr/>
        </p:nvSpPr>
        <p:spPr>
          <a:xfrm xmlns:a="http://schemas.openxmlformats.org/drawingml/2006/main">
            <a:off x="609600" y="1257300"/>
            <a:ext cx="7429500" cy="4457700"/>
          </a:xfrm>
          <a:prstGeom xmlns:a="http://schemas.openxmlformats.org/drawingml/2006/main" prst="roundRect">
            <a:avLst>
              <a:gd name="adj" fmla="val 2564"/>
            </a:avLst>
          </a:prstGeom>
          <a:solidFill xmlns:a="http://schemas.openxmlformats.org/drawingml/2006/main">
            <a:srgbClr val="F3F4F6"/>
          </a:solidFill>
          <a:ln xmlns:a="http://schemas.openxmlformats.org/drawingml/2006/main" w="9525">
            <a:solidFill>
              <a:srgbClr val="D1D5DB"/>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b4775df65374d91"/>
          <a:stretch xmlns:a="http://schemas.openxmlformats.org/drawingml/2006/main"/>
        </p:blipFill>
        <p:spPr>
          <a:xfrm xmlns:a="http://schemas.openxmlformats.org/drawingml/2006/main">
            <a:off x="723900" y="1665545"/>
            <a:ext cx="7200900" cy="364121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34BCDC7-0D91-47D3-9E91-79EC1A06065B}"/>
              </a:ext>
            </a:extLst>
          </p:cNvPr>
          <p:cNvSpPr>
            <a:spLocks xmlns:a="http://schemas.openxmlformats.org/drawingml/2006/main" noGrp="1"/>
          </p:cNvSpPr>
          <p:nvPr/>
        </p:nvSpPr>
        <p:spPr>
          <a:xfrm xmlns:a="http://schemas.openxmlformats.org/drawingml/2006/main">
            <a:off x="8610600" y="146685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defRPr sz="2700" b="1" i="0">
                <a:solidFill>
                  <a:srgbClr val="5D6675"/>
                </a:solidFill>
                <a:latin typeface="Arial"/>
                <a:ea typeface="Arial"/>
                <a:cs typeface="Arial"/>
              </a:defRPr>
            </a:pPr>
            <a:r>
              <a:rPr sz="2700" b="1" i="0">
                <a:solidFill>
                  <a:srgbClr val="5D6675"/>
                </a:solidFill>
                <a:latin typeface="Arial"/>
                <a:ea typeface="Arial"/>
                <a:cs typeface="Arial"/>
              </a:rPr>
              <a:t>+14,3 %</a:t>
            </a:r>
          </a:p>
        </p:txBody>
      </p:sp>
      <p:sp>
        <p:nvSpPr>
          <p:cNvPr id="7" name="">
            <a:extLst xmlns:a="http://schemas.openxmlformats.org/drawingml/2006/main">
              <a:ext uri="{FF2B5EF4-FFF2-40B4-BE49-F238E27FC236}">
                <a16:creationId xmlns:a16="http://schemas.microsoft.com/office/drawing/2014/main" id="{6BAC6F26-CBC3-461B-BAD9-DF7E88DEEDBF}"/>
              </a:ext>
            </a:extLst>
          </p:cNvPr>
          <p:cNvSpPr>
            <a:spLocks xmlns:a="http://schemas.openxmlformats.org/drawingml/2006/main" noGrp="1"/>
          </p:cNvSpPr>
          <p:nvPr/>
        </p:nvSpPr>
        <p:spPr>
          <a:xfrm xmlns:a="http://schemas.openxmlformats.org/drawingml/2006/main">
            <a:off x="8610600" y="19431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Avant correction des dividendes BVC</a:t>
            </a:r>
          </a:p>
        </p:txBody>
      </p:sp>
      <p:sp>
        <p:nvSpPr>
          <p:cNvPr id="8" name="">
            <a:extLst xmlns:a="http://schemas.openxmlformats.org/drawingml/2006/main">
              <a:ext uri="{FF2B5EF4-FFF2-40B4-BE49-F238E27FC236}">
                <a16:creationId xmlns:a16="http://schemas.microsoft.com/office/drawing/2014/main" id="{B3DEF90B-B3E8-47D6-8588-AA567C14972A}"/>
              </a:ext>
            </a:extLst>
          </p:cNvPr>
          <p:cNvSpPr>
            <a:spLocks xmlns:a="http://schemas.openxmlformats.org/drawingml/2006/main" noGrp="1"/>
          </p:cNvSpPr>
          <p:nvPr/>
        </p:nvSpPr>
        <p:spPr>
          <a:xfrm xmlns:a="http://schemas.openxmlformats.org/drawingml/2006/main">
            <a:off x="8610600" y="272415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defRPr sz="2700" b="1" i="0">
                <a:solidFill>
                  <a:srgbClr val="A86812"/>
                </a:solidFill>
                <a:latin typeface="Arial"/>
                <a:ea typeface="Arial"/>
                <a:cs typeface="Arial"/>
              </a:defRPr>
            </a:pPr>
            <a:r>
              <a:rPr sz="2700" b="1" i="0">
                <a:solidFill>
                  <a:srgbClr val="A86812"/>
                </a:solidFill>
                <a:latin typeface="Arial"/>
                <a:ea typeface="Arial"/>
                <a:cs typeface="Arial"/>
              </a:rPr>
              <a:t>+6,2 %</a:t>
            </a:r>
          </a:p>
        </p:txBody>
      </p:sp>
      <p:sp>
        <p:nvSpPr>
          <p:cNvPr id="9" name="">
            <a:extLst xmlns:a="http://schemas.openxmlformats.org/drawingml/2006/main">
              <a:ext uri="{FF2B5EF4-FFF2-40B4-BE49-F238E27FC236}">
                <a16:creationId xmlns:a16="http://schemas.microsoft.com/office/drawing/2014/main" id="{E6229D8C-CD75-4A06-8352-195EFFA12384}"/>
              </a:ext>
            </a:extLst>
          </p:cNvPr>
          <p:cNvSpPr>
            <a:spLocks xmlns:a="http://schemas.openxmlformats.org/drawingml/2006/main" noGrp="1"/>
          </p:cNvSpPr>
          <p:nvPr/>
        </p:nvSpPr>
        <p:spPr>
          <a:xfrm xmlns:a="http://schemas.openxmlformats.org/drawingml/2006/main">
            <a:off x="8610600" y="32004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Après dividendes et historique ETF profond</a:t>
            </a:r>
          </a:p>
        </p:txBody>
      </p:sp>
      <p:sp>
        <p:nvSpPr>
          <p:cNvPr id="10" name="">
            <a:extLst xmlns:a="http://schemas.openxmlformats.org/drawingml/2006/main">
              <a:ext uri="{FF2B5EF4-FFF2-40B4-BE49-F238E27FC236}">
                <a16:creationId xmlns:a16="http://schemas.microsoft.com/office/drawing/2014/main" id="{14D2FA8F-2067-4E1F-9029-13CDAF5582C3}"/>
              </a:ext>
            </a:extLst>
          </p:cNvPr>
          <p:cNvSpPr>
            <a:spLocks xmlns:a="http://schemas.openxmlformats.org/drawingml/2006/main" noGrp="1"/>
          </p:cNvSpPr>
          <p:nvPr/>
        </p:nvSpPr>
        <p:spPr>
          <a:xfrm xmlns:a="http://schemas.openxmlformats.org/drawingml/2006/main">
            <a:off x="8610600" y="3981450"/>
            <a:ext cx="257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598"/>
          </a:bodyPr>
          <a:lstStyle xmlns:a="http://schemas.openxmlformats.org/drawingml/2006/main"/>
          <a:p xmlns:a="http://schemas.openxmlformats.org/drawingml/2006/main">
            <a:pPr algn="l">
              <a:defRPr sz="2925" b="1" i="0">
                <a:solidFill>
                  <a:srgbClr val="B7433E"/>
                </a:solidFill>
                <a:latin typeface="Arial"/>
                <a:ea typeface="Arial"/>
                <a:cs typeface="Arial"/>
              </a:defRPr>
            </a:pPr>
            <a:r>
              <a:rPr sz="2925" b="1" i="0">
                <a:solidFill>
                  <a:srgbClr val="B7433E"/>
                </a:solidFill>
                <a:latin typeface="Arial"/>
                <a:ea typeface="Arial"/>
                <a:cs typeface="Arial"/>
              </a:rPr>
              <a:t>−10,47 %</a:t>
            </a:r>
          </a:p>
        </p:txBody>
      </p:sp>
      <p:sp>
        <p:nvSpPr>
          <p:cNvPr id="11" name="">
            <a:extLst xmlns:a="http://schemas.openxmlformats.org/drawingml/2006/main">
              <a:ext uri="{FF2B5EF4-FFF2-40B4-BE49-F238E27FC236}">
                <a16:creationId xmlns:a16="http://schemas.microsoft.com/office/drawing/2014/main" id="{DA96A692-928A-4833-8A68-948744BD74A5}"/>
              </a:ext>
            </a:extLst>
          </p:cNvPr>
          <p:cNvSpPr>
            <a:spLocks xmlns:a="http://schemas.openxmlformats.org/drawingml/2006/main" noGrp="1"/>
          </p:cNvSpPr>
          <p:nvPr/>
        </p:nvSpPr>
        <p:spPr>
          <a:xfrm xmlns:a="http://schemas.openxmlformats.org/drawingml/2006/main">
            <a:off x="8610600" y="44958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1" i="0">
                <a:solidFill>
                  <a:srgbClr val="111827"/>
                </a:solidFill>
                <a:latin typeface="Arial"/>
                <a:ea typeface="Arial"/>
                <a:cs typeface="Arial"/>
              </a:defRPr>
            </a:pPr>
            <a:r>
              <a:rPr sz="1200" b="1" i="0">
                <a:solidFill>
                  <a:srgbClr val="111827"/>
                </a:solidFill>
                <a:latin typeface="Arial"/>
                <a:ea typeface="Arial"/>
                <a:cs typeface="Arial"/>
              </a:rPr>
              <a:t>Après conversion officielle en MAD</a:t>
            </a:r>
          </a:p>
        </p:txBody>
      </p:sp>
      <p:sp>
        <p:nvSpPr>
          <p:cNvPr id="12" name="">
            <a:extLst xmlns:a="http://schemas.openxmlformats.org/drawingml/2006/main">
              <a:ext uri="{FF2B5EF4-FFF2-40B4-BE49-F238E27FC236}">
                <a16:creationId xmlns:a16="http://schemas.microsoft.com/office/drawing/2014/main" id="{1A30A322-48D8-45A4-82AC-EF967F97EA65}"/>
              </a:ext>
            </a:extLst>
          </p:cNvPr>
          <p:cNvSpPr>
            <a:spLocks xmlns:a="http://schemas.openxmlformats.org/drawingml/2006/main" noGrp="1"/>
          </p:cNvSpPr>
          <p:nvPr/>
        </p:nvSpPr>
        <p:spPr>
          <a:xfrm xmlns:a="http://schemas.openxmlformats.org/drawingml/2006/main">
            <a:off x="8458200" y="5238750"/>
            <a:ext cx="2952750" cy="723900"/>
          </a:xfrm>
          <a:prstGeom xmlns:a="http://schemas.openxmlformats.org/drawingml/2006/main" prst="roundRect">
            <a:avLst>
              <a:gd name="adj" fmla="val 15789"/>
            </a:avLst>
          </a:prstGeom>
          <a:solidFill xmlns:a="http://schemas.openxmlformats.org/drawingml/2006/main">
            <a:srgbClr val="FCE9E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02158D-E0EF-4D0E-A643-690EB4862934}"/>
              </a:ext>
            </a:extLst>
          </p:cNvPr>
          <p:cNvSpPr>
            <a:spLocks xmlns:a="http://schemas.openxmlformats.org/drawingml/2006/main" noGrp="1"/>
          </p:cNvSpPr>
          <p:nvPr/>
        </p:nvSpPr>
        <p:spPr>
          <a:xfrm xmlns:a="http://schemas.openxmlformats.org/drawingml/2006/main">
            <a:off x="8648700" y="54292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510"/>
          </a:bodyPr>
          <a:lstStyle xmlns:a="http://schemas.openxmlformats.org/drawingml/2006/main"/>
          <a:p xmlns:a="http://schemas.openxmlformats.org/drawingml/2006/main">
            <a:pPr algn="ctr">
              <a:defRPr sz="1275" b="1" i="0">
                <a:solidFill>
                  <a:srgbClr val="B7433E"/>
                </a:solidFill>
                <a:latin typeface="Arial"/>
                <a:ea typeface="Arial"/>
                <a:cs typeface="Arial"/>
              </a:defRPr>
            </a:pPr>
            <a:r>
              <a:rPr sz="1275" b="1" i="0">
                <a:solidFill>
                  <a:srgbClr val="B7433E"/>
                </a:solidFill>
                <a:latin typeface="Arial"/>
                <a:ea typeface="Arial"/>
                <a:cs typeface="Arial"/>
              </a:rPr>
              <a:t>Une pipeline crédible doit pouvoir invalider sa propre histoire.</a:t>
            </a:r>
          </a:p>
        </p:txBody>
      </p:sp>
    </p:spTree>
    <p:extLst>
      <p:ext uri="{BB962C8B-B14F-4D97-AF65-F5344CB8AC3E}">
        <p14:creationId xmlns:p14="http://schemas.microsoft.com/office/powerpoint/2010/main" val="2719796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458BD3D-D565-4E61-AB77-B7E9EB36ECD3}"/>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RÉSULTATS</a:t>
            </a:r>
          </a:p>
        </p:txBody>
      </p:sp>
      <p:sp>
        <p:nvSpPr>
          <p:cNvPr id="2" name="">
            <a:extLst xmlns:a="http://schemas.openxmlformats.org/drawingml/2006/main">
              <a:ext uri="{FF2B5EF4-FFF2-40B4-BE49-F238E27FC236}">
                <a16:creationId xmlns:a16="http://schemas.microsoft.com/office/drawing/2014/main" id="{FC0BF9D7-8684-4F38-BC75-193EA3F7D482}"/>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Résultat actuel : le ML ne bat pas Markowitz</a:t>
            </a:r>
          </a:p>
        </p:txBody>
      </p:sp>
      <p:sp>
        <p:nvSpPr>
          <p:cNvPr id="3" name="">
            <a:extLst xmlns:a="http://schemas.openxmlformats.org/drawingml/2006/main">
              <a:ext uri="{FF2B5EF4-FFF2-40B4-BE49-F238E27FC236}">
                <a16:creationId xmlns:a16="http://schemas.microsoft.com/office/drawing/2014/main" id="{B2C9D084-6259-470C-94C4-30F58D2D2E47}"/>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08B61240-1646-4C2B-86CD-7F54A3E4B2B1}"/>
              </a:ext>
            </a:extLst>
          </p:cNvPr>
          <p:cNvSpPr>
            <a:spLocks xmlns:a="http://schemas.openxmlformats.org/drawingml/2006/main" noGrp="1"/>
          </p:cNvSpPr>
          <p:nvPr/>
        </p:nvSpPr>
        <p:spPr>
          <a:xfrm xmlns:a="http://schemas.openxmlformats.org/drawingml/2006/main">
            <a:off x="609600" y="1257300"/>
            <a:ext cx="7239000" cy="4210050"/>
          </a:xfrm>
          <a:prstGeom xmlns:a="http://schemas.openxmlformats.org/drawingml/2006/main" prst="roundRect">
            <a:avLst>
              <a:gd name="adj" fmla="val 2715"/>
            </a:avLst>
          </a:prstGeom>
          <a:solidFill xmlns:a="http://schemas.openxmlformats.org/drawingml/2006/main">
            <a:srgbClr val="F3F4F6"/>
          </a:solidFill>
          <a:ln xmlns:a="http://schemas.openxmlformats.org/drawingml/2006/main" w="9525">
            <a:solidFill>
              <a:srgbClr val="D1D5DB"/>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d1309540aa44918"/>
          <a:stretch xmlns:a="http://schemas.openxmlformats.org/drawingml/2006/main"/>
        </p:blipFill>
        <p:spPr>
          <a:xfrm xmlns:a="http://schemas.openxmlformats.org/drawingml/2006/main">
            <a:off x="723900" y="1781674"/>
            <a:ext cx="7010400" cy="3161302"/>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53906FD-D055-4BB6-9344-9791FEA70D2C}"/>
              </a:ext>
            </a:extLst>
          </p:cNvPr>
          <p:cNvSpPr>
            <a:spLocks xmlns:a="http://schemas.openxmlformats.org/drawingml/2006/main" noGrp="1"/>
          </p:cNvSpPr>
          <p:nvPr/>
        </p:nvSpPr>
        <p:spPr>
          <a:xfrm xmlns:a="http://schemas.openxmlformats.org/drawingml/2006/main">
            <a:off x="8191500" y="1409700"/>
            <a:ext cx="3238500" cy="1638300"/>
          </a:xfrm>
          <a:prstGeom xmlns:a="http://schemas.openxmlformats.org/drawingml/2006/main" prst="roundRect">
            <a:avLst>
              <a:gd name="adj" fmla="val 6977"/>
            </a:avLst>
          </a:prstGeom>
          <a:solidFill xmlns:a="http://schemas.openxmlformats.org/drawingml/2006/main">
            <a:srgbClr val="DFF4EE"/>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F12D681-D51B-4ECC-852A-65B525D11FC1}"/>
              </a:ext>
            </a:extLst>
          </p:cNvPr>
          <p:cNvSpPr>
            <a:spLocks xmlns:a="http://schemas.openxmlformats.org/drawingml/2006/main" noGrp="1"/>
          </p:cNvSpPr>
          <p:nvPr/>
        </p:nvSpPr>
        <p:spPr>
          <a:xfrm xmlns:a="http://schemas.openxmlformats.org/drawingml/2006/main">
            <a:off x="8439150" y="16192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0F766E"/>
                </a:solidFill>
                <a:latin typeface="Arial"/>
                <a:ea typeface="Arial"/>
                <a:cs typeface="Arial"/>
              </a:defRPr>
            </a:pPr>
            <a:r>
              <a:rPr sz="1275" b="1" i="0">
                <a:solidFill>
                  <a:srgbClr val="0F766E"/>
                </a:solidFill>
                <a:latin typeface="Arial"/>
                <a:ea typeface="Arial"/>
                <a:cs typeface="Arial"/>
              </a:rPr>
              <a:t>full_2021 · MAD</a:t>
            </a:r>
          </a:p>
        </p:txBody>
      </p:sp>
      <p:sp>
        <p:nvSpPr>
          <p:cNvPr id="8" name="">
            <a:extLst xmlns:a="http://schemas.openxmlformats.org/drawingml/2006/main">
              <a:ext uri="{FF2B5EF4-FFF2-40B4-BE49-F238E27FC236}">
                <a16:creationId xmlns:a16="http://schemas.microsoft.com/office/drawing/2014/main" id="{6C222B89-B06A-4E10-AFBE-F8A3A0792479}"/>
              </a:ext>
            </a:extLst>
          </p:cNvPr>
          <p:cNvSpPr>
            <a:spLocks xmlns:a="http://schemas.openxmlformats.org/drawingml/2006/main" noGrp="1"/>
          </p:cNvSpPr>
          <p:nvPr/>
        </p:nvSpPr>
        <p:spPr>
          <a:xfrm xmlns:a="http://schemas.openxmlformats.org/drawingml/2006/main">
            <a:off x="8439150" y="1962150"/>
            <a:ext cx="1314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148"/>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0,9571</a:t>
            </a:r>
          </a:p>
        </p:txBody>
      </p:sp>
      <p:sp>
        <p:nvSpPr>
          <p:cNvPr id="9" name="">
            <a:extLst xmlns:a="http://schemas.openxmlformats.org/drawingml/2006/main">
              <a:ext uri="{FF2B5EF4-FFF2-40B4-BE49-F238E27FC236}">
                <a16:creationId xmlns:a16="http://schemas.microsoft.com/office/drawing/2014/main" id="{FBD9365B-BB2A-48FB-942C-90E11ED838AF}"/>
              </a:ext>
            </a:extLst>
          </p:cNvPr>
          <p:cNvSpPr>
            <a:spLocks xmlns:a="http://schemas.openxmlformats.org/drawingml/2006/main" noGrp="1"/>
          </p:cNvSpPr>
          <p:nvPr/>
        </p:nvSpPr>
        <p:spPr>
          <a:xfrm xmlns:a="http://schemas.openxmlformats.org/drawingml/2006/main">
            <a:off x="8439150" y="2457450"/>
            <a:ext cx="1314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defRPr sz="1050" b="0" i="0">
                <a:solidFill>
                  <a:srgbClr val="5D6675"/>
                </a:solidFill>
                <a:latin typeface="Arial"/>
                <a:ea typeface="Arial"/>
                <a:cs typeface="Arial"/>
              </a:defRPr>
            </a:pPr>
            <a:r>
              <a:rPr sz="1050" b="0" i="0">
                <a:solidFill>
                  <a:srgbClr val="5D6675"/>
                </a:solidFill>
                <a:latin typeface="Arial"/>
                <a:ea typeface="Arial"/>
                <a:cs typeface="Arial"/>
              </a:rPr>
              <a:t>régime</a:t>
            </a:r>
          </a:p>
        </p:txBody>
      </p:sp>
      <p:sp>
        <p:nvSpPr>
          <p:cNvPr id="10" name="">
            <a:extLst xmlns:a="http://schemas.openxmlformats.org/drawingml/2006/main">
              <a:ext uri="{FF2B5EF4-FFF2-40B4-BE49-F238E27FC236}">
                <a16:creationId xmlns:a16="http://schemas.microsoft.com/office/drawing/2014/main" id="{98963350-FC50-4223-80BE-03C0D295C4A6}"/>
              </a:ext>
            </a:extLst>
          </p:cNvPr>
          <p:cNvSpPr>
            <a:spLocks xmlns:a="http://schemas.openxmlformats.org/drawingml/2006/main" noGrp="1"/>
          </p:cNvSpPr>
          <p:nvPr/>
        </p:nvSpPr>
        <p:spPr>
          <a:xfrm xmlns:a="http://schemas.openxmlformats.org/drawingml/2006/main">
            <a:off x="9886950" y="1962150"/>
            <a:ext cx="1314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148"/>
          </a:bodyPr>
          <a:lstStyle xmlns:a="http://schemas.openxmlformats.org/drawingml/2006/main"/>
          <a:p xmlns:a="http://schemas.openxmlformats.org/drawingml/2006/main">
            <a:pPr algn="l">
              <a:defRPr sz="2700" b="1" i="0">
                <a:solidFill>
                  <a:srgbClr val="0F766E"/>
                </a:solidFill>
                <a:latin typeface="Arial"/>
                <a:ea typeface="Arial"/>
                <a:cs typeface="Arial"/>
              </a:defRPr>
            </a:pPr>
            <a:r>
              <a:rPr sz="2700" b="1" i="0">
                <a:solidFill>
                  <a:srgbClr val="0F766E"/>
                </a:solidFill>
                <a:latin typeface="Arial"/>
                <a:ea typeface="Arial"/>
                <a:cs typeface="Arial"/>
              </a:rPr>
              <a:t>1,0690</a:t>
            </a:r>
          </a:p>
        </p:txBody>
      </p:sp>
      <p:sp>
        <p:nvSpPr>
          <p:cNvPr id="11" name="">
            <a:extLst xmlns:a="http://schemas.openxmlformats.org/drawingml/2006/main">
              <a:ext uri="{FF2B5EF4-FFF2-40B4-BE49-F238E27FC236}">
                <a16:creationId xmlns:a16="http://schemas.microsoft.com/office/drawing/2014/main" id="{1582C490-8C00-44F4-9064-1383E2AF7814}"/>
              </a:ext>
            </a:extLst>
          </p:cNvPr>
          <p:cNvSpPr>
            <a:spLocks xmlns:a="http://schemas.openxmlformats.org/drawingml/2006/main" noGrp="1"/>
          </p:cNvSpPr>
          <p:nvPr/>
        </p:nvSpPr>
        <p:spPr>
          <a:xfrm xmlns:a="http://schemas.openxmlformats.org/drawingml/2006/main">
            <a:off x="9886950" y="2457450"/>
            <a:ext cx="1314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defRPr sz="1050" b="0" i="0">
                <a:solidFill>
                  <a:srgbClr val="5D6675"/>
                </a:solidFill>
                <a:latin typeface="Arial"/>
                <a:ea typeface="Arial"/>
                <a:cs typeface="Arial"/>
              </a:defRPr>
            </a:pPr>
            <a:r>
              <a:rPr sz="1050" b="0" i="0">
                <a:solidFill>
                  <a:srgbClr val="5D6675"/>
                </a:solidFill>
                <a:latin typeface="Arial"/>
                <a:ea typeface="Arial"/>
                <a:cs typeface="Arial"/>
              </a:rPr>
              <a:t>max Sharpe</a:t>
            </a:r>
          </a:p>
        </p:txBody>
      </p:sp>
      <p:sp>
        <p:nvSpPr>
          <p:cNvPr id="12" name="">
            <a:extLst xmlns:a="http://schemas.openxmlformats.org/drawingml/2006/main">
              <a:ext uri="{FF2B5EF4-FFF2-40B4-BE49-F238E27FC236}">
                <a16:creationId xmlns:a16="http://schemas.microsoft.com/office/drawing/2014/main" id="{55168700-9497-40FD-AFC2-A4FE9889FAE4}"/>
              </a:ext>
            </a:extLst>
          </p:cNvPr>
          <p:cNvSpPr>
            <a:spLocks xmlns:a="http://schemas.openxmlformats.org/drawingml/2006/main" noGrp="1"/>
          </p:cNvSpPr>
          <p:nvPr/>
        </p:nvSpPr>
        <p:spPr>
          <a:xfrm xmlns:a="http://schemas.openxmlformats.org/drawingml/2006/main">
            <a:off x="8191500" y="3257550"/>
            <a:ext cx="3238500" cy="1638300"/>
          </a:xfrm>
          <a:prstGeom xmlns:a="http://schemas.openxmlformats.org/drawingml/2006/main" prst="roundRect">
            <a:avLst>
              <a:gd name="adj" fmla="val 6977"/>
            </a:avLst>
          </a:prstGeom>
          <a:solidFill xmlns:a="http://schemas.openxmlformats.org/drawingml/2006/main">
            <a:srgbClr val="DDEE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6B1AB35-DD72-46BC-942F-9AA0D08B898F}"/>
              </a:ext>
            </a:extLst>
          </p:cNvPr>
          <p:cNvSpPr>
            <a:spLocks xmlns:a="http://schemas.openxmlformats.org/drawingml/2006/main" noGrp="1"/>
          </p:cNvSpPr>
          <p:nvPr/>
        </p:nvSpPr>
        <p:spPr>
          <a:xfrm xmlns:a="http://schemas.openxmlformats.org/drawingml/2006/main">
            <a:off x="8439150" y="346710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3D8DFF"/>
                </a:solidFill>
                <a:latin typeface="Arial"/>
                <a:ea typeface="Arial"/>
                <a:cs typeface="Arial"/>
              </a:defRPr>
            </a:pPr>
            <a:r>
              <a:rPr sz="1275" b="1" i="0">
                <a:solidFill>
                  <a:srgbClr val="3D8DFF"/>
                </a:solidFill>
                <a:latin typeface="Arial"/>
                <a:ea typeface="Arial"/>
                <a:cs typeface="Arial"/>
              </a:rPr>
              <a:t>etf_2017 · USD</a:t>
            </a:r>
          </a:p>
        </p:txBody>
      </p:sp>
      <p:sp>
        <p:nvSpPr>
          <p:cNvPr id="14" name="">
            <a:extLst xmlns:a="http://schemas.openxmlformats.org/drawingml/2006/main">
              <a:ext uri="{FF2B5EF4-FFF2-40B4-BE49-F238E27FC236}">
                <a16:creationId xmlns:a16="http://schemas.microsoft.com/office/drawing/2014/main" id="{CE72DEFD-E499-4C78-83CB-A30FDC7E1012}"/>
              </a:ext>
            </a:extLst>
          </p:cNvPr>
          <p:cNvSpPr>
            <a:spLocks xmlns:a="http://schemas.openxmlformats.org/drawingml/2006/main" noGrp="1"/>
          </p:cNvSpPr>
          <p:nvPr/>
        </p:nvSpPr>
        <p:spPr>
          <a:xfrm xmlns:a="http://schemas.openxmlformats.org/drawingml/2006/main">
            <a:off x="8439150" y="3810000"/>
            <a:ext cx="1314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148"/>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0,9371</a:t>
            </a:r>
          </a:p>
        </p:txBody>
      </p:sp>
      <p:sp>
        <p:nvSpPr>
          <p:cNvPr id="15" name="">
            <a:extLst xmlns:a="http://schemas.openxmlformats.org/drawingml/2006/main">
              <a:ext uri="{FF2B5EF4-FFF2-40B4-BE49-F238E27FC236}">
                <a16:creationId xmlns:a16="http://schemas.microsoft.com/office/drawing/2014/main" id="{9B1BB9BF-7A4B-4028-9C8C-7D671B3374B1}"/>
              </a:ext>
            </a:extLst>
          </p:cNvPr>
          <p:cNvSpPr>
            <a:spLocks xmlns:a="http://schemas.openxmlformats.org/drawingml/2006/main" noGrp="1"/>
          </p:cNvSpPr>
          <p:nvPr/>
        </p:nvSpPr>
        <p:spPr>
          <a:xfrm xmlns:a="http://schemas.openxmlformats.org/drawingml/2006/main">
            <a:off x="8439150" y="4305300"/>
            <a:ext cx="1314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defRPr sz="1050" b="0" i="0">
                <a:solidFill>
                  <a:srgbClr val="5D6675"/>
                </a:solidFill>
                <a:latin typeface="Arial"/>
                <a:ea typeface="Arial"/>
                <a:cs typeface="Arial"/>
              </a:defRPr>
            </a:pPr>
            <a:r>
              <a:rPr sz="1050" b="0" i="0">
                <a:solidFill>
                  <a:srgbClr val="5D6675"/>
                </a:solidFill>
                <a:latin typeface="Arial"/>
                <a:ea typeface="Arial"/>
                <a:cs typeface="Arial"/>
              </a:rPr>
              <a:t>régime</a:t>
            </a:r>
          </a:p>
        </p:txBody>
      </p:sp>
      <p:sp>
        <p:nvSpPr>
          <p:cNvPr id="16" name="">
            <a:extLst xmlns:a="http://schemas.openxmlformats.org/drawingml/2006/main">
              <a:ext uri="{FF2B5EF4-FFF2-40B4-BE49-F238E27FC236}">
                <a16:creationId xmlns:a16="http://schemas.microsoft.com/office/drawing/2014/main" id="{0A55FF9F-527A-4329-9735-BF8894AA1A6C}"/>
              </a:ext>
            </a:extLst>
          </p:cNvPr>
          <p:cNvSpPr>
            <a:spLocks xmlns:a="http://schemas.openxmlformats.org/drawingml/2006/main" noGrp="1"/>
          </p:cNvSpPr>
          <p:nvPr/>
        </p:nvSpPr>
        <p:spPr>
          <a:xfrm xmlns:a="http://schemas.openxmlformats.org/drawingml/2006/main">
            <a:off x="9886950" y="3810000"/>
            <a:ext cx="1314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148"/>
          </a:bodyPr>
          <a:lstStyle xmlns:a="http://schemas.openxmlformats.org/drawingml/2006/main"/>
          <a:p xmlns:a="http://schemas.openxmlformats.org/drawingml/2006/main">
            <a:pPr algn="l">
              <a:defRPr sz="2700" b="1" i="0">
                <a:solidFill>
                  <a:srgbClr val="3D8DFF"/>
                </a:solidFill>
                <a:latin typeface="Arial"/>
                <a:ea typeface="Arial"/>
                <a:cs typeface="Arial"/>
              </a:defRPr>
            </a:pPr>
            <a:r>
              <a:rPr sz="2700" b="1" i="0">
                <a:solidFill>
                  <a:srgbClr val="3D8DFF"/>
                </a:solidFill>
                <a:latin typeface="Arial"/>
                <a:ea typeface="Arial"/>
                <a:cs typeface="Arial"/>
              </a:rPr>
              <a:t>0,9525</a:t>
            </a:r>
          </a:p>
        </p:txBody>
      </p:sp>
      <p:sp>
        <p:nvSpPr>
          <p:cNvPr id="17" name="">
            <a:extLst xmlns:a="http://schemas.openxmlformats.org/drawingml/2006/main">
              <a:ext uri="{FF2B5EF4-FFF2-40B4-BE49-F238E27FC236}">
                <a16:creationId xmlns:a16="http://schemas.microsoft.com/office/drawing/2014/main" id="{DD0AAC4D-6654-4A89-AA43-1C602E58B9B2}"/>
              </a:ext>
            </a:extLst>
          </p:cNvPr>
          <p:cNvSpPr>
            <a:spLocks xmlns:a="http://schemas.openxmlformats.org/drawingml/2006/main" noGrp="1"/>
          </p:cNvSpPr>
          <p:nvPr/>
        </p:nvSpPr>
        <p:spPr>
          <a:xfrm xmlns:a="http://schemas.openxmlformats.org/drawingml/2006/main">
            <a:off x="9886950" y="4305300"/>
            <a:ext cx="1314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defRPr sz="1050" b="0" i="0">
                <a:solidFill>
                  <a:srgbClr val="5D6675"/>
                </a:solidFill>
                <a:latin typeface="Arial"/>
                <a:ea typeface="Arial"/>
                <a:cs typeface="Arial"/>
              </a:defRPr>
            </a:pPr>
            <a:r>
              <a:rPr sz="1050" b="0" i="0">
                <a:solidFill>
                  <a:srgbClr val="5D6675"/>
                </a:solidFill>
                <a:latin typeface="Arial"/>
                <a:ea typeface="Arial"/>
                <a:cs typeface="Arial"/>
              </a:rPr>
              <a:t>min-var. LW</a:t>
            </a:r>
          </a:p>
        </p:txBody>
      </p:sp>
      <p:sp>
        <p:nvSpPr>
          <p:cNvPr id="18" name="">
            <a:extLst xmlns:a="http://schemas.openxmlformats.org/drawingml/2006/main">
              <a:ext uri="{FF2B5EF4-FFF2-40B4-BE49-F238E27FC236}">
                <a16:creationId xmlns:a16="http://schemas.microsoft.com/office/drawing/2014/main" id="{E87C2008-D272-44A8-A3D8-D5F0C92AF7C7}"/>
              </a:ext>
            </a:extLst>
          </p:cNvPr>
          <p:cNvSpPr>
            <a:spLocks xmlns:a="http://schemas.openxmlformats.org/drawingml/2006/main" noGrp="1"/>
          </p:cNvSpPr>
          <p:nvPr/>
        </p:nvSpPr>
        <p:spPr>
          <a:xfrm xmlns:a="http://schemas.openxmlformats.org/drawingml/2006/main">
            <a:off x="8191500" y="5219700"/>
            <a:ext cx="3238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1" i="0">
                <a:solidFill>
                  <a:srgbClr val="B7433E"/>
                </a:solidFill>
                <a:latin typeface="Arial"/>
                <a:ea typeface="Arial"/>
                <a:cs typeface="Arial"/>
              </a:defRPr>
            </a:pPr>
            <a:r>
              <a:rPr sz="1200" b="1" i="0">
                <a:solidFill>
                  <a:srgbClr val="B7433E"/>
                </a:solidFill>
                <a:latin typeface="Arial"/>
                <a:ea typeface="Arial"/>
                <a:cs typeface="Arial"/>
              </a:rPr>
              <a:t>Écarts observés : −10,47 % et −1,62 %. Aucun test pairé n’établit ici la supériorité inverse.</a:t>
            </a:r>
          </a:p>
        </p:txBody>
      </p:sp>
    </p:spTree>
    <p:extLst>
      <p:ext uri="{BB962C8B-B14F-4D97-AF65-F5344CB8AC3E}">
        <p14:creationId xmlns:p14="http://schemas.microsoft.com/office/powerpoint/2010/main" val="20166321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17838E-78AD-4573-8AD7-0F2F1ACF09BE}"/>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VALIDITÉ STATISTIQUE</a:t>
            </a:r>
          </a:p>
        </p:txBody>
      </p:sp>
      <p:sp>
        <p:nvSpPr>
          <p:cNvPr id="2" name="">
            <a:extLst xmlns:a="http://schemas.openxmlformats.org/drawingml/2006/main">
              <a:ext uri="{FF2B5EF4-FFF2-40B4-BE49-F238E27FC236}">
                <a16:creationId xmlns:a16="http://schemas.microsoft.com/office/drawing/2014/main" id="{34C99B59-D379-49A4-AE3F-03547DD14BA0}"/>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Après correction de la recherche, aucun challenger ne gagne</a:t>
            </a:r>
          </a:p>
        </p:txBody>
      </p:sp>
      <p:sp>
        <p:nvSpPr>
          <p:cNvPr id="3" name="">
            <a:extLst xmlns:a="http://schemas.openxmlformats.org/drawingml/2006/main">
              <a:ext uri="{FF2B5EF4-FFF2-40B4-BE49-F238E27FC236}">
                <a16:creationId xmlns:a16="http://schemas.microsoft.com/office/drawing/2014/main" id="{F4D87388-8172-4099-84B8-2C02529CC5B3}"/>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F9A0F6A-F5AC-4A4C-A6AB-1EF04AA9271D}"/>
              </a:ext>
            </a:extLst>
          </p:cNvPr>
          <p:cNvSpPr>
            <a:spLocks xmlns:a="http://schemas.openxmlformats.org/drawingml/2006/main" noGrp="1"/>
          </p:cNvSpPr>
          <p:nvPr/>
        </p:nvSpPr>
        <p:spPr>
          <a:xfrm xmlns:a="http://schemas.openxmlformats.org/drawingml/2006/main">
            <a:off x="609600" y="1238250"/>
            <a:ext cx="6858000" cy="4171950"/>
          </a:xfrm>
          <a:prstGeom xmlns:a="http://schemas.openxmlformats.org/drawingml/2006/main" prst="roundRect">
            <a:avLst>
              <a:gd name="adj" fmla="val 2740"/>
            </a:avLst>
          </a:prstGeom>
          <a:solidFill xmlns:a="http://schemas.openxmlformats.org/drawingml/2006/main">
            <a:srgbClr val="F3F4F6"/>
          </a:solidFill>
          <a:ln xmlns:a="http://schemas.openxmlformats.org/drawingml/2006/main" w="9525">
            <a:solidFill>
              <a:srgbClr val="D1D5DB"/>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d05ac5862794ae6"/>
          <a:stretch xmlns:a="http://schemas.openxmlformats.org/drawingml/2006/main"/>
        </p:blipFill>
        <p:spPr>
          <a:xfrm xmlns:a="http://schemas.openxmlformats.org/drawingml/2006/main">
            <a:off x="723900" y="1588689"/>
            <a:ext cx="6629400" cy="3471072"/>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D0DEBA0-517C-4D41-BAF4-CDE0E6F2F040}"/>
              </a:ext>
            </a:extLst>
          </p:cNvPr>
          <p:cNvSpPr>
            <a:spLocks xmlns:a="http://schemas.openxmlformats.org/drawingml/2006/main" noGrp="1"/>
          </p:cNvSpPr>
          <p:nvPr/>
        </p:nvSpPr>
        <p:spPr>
          <a:xfrm xmlns:a="http://schemas.openxmlformats.org/drawingml/2006/main">
            <a:off x="7905750" y="148590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B7433E"/>
                </a:solidFill>
                <a:latin typeface="Arial"/>
                <a:ea typeface="Arial"/>
                <a:cs typeface="Arial"/>
              </a:defRPr>
            </a:pPr>
            <a:r>
              <a:rPr sz="3000" b="1" i="0">
                <a:solidFill>
                  <a:srgbClr val="B7433E"/>
                </a:solidFill>
                <a:latin typeface="Arial"/>
                <a:ea typeface="Arial"/>
                <a:cs typeface="Arial"/>
              </a:rPr>
              <a:t>8 / 8</a:t>
            </a:r>
          </a:p>
        </p:txBody>
      </p:sp>
      <p:sp>
        <p:nvSpPr>
          <p:cNvPr id="7" name="">
            <a:extLst xmlns:a="http://schemas.openxmlformats.org/drawingml/2006/main">
              <a:ext uri="{FF2B5EF4-FFF2-40B4-BE49-F238E27FC236}">
                <a16:creationId xmlns:a16="http://schemas.microsoft.com/office/drawing/2014/main" id="{89B42E2C-A891-47E8-B90B-AD8CBE2A92C0}"/>
              </a:ext>
            </a:extLst>
          </p:cNvPr>
          <p:cNvSpPr>
            <a:spLocks xmlns:a="http://schemas.openxmlformats.org/drawingml/2006/main" noGrp="1"/>
          </p:cNvSpPr>
          <p:nvPr/>
        </p:nvSpPr>
        <p:spPr>
          <a:xfrm xmlns:a="http://schemas.openxmlformats.org/drawingml/2006/main">
            <a:off x="7905750" y="2057400"/>
            <a:ext cx="1619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intervalles appariés</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contenant zéro</a:t>
            </a:r>
          </a:p>
        </p:txBody>
      </p:sp>
      <p:sp>
        <p:nvSpPr>
          <p:cNvPr id="8" name="">
            <a:extLst xmlns:a="http://schemas.openxmlformats.org/drawingml/2006/main">
              <a:ext uri="{FF2B5EF4-FFF2-40B4-BE49-F238E27FC236}">
                <a16:creationId xmlns:a16="http://schemas.microsoft.com/office/drawing/2014/main" id="{DBD05794-1430-4F56-8612-42FC7A32FA0A}"/>
              </a:ext>
            </a:extLst>
          </p:cNvPr>
          <p:cNvSpPr>
            <a:spLocks xmlns:a="http://schemas.openxmlformats.org/drawingml/2006/main" noGrp="1"/>
          </p:cNvSpPr>
          <p:nvPr/>
        </p:nvSpPr>
        <p:spPr>
          <a:xfrm xmlns:a="http://schemas.openxmlformats.org/drawingml/2006/main">
            <a:off x="9715500" y="148590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3D8DFF"/>
                </a:solidFill>
                <a:latin typeface="Arial"/>
                <a:ea typeface="Arial"/>
                <a:cs typeface="Arial"/>
              </a:defRPr>
            </a:pPr>
            <a:r>
              <a:rPr sz="3000" b="1" i="0">
                <a:solidFill>
                  <a:srgbClr val="3D8DFF"/>
                </a:solidFill>
                <a:latin typeface="Arial"/>
                <a:ea typeface="Arial"/>
                <a:cs typeface="Arial"/>
              </a:rPr>
              <a:t>240</a:t>
            </a:r>
          </a:p>
        </p:txBody>
      </p:sp>
      <p:sp>
        <p:nvSpPr>
          <p:cNvPr id="9" name="">
            <a:extLst xmlns:a="http://schemas.openxmlformats.org/drawingml/2006/main">
              <a:ext uri="{FF2B5EF4-FFF2-40B4-BE49-F238E27FC236}">
                <a16:creationId xmlns:a16="http://schemas.microsoft.com/office/drawing/2014/main" id="{3A77E348-BF5C-448F-80C4-609E227B64A1}"/>
              </a:ext>
            </a:extLst>
          </p:cNvPr>
          <p:cNvSpPr>
            <a:spLocks xmlns:a="http://schemas.openxmlformats.org/drawingml/2006/main" noGrp="1"/>
          </p:cNvSpPr>
          <p:nvPr/>
        </p:nvSpPr>
        <p:spPr>
          <a:xfrm xmlns:a="http://schemas.openxmlformats.org/drawingml/2006/main">
            <a:off x="9715500" y="2057400"/>
            <a:ext cx="1619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configurations</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dans la famille testée</a:t>
            </a:r>
          </a:p>
        </p:txBody>
      </p:sp>
      <p:sp>
        <p:nvSpPr>
          <p:cNvPr id="10" name="">
            <a:extLst xmlns:a="http://schemas.openxmlformats.org/drawingml/2006/main">
              <a:ext uri="{FF2B5EF4-FFF2-40B4-BE49-F238E27FC236}">
                <a16:creationId xmlns:a16="http://schemas.microsoft.com/office/drawing/2014/main" id="{680854D8-EB12-48E1-989E-571A93A13143}"/>
              </a:ext>
            </a:extLst>
          </p:cNvPr>
          <p:cNvSpPr>
            <a:spLocks xmlns:a="http://schemas.openxmlformats.org/drawingml/2006/main" noGrp="1"/>
          </p:cNvSpPr>
          <p:nvPr/>
        </p:nvSpPr>
        <p:spPr>
          <a:xfrm xmlns:a="http://schemas.openxmlformats.org/drawingml/2006/main">
            <a:off x="7905750" y="2724150"/>
            <a:ext cx="3429000" cy="9525"/>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FF5CF8C-F462-45B3-873F-02A3750D5B0E}"/>
              </a:ext>
            </a:extLst>
          </p:cNvPr>
          <p:cNvSpPr>
            <a:spLocks xmlns:a="http://schemas.openxmlformats.org/drawingml/2006/main" noGrp="1"/>
          </p:cNvSpPr>
          <p:nvPr/>
        </p:nvSpPr>
        <p:spPr>
          <a:xfrm xmlns:a="http://schemas.openxmlformats.org/drawingml/2006/main">
            <a:off x="7905750" y="29718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defRPr sz="1125" b="1" i="0">
                <a:solidFill>
                  <a:srgbClr val="3D8DFF"/>
                </a:solidFill>
                <a:latin typeface="Arial"/>
                <a:ea typeface="Arial"/>
                <a:cs typeface="Arial"/>
              </a:defRPr>
            </a:pPr>
            <a:r>
              <a:rPr sz="1125" b="1" i="0">
                <a:solidFill>
                  <a:srgbClr val="3D8DFF"/>
                </a:solidFill>
                <a:latin typeface="Arial"/>
                <a:ea typeface="Arial"/>
                <a:cs typeface="Arial"/>
              </a:rPr>
              <a:t>Benchmark primaire pré-spécifié</a:t>
            </a:r>
          </a:p>
        </p:txBody>
      </p:sp>
      <p:sp>
        <p:nvSpPr>
          <p:cNvPr id="12" name="">
            <a:extLst xmlns:a="http://schemas.openxmlformats.org/drawingml/2006/main">
              <a:ext uri="{FF2B5EF4-FFF2-40B4-BE49-F238E27FC236}">
                <a16:creationId xmlns:a16="http://schemas.microsoft.com/office/drawing/2014/main" id="{429AD655-88AE-44B6-B970-5A625DEC82C4}"/>
              </a:ext>
            </a:extLst>
          </p:cNvPr>
          <p:cNvSpPr>
            <a:spLocks xmlns:a="http://schemas.openxmlformats.org/drawingml/2006/main" noGrp="1"/>
          </p:cNvSpPr>
          <p:nvPr/>
        </p:nvSpPr>
        <p:spPr>
          <a:xfrm xmlns:a="http://schemas.openxmlformats.org/drawingml/2006/main">
            <a:off x="7905750" y="3295650"/>
            <a:ext cx="342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67"/>
          </a:bodyPr>
          <a:lstStyle xmlns:a="http://schemas.openxmlformats.org/drawingml/2006/main"/>
          <a:p xmlns:a="http://schemas.openxmlformats.org/drawingml/2006/main">
            <a:pPr algn="l">
              <a:defRPr sz="1875" b="1" i="0">
                <a:solidFill>
                  <a:srgbClr val="111827"/>
                </a:solidFill>
                <a:latin typeface="Arial"/>
                <a:ea typeface="Arial"/>
                <a:cs typeface="Arial"/>
              </a:defRPr>
            </a:pPr>
            <a:r>
              <a:rPr sz="1875" b="1" i="0">
                <a:solidFill>
                  <a:srgbClr val="111827"/>
                </a:solidFill>
                <a:latin typeface="Arial"/>
                <a:ea typeface="Arial"/>
                <a:cs typeface="Arial"/>
              </a:rPr>
              <a:t>regime_conditional</a:t>
            </a:r>
          </a:p>
        </p:txBody>
      </p:sp>
      <p:sp>
        <p:nvSpPr>
          <p:cNvPr id="13" name="">
            <a:extLst xmlns:a="http://schemas.openxmlformats.org/drawingml/2006/main">
              <a:ext uri="{FF2B5EF4-FFF2-40B4-BE49-F238E27FC236}">
                <a16:creationId xmlns:a16="http://schemas.microsoft.com/office/drawing/2014/main" id="{04C8B4AE-9181-4706-958C-DCC5719EC50D}"/>
              </a:ext>
            </a:extLst>
          </p:cNvPr>
          <p:cNvSpPr>
            <a:spLocks xmlns:a="http://schemas.openxmlformats.org/drawingml/2006/main" noGrp="1"/>
          </p:cNvSpPr>
          <p:nvPr/>
        </p:nvSpPr>
        <p:spPr>
          <a:xfrm xmlns:a="http://schemas.openxmlformats.org/drawingml/2006/main">
            <a:off x="7905750" y="3790950"/>
            <a:ext cx="342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White RC : p = 0,124–0,881</a:t>
            </a:r>
          </a:p>
          <a:p xmlns:a="http://schemas.openxmlformats.org/drawingml/2006/main">
            <a:pPr algn="l">
              <a:defRPr sz="1350" b="0" i="0">
                <a:solidFill>
                  <a:srgbClr val="111827"/>
                </a:solidFill>
                <a:latin typeface="Arial"/>
                <a:ea typeface="Arial"/>
                <a:cs typeface="Arial"/>
              </a:defRPr>
            </a:pPr>
            <a:r>
              <a:rPr sz="1350" b="0" i="0">
                <a:solidFill>
                  <a:srgbClr val="111827"/>
                </a:solidFill>
                <a:latin typeface="Arial"/>
                <a:ea typeface="Arial"/>
                <a:cs typeface="Arial"/>
              </a:rPr>
              <a:t>Hansen SPA : p = 0,085–0,636</a:t>
            </a:r>
          </a:p>
        </p:txBody>
      </p:sp>
      <p:sp>
        <p:nvSpPr>
          <p:cNvPr id="14" name="">
            <a:extLst xmlns:a="http://schemas.openxmlformats.org/drawingml/2006/main">
              <a:ext uri="{FF2B5EF4-FFF2-40B4-BE49-F238E27FC236}">
                <a16:creationId xmlns:a16="http://schemas.microsoft.com/office/drawing/2014/main" id="{51B62536-4343-4DDC-A3D0-3E8114EFF9B2}"/>
              </a:ext>
            </a:extLst>
          </p:cNvPr>
          <p:cNvSpPr>
            <a:spLocks xmlns:a="http://schemas.openxmlformats.org/drawingml/2006/main" noGrp="1"/>
          </p:cNvSpPr>
          <p:nvPr/>
        </p:nvSpPr>
        <p:spPr>
          <a:xfrm xmlns:a="http://schemas.openxmlformats.org/drawingml/2006/main">
            <a:off x="7829550" y="4762500"/>
            <a:ext cx="3600450" cy="952500"/>
          </a:xfrm>
          <a:prstGeom xmlns:a="http://schemas.openxmlformats.org/drawingml/2006/main" prst="roundRect">
            <a:avLst>
              <a:gd name="adj" fmla="val 12000"/>
            </a:avLst>
          </a:prstGeom>
          <a:solidFill xmlns:a="http://schemas.openxmlformats.org/drawingml/2006/main">
            <a:srgbClr val="173B6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44D9DB-7049-43C4-9B2C-FDCDE1B60CCB}"/>
              </a:ext>
            </a:extLst>
          </p:cNvPr>
          <p:cNvSpPr>
            <a:spLocks xmlns:a="http://schemas.openxmlformats.org/drawingml/2006/main" noGrp="1"/>
          </p:cNvSpPr>
          <p:nvPr/>
        </p:nvSpPr>
        <p:spPr>
          <a:xfrm xmlns:a="http://schemas.openxmlformats.org/drawingml/2006/main">
            <a:off x="8058150" y="49530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defRPr sz="1050" b="1" i="0">
                <a:solidFill>
                  <a:srgbClr val="D0EDFA"/>
                </a:solidFill>
                <a:latin typeface="Arial"/>
                <a:ea typeface="Arial"/>
                <a:cs typeface="Arial"/>
              </a:defRPr>
            </a:pPr>
            <a:r>
              <a:rPr sz="1050" b="1" i="0">
                <a:solidFill>
                  <a:srgbClr val="D0EDFA"/>
                </a:solidFill>
                <a:latin typeface="Arial"/>
                <a:ea typeface="Arial"/>
                <a:cs typeface="Arial"/>
              </a:rPr>
              <a:t>Conclusion défendable</a:t>
            </a:r>
          </a:p>
        </p:txBody>
      </p:sp>
      <p:sp>
        <p:nvSpPr>
          <p:cNvPr id="16" name="">
            <a:extLst xmlns:a="http://schemas.openxmlformats.org/drawingml/2006/main">
              <a:ext uri="{FF2B5EF4-FFF2-40B4-BE49-F238E27FC236}">
                <a16:creationId xmlns:a16="http://schemas.microsoft.com/office/drawing/2014/main" id="{EE5D78DC-15E5-418F-87ED-7274EDDC788E}"/>
              </a:ext>
            </a:extLst>
          </p:cNvPr>
          <p:cNvSpPr>
            <a:spLocks xmlns:a="http://schemas.openxmlformats.org/drawingml/2006/main" noGrp="1"/>
          </p:cNvSpPr>
          <p:nvPr/>
        </p:nvSpPr>
        <p:spPr>
          <a:xfrm xmlns:a="http://schemas.openxmlformats.org/drawingml/2006/main">
            <a:off x="8058150" y="52578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370"/>
          </a:bodyPr>
          <a:lstStyle xmlns:a="http://schemas.openxmlformats.org/drawingml/2006/main"/>
          <a:p xmlns:a="http://schemas.openxmlformats.org/drawingml/2006/main">
            <a:pPr algn="l">
              <a:defRPr sz="1350" b="1" i="0">
                <a:solidFill>
                  <a:srgbClr val="FFFFFF"/>
                </a:solidFill>
                <a:latin typeface="Arial"/>
                <a:ea typeface="Arial"/>
                <a:cs typeface="Arial"/>
              </a:defRPr>
            </a:pPr>
            <a:r>
              <a:rPr sz="1350" b="1" i="0">
                <a:solidFill>
                  <a:srgbClr val="FFFFFF"/>
                </a:solidFill>
                <a:latin typeface="Arial"/>
                <a:ea typeface="Arial"/>
                <a:cs typeface="Arial"/>
              </a:rPr>
              <a:t>Aucun candidat n’établit de surperformance contre le comparateur primaire.</a:t>
            </a:r>
          </a:p>
        </p:txBody>
      </p:sp>
    </p:spTree>
    <p:extLst>
      <p:ext uri="{BB962C8B-B14F-4D97-AF65-F5344CB8AC3E}">
        <p14:creationId xmlns:p14="http://schemas.microsoft.com/office/powerpoint/2010/main" val="8931166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A53B631-AD11-42D9-B706-31729648646A}"/>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EXPÉRIENCE MAROC PROFOND</a:t>
            </a:r>
          </a:p>
        </p:txBody>
      </p:sp>
      <p:sp>
        <p:nvSpPr>
          <p:cNvPr id="2" name="">
            <a:extLst xmlns:a="http://schemas.openxmlformats.org/drawingml/2006/main">
              <a:ext uri="{FF2B5EF4-FFF2-40B4-BE49-F238E27FC236}">
                <a16:creationId xmlns:a16="http://schemas.microsoft.com/office/drawing/2014/main" id="{42A63CA2-3F56-47D7-8CBA-1D2D2CF85DDF}"/>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44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Plus de données améliorent le signal — pas la preuve d’allocation</a:t>
            </a:r>
          </a:p>
        </p:txBody>
      </p:sp>
      <p:sp>
        <p:nvSpPr>
          <p:cNvPr id="3" name="">
            <a:extLst xmlns:a="http://schemas.openxmlformats.org/drawingml/2006/main">
              <a:ext uri="{FF2B5EF4-FFF2-40B4-BE49-F238E27FC236}">
                <a16:creationId xmlns:a16="http://schemas.microsoft.com/office/drawing/2014/main" id="{EF3838A5-D5E4-4241-AA5F-90BED72268B3}"/>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4D4B05E3-4BF8-40C5-B2D2-2ECA707D031B}"/>
              </a:ext>
            </a:extLst>
          </p:cNvPr>
          <p:cNvSpPr>
            <a:spLocks xmlns:a="http://schemas.openxmlformats.org/drawingml/2006/main" noGrp="1"/>
          </p:cNvSpPr>
          <p:nvPr/>
        </p:nvSpPr>
        <p:spPr>
          <a:xfrm xmlns:a="http://schemas.openxmlformats.org/drawingml/2006/main">
            <a:off x="685800" y="142875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3D8DFF"/>
                </a:solidFill>
                <a:latin typeface="Arial"/>
                <a:ea typeface="Arial"/>
                <a:cs typeface="Arial"/>
              </a:defRPr>
            </a:pPr>
            <a:r>
              <a:rPr sz="3000" b="1" i="0">
                <a:solidFill>
                  <a:srgbClr val="3D8DFF"/>
                </a:solidFill>
                <a:latin typeface="Arial"/>
                <a:ea typeface="Arial"/>
                <a:cs typeface="Arial"/>
              </a:rPr>
              <a:t>2005–2024</a:t>
            </a:r>
          </a:p>
        </p:txBody>
      </p:sp>
      <p:sp>
        <p:nvSpPr>
          <p:cNvPr id="5" name="">
            <a:extLst xmlns:a="http://schemas.openxmlformats.org/drawingml/2006/main">
              <a:ext uri="{FF2B5EF4-FFF2-40B4-BE49-F238E27FC236}">
                <a16:creationId xmlns:a16="http://schemas.microsoft.com/office/drawing/2014/main" id="{44634EBF-26D2-4D70-8331-0A3FFF5F0CB9}"/>
              </a:ext>
            </a:extLst>
          </p:cNvPr>
          <p:cNvSpPr>
            <a:spLocks xmlns:a="http://schemas.openxmlformats.org/drawingml/2006/main" noGrp="1"/>
          </p:cNvSpPr>
          <p:nvPr/>
        </p:nvSpPr>
        <p:spPr>
          <a:xfrm xmlns:a="http://schemas.openxmlformats.org/drawingml/2006/main">
            <a:off x="685800" y="200025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historique marocain</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reconstitué pour l’expérience</a:t>
            </a:r>
          </a:p>
        </p:txBody>
      </p:sp>
      <p:sp>
        <p:nvSpPr>
          <p:cNvPr id="6" name="">
            <a:extLst xmlns:a="http://schemas.openxmlformats.org/drawingml/2006/main">
              <a:ext uri="{FF2B5EF4-FFF2-40B4-BE49-F238E27FC236}">
                <a16:creationId xmlns:a16="http://schemas.microsoft.com/office/drawing/2014/main" id="{E0E6BE1F-6F49-43E5-B61B-20E9BA5C343C}"/>
              </a:ext>
            </a:extLst>
          </p:cNvPr>
          <p:cNvSpPr>
            <a:spLocks xmlns:a="http://schemas.openxmlformats.org/drawingml/2006/main" noGrp="1"/>
          </p:cNvSpPr>
          <p:nvPr/>
        </p:nvSpPr>
        <p:spPr>
          <a:xfrm xmlns:a="http://schemas.openxmlformats.org/drawingml/2006/main">
            <a:off x="3600450" y="14287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0F766E"/>
                </a:solidFill>
                <a:latin typeface="Arial"/>
                <a:ea typeface="Arial"/>
                <a:cs typeface="Arial"/>
              </a:defRPr>
            </a:pPr>
            <a:r>
              <a:rPr sz="3000" b="1" i="0">
                <a:solidFill>
                  <a:srgbClr val="0F766E"/>
                </a:solidFill>
                <a:latin typeface="Arial"/>
                <a:ea typeface="Arial"/>
                <a:cs typeface="Arial"/>
              </a:rPr>
              <a:t>12</a:t>
            </a:r>
          </a:p>
        </p:txBody>
      </p:sp>
      <p:sp>
        <p:nvSpPr>
          <p:cNvPr id="7" name="">
            <a:extLst xmlns:a="http://schemas.openxmlformats.org/drawingml/2006/main">
              <a:ext uri="{FF2B5EF4-FFF2-40B4-BE49-F238E27FC236}">
                <a16:creationId xmlns:a16="http://schemas.microsoft.com/office/drawing/2014/main" id="{A0C92439-502A-40EA-846C-232A871E77D3}"/>
              </a:ext>
            </a:extLst>
          </p:cNvPr>
          <p:cNvSpPr>
            <a:spLocks xmlns:a="http://schemas.openxmlformats.org/drawingml/2006/main" noGrp="1"/>
          </p:cNvSpPr>
          <p:nvPr/>
        </p:nvSpPr>
        <p:spPr>
          <a:xfrm xmlns:a="http://schemas.openxmlformats.org/drawingml/2006/main">
            <a:off x="3600450" y="200025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actions BVC</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dans le panel</a:t>
            </a:r>
          </a:p>
        </p:txBody>
      </p:sp>
      <p:sp>
        <p:nvSpPr>
          <p:cNvPr id="8" name="">
            <a:extLst xmlns:a="http://schemas.openxmlformats.org/drawingml/2006/main">
              <a:ext uri="{FF2B5EF4-FFF2-40B4-BE49-F238E27FC236}">
                <a16:creationId xmlns:a16="http://schemas.microsoft.com/office/drawing/2014/main" id="{D0F04256-CB1D-4BE1-BCAA-36D22129488B}"/>
              </a:ext>
            </a:extLst>
          </p:cNvPr>
          <p:cNvSpPr>
            <a:spLocks xmlns:a="http://schemas.openxmlformats.org/drawingml/2006/main" noGrp="1"/>
          </p:cNvSpPr>
          <p:nvPr/>
        </p:nvSpPr>
        <p:spPr>
          <a:xfrm xmlns:a="http://schemas.openxmlformats.org/drawingml/2006/main">
            <a:off x="5905500" y="1428750"/>
            <a:ext cx="228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A86812"/>
                </a:solidFill>
                <a:latin typeface="Arial"/>
                <a:ea typeface="Arial"/>
                <a:cs typeface="Arial"/>
              </a:defRPr>
            </a:pPr>
            <a:r>
              <a:rPr sz="3000" b="1" i="0">
                <a:solidFill>
                  <a:srgbClr val="A86812"/>
                </a:solidFill>
                <a:latin typeface="Arial"/>
                <a:ea typeface="Arial"/>
                <a:cs typeface="Arial"/>
              </a:rPr>
              <a:t>56 184</a:t>
            </a:r>
          </a:p>
        </p:txBody>
      </p:sp>
      <p:sp>
        <p:nvSpPr>
          <p:cNvPr id="9" name="">
            <a:extLst xmlns:a="http://schemas.openxmlformats.org/drawingml/2006/main">
              <a:ext uri="{FF2B5EF4-FFF2-40B4-BE49-F238E27FC236}">
                <a16:creationId xmlns:a16="http://schemas.microsoft.com/office/drawing/2014/main" id="{C21398FF-7828-4A2F-AD42-EC373429D239}"/>
              </a:ext>
            </a:extLst>
          </p:cNvPr>
          <p:cNvSpPr>
            <a:spLocks xmlns:a="http://schemas.openxmlformats.org/drawingml/2006/main" noGrp="1"/>
          </p:cNvSpPr>
          <p:nvPr/>
        </p:nvSpPr>
        <p:spPr>
          <a:xfrm xmlns:a="http://schemas.openxmlformats.org/drawingml/2006/main">
            <a:off x="5905500" y="20002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lignes du panel</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 5× full_2021</a:t>
            </a:r>
          </a:p>
        </p:txBody>
      </p:sp>
      <p:sp>
        <p:nvSpPr>
          <p:cNvPr id="10" name="">
            <a:extLst xmlns:a="http://schemas.openxmlformats.org/drawingml/2006/main">
              <a:ext uri="{FF2B5EF4-FFF2-40B4-BE49-F238E27FC236}">
                <a16:creationId xmlns:a16="http://schemas.microsoft.com/office/drawing/2014/main" id="{00E6A059-E474-4145-AB63-590C03C78C6C}"/>
              </a:ext>
            </a:extLst>
          </p:cNvPr>
          <p:cNvSpPr>
            <a:spLocks xmlns:a="http://schemas.openxmlformats.org/drawingml/2006/main" noGrp="1"/>
          </p:cNvSpPr>
          <p:nvPr/>
        </p:nvSpPr>
        <p:spPr>
          <a:xfrm xmlns:a="http://schemas.openxmlformats.org/drawingml/2006/main">
            <a:off x="8705850" y="1428750"/>
            <a:ext cx="228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B7433E"/>
                </a:solidFill>
                <a:latin typeface="Arial"/>
                <a:ea typeface="Arial"/>
                <a:cs typeface="Arial"/>
              </a:defRPr>
            </a:pPr>
            <a:r>
              <a:rPr sz="3000" b="1" i="0">
                <a:solidFill>
                  <a:srgbClr val="B7433E"/>
                </a:solidFill>
                <a:latin typeface="Arial"/>
                <a:ea typeface="Arial"/>
                <a:cs typeface="Arial"/>
              </a:rPr>
              <a:t>×2 à ×4</a:t>
            </a:r>
          </a:p>
        </p:txBody>
      </p:sp>
      <p:sp>
        <p:nvSpPr>
          <p:cNvPr id="11" name="">
            <a:extLst xmlns:a="http://schemas.openxmlformats.org/drawingml/2006/main">
              <a:ext uri="{FF2B5EF4-FFF2-40B4-BE49-F238E27FC236}">
                <a16:creationId xmlns:a16="http://schemas.microsoft.com/office/drawing/2014/main" id="{BE2075DB-4BB8-4DBF-A2F1-A1C851B806C3}"/>
              </a:ext>
            </a:extLst>
          </p:cNvPr>
          <p:cNvSpPr>
            <a:spLocks xmlns:a="http://schemas.openxmlformats.org/drawingml/2006/main" noGrp="1"/>
          </p:cNvSpPr>
          <p:nvPr/>
        </p:nvSpPr>
        <p:spPr>
          <a:xfrm xmlns:a="http://schemas.openxmlformats.org/drawingml/2006/main">
            <a:off x="8705850" y="20002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hausse de l’IC</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selon le modèle</a:t>
            </a:r>
          </a:p>
        </p:txBody>
      </p:sp>
      <p:sp>
        <p:nvSpPr>
          <p:cNvPr id="12" name="">
            <a:extLst xmlns:a="http://schemas.openxmlformats.org/drawingml/2006/main">
              <a:ext uri="{FF2B5EF4-FFF2-40B4-BE49-F238E27FC236}">
                <a16:creationId xmlns:a16="http://schemas.microsoft.com/office/drawing/2014/main" id="{F8E05FD7-AA66-4D78-A566-788B4962524F}"/>
              </a:ext>
            </a:extLst>
          </p:cNvPr>
          <p:cNvSpPr>
            <a:spLocks xmlns:a="http://schemas.openxmlformats.org/drawingml/2006/main" noGrp="1"/>
          </p:cNvSpPr>
          <p:nvPr/>
        </p:nvSpPr>
        <p:spPr>
          <a:xfrm xmlns:a="http://schemas.openxmlformats.org/drawingml/2006/main">
            <a:off x="685800" y="2895600"/>
            <a:ext cx="10287000" cy="9525"/>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978605B-B85E-4513-8A6E-BBA240B3A531}"/>
              </a:ext>
            </a:extLst>
          </p:cNvPr>
          <p:cNvSpPr>
            <a:spLocks xmlns:a="http://schemas.openxmlformats.org/drawingml/2006/main" noGrp="1"/>
          </p:cNvSpPr>
          <p:nvPr/>
        </p:nvSpPr>
        <p:spPr>
          <a:xfrm xmlns:a="http://schemas.openxmlformats.org/drawingml/2006/main">
            <a:off x="685800" y="3276600"/>
            <a:ext cx="4810125" cy="2076450"/>
          </a:xfrm>
          <a:prstGeom xmlns:a="http://schemas.openxmlformats.org/drawingml/2006/main" prst="roundRect">
            <a:avLst>
              <a:gd name="adj" fmla="val 5505"/>
            </a:avLst>
          </a:prstGeom>
          <a:solidFill xmlns:a="http://schemas.openxmlformats.org/drawingml/2006/main">
            <a:srgbClr val="DFF4E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AD93C36-2E4A-4362-9049-31D5864A279D}"/>
              </a:ext>
            </a:extLst>
          </p:cNvPr>
          <p:cNvSpPr>
            <a:spLocks xmlns:a="http://schemas.openxmlformats.org/drawingml/2006/main" noGrp="1"/>
          </p:cNvSpPr>
          <p:nvPr/>
        </p:nvSpPr>
        <p:spPr>
          <a:xfrm xmlns:a="http://schemas.openxmlformats.org/drawingml/2006/main">
            <a:off x="952500" y="35242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667"/>
          </a:bodyPr>
          <a:lstStyle xmlns:a="http://schemas.openxmlformats.org/drawingml/2006/main"/>
          <a:p xmlns:a="http://schemas.openxmlformats.org/drawingml/2006/main">
            <a:pPr algn="l">
              <a:defRPr sz="1500" b="1" i="0">
                <a:solidFill>
                  <a:srgbClr val="0F766E"/>
                </a:solidFill>
                <a:latin typeface="Arial"/>
                <a:ea typeface="Arial"/>
                <a:cs typeface="Arial"/>
              </a:defRPr>
            </a:pPr>
            <a:r>
              <a:rPr sz="1500" b="1" i="0">
                <a:solidFill>
                  <a:srgbClr val="0F766E"/>
                </a:solidFill>
                <a:latin typeface="Arial"/>
                <a:ea typeface="Arial"/>
                <a:cs typeface="Arial"/>
              </a:rPr>
              <a:t>Ce que l’expérience montre</a:t>
            </a:r>
          </a:p>
        </p:txBody>
      </p:sp>
      <p:sp>
        <p:nvSpPr>
          <p:cNvPr id="15" name="">
            <a:extLst xmlns:a="http://schemas.openxmlformats.org/drawingml/2006/main">
              <a:ext uri="{FF2B5EF4-FFF2-40B4-BE49-F238E27FC236}">
                <a16:creationId xmlns:a16="http://schemas.microsoft.com/office/drawing/2014/main" id="{174CD4EF-FD59-4460-B71A-92828C83C534}"/>
              </a:ext>
            </a:extLst>
          </p:cNvPr>
          <p:cNvSpPr>
            <a:spLocks xmlns:a="http://schemas.openxmlformats.org/drawingml/2006/main" noGrp="1"/>
          </p:cNvSpPr>
          <p:nvPr/>
        </p:nvSpPr>
        <p:spPr>
          <a:xfrm xmlns:a="http://schemas.openxmlformats.org/drawingml/2006/main">
            <a:off x="971550" y="4067175"/>
            <a:ext cx="76200" cy="76200"/>
          </a:xfrm>
          <a:prstGeom xmlns:a="http://schemas.openxmlformats.org/drawingml/2006/main" prst="roundRect">
            <a:avLst>
              <a:gd name="adj" fmla="val 50000"/>
            </a:avLst>
          </a:prstGeom>
          <a:solidFill xmlns:a="http://schemas.openxmlformats.org/drawingml/2006/main">
            <a:srgbClr val="0F766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2DACAA5-7F22-41C8-B960-6F633BC9DA6F}"/>
              </a:ext>
            </a:extLst>
          </p:cNvPr>
          <p:cNvSpPr>
            <a:spLocks xmlns:a="http://schemas.openxmlformats.org/drawingml/2006/main" noGrp="1"/>
          </p:cNvSpPr>
          <p:nvPr/>
        </p:nvSpPr>
        <p:spPr>
          <a:xfrm xmlns:a="http://schemas.openxmlformats.org/drawingml/2006/main">
            <a:off x="1181100" y="4000500"/>
            <a:ext cx="3886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Apprentissage</a:t>
            </a:r>
          </a:p>
        </p:txBody>
      </p:sp>
      <p:sp>
        <p:nvSpPr>
          <p:cNvPr id="17" name="">
            <a:extLst xmlns:a="http://schemas.openxmlformats.org/drawingml/2006/main">
              <a:ext uri="{FF2B5EF4-FFF2-40B4-BE49-F238E27FC236}">
                <a16:creationId xmlns:a16="http://schemas.microsoft.com/office/drawing/2014/main" id="{0D1A5726-D34A-4F13-9496-EB903B8433D4}"/>
              </a:ext>
            </a:extLst>
          </p:cNvPr>
          <p:cNvSpPr>
            <a:spLocks xmlns:a="http://schemas.openxmlformats.org/drawingml/2006/main" noGrp="1"/>
          </p:cNvSpPr>
          <p:nvPr/>
        </p:nvSpPr>
        <p:spPr>
          <a:xfrm xmlns:a="http://schemas.openxmlformats.org/drawingml/2006/main">
            <a:off x="1181100" y="4276725"/>
            <a:ext cx="38862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Davantage d’observations renforcent la stabilité du signal prédictif.</a:t>
            </a:r>
          </a:p>
        </p:txBody>
      </p:sp>
      <p:sp>
        <p:nvSpPr>
          <p:cNvPr id="18" name="">
            <a:extLst xmlns:a="http://schemas.openxmlformats.org/drawingml/2006/main">
              <a:ext uri="{FF2B5EF4-FFF2-40B4-BE49-F238E27FC236}">
                <a16:creationId xmlns:a16="http://schemas.microsoft.com/office/drawing/2014/main" id="{E415EEE9-0607-403D-AB46-39ED486220DE}"/>
              </a:ext>
            </a:extLst>
          </p:cNvPr>
          <p:cNvSpPr>
            <a:spLocks xmlns:a="http://schemas.openxmlformats.org/drawingml/2006/main" noGrp="1"/>
          </p:cNvSpPr>
          <p:nvPr/>
        </p:nvSpPr>
        <p:spPr>
          <a:xfrm xmlns:a="http://schemas.openxmlformats.org/drawingml/2006/main">
            <a:off x="971550" y="4733925"/>
            <a:ext cx="76200" cy="76200"/>
          </a:xfrm>
          <a:prstGeom xmlns:a="http://schemas.openxmlformats.org/drawingml/2006/main" prst="roundRect">
            <a:avLst>
              <a:gd name="adj" fmla="val 50000"/>
            </a:avLst>
          </a:prstGeom>
          <a:solidFill xmlns:a="http://schemas.openxmlformats.org/drawingml/2006/main">
            <a:srgbClr val="0F766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9E5B718-19E2-4B00-BD16-F74EA202CADE}"/>
              </a:ext>
            </a:extLst>
          </p:cNvPr>
          <p:cNvSpPr>
            <a:spLocks xmlns:a="http://schemas.openxmlformats.org/drawingml/2006/main" noGrp="1"/>
          </p:cNvSpPr>
          <p:nvPr/>
        </p:nvSpPr>
        <p:spPr>
          <a:xfrm xmlns:a="http://schemas.openxmlformats.org/drawingml/2006/main">
            <a:off x="1181100" y="4667250"/>
            <a:ext cx="3886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Diagnostic</a:t>
            </a:r>
          </a:p>
        </p:txBody>
      </p:sp>
      <p:sp>
        <p:nvSpPr>
          <p:cNvPr id="20" name="">
            <a:extLst xmlns:a="http://schemas.openxmlformats.org/drawingml/2006/main">
              <a:ext uri="{FF2B5EF4-FFF2-40B4-BE49-F238E27FC236}">
                <a16:creationId xmlns:a16="http://schemas.microsoft.com/office/drawing/2014/main" id="{DC3AB244-6302-42B6-938F-E36021FAAD87}"/>
              </a:ext>
            </a:extLst>
          </p:cNvPr>
          <p:cNvSpPr>
            <a:spLocks xmlns:a="http://schemas.openxmlformats.org/drawingml/2006/main" noGrp="1"/>
          </p:cNvSpPr>
          <p:nvPr/>
        </p:nvSpPr>
        <p:spPr>
          <a:xfrm xmlns:a="http://schemas.openxmlformats.org/drawingml/2006/main">
            <a:off x="1181100" y="4943475"/>
            <a:ext cx="38862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La rareté des données n’explique pas seule le résultat négatif.</a:t>
            </a:r>
          </a:p>
        </p:txBody>
      </p:sp>
      <p:sp>
        <p:nvSpPr>
          <p:cNvPr id="21" name="">
            <a:extLst xmlns:a="http://schemas.openxmlformats.org/drawingml/2006/main">
              <a:ext uri="{FF2B5EF4-FFF2-40B4-BE49-F238E27FC236}">
                <a16:creationId xmlns:a16="http://schemas.microsoft.com/office/drawing/2014/main" id="{B6F81962-ACB4-4218-A4FF-536F40F14154}"/>
              </a:ext>
            </a:extLst>
          </p:cNvPr>
          <p:cNvSpPr>
            <a:spLocks xmlns:a="http://schemas.openxmlformats.org/drawingml/2006/main" noGrp="1"/>
          </p:cNvSpPr>
          <p:nvPr/>
        </p:nvSpPr>
        <p:spPr>
          <a:xfrm xmlns:a="http://schemas.openxmlformats.org/drawingml/2006/main">
            <a:off x="5810250" y="3276600"/>
            <a:ext cx="5162550" cy="2076450"/>
          </a:xfrm>
          <a:prstGeom xmlns:a="http://schemas.openxmlformats.org/drawingml/2006/main" prst="roundRect">
            <a:avLst>
              <a:gd name="adj" fmla="val 5505"/>
            </a:avLst>
          </a:prstGeom>
          <a:solidFill xmlns:a="http://schemas.openxmlformats.org/drawingml/2006/main">
            <a:srgbClr val="FCE9E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1FDBE1E-1406-4E6F-ACC6-63F2246DBF05}"/>
              </a:ext>
            </a:extLst>
          </p:cNvPr>
          <p:cNvSpPr>
            <a:spLocks xmlns:a="http://schemas.openxmlformats.org/drawingml/2006/main" noGrp="1"/>
          </p:cNvSpPr>
          <p:nvPr/>
        </p:nvSpPr>
        <p:spPr>
          <a:xfrm xmlns:a="http://schemas.openxmlformats.org/drawingml/2006/main">
            <a:off x="6076950" y="35242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667"/>
          </a:bodyPr>
          <a:lstStyle xmlns:a="http://schemas.openxmlformats.org/drawingml/2006/main"/>
          <a:p xmlns:a="http://schemas.openxmlformats.org/drawingml/2006/main">
            <a:pPr algn="l">
              <a:defRPr sz="1500" b="1" i="0">
                <a:solidFill>
                  <a:srgbClr val="B7433E"/>
                </a:solidFill>
                <a:latin typeface="Arial"/>
                <a:ea typeface="Arial"/>
                <a:cs typeface="Arial"/>
              </a:defRPr>
            </a:pPr>
            <a:r>
              <a:rPr sz="1500" b="1" i="0">
                <a:solidFill>
                  <a:srgbClr val="B7433E"/>
                </a:solidFill>
                <a:latin typeface="Arial"/>
                <a:ea typeface="Arial"/>
                <a:cs typeface="Arial"/>
              </a:rPr>
              <a:t>Ce qu’elle ne montre pas</a:t>
            </a:r>
          </a:p>
        </p:txBody>
      </p:sp>
      <p:sp>
        <p:nvSpPr>
          <p:cNvPr id="23" name="">
            <a:extLst xmlns:a="http://schemas.openxmlformats.org/drawingml/2006/main">
              <a:ext uri="{FF2B5EF4-FFF2-40B4-BE49-F238E27FC236}">
                <a16:creationId xmlns:a16="http://schemas.microsoft.com/office/drawing/2014/main" id="{E51AD34E-E8A3-4FD1-80EB-4DA6AB2218F3}"/>
              </a:ext>
            </a:extLst>
          </p:cNvPr>
          <p:cNvSpPr>
            <a:spLocks xmlns:a="http://schemas.openxmlformats.org/drawingml/2006/main" noGrp="1"/>
          </p:cNvSpPr>
          <p:nvPr/>
        </p:nvSpPr>
        <p:spPr>
          <a:xfrm xmlns:a="http://schemas.openxmlformats.org/drawingml/2006/main">
            <a:off x="6096000" y="4067175"/>
            <a:ext cx="76200" cy="76200"/>
          </a:xfrm>
          <a:prstGeom xmlns:a="http://schemas.openxmlformats.org/drawingml/2006/main" prst="roundRect">
            <a:avLst>
              <a:gd name="adj" fmla="val 50000"/>
            </a:avLst>
          </a:prstGeom>
          <a:solidFill xmlns:a="http://schemas.openxmlformats.org/drawingml/2006/main">
            <a:srgbClr val="B7433E"/>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4D51A88-C18A-411B-AF94-A96B67107898}"/>
              </a:ext>
            </a:extLst>
          </p:cNvPr>
          <p:cNvSpPr>
            <a:spLocks xmlns:a="http://schemas.openxmlformats.org/drawingml/2006/main" noGrp="1"/>
          </p:cNvSpPr>
          <p:nvPr/>
        </p:nvSpPr>
        <p:spPr>
          <a:xfrm xmlns:a="http://schemas.openxmlformats.org/drawingml/2006/main">
            <a:off x="6305550" y="4000500"/>
            <a:ext cx="4171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Pas de gain portefeuille</a:t>
            </a:r>
          </a:p>
        </p:txBody>
      </p:sp>
      <p:sp>
        <p:nvSpPr>
          <p:cNvPr id="25" name="">
            <a:extLst xmlns:a="http://schemas.openxmlformats.org/drawingml/2006/main">
              <a:ext uri="{FF2B5EF4-FFF2-40B4-BE49-F238E27FC236}">
                <a16:creationId xmlns:a16="http://schemas.microsoft.com/office/drawing/2014/main" id="{DA71BF06-C320-4203-85E1-1B10DB906305}"/>
              </a:ext>
            </a:extLst>
          </p:cNvPr>
          <p:cNvSpPr>
            <a:spLocks xmlns:a="http://schemas.openxmlformats.org/drawingml/2006/main" noGrp="1"/>
          </p:cNvSpPr>
          <p:nvPr/>
        </p:nvSpPr>
        <p:spPr>
          <a:xfrm xmlns:a="http://schemas.openxmlformats.org/drawingml/2006/main">
            <a:off x="6305550" y="4276725"/>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Une meilleure IC ne se transforme pas automatiquement en meilleur Sharpe net.</a:t>
            </a:r>
          </a:p>
        </p:txBody>
      </p:sp>
      <p:sp>
        <p:nvSpPr>
          <p:cNvPr id="26" name="">
            <a:extLst xmlns:a="http://schemas.openxmlformats.org/drawingml/2006/main">
              <a:ext uri="{FF2B5EF4-FFF2-40B4-BE49-F238E27FC236}">
                <a16:creationId xmlns:a16="http://schemas.microsoft.com/office/drawing/2014/main" id="{963D103A-62FE-4B01-BBD3-A4516E54F711}"/>
              </a:ext>
            </a:extLst>
          </p:cNvPr>
          <p:cNvSpPr>
            <a:spLocks xmlns:a="http://schemas.openxmlformats.org/drawingml/2006/main" noGrp="1"/>
          </p:cNvSpPr>
          <p:nvPr/>
        </p:nvSpPr>
        <p:spPr>
          <a:xfrm xmlns:a="http://schemas.openxmlformats.org/drawingml/2006/main">
            <a:off x="6096000" y="4733925"/>
            <a:ext cx="76200" cy="76200"/>
          </a:xfrm>
          <a:prstGeom xmlns:a="http://schemas.openxmlformats.org/drawingml/2006/main" prst="roundRect">
            <a:avLst>
              <a:gd name="adj" fmla="val 50000"/>
            </a:avLst>
          </a:prstGeom>
          <a:solidFill xmlns:a="http://schemas.openxmlformats.org/drawingml/2006/main">
            <a:srgbClr val="B7433E"/>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DDB7F28-C9FF-4F69-A048-B664EB4DF819}"/>
              </a:ext>
            </a:extLst>
          </p:cNvPr>
          <p:cNvSpPr>
            <a:spLocks xmlns:a="http://schemas.openxmlformats.org/drawingml/2006/main" noGrp="1"/>
          </p:cNvSpPr>
          <p:nvPr/>
        </p:nvSpPr>
        <p:spPr>
          <a:xfrm xmlns:a="http://schemas.openxmlformats.org/drawingml/2006/main">
            <a:off x="6305550" y="4667250"/>
            <a:ext cx="4171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Pas encore canonique</a:t>
            </a:r>
          </a:p>
        </p:txBody>
      </p:sp>
      <p:sp>
        <p:nvSpPr>
          <p:cNvPr id="28" name="">
            <a:extLst xmlns:a="http://schemas.openxmlformats.org/drawingml/2006/main">
              <a:ext uri="{FF2B5EF4-FFF2-40B4-BE49-F238E27FC236}">
                <a16:creationId xmlns:a16="http://schemas.microsoft.com/office/drawing/2014/main" id="{B35231F6-7A81-4BA8-8C72-9C1D5D79ADF2}"/>
              </a:ext>
            </a:extLst>
          </p:cNvPr>
          <p:cNvSpPr>
            <a:spLocks xmlns:a="http://schemas.openxmlformats.org/drawingml/2006/main" noGrp="1"/>
          </p:cNvSpPr>
          <p:nvPr/>
        </p:nvSpPr>
        <p:spPr>
          <a:xfrm xmlns:a="http://schemas.openxmlformats.org/drawingml/2006/main">
            <a:off x="6305550" y="4943475"/>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Dividendes, corporate actions, splice récent et contrats source restent à industrialiser.</a:t>
            </a:r>
          </a:p>
        </p:txBody>
      </p:sp>
      <p:sp>
        <p:nvSpPr>
          <p:cNvPr id="29" name="">
            <a:extLst xmlns:a="http://schemas.openxmlformats.org/drawingml/2006/main">
              <a:ext uri="{FF2B5EF4-FFF2-40B4-BE49-F238E27FC236}">
                <a16:creationId xmlns:a16="http://schemas.microsoft.com/office/drawing/2014/main" id="{C3A20116-8AAA-436E-A77A-9F33AEBBDE82}"/>
              </a:ext>
            </a:extLst>
          </p:cNvPr>
          <p:cNvSpPr>
            <a:spLocks xmlns:a="http://schemas.openxmlformats.org/drawingml/2006/main" noGrp="1"/>
          </p:cNvSpPr>
          <p:nvPr/>
        </p:nvSpPr>
        <p:spPr>
          <a:xfrm xmlns:a="http://schemas.openxmlformats.org/drawingml/2006/main">
            <a:off x="952500" y="5810250"/>
            <a:ext cx="1009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ctr">
              <a:defRPr sz="1500" b="1" i="0">
                <a:solidFill>
                  <a:srgbClr val="111827"/>
                </a:solidFill>
                <a:latin typeface="Arial"/>
                <a:ea typeface="Arial"/>
                <a:cs typeface="Arial"/>
              </a:defRPr>
            </a:pPr>
            <a:r>
              <a:rPr sz="1500" b="1" i="0">
                <a:solidFill>
                  <a:srgbClr val="111827"/>
                </a:solidFill>
                <a:latin typeface="Arial"/>
                <a:ea typeface="Arial"/>
                <a:cs typeface="Arial"/>
              </a:rPr>
              <a:t>Conclusion : la limite dominante se déplace de la quantité de données vers la qualité, la couverture économique et la transformation signal → allocation.</a:t>
            </a:r>
          </a:p>
        </p:txBody>
      </p:sp>
    </p:spTree>
    <p:extLst>
      <p:ext uri="{BB962C8B-B14F-4D97-AF65-F5344CB8AC3E}">
        <p14:creationId xmlns:p14="http://schemas.microsoft.com/office/powerpoint/2010/main" val="183377081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E7CED06-31BE-4DA4-ABAA-C31082BA980D}"/>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RÉSULTAT ÉCONOMIQUE</a:t>
            </a:r>
          </a:p>
        </p:txBody>
      </p:sp>
      <p:sp>
        <p:nvSpPr>
          <p:cNvPr id="2" name="">
            <a:extLst xmlns:a="http://schemas.openxmlformats.org/drawingml/2006/main">
              <a:ext uri="{FF2B5EF4-FFF2-40B4-BE49-F238E27FC236}">
                <a16:creationId xmlns:a16="http://schemas.microsoft.com/office/drawing/2014/main" id="{CDFC195A-740C-4650-AB56-F8FC690F8A2B}"/>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Le plafond de 25 % agit comme un régularisateur</a:t>
            </a:r>
          </a:p>
        </p:txBody>
      </p:sp>
      <p:sp>
        <p:nvSpPr>
          <p:cNvPr id="3" name="">
            <a:extLst xmlns:a="http://schemas.openxmlformats.org/drawingml/2006/main">
              <a:ext uri="{FF2B5EF4-FFF2-40B4-BE49-F238E27FC236}">
                <a16:creationId xmlns:a16="http://schemas.microsoft.com/office/drawing/2014/main" id="{996D9157-5696-49E9-97A9-14DE76F51AAB}"/>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D5D2A152-0C11-4C92-9802-3D80980EF279}"/>
              </a:ext>
            </a:extLst>
          </p:cNvPr>
          <p:cNvSpPr>
            <a:spLocks xmlns:a="http://schemas.openxmlformats.org/drawingml/2006/main" noGrp="1"/>
          </p:cNvSpPr>
          <p:nvPr/>
        </p:nvSpPr>
        <p:spPr>
          <a:xfrm xmlns:a="http://schemas.openxmlformats.org/drawingml/2006/main">
            <a:off x="609600" y="1257300"/>
            <a:ext cx="6934200" cy="4267200"/>
          </a:xfrm>
          <a:prstGeom xmlns:a="http://schemas.openxmlformats.org/drawingml/2006/main" prst="roundRect">
            <a:avLst>
              <a:gd name="adj" fmla="val 2679"/>
            </a:avLst>
          </a:prstGeom>
          <a:solidFill xmlns:a="http://schemas.openxmlformats.org/drawingml/2006/main">
            <a:srgbClr val="F3F4F6"/>
          </a:solidFill>
          <a:ln xmlns:a="http://schemas.openxmlformats.org/drawingml/2006/main" w="9525">
            <a:solidFill>
              <a:srgbClr val="D1D5DB"/>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c804cd0c9814b0e"/>
          <a:stretch xmlns:a="http://schemas.openxmlformats.org/drawingml/2006/main"/>
        </p:blipFill>
        <p:spPr>
          <a:xfrm xmlns:a="http://schemas.openxmlformats.org/drawingml/2006/main">
            <a:off x="723900" y="1589318"/>
            <a:ext cx="6705600" cy="360316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0828E60-B426-40AF-9D1C-B37ACCD8E9A1}"/>
              </a:ext>
            </a:extLst>
          </p:cNvPr>
          <p:cNvSpPr>
            <a:spLocks xmlns:a="http://schemas.openxmlformats.org/drawingml/2006/main" noGrp="1"/>
          </p:cNvSpPr>
          <p:nvPr/>
        </p:nvSpPr>
        <p:spPr>
          <a:xfrm xmlns:a="http://schemas.openxmlformats.org/drawingml/2006/main">
            <a:off x="8096250" y="15811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defRPr sz="3450" b="1" i="0">
                <a:solidFill>
                  <a:srgbClr val="0F766E"/>
                </a:solidFill>
                <a:latin typeface="Arial"/>
                <a:ea typeface="Arial"/>
                <a:cs typeface="Arial"/>
              </a:defRPr>
            </a:pPr>
            <a:r>
              <a:rPr sz="3450" b="1" i="0">
                <a:solidFill>
                  <a:srgbClr val="0F766E"/>
                </a:solidFill>
                <a:latin typeface="Arial"/>
                <a:ea typeface="Arial"/>
                <a:cs typeface="Arial"/>
              </a:rPr>
              <a:t>0,9525</a:t>
            </a:r>
          </a:p>
        </p:txBody>
      </p:sp>
      <p:sp>
        <p:nvSpPr>
          <p:cNvPr id="7" name="">
            <a:extLst xmlns:a="http://schemas.openxmlformats.org/drawingml/2006/main">
              <a:ext uri="{FF2B5EF4-FFF2-40B4-BE49-F238E27FC236}">
                <a16:creationId xmlns:a16="http://schemas.microsoft.com/office/drawing/2014/main" id="{336ACEE3-A7CC-4944-9E90-6C072582EDAE}"/>
              </a:ext>
            </a:extLst>
          </p:cNvPr>
          <p:cNvSpPr>
            <a:spLocks xmlns:a="http://schemas.openxmlformats.org/drawingml/2006/main" noGrp="1"/>
          </p:cNvSpPr>
          <p:nvPr/>
        </p:nvSpPr>
        <p:spPr>
          <a:xfrm xmlns:a="http://schemas.openxmlformats.org/drawingml/2006/main">
            <a:off x="8096250" y="21717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Sharpe net au plafond 25 %</a:t>
            </a:r>
          </a:p>
        </p:txBody>
      </p:sp>
      <p:sp>
        <p:nvSpPr>
          <p:cNvPr id="8" name="">
            <a:extLst xmlns:a="http://schemas.openxmlformats.org/drawingml/2006/main">
              <a:ext uri="{FF2B5EF4-FFF2-40B4-BE49-F238E27FC236}">
                <a16:creationId xmlns:a16="http://schemas.microsoft.com/office/drawing/2014/main" id="{2560624F-048F-4F5E-A8BE-1A3333C064D3}"/>
              </a:ext>
            </a:extLst>
          </p:cNvPr>
          <p:cNvSpPr>
            <a:spLocks xmlns:a="http://schemas.openxmlformats.org/drawingml/2006/main" noGrp="1"/>
          </p:cNvSpPr>
          <p:nvPr/>
        </p:nvSpPr>
        <p:spPr>
          <a:xfrm xmlns:a="http://schemas.openxmlformats.org/drawingml/2006/main">
            <a:off x="8096250" y="28384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defRPr sz="3450" b="1" i="0">
                <a:solidFill>
                  <a:srgbClr val="B7433E"/>
                </a:solidFill>
                <a:latin typeface="Arial"/>
                <a:ea typeface="Arial"/>
                <a:cs typeface="Arial"/>
              </a:defRPr>
            </a:pPr>
            <a:r>
              <a:rPr sz="3450" b="1" i="0">
                <a:solidFill>
                  <a:srgbClr val="B7433E"/>
                </a:solidFill>
                <a:latin typeface="Arial"/>
                <a:ea typeface="Arial"/>
                <a:cs typeface="Arial"/>
              </a:rPr>
              <a:t>0,8650</a:t>
            </a:r>
          </a:p>
        </p:txBody>
      </p:sp>
      <p:sp>
        <p:nvSpPr>
          <p:cNvPr id="9" name="">
            <a:extLst xmlns:a="http://schemas.openxmlformats.org/drawingml/2006/main">
              <a:ext uri="{FF2B5EF4-FFF2-40B4-BE49-F238E27FC236}">
                <a16:creationId xmlns:a16="http://schemas.microsoft.com/office/drawing/2014/main" id="{E482459D-1DBB-4983-B5CD-A105DFBA28FF}"/>
              </a:ext>
            </a:extLst>
          </p:cNvPr>
          <p:cNvSpPr>
            <a:spLocks xmlns:a="http://schemas.openxmlformats.org/drawingml/2006/main" noGrp="1"/>
          </p:cNvSpPr>
          <p:nvPr/>
        </p:nvSpPr>
        <p:spPr>
          <a:xfrm xmlns:a="http://schemas.openxmlformats.org/drawingml/2006/main">
            <a:off x="8096250" y="34290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5D6675"/>
                </a:solidFill>
                <a:latin typeface="Arial"/>
                <a:ea typeface="Arial"/>
                <a:cs typeface="Arial"/>
              </a:defRPr>
            </a:pPr>
            <a:r>
              <a:rPr sz="1275" b="0" i="0">
                <a:solidFill>
                  <a:srgbClr val="5D6675"/>
                </a:solidFill>
                <a:latin typeface="Arial"/>
                <a:ea typeface="Arial"/>
                <a:cs typeface="Arial"/>
              </a:rPr>
              <a:t>Sharpe net sans plafond</a:t>
            </a:r>
          </a:p>
        </p:txBody>
      </p:sp>
      <p:sp>
        <p:nvSpPr>
          <p:cNvPr id="10" name="">
            <a:extLst xmlns:a="http://schemas.openxmlformats.org/drawingml/2006/main">
              <a:ext uri="{FF2B5EF4-FFF2-40B4-BE49-F238E27FC236}">
                <a16:creationId xmlns:a16="http://schemas.microsoft.com/office/drawing/2014/main" id="{E28DEBDB-8A21-460B-B823-41B39DC2454F}"/>
              </a:ext>
            </a:extLst>
          </p:cNvPr>
          <p:cNvSpPr>
            <a:spLocks xmlns:a="http://schemas.openxmlformats.org/drawingml/2006/main" noGrp="1"/>
          </p:cNvSpPr>
          <p:nvPr/>
        </p:nvSpPr>
        <p:spPr>
          <a:xfrm xmlns:a="http://schemas.openxmlformats.org/drawingml/2006/main">
            <a:off x="7981950" y="4171950"/>
            <a:ext cx="3333750" cy="1143000"/>
          </a:xfrm>
          <a:prstGeom xmlns:a="http://schemas.openxmlformats.org/drawingml/2006/main" prst="roundRect">
            <a:avLst>
              <a:gd name="adj" fmla="val 10000"/>
            </a:avLst>
          </a:prstGeom>
          <a:solidFill xmlns:a="http://schemas.openxmlformats.org/drawingml/2006/main">
            <a:srgbClr val="173B6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D324194-D54F-4BA4-9B4D-3418879F91E9}"/>
              </a:ext>
            </a:extLst>
          </p:cNvPr>
          <p:cNvSpPr>
            <a:spLocks xmlns:a="http://schemas.openxmlformats.org/drawingml/2006/main" noGrp="1"/>
          </p:cNvSpPr>
          <p:nvPr/>
        </p:nvSpPr>
        <p:spPr>
          <a:xfrm xmlns:a="http://schemas.openxmlformats.org/drawingml/2006/main">
            <a:off x="8229600" y="4362450"/>
            <a:ext cx="1238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940"/>
          </a:bodyPr>
          <a:lstStyle xmlns:a="http://schemas.openxmlformats.org/drawingml/2006/main"/>
          <a:p xmlns:a="http://schemas.openxmlformats.org/drawingml/2006/main">
            <a:pPr algn="l">
              <a:defRPr sz="2550" b="1" i="0">
                <a:solidFill>
                  <a:srgbClr val="D0EDFA"/>
                </a:solidFill>
                <a:latin typeface="Arial"/>
                <a:ea typeface="Arial"/>
                <a:cs typeface="Arial"/>
              </a:defRPr>
            </a:pPr>
            <a:r>
              <a:rPr sz="2550" b="1" i="0">
                <a:solidFill>
                  <a:srgbClr val="D0EDFA"/>
                </a:solidFill>
                <a:latin typeface="Arial"/>
                <a:ea typeface="Arial"/>
                <a:cs typeface="Arial"/>
              </a:rPr>
              <a:t>−10,1 %</a:t>
            </a:r>
          </a:p>
        </p:txBody>
      </p:sp>
      <p:sp>
        <p:nvSpPr>
          <p:cNvPr id="12" name="">
            <a:extLst xmlns:a="http://schemas.openxmlformats.org/drawingml/2006/main">
              <a:ext uri="{FF2B5EF4-FFF2-40B4-BE49-F238E27FC236}">
                <a16:creationId xmlns:a16="http://schemas.microsoft.com/office/drawing/2014/main" id="{71C23007-0E81-43E4-BEE6-3D9CCF504644}"/>
              </a:ext>
            </a:extLst>
          </p:cNvPr>
          <p:cNvSpPr>
            <a:spLocks xmlns:a="http://schemas.openxmlformats.org/drawingml/2006/main" noGrp="1"/>
          </p:cNvSpPr>
          <p:nvPr/>
        </p:nvSpPr>
        <p:spPr>
          <a:xfrm xmlns:a="http://schemas.openxmlformats.org/drawingml/2006/main">
            <a:off x="9525000" y="4400550"/>
            <a:ext cx="1562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defRPr sz="1200" b="1" i="0">
                <a:solidFill>
                  <a:srgbClr val="FFFFFF"/>
                </a:solidFill>
                <a:latin typeface="Arial"/>
                <a:ea typeface="Arial"/>
                <a:cs typeface="Arial"/>
              </a:defRPr>
            </a:pPr>
            <a:r>
              <a:rPr sz="1200" b="1" i="0">
                <a:solidFill>
                  <a:srgbClr val="FFFFFF"/>
                </a:solidFill>
                <a:latin typeface="Arial"/>
                <a:ea typeface="Arial"/>
                <a:cs typeface="Arial"/>
              </a:rPr>
              <a:t>de Sharpe relatif quand la contrainte est relâchée</a:t>
            </a:r>
          </a:p>
        </p:txBody>
      </p:sp>
      <p:sp>
        <p:nvSpPr>
          <p:cNvPr id="13" name="">
            <a:extLst xmlns:a="http://schemas.openxmlformats.org/drawingml/2006/main">
              <a:ext uri="{FF2B5EF4-FFF2-40B4-BE49-F238E27FC236}">
                <a16:creationId xmlns:a16="http://schemas.microsoft.com/office/drawing/2014/main" id="{B63B0774-A09D-42D5-98BB-FAE6A442AC95}"/>
              </a:ext>
            </a:extLst>
          </p:cNvPr>
          <p:cNvSpPr>
            <a:spLocks xmlns:a="http://schemas.openxmlformats.org/drawingml/2006/main" noGrp="1"/>
          </p:cNvSpPr>
          <p:nvPr/>
        </p:nvSpPr>
        <p:spPr>
          <a:xfrm xmlns:a="http://schemas.openxmlformats.org/drawingml/2006/main">
            <a:off x="7981950" y="56388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947"/>
          </a:bodyPr>
          <a:lstStyle xmlns:a="http://schemas.openxmlformats.org/drawingml/2006/main"/>
          <a:p xmlns:a="http://schemas.openxmlformats.org/drawingml/2006/main">
            <a:pPr algn="ctr">
              <a:defRPr sz="1350" b="1" i="0">
                <a:solidFill>
                  <a:srgbClr val="173B67"/>
                </a:solidFill>
                <a:latin typeface="Arial"/>
                <a:ea typeface="Arial"/>
                <a:cs typeface="Arial"/>
              </a:defRPr>
            </a:pPr>
            <a:r>
              <a:rPr sz="1350" b="1" i="0">
                <a:solidFill>
                  <a:srgbClr val="173B67"/>
                </a:solidFill>
                <a:latin typeface="Arial"/>
                <a:ea typeface="Arial"/>
                <a:cs typeface="Arial"/>
              </a:rPr>
              <a:t>La gouvernance de l’allocation peut compter davantage que la sophistication du modèle.</a:t>
            </a:r>
          </a:p>
        </p:txBody>
      </p:sp>
    </p:spTree>
    <p:extLst>
      <p:ext uri="{BB962C8B-B14F-4D97-AF65-F5344CB8AC3E}">
        <p14:creationId xmlns:p14="http://schemas.microsoft.com/office/powerpoint/2010/main" val="5965332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954CE0C-38F7-4986-B327-F133A3D44EAC}"/>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ROBUSTESSE</a:t>
            </a:r>
          </a:p>
        </p:txBody>
      </p:sp>
      <p:sp>
        <p:nvSpPr>
          <p:cNvPr id="2" name="">
            <a:extLst xmlns:a="http://schemas.openxmlformats.org/drawingml/2006/main">
              <a:ext uri="{FF2B5EF4-FFF2-40B4-BE49-F238E27FC236}">
                <a16:creationId xmlns:a16="http://schemas.microsoft.com/office/drawing/2014/main" id="{FE189D57-6312-4DB1-9738-6501DDC88B91}"/>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En crise, le système détecte le stress — la contrainte protège</a:t>
            </a:r>
          </a:p>
        </p:txBody>
      </p:sp>
      <p:sp>
        <p:nvSpPr>
          <p:cNvPr id="3" name="">
            <a:extLst xmlns:a="http://schemas.openxmlformats.org/drawingml/2006/main">
              <a:ext uri="{FF2B5EF4-FFF2-40B4-BE49-F238E27FC236}">
                <a16:creationId xmlns:a16="http://schemas.microsoft.com/office/drawing/2014/main" id="{BB36F179-28A1-4A79-B3BC-DD4EA33B9696}"/>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9B4404EF-9963-479C-9E2D-A2D33B4C87BF}"/>
              </a:ext>
            </a:extLst>
          </p:cNvPr>
          <p:cNvSpPr>
            <a:spLocks xmlns:a="http://schemas.openxmlformats.org/drawingml/2006/main" noGrp="1"/>
          </p:cNvSpPr>
          <p:nvPr/>
        </p:nvSpPr>
        <p:spPr>
          <a:xfrm xmlns:a="http://schemas.openxmlformats.org/drawingml/2006/main">
            <a:off x="609600" y="1257300"/>
            <a:ext cx="6896100" cy="4248150"/>
          </a:xfrm>
          <a:prstGeom xmlns:a="http://schemas.openxmlformats.org/drawingml/2006/main" prst="roundRect">
            <a:avLst>
              <a:gd name="adj" fmla="val 2691"/>
            </a:avLst>
          </a:prstGeom>
          <a:solidFill xmlns:a="http://schemas.openxmlformats.org/drawingml/2006/main">
            <a:srgbClr val="F3F4F6"/>
          </a:solidFill>
          <a:ln xmlns:a="http://schemas.openxmlformats.org/drawingml/2006/main" w="9525">
            <a:solidFill>
              <a:srgbClr val="D1D5DB"/>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4a6dbf80c0d4bc0"/>
          <a:stretch xmlns:a="http://schemas.openxmlformats.org/drawingml/2006/main"/>
        </p:blipFill>
        <p:spPr>
          <a:xfrm xmlns:a="http://schemas.openxmlformats.org/drawingml/2006/main">
            <a:off x="723900" y="1783996"/>
            <a:ext cx="6667500" cy="319475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00D98D0-45A3-4265-A326-2562B511448F}"/>
              </a:ext>
            </a:extLst>
          </p:cNvPr>
          <p:cNvSpPr>
            <a:spLocks xmlns:a="http://schemas.openxmlformats.org/drawingml/2006/main" noGrp="1"/>
          </p:cNvSpPr>
          <p:nvPr/>
        </p:nvSpPr>
        <p:spPr>
          <a:xfrm xmlns:a="http://schemas.openxmlformats.org/drawingml/2006/main">
            <a:off x="7981950" y="14287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B7433E"/>
                </a:solidFill>
                <a:latin typeface="Arial"/>
                <a:ea typeface="Arial"/>
                <a:cs typeface="Arial"/>
              </a:defRPr>
            </a:pPr>
            <a:r>
              <a:rPr sz="3000" b="1" i="0">
                <a:solidFill>
                  <a:srgbClr val="B7433E"/>
                </a:solidFill>
                <a:latin typeface="Arial"/>
                <a:ea typeface="Arial"/>
                <a:cs typeface="Arial"/>
              </a:rPr>
              <a:t>91,7 %</a:t>
            </a:r>
          </a:p>
        </p:txBody>
      </p:sp>
      <p:sp>
        <p:nvSpPr>
          <p:cNvPr id="7" name="">
            <a:extLst xmlns:a="http://schemas.openxmlformats.org/drawingml/2006/main">
              <a:ext uri="{FF2B5EF4-FFF2-40B4-BE49-F238E27FC236}">
                <a16:creationId xmlns:a16="http://schemas.microsoft.com/office/drawing/2014/main" id="{78FBCCE6-8605-48F8-8504-43E86FB586BC}"/>
              </a:ext>
            </a:extLst>
          </p:cNvPr>
          <p:cNvSpPr>
            <a:spLocks xmlns:a="http://schemas.openxmlformats.org/drawingml/2006/main" noGrp="1"/>
          </p:cNvSpPr>
          <p:nvPr/>
        </p:nvSpPr>
        <p:spPr>
          <a:xfrm xmlns:a="http://schemas.openxmlformats.org/drawingml/2006/main">
            <a:off x="7981950" y="200025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jours en état baissier</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dans les fenêtres de crise</a:t>
            </a:r>
          </a:p>
        </p:txBody>
      </p:sp>
      <p:sp>
        <p:nvSpPr>
          <p:cNvPr id="8" name="">
            <a:extLst xmlns:a="http://schemas.openxmlformats.org/drawingml/2006/main">
              <a:ext uri="{FF2B5EF4-FFF2-40B4-BE49-F238E27FC236}">
                <a16:creationId xmlns:a16="http://schemas.microsoft.com/office/drawing/2014/main" id="{B9EB79F5-5A8F-4BD4-BAA0-2BDCE85A6A25}"/>
              </a:ext>
            </a:extLst>
          </p:cNvPr>
          <p:cNvSpPr>
            <a:spLocks xmlns:a="http://schemas.openxmlformats.org/drawingml/2006/main" noGrp="1"/>
          </p:cNvSpPr>
          <p:nvPr/>
        </p:nvSpPr>
        <p:spPr>
          <a:xfrm xmlns:a="http://schemas.openxmlformats.org/drawingml/2006/main">
            <a:off x="7981950" y="26289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3D8DFF"/>
                </a:solidFill>
                <a:latin typeface="Arial"/>
                <a:ea typeface="Arial"/>
                <a:cs typeface="Arial"/>
              </a:defRPr>
            </a:pPr>
            <a:r>
              <a:rPr sz="3000" b="1" i="0">
                <a:solidFill>
                  <a:srgbClr val="3D8DFF"/>
                </a:solidFill>
                <a:latin typeface="Arial"/>
                <a:ea typeface="Arial"/>
                <a:cs typeface="Arial"/>
              </a:rPr>
              <a:t>29,2 %</a:t>
            </a:r>
          </a:p>
        </p:txBody>
      </p:sp>
      <p:sp>
        <p:nvSpPr>
          <p:cNvPr id="9" name="">
            <a:extLst xmlns:a="http://schemas.openxmlformats.org/drawingml/2006/main">
              <a:ext uri="{FF2B5EF4-FFF2-40B4-BE49-F238E27FC236}">
                <a16:creationId xmlns:a16="http://schemas.microsoft.com/office/drawing/2014/main" id="{3F5ABC13-8DCD-4F8E-985A-8179E8F5EFD4}"/>
              </a:ext>
            </a:extLst>
          </p:cNvPr>
          <p:cNvSpPr>
            <a:spLocks xmlns:a="http://schemas.openxmlformats.org/drawingml/2006/main" noGrp="1"/>
          </p:cNvSpPr>
          <p:nvPr/>
        </p:nvSpPr>
        <p:spPr>
          <a:xfrm xmlns:a="http://schemas.openxmlformats.org/drawingml/2006/main">
            <a:off x="7981950" y="32004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jours en état baissier</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hors de ces fenêtres</a:t>
            </a:r>
          </a:p>
        </p:txBody>
      </p:sp>
      <p:sp>
        <p:nvSpPr>
          <p:cNvPr id="10" name="">
            <a:extLst xmlns:a="http://schemas.openxmlformats.org/drawingml/2006/main">
              <a:ext uri="{FF2B5EF4-FFF2-40B4-BE49-F238E27FC236}">
                <a16:creationId xmlns:a16="http://schemas.microsoft.com/office/drawing/2014/main" id="{CCB3222F-3B8E-4E6F-B5C8-1F8C8A9563F6}"/>
              </a:ext>
            </a:extLst>
          </p:cNvPr>
          <p:cNvSpPr>
            <a:spLocks xmlns:a="http://schemas.openxmlformats.org/drawingml/2006/main" noGrp="1"/>
          </p:cNvSpPr>
          <p:nvPr/>
        </p:nvSpPr>
        <p:spPr>
          <a:xfrm xmlns:a="http://schemas.openxmlformats.org/drawingml/2006/main">
            <a:off x="7981950" y="38290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0F766E"/>
                </a:solidFill>
                <a:latin typeface="Arial"/>
                <a:ea typeface="Arial"/>
                <a:cs typeface="Arial"/>
              </a:defRPr>
            </a:pPr>
            <a:r>
              <a:rPr sz="3000" b="1" i="0">
                <a:solidFill>
                  <a:srgbClr val="0F766E"/>
                </a:solidFill>
                <a:latin typeface="Arial"/>
                <a:ea typeface="Arial"/>
                <a:cs typeface="Arial"/>
              </a:rPr>
              <a:t>×3,13</a:t>
            </a:r>
          </a:p>
        </p:txBody>
      </p:sp>
      <p:sp>
        <p:nvSpPr>
          <p:cNvPr id="11" name="">
            <a:extLst xmlns:a="http://schemas.openxmlformats.org/drawingml/2006/main">
              <a:ext uri="{FF2B5EF4-FFF2-40B4-BE49-F238E27FC236}">
                <a16:creationId xmlns:a16="http://schemas.microsoft.com/office/drawing/2014/main" id="{06D35370-E0BC-46E4-9B67-2A499CB7C241}"/>
              </a:ext>
            </a:extLst>
          </p:cNvPr>
          <p:cNvSpPr>
            <a:spLocks xmlns:a="http://schemas.openxmlformats.org/drawingml/2006/main" noGrp="1"/>
          </p:cNvSpPr>
          <p:nvPr/>
        </p:nvSpPr>
        <p:spPr>
          <a:xfrm xmlns:a="http://schemas.openxmlformats.org/drawingml/2006/main">
            <a:off x="7981950" y="440055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ratio de concentration</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du régime baissier</a:t>
            </a:r>
          </a:p>
        </p:txBody>
      </p:sp>
      <p:sp>
        <p:nvSpPr>
          <p:cNvPr id="12" name="">
            <a:extLst xmlns:a="http://schemas.openxmlformats.org/drawingml/2006/main">
              <a:ext uri="{FF2B5EF4-FFF2-40B4-BE49-F238E27FC236}">
                <a16:creationId xmlns:a16="http://schemas.microsoft.com/office/drawing/2014/main" id="{A006A579-C41B-49FB-B87B-2EFC18F5B39F}"/>
              </a:ext>
            </a:extLst>
          </p:cNvPr>
          <p:cNvSpPr>
            <a:spLocks xmlns:a="http://schemas.openxmlformats.org/drawingml/2006/main" noGrp="1"/>
          </p:cNvSpPr>
          <p:nvPr/>
        </p:nvSpPr>
        <p:spPr>
          <a:xfrm xmlns:a="http://schemas.openxmlformats.org/drawingml/2006/main">
            <a:off x="7867650" y="5086350"/>
            <a:ext cx="3333750" cy="876300"/>
          </a:xfrm>
          <a:prstGeom xmlns:a="http://schemas.openxmlformats.org/drawingml/2006/main" prst="roundRect">
            <a:avLst>
              <a:gd name="adj" fmla="val 13043"/>
            </a:avLst>
          </a:prstGeom>
          <a:solidFill xmlns:a="http://schemas.openxmlformats.org/drawingml/2006/main">
            <a:srgbClr val="FFF0D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EF0DFE5-EB0D-4028-A8A6-0E3CC9D0D0AB}"/>
              </a:ext>
            </a:extLst>
          </p:cNvPr>
          <p:cNvSpPr>
            <a:spLocks xmlns:a="http://schemas.openxmlformats.org/drawingml/2006/main" noGrp="1"/>
          </p:cNvSpPr>
          <p:nvPr/>
        </p:nvSpPr>
        <p:spPr>
          <a:xfrm xmlns:a="http://schemas.openxmlformats.org/drawingml/2006/main">
            <a:off x="8096250" y="5238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defRPr sz="1050" b="1" i="0">
                <a:solidFill>
                  <a:srgbClr val="A86812"/>
                </a:solidFill>
                <a:latin typeface="Arial"/>
                <a:ea typeface="Arial"/>
                <a:cs typeface="Arial"/>
              </a:defRPr>
            </a:pPr>
            <a:r>
              <a:rPr sz="1050" b="1" i="0">
                <a:solidFill>
                  <a:srgbClr val="A86812"/>
                </a:solidFill>
                <a:latin typeface="Arial"/>
                <a:ea typeface="Arial"/>
                <a:cs typeface="Arial"/>
              </a:rPr>
              <a:t>Diagnostic exploratoire</a:t>
            </a:r>
          </a:p>
        </p:txBody>
      </p:sp>
      <p:sp>
        <p:nvSpPr>
          <p:cNvPr id="14" name="">
            <a:extLst xmlns:a="http://schemas.openxmlformats.org/drawingml/2006/main">
              <a:ext uri="{FF2B5EF4-FFF2-40B4-BE49-F238E27FC236}">
                <a16:creationId xmlns:a16="http://schemas.microsoft.com/office/drawing/2014/main" id="{A2000EA8-163A-41BC-99E3-CF495961D901}"/>
              </a:ext>
            </a:extLst>
          </p:cNvPr>
          <p:cNvSpPr>
            <a:spLocks xmlns:a="http://schemas.openxmlformats.org/drawingml/2006/main" noGrp="1"/>
          </p:cNvSpPr>
          <p:nvPr/>
        </p:nvSpPr>
        <p:spPr>
          <a:xfrm xmlns:a="http://schemas.openxmlformats.org/drawingml/2006/main">
            <a:off x="8096250" y="5514975"/>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923"/>
          </a:bodyPr>
          <a:lstStyle xmlns:a="http://schemas.openxmlformats.org/drawingml/2006/main"/>
          <a:p xmlns:a="http://schemas.openxmlformats.org/drawingml/2006/main">
            <a:pPr algn="l">
              <a:defRPr sz="1125" b="1" i="0">
                <a:solidFill>
                  <a:srgbClr val="111827"/>
                </a:solidFill>
                <a:latin typeface="Arial"/>
                <a:ea typeface="Arial"/>
                <a:cs typeface="Arial"/>
              </a:defRPr>
            </a:pPr>
            <a:r>
              <a:rPr sz="1125" b="1" i="0">
                <a:solidFill>
                  <a:srgbClr val="111827"/>
                </a:solidFill>
                <a:latin typeface="Arial"/>
                <a:ea typeface="Arial"/>
                <a:cs typeface="Arial"/>
              </a:rPr>
              <a:t>p = 0,031 sur 5 fenêtres choisies rétrospectivement : ce n’est pas une preuve confirmatoire.</a:t>
            </a:r>
          </a:p>
        </p:txBody>
      </p:sp>
    </p:spTree>
    <p:extLst>
      <p:ext uri="{BB962C8B-B14F-4D97-AF65-F5344CB8AC3E}">
        <p14:creationId xmlns:p14="http://schemas.microsoft.com/office/powerpoint/2010/main" val="19713606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EFFE517-5480-47A3-B563-4571D4BB53E4}"/>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EXPLICABILITÉ</a:t>
            </a:r>
          </a:p>
        </p:txBody>
      </p:sp>
      <p:sp>
        <p:nvSpPr>
          <p:cNvPr id="2" name="">
            <a:extLst xmlns:a="http://schemas.openxmlformats.org/drawingml/2006/main">
              <a:ext uri="{FF2B5EF4-FFF2-40B4-BE49-F238E27FC236}">
                <a16:creationId xmlns:a16="http://schemas.microsoft.com/office/drawing/2014/main" id="{15B39686-9484-4A69-95F5-4AE724F94ADE}"/>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Nous expliquons la décision, pas seulement la prédiction</a:t>
            </a:r>
          </a:p>
        </p:txBody>
      </p:sp>
      <p:sp>
        <p:nvSpPr>
          <p:cNvPr id="3" name="">
            <a:extLst xmlns:a="http://schemas.openxmlformats.org/drawingml/2006/main">
              <a:ext uri="{FF2B5EF4-FFF2-40B4-BE49-F238E27FC236}">
                <a16:creationId xmlns:a16="http://schemas.microsoft.com/office/drawing/2014/main" id="{0940783B-35D0-4202-A8A3-9D9BC5FF8425}"/>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B6A48BC7-4BB1-43E6-992C-C2B0BF0F9D51}"/>
              </a:ext>
            </a:extLst>
          </p:cNvPr>
          <p:cNvSpPr>
            <a:spLocks xmlns:a="http://schemas.openxmlformats.org/drawingml/2006/main" noGrp="1"/>
          </p:cNvSpPr>
          <p:nvPr/>
        </p:nvSpPr>
        <p:spPr>
          <a:xfrm xmlns:a="http://schemas.openxmlformats.org/drawingml/2006/main">
            <a:off x="609600" y="1219200"/>
            <a:ext cx="7734300" cy="4286250"/>
          </a:xfrm>
          <a:prstGeom xmlns:a="http://schemas.openxmlformats.org/drawingml/2006/main" prst="roundRect">
            <a:avLst>
              <a:gd name="adj" fmla="val 2667"/>
            </a:avLst>
          </a:prstGeom>
          <a:solidFill xmlns:a="http://schemas.openxmlformats.org/drawingml/2006/main">
            <a:srgbClr val="F3F4F6"/>
          </a:solidFill>
          <a:ln xmlns:a="http://schemas.openxmlformats.org/drawingml/2006/main" w="9525">
            <a:solidFill>
              <a:srgbClr val="D1D5DB"/>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22b6efbe32749e4"/>
          <a:stretch xmlns:a="http://schemas.openxmlformats.org/drawingml/2006/main"/>
        </p:blipFill>
        <p:spPr>
          <a:xfrm xmlns:a="http://schemas.openxmlformats.org/drawingml/2006/main">
            <a:off x="723900" y="1669796"/>
            <a:ext cx="7505700" cy="338505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87250D2-47ED-4DD8-8E60-97EFE92CFC1A}"/>
              </a:ext>
            </a:extLst>
          </p:cNvPr>
          <p:cNvSpPr>
            <a:spLocks xmlns:a="http://schemas.openxmlformats.org/drawingml/2006/main" noGrp="1"/>
          </p:cNvSpPr>
          <p:nvPr/>
        </p:nvSpPr>
        <p:spPr>
          <a:xfrm xmlns:a="http://schemas.openxmlformats.org/drawingml/2006/main">
            <a:off x="8724900" y="1495425"/>
            <a:ext cx="76200" cy="7620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02221C-A88D-450A-AEBE-A662197A3311}"/>
              </a:ext>
            </a:extLst>
          </p:cNvPr>
          <p:cNvSpPr>
            <a:spLocks xmlns:a="http://schemas.openxmlformats.org/drawingml/2006/main" noGrp="1"/>
          </p:cNvSpPr>
          <p:nvPr/>
        </p:nvSpPr>
        <p:spPr>
          <a:xfrm xmlns:a="http://schemas.openxmlformats.org/drawingml/2006/main">
            <a:off x="8934450" y="1428750"/>
            <a:ext cx="2457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Système principal</a:t>
            </a:r>
          </a:p>
        </p:txBody>
      </p:sp>
      <p:sp>
        <p:nvSpPr>
          <p:cNvPr id="8" name="">
            <a:extLst xmlns:a="http://schemas.openxmlformats.org/drawingml/2006/main">
              <a:ext uri="{FF2B5EF4-FFF2-40B4-BE49-F238E27FC236}">
                <a16:creationId xmlns:a16="http://schemas.microsoft.com/office/drawing/2014/main" id="{636A3CE0-82D6-4441-BF44-D5CFEAAB3B1D}"/>
              </a:ext>
            </a:extLst>
          </p:cNvPr>
          <p:cNvSpPr>
            <a:spLocks xmlns:a="http://schemas.openxmlformats.org/drawingml/2006/main" noGrp="1"/>
          </p:cNvSpPr>
          <p:nvPr/>
        </p:nvSpPr>
        <p:spPr>
          <a:xfrm xmlns:a="http://schemas.openxmlformats.org/drawingml/2006/main">
            <a:off x="8934450" y="1704975"/>
            <a:ext cx="2457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943"/>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Trace HMM → régime → sous-stratégie → poids → contraintes.</a:t>
            </a:r>
          </a:p>
        </p:txBody>
      </p:sp>
      <p:sp>
        <p:nvSpPr>
          <p:cNvPr id="9" name="">
            <a:extLst xmlns:a="http://schemas.openxmlformats.org/drawingml/2006/main">
              <a:ext uri="{FF2B5EF4-FFF2-40B4-BE49-F238E27FC236}">
                <a16:creationId xmlns:a16="http://schemas.microsoft.com/office/drawing/2014/main" id="{41C102CF-D7F8-4EDC-A72E-50942D65ECA3}"/>
              </a:ext>
            </a:extLst>
          </p:cNvPr>
          <p:cNvSpPr>
            <a:spLocks xmlns:a="http://schemas.openxmlformats.org/drawingml/2006/main" noGrp="1"/>
          </p:cNvSpPr>
          <p:nvPr/>
        </p:nvSpPr>
        <p:spPr>
          <a:xfrm xmlns:a="http://schemas.openxmlformats.org/drawingml/2006/main">
            <a:off x="8724900" y="2676525"/>
            <a:ext cx="76200" cy="76200"/>
          </a:xfrm>
          <a:prstGeom xmlns:a="http://schemas.openxmlformats.org/drawingml/2006/main" prst="roundRect">
            <a:avLst>
              <a:gd name="adj" fmla="val 50000"/>
            </a:avLst>
          </a:prstGeom>
          <a:solidFill xmlns:a="http://schemas.openxmlformats.org/drawingml/2006/main">
            <a:srgbClr val="0F766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341BFE-CDC8-4FDD-AA36-48F51972B39A}"/>
              </a:ext>
            </a:extLst>
          </p:cNvPr>
          <p:cNvSpPr>
            <a:spLocks xmlns:a="http://schemas.openxmlformats.org/drawingml/2006/main" noGrp="1"/>
          </p:cNvSpPr>
          <p:nvPr/>
        </p:nvSpPr>
        <p:spPr>
          <a:xfrm xmlns:a="http://schemas.openxmlformats.org/drawingml/2006/main">
            <a:off x="8934450" y="2609850"/>
            <a:ext cx="2457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Challengers</a:t>
            </a:r>
          </a:p>
        </p:txBody>
      </p:sp>
      <p:sp>
        <p:nvSpPr>
          <p:cNvPr id="11" name="">
            <a:extLst xmlns:a="http://schemas.openxmlformats.org/drawingml/2006/main">
              <a:ext uri="{FF2B5EF4-FFF2-40B4-BE49-F238E27FC236}">
                <a16:creationId xmlns:a16="http://schemas.microsoft.com/office/drawing/2014/main" id="{159E9611-8EB0-4B7C-98AA-A66E024C0114}"/>
              </a:ext>
            </a:extLst>
          </p:cNvPr>
          <p:cNvSpPr>
            <a:spLocks xmlns:a="http://schemas.openxmlformats.org/drawingml/2006/main" noGrp="1"/>
          </p:cNvSpPr>
          <p:nvPr/>
        </p:nvSpPr>
        <p:spPr>
          <a:xfrm xmlns:a="http://schemas.openxmlformats.org/drawingml/2006/main">
            <a:off x="8934450" y="2886075"/>
            <a:ext cx="2457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Attributions additives exactes pour Random Forest et XGBoost.</a:t>
            </a:r>
          </a:p>
        </p:txBody>
      </p:sp>
      <p:sp>
        <p:nvSpPr>
          <p:cNvPr id="12" name="">
            <a:extLst xmlns:a="http://schemas.openxmlformats.org/drawingml/2006/main">
              <a:ext uri="{FF2B5EF4-FFF2-40B4-BE49-F238E27FC236}">
                <a16:creationId xmlns:a16="http://schemas.microsoft.com/office/drawing/2014/main" id="{C7D09F55-C3E6-4F01-95ED-EEE68FB7822B}"/>
              </a:ext>
            </a:extLst>
          </p:cNvPr>
          <p:cNvSpPr>
            <a:spLocks xmlns:a="http://schemas.openxmlformats.org/drawingml/2006/main" noGrp="1"/>
          </p:cNvSpPr>
          <p:nvPr/>
        </p:nvSpPr>
        <p:spPr>
          <a:xfrm xmlns:a="http://schemas.openxmlformats.org/drawingml/2006/main">
            <a:off x="8724900" y="3857625"/>
            <a:ext cx="76200" cy="76200"/>
          </a:xfrm>
          <a:prstGeom xmlns:a="http://schemas.openxmlformats.org/drawingml/2006/main" prst="roundRect">
            <a:avLst>
              <a:gd name="adj" fmla="val 50000"/>
            </a:avLst>
          </a:prstGeom>
          <a:solidFill xmlns:a="http://schemas.openxmlformats.org/drawingml/2006/main">
            <a:srgbClr val="A8681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46DC694-084A-4717-B679-FD78209745F1}"/>
              </a:ext>
            </a:extLst>
          </p:cNvPr>
          <p:cNvSpPr>
            <a:spLocks xmlns:a="http://schemas.openxmlformats.org/drawingml/2006/main" noGrp="1"/>
          </p:cNvSpPr>
          <p:nvPr/>
        </p:nvSpPr>
        <p:spPr>
          <a:xfrm xmlns:a="http://schemas.openxmlformats.org/drawingml/2006/main">
            <a:off x="8934450" y="3790950"/>
            <a:ext cx="2457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111827"/>
                </a:solidFill>
                <a:latin typeface="Arial"/>
                <a:ea typeface="Arial"/>
                <a:cs typeface="Arial"/>
              </a:defRPr>
            </a:pPr>
            <a:r>
              <a:rPr sz="1275" b="1" i="0">
                <a:solidFill>
                  <a:srgbClr val="111827"/>
                </a:solidFill>
                <a:latin typeface="Arial"/>
                <a:ea typeface="Arial"/>
                <a:cs typeface="Arial"/>
              </a:rPr>
              <a:t>Lien contrôlé</a:t>
            </a:r>
          </a:p>
        </p:txBody>
      </p:sp>
      <p:sp>
        <p:nvSpPr>
          <p:cNvPr id="14" name="">
            <a:extLst xmlns:a="http://schemas.openxmlformats.org/drawingml/2006/main">
              <a:ext uri="{FF2B5EF4-FFF2-40B4-BE49-F238E27FC236}">
                <a16:creationId xmlns:a16="http://schemas.microsoft.com/office/drawing/2014/main" id="{C9EF867D-8200-4210-A24B-276302C09878}"/>
              </a:ext>
            </a:extLst>
          </p:cNvPr>
          <p:cNvSpPr>
            <a:spLocks xmlns:a="http://schemas.openxmlformats.org/drawingml/2006/main" noGrp="1"/>
          </p:cNvSpPr>
          <p:nvPr/>
        </p:nvSpPr>
        <p:spPr>
          <a:xfrm xmlns:a="http://schemas.openxmlformats.org/drawingml/2006/main">
            <a:off x="8934450" y="4067175"/>
            <a:ext cx="2457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5D6675"/>
                </a:solidFill>
                <a:latin typeface="Arial"/>
                <a:ea typeface="Arial"/>
                <a:cs typeface="Arial"/>
              </a:defRPr>
            </a:pPr>
            <a:r>
              <a:rPr sz="1125" b="0" i="0">
                <a:solidFill>
                  <a:srgbClr val="5D6675"/>
                </a:solidFill>
                <a:latin typeface="Arial"/>
                <a:ea typeface="Arial"/>
                <a:cs typeface="Arial"/>
              </a:rPr>
              <a:t>Concordance entre classement prédit et poids réellement servis.</a:t>
            </a:r>
          </a:p>
        </p:txBody>
      </p:sp>
      <p:sp>
        <p:nvSpPr>
          <p:cNvPr id="15" name="">
            <a:extLst xmlns:a="http://schemas.openxmlformats.org/drawingml/2006/main">
              <a:ext uri="{FF2B5EF4-FFF2-40B4-BE49-F238E27FC236}">
                <a16:creationId xmlns:a16="http://schemas.microsoft.com/office/drawing/2014/main" id="{A9739B94-C5AD-4C10-BD59-A832D9852C11}"/>
              </a:ext>
            </a:extLst>
          </p:cNvPr>
          <p:cNvSpPr>
            <a:spLocks xmlns:a="http://schemas.openxmlformats.org/drawingml/2006/main" noGrp="1"/>
          </p:cNvSpPr>
          <p:nvPr/>
        </p:nvSpPr>
        <p:spPr>
          <a:xfrm xmlns:a="http://schemas.openxmlformats.org/drawingml/2006/main">
            <a:off x="8610600" y="4933950"/>
            <a:ext cx="2857500" cy="971550"/>
          </a:xfrm>
          <a:prstGeom xmlns:a="http://schemas.openxmlformats.org/drawingml/2006/main" prst="roundRect">
            <a:avLst>
              <a:gd name="adj" fmla="val 11765"/>
            </a:avLst>
          </a:prstGeom>
          <a:solidFill xmlns:a="http://schemas.openxmlformats.org/drawingml/2006/main">
            <a:srgbClr val="FCE9E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4ED0C89-24CF-4FBC-B1DE-54DAE4B316BF}"/>
              </a:ext>
            </a:extLst>
          </p:cNvPr>
          <p:cNvSpPr>
            <a:spLocks xmlns:a="http://schemas.openxmlformats.org/drawingml/2006/main" noGrp="1"/>
          </p:cNvSpPr>
          <p:nvPr/>
        </p:nvSpPr>
        <p:spPr>
          <a:xfrm xmlns:a="http://schemas.openxmlformats.org/drawingml/2006/main">
            <a:off x="8820150" y="5105400"/>
            <a:ext cx="100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000"/>
          </a:bodyPr>
          <a:lstStyle xmlns:a="http://schemas.openxmlformats.org/drawingml/2006/main"/>
          <a:p xmlns:a="http://schemas.openxmlformats.org/drawingml/2006/main">
            <a:pPr algn="l">
              <a:defRPr sz="2250" b="1" i="0">
                <a:solidFill>
                  <a:srgbClr val="B7433E"/>
                </a:solidFill>
                <a:latin typeface="Arial"/>
                <a:ea typeface="Arial"/>
                <a:cs typeface="Arial"/>
              </a:defRPr>
            </a:pPr>
            <a:r>
              <a:rPr sz="2250" b="1" i="0">
                <a:solidFill>
                  <a:srgbClr val="B7433E"/>
                </a:solidFill>
                <a:latin typeface="Arial"/>
                <a:ea typeface="Arial"/>
                <a:cs typeface="Arial"/>
              </a:rPr>
              <a:t>−1,000</a:t>
            </a:r>
          </a:p>
        </p:txBody>
      </p:sp>
      <p:sp>
        <p:nvSpPr>
          <p:cNvPr id="17" name="">
            <a:extLst xmlns:a="http://schemas.openxmlformats.org/drawingml/2006/main">
              <a:ext uri="{FF2B5EF4-FFF2-40B4-BE49-F238E27FC236}">
                <a16:creationId xmlns:a16="http://schemas.microsoft.com/office/drawing/2014/main" id="{6BEC67A5-7DE9-4D4D-B3F0-CD6D811AA7EB}"/>
              </a:ext>
            </a:extLst>
          </p:cNvPr>
          <p:cNvSpPr>
            <a:spLocks xmlns:a="http://schemas.openxmlformats.org/drawingml/2006/main" noGrp="1"/>
          </p:cNvSpPr>
          <p:nvPr/>
        </p:nvSpPr>
        <p:spPr>
          <a:xfrm xmlns:a="http://schemas.openxmlformats.org/drawingml/2006/main">
            <a:off x="9886950" y="5105400"/>
            <a:ext cx="1352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68"/>
          </a:bodyPr>
          <a:lstStyle xmlns:a="http://schemas.openxmlformats.org/drawingml/2006/main"/>
          <a:p xmlns:a="http://schemas.openxmlformats.org/drawingml/2006/main">
            <a:pPr algn="l">
              <a:defRPr sz="1050" b="1" i="0">
                <a:solidFill>
                  <a:srgbClr val="111827"/>
                </a:solidFill>
                <a:latin typeface="Arial"/>
                <a:ea typeface="Arial"/>
                <a:cs typeface="Arial"/>
              </a:defRPr>
            </a:pPr>
            <a:r>
              <a:rPr sz="1050" b="1" i="0">
                <a:solidFill>
                  <a:srgbClr val="111827"/>
                </a:solidFill>
                <a:latin typeface="Arial"/>
                <a:ea typeface="Arial"/>
                <a:cs typeface="Arial"/>
              </a:rPr>
              <a:t>concordance RF sur etf_2017 : la contrainte inverse exactement le classement prédit.</a:t>
            </a:r>
          </a:p>
        </p:txBody>
      </p:sp>
    </p:spTree>
    <p:extLst>
      <p:ext uri="{BB962C8B-B14F-4D97-AF65-F5344CB8AC3E}">
        <p14:creationId xmlns:p14="http://schemas.microsoft.com/office/powerpoint/2010/main" val="460747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B59C56-4B5C-4736-87EF-DF4AF3956E67}"/>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DÉMONSTRATION</a:t>
            </a:r>
          </a:p>
        </p:txBody>
      </p:sp>
      <p:sp>
        <p:nvSpPr>
          <p:cNvPr id="2" name="">
            <a:extLst xmlns:a="http://schemas.openxmlformats.org/drawingml/2006/main">
              <a:ext uri="{FF2B5EF4-FFF2-40B4-BE49-F238E27FC236}">
                <a16:creationId xmlns:a16="http://schemas.microsoft.com/office/drawing/2014/main" id="{0A269961-A83C-4A60-92C0-BC9C31DEA6CC}"/>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Deux vues : décision et analyse</a:t>
            </a:r>
          </a:p>
        </p:txBody>
      </p:sp>
      <p:sp>
        <p:nvSpPr>
          <p:cNvPr id="3" name="">
            <a:extLst xmlns:a="http://schemas.openxmlformats.org/drawingml/2006/main">
              <a:ext uri="{FF2B5EF4-FFF2-40B4-BE49-F238E27FC236}">
                <a16:creationId xmlns:a16="http://schemas.microsoft.com/office/drawing/2014/main" id="{69723846-D252-4B5E-AFF8-F2B3CFCAF63F}"/>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37AA27F-F09C-4F68-94A5-68762ADFFF5F}"/>
              </a:ext>
            </a:extLst>
          </p:cNvPr>
          <p:cNvSpPr>
            <a:spLocks xmlns:a="http://schemas.openxmlformats.org/drawingml/2006/main" noGrp="1"/>
          </p:cNvSpPr>
          <p:nvPr/>
        </p:nvSpPr>
        <p:spPr>
          <a:xfrm xmlns:a="http://schemas.openxmlformats.org/drawingml/2006/main">
            <a:off x="609600" y="1200150"/>
            <a:ext cx="5219700" cy="4686300"/>
          </a:xfrm>
          <a:prstGeom xmlns:a="http://schemas.openxmlformats.org/drawingml/2006/main" prst="roundRect">
            <a:avLst>
              <a:gd name="adj" fmla="val 2439"/>
            </a:avLst>
          </a:prstGeom>
          <a:solidFill xmlns:a="http://schemas.openxmlformats.org/drawingml/2006/main">
            <a:srgbClr val="F3F4F6"/>
          </a:solidFill>
          <a:ln xmlns:a="http://schemas.openxmlformats.org/drawingml/2006/main" w="9525">
            <a:solidFill>
              <a:srgbClr val="D1D5DB"/>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6dce82cc47045f3"/>
          <a:stretch xmlns:a="http://schemas.openxmlformats.org/drawingml/2006/main"/>
        </p:blipFill>
        <p:spPr>
          <a:xfrm xmlns:a="http://schemas.openxmlformats.org/drawingml/2006/main">
            <a:off x="1550017" y="1314450"/>
            <a:ext cx="3338866" cy="40576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53A65FB-D7DE-42B0-A9D5-A5D29D91E375}"/>
              </a:ext>
            </a:extLst>
          </p:cNvPr>
          <p:cNvSpPr>
            <a:spLocks xmlns:a="http://schemas.openxmlformats.org/drawingml/2006/main" noGrp="1"/>
          </p:cNvSpPr>
          <p:nvPr/>
        </p:nvSpPr>
        <p:spPr>
          <a:xfrm xmlns:a="http://schemas.openxmlformats.org/drawingml/2006/main">
            <a:off x="781050" y="5486400"/>
            <a:ext cx="487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ctr">
              <a:defRPr sz="1275" b="1" i="0">
                <a:solidFill>
                  <a:srgbClr val="111827"/>
                </a:solidFill>
                <a:latin typeface="Arial"/>
                <a:ea typeface="Arial"/>
                <a:cs typeface="Arial"/>
              </a:defRPr>
            </a:pPr>
            <a:r>
              <a:rPr sz="1275" b="1" i="0">
                <a:solidFill>
                  <a:srgbClr val="111827"/>
                </a:solidFill>
                <a:latin typeface="Arial"/>
                <a:ea typeface="Arial"/>
                <a:cs typeface="Arial"/>
              </a:rPr>
              <a:t>Résultats de recherche</a:t>
            </a:r>
          </a:p>
        </p:txBody>
      </p:sp>
      <p:sp>
        <p:nvSpPr>
          <p:cNvPr id="7" name="">
            <a:extLst xmlns:a="http://schemas.openxmlformats.org/drawingml/2006/main">
              <a:ext uri="{FF2B5EF4-FFF2-40B4-BE49-F238E27FC236}">
                <a16:creationId xmlns:a16="http://schemas.microsoft.com/office/drawing/2014/main" id="{8980364C-F5E7-485B-9376-F05F9D6F140A}"/>
              </a:ext>
            </a:extLst>
          </p:cNvPr>
          <p:cNvSpPr>
            <a:spLocks xmlns:a="http://schemas.openxmlformats.org/drawingml/2006/main" noGrp="1"/>
          </p:cNvSpPr>
          <p:nvPr/>
        </p:nvSpPr>
        <p:spPr>
          <a:xfrm xmlns:a="http://schemas.openxmlformats.org/drawingml/2006/main">
            <a:off x="6362700" y="1200150"/>
            <a:ext cx="5219700" cy="4686300"/>
          </a:xfrm>
          <a:prstGeom xmlns:a="http://schemas.openxmlformats.org/drawingml/2006/main" prst="roundRect">
            <a:avLst>
              <a:gd name="adj" fmla="val 2439"/>
            </a:avLst>
          </a:prstGeom>
          <a:solidFill xmlns:a="http://schemas.openxmlformats.org/drawingml/2006/main">
            <a:srgbClr val="F3F4F6"/>
          </a:solidFill>
          <a:ln xmlns:a="http://schemas.openxmlformats.org/drawingml/2006/main" w="9525">
            <a:solidFill>
              <a:srgbClr val="D1D5DB"/>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35e9b0addbb4261"/>
          <a:stretch xmlns:a="http://schemas.openxmlformats.org/drawingml/2006/main"/>
        </p:blipFill>
        <p:spPr>
          <a:xfrm xmlns:a="http://schemas.openxmlformats.org/drawingml/2006/main">
            <a:off x="7303117" y="1314450"/>
            <a:ext cx="3338866"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F184806-6FDA-4076-8DFF-A83FB3DB948C}"/>
              </a:ext>
            </a:extLst>
          </p:cNvPr>
          <p:cNvSpPr>
            <a:spLocks xmlns:a="http://schemas.openxmlformats.org/drawingml/2006/main" noGrp="1"/>
          </p:cNvSpPr>
          <p:nvPr/>
        </p:nvSpPr>
        <p:spPr>
          <a:xfrm xmlns:a="http://schemas.openxmlformats.org/drawingml/2006/main">
            <a:off x="6534150" y="5486400"/>
            <a:ext cx="487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ctr">
              <a:defRPr sz="1275" b="1" i="0">
                <a:solidFill>
                  <a:srgbClr val="111827"/>
                </a:solidFill>
                <a:latin typeface="Arial"/>
                <a:ea typeface="Arial"/>
                <a:cs typeface="Arial"/>
              </a:defRPr>
            </a:pPr>
            <a:r>
              <a:rPr sz="1275" b="1" i="0">
                <a:solidFill>
                  <a:srgbClr val="111827"/>
                </a:solidFill>
                <a:latin typeface="Arial"/>
                <a:ea typeface="Arial"/>
                <a:cs typeface="Arial"/>
              </a:rPr>
              <a:t>Explorateur de stratégies</a:t>
            </a:r>
          </a:p>
        </p:txBody>
      </p:sp>
      <p:sp>
        <p:nvSpPr>
          <p:cNvPr id="10" name="">
            <a:extLst xmlns:a="http://schemas.openxmlformats.org/drawingml/2006/main">
              <a:ext uri="{FF2B5EF4-FFF2-40B4-BE49-F238E27FC236}">
                <a16:creationId xmlns:a16="http://schemas.microsoft.com/office/drawing/2014/main" id="{086BF948-1709-4BBA-8C2D-8F4DDBD5A942}"/>
              </a:ext>
            </a:extLst>
          </p:cNvPr>
          <p:cNvSpPr>
            <a:spLocks xmlns:a="http://schemas.openxmlformats.org/drawingml/2006/main" noGrp="1"/>
          </p:cNvSpPr>
          <p:nvPr/>
        </p:nvSpPr>
        <p:spPr>
          <a:xfrm xmlns:a="http://schemas.openxmlformats.org/drawingml/2006/main">
            <a:off x="1352550" y="6153150"/>
            <a:ext cx="9486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defRPr sz="1275" b="1" i="0">
                <a:solidFill>
                  <a:srgbClr val="173B67"/>
                </a:solidFill>
                <a:latin typeface="Arial"/>
                <a:ea typeface="Arial"/>
                <a:cs typeface="Arial"/>
              </a:defRPr>
            </a:pPr>
            <a:r>
              <a:rPr sz="1275" b="1" i="0">
                <a:solidFill>
                  <a:srgbClr val="173B67"/>
                </a:solidFill>
                <a:latin typeface="Arial"/>
                <a:ea typeface="Arial"/>
                <a:cs typeface="Arial"/>
              </a:rPr>
              <a:t>Les chiffres sont lus depuis Gold : l’interface ne contient aucun Sharpe écrit à la main.</a:t>
            </a:r>
          </a:p>
        </p:txBody>
      </p:sp>
    </p:spTree>
    <p:extLst>
      <p:ext uri="{BB962C8B-B14F-4D97-AF65-F5344CB8AC3E}">
        <p14:creationId xmlns:p14="http://schemas.microsoft.com/office/powerpoint/2010/main" val="87211482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B2981B11-0A87-450B-AAF8-285C3F4A2A4C}"/>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INDUSTRIALISATION</a:t>
            </a:r>
          </a:p>
        </p:txBody>
      </p:sp>
      <p:sp>
        <p:nvSpPr>
          <p:cNvPr id="2" name="">
            <a:extLst xmlns:a="http://schemas.openxmlformats.org/drawingml/2006/main">
              <a:ext uri="{FF2B5EF4-FFF2-40B4-BE49-F238E27FC236}">
                <a16:creationId xmlns:a16="http://schemas.microsoft.com/office/drawing/2014/main" id="{A51B9665-3D40-4E66-84DB-FCC0973BAB6C}"/>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Le prototype est industrialisable et gouverné</a:t>
            </a:r>
          </a:p>
        </p:txBody>
      </p:sp>
      <p:sp>
        <p:nvSpPr>
          <p:cNvPr id="3" name="">
            <a:extLst xmlns:a="http://schemas.openxmlformats.org/drawingml/2006/main">
              <a:ext uri="{FF2B5EF4-FFF2-40B4-BE49-F238E27FC236}">
                <a16:creationId xmlns:a16="http://schemas.microsoft.com/office/drawing/2014/main" id="{A6F9F16B-340A-46AA-A731-8889937C3C7D}"/>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EA9D868C-762D-448E-9FAD-9E8F89A0320C}"/>
              </a:ext>
            </a:extLst>
          </p:cNvPr>
          <p:cNvSpPr>
            <a:spLocks xmlns:a="http://schemas.openxmlformats.org/drawingml/2006/main" noGrp="1"/>
          </p:cNvSpPr>
          <p:nvPr/>
        </p:nvSpPr>
        <p:spPr>
          <a:xfrm xmlns:a="http://schemas.openxmlformats.org/drawingml/2006/main">
            <a:off x="609600" y="1200150"/>
            <a:ext cx="6534150" cy="4400550"/>
          </a:xfrm>
          <a:prstGeom xmlns:a="http://schemas.openxmlformats.org/drawingml/2006/main" prst="roundRect">
            <a:avLst>
              <a:gd name="adj" fmla="val 2597"/>
            </a:avLst>
          </a:prstGeom>
          <a:solidFill xmlns:a="http://schemas.openxmlformats.org/drawingml/2006/main">
            <a:srgbClr val="F3F4F6"/>
          </a:solidFill>
          <a:ln xmlns:a="http://schemas.openxmlformats.org/drawingml/2006/main" w="9525">
            <a:solidFill>
              <a:srgbClr val="D1D5DB"/>
            </a:solidFill>
            <a:prstDash val="solid"/>
          </a:ln>
        </p:spPr>
      </p:sp>
      <p:sp>
        <p:nvSpPr>
          <p:cNvPr id="5" name="">
            <a:extLst xmlns:a="http://schemas.openxmlformats.org/drawingml/2006/main">
              <a:ext uri="{FF2B5EF4-FFF2-40B4-BE49-F238E27FC236}">
                <a16:creationId xmlns:a16="http://schemas.microsoft.com/office/drawing/2014/main" id="{529F8A18-C0C1-4572-8665-3CBD197C4FAC}"/>
              </a:ext>
            </a:extLst>
          </p:cNvPr>
          <p:cNvSpPr>
            <a:spLocks xmlns:a="http://schemas.openxmlformats.org/drawingml/2006/main" noGrp="1"/>
          </p:cNvSpPr>
          <p:nvPr/>
        </p:nvSpPr>
        <p:spPr>
          <a:xfrm xmlns:a="http://schemas.openxmlformats.org/drawingml/2006/main">
            <a:off x="838200" y="1409700"/>
            <a:ext cx="607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defRPr sz="1350" b="1" i="0">
                <a:solidFill>
                  <a:srgbClr val="173B67"/>
                </a:solidFill>
                <a:latin typeface="Arial"/>
                <a:ea typeface="Arial"/>
                <a:cs typeface="Arial"/>
              </a:defRPr>
            </a:pPr>
            <a:r>
              <a:rPr sz="1350" b="1" i="0">
                <a:solidFill>
                  <a:srgbClr val="173B67"/>
                </a:solidFill>
                <a:latin typeface="Arial"/>
                <a:ea typeface="Arial"/>
                <a:cs typeface="Arial"/>
              </a:rPr>
              <a:t>Lecture industrielle de l’état actuel</a:t>
            </a:r>
          </a:p>
        </p:txBody>
      </p:sp>
      <p:sp>
        <p:nvSpPr>
          <p:cNvPr id="6" name="">
            <a:extLst xmlns:a="http://schemas.openxmlformats.org/drawingml/2006/main">
              <a:ext uri="{FF2B5EF4-FFF2-40B4-BE49-F238E27FC236}">
                <a16:creationId xmlns:a16="http://schemas.microsoft.com/office/drawing/2014/main" id="{26D3B0DE-AAF4-4CE0-97EC-F8450006D34C}"/>
              </a:ext>
            </a:extLst>
          </p:cNvPr>
          <p:cNvSpPr>
            <a:spLocks xmlns:a="http://schemas.openxmlformats.org/drawingml/2006/main" noGrp="1"/>
          </p:cNvSpPr>
          <p:nvPr/>
        </p:nvSpPr>
        <p:spPr>
          <a:xfrm xmlns:a="http://schemas.openxmlformats.org/drawingml/2006/main">
            <a:off x="838200" y="1866900"/>
            <a:ext cx="6076950" cy="428625"/>
          </a:xfrm>
          <a:prstGeom xmlns:a="http://schemas.openxmlformats.org/drawingml/2006/main" prst="rect">
            <a:avLst/>
          </a:prstGeom>
          <a:solidFill xmlns:a="http://schemas.openxmlformats.org/drawingml/2006/main">
            <a:srgbClr val="DFF4EE"/>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0E668B2-61B1-42A2-A6AE-05C0EF0C0908}"/>
              </a:ext>
            </a:extLst>
          </p:cNvPr>
          <p:cNvSpPr>
            <a:spLocks xmlns:a="http://schemas.openxmlformats.org/drawingml/2006/main" noGrp="1"/>
          </p:cNvSpPr>
          <p:nvPr/>
        </p:nvSpPr>
        <p:spPr>
          <a:xfrm xmlns:a="http://schemas.openxmlformats.org/drawingml/2006/main">
            <a:off x="990600" y="1971675"/>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i="0">
                <a:solidFill>
                  <a:srgbClr val="0F766E"/>
                </a:solidFill>
                <a:latin typeface="Arial"/>
                <a:ea typeface="Arial"/>
                <a:cs typeface="Arial"/>
              </a:defRPr>
            </a:pPr>
            <a:r>
              <a:rPr sz="1200" b="1" i="0">
                <a:solidFill>
                  <a:srgbClr val="0F766E"/>
                </a:solidFill>
                <a:latin typeface="Arial"/>
                <a:ea typeface="Arial"/>
                <a:cs typeface="Arial"/>
              </a:rPr>
              <a:t>Reproductibilité</a:t>
            </a:r>
          </a:p>
        </p:txBody>
      </p:sp>
      <p:sp>
        <p:nvSpPr>
          <p:cNvPr id="8" name="">
            <a:extLst xmlns:a="http://schemas.openxmlformats.org/drawingml/2006/main">
              <a:ext uri="{FF2B5EF4-FFF2-40B4-BE49-F238E27FC236}">
                <a16:creationId xmlns:a16="http://schemas.microsoft.com/office/drawing/2014/main" id="{E4AB1E02-0164-4A91-8B1C-6A5AA904411D}"/>
              </a:ext>
            </a:extLst>
          </p:cNvPr>
          <p:cNvSpPr>
            <a:spLocks xmlns:a="http://schemas.openxmlformats.org/drawingml/2006/main" noGrp="1"/>
          </p:cNvSpPr>
          <p:nvPr/>
        </p:nvSpPr>
        <p:spPr>
          <a:xfrm xmlns:a="http://schemas.openxmlformats.org/drawingml/2006/main">
            <a:off x="2781300" y="1971675"/>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DVC · lock 284 dépendances · R2</a:t>
            </a:r>
          </a:p>
        </p:txBody>
      </p:sp>
      <p:sp>
        <p:nvSpPr>
          <p:cNvPr id="9" name="">
            <a:extLst xmlns:a="http://schemas.openxmlformats.org/drawingml/2006/main">
              <a:ext uri="{FF2B5EF4-FFF2-40B4-BE49-F238E27FC236}">
                <a16:creationId xmlns:a16="http://schemas.microsoft.com/office/drawing/2014/main" id="{D3988DE1-57C1-4619-A4C3-76E6226EC013}"/>
              </a:ext>
            </a:extLst>
          </p:cNvPr>
          <p:cNvSpPr>
            <a:spLocks xmlns:a="http://schemas.openxmlformats.org/drawingml/2006/main" noGrp="1"/>
          </p:cNvSpPr>
          <p:nvPr/>
        </p:nvSpPr>
        <p:spPr>
          <a:xfrm xmlns:a="http://schemas.openxmlformats.org/drawingml/2006/main">
            <a:off x="5410200" y="1971675"/>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08"/>
          </a:bodyPr>
          <a:lstStyle xmlns:a="http://schemas.openxmlformats.org/drawingml/2006/main"/>
          <a:p xmlns:a="http://schemas.openxmlformats.org/drawingml/2006/main">
            <a:pPr algn="r">
              <a:defRPr sz="975" b="1" i="0">
                <a:solidFill>
                  <a:srgbClr val="0F766E"/>
                </a:solidFill>
                <a:latin typeface="Arial"/>
                <a:ea typeface="Arial"/>
                <a:cs typeface="Arial"/>
              </a:defRPr>
            </a:pPr>
            <a:r>
              <a:rPr sz="975" b="1" i="0">
                <a:solidFill>
                  <a:srgbClr val="0F766E"/>
                </a:solidFill>
                <a:latin typeface="Arial"/>
                <a:ea typeface="Arial"/>
                <a:cs typeface="Arial"/>
              </a:rPr>
              <a:t>LIVRÉ</a:t>
            </a:r>
          </a:p>
        </p:txBody>
      </p:sp>
      <p:sp>
        <p:nvSpPr>
          <p:cNvPr id="10" name="">
            <a:extLst xmlns:a="http://schemas.openxmlformats.org/drawingml/2006/main">
              <a:ext uri="{FF2B5EF4-FFF2-40B4-BE49-F238E27FC236}">
                <a16:creationId xmlns:a16="http://schemas.microsoft.com/office/drawing/2014/main" id="{646F8429-40D4-4AEB-8421-6BA763019441}"/>
              </a:ext>
            </a:extLst>
          </p:cNvPr>
          <p:cNvSpPr>
            <a:spLocks xmlns:a="http://schemas.openxmlformats.org/drawingml/2006/main" noGrp="1"/>
          </p:cNvSpPr>
          <p:nvPr/>
        </p:nvSpPr>
        <p:spPr>
          <a:xfrm xmlns:a="http://schemas.openxmlformats.org/drawingml/2006/main">
            <a:off x="838200" y="2390775"/>
            <a:ext cx="6076950" cy="428625"/>
          </a:xfrm>
          <a:prstGeom xmlns:a="http://schemas.openxmlformats.org/drawingml/2006/main" prst="rect">
            <a:avLst/>
          </a:prstGeom>
          <a:solidFill xmlns:a="http://schemas.openxmlformats.org/drawingml/2006/main">
            <a:srgbClr val="DFF4E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00EABD4-C42F-4CAF-8AF7-801BD1FABF5D}"/>
              </a:ext>
            </a:extLst>
          </p:cNvPr>
          <p:cNvSpPr>
            <a:spLocks xmlns:a="http://schemas.openxmlformats.org/drawingml/2006/main" noGrp="1"/>
          </p:cNvSpPr>
          <p:nvPr/>
        </p:nvSpPr>
        <p:spPr>
          <a:xfrm xmlns:a="http://schemas.openxmlformats.org/drawingml/2006/main">
            <a:off x="990600" y="2495550"/>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i="0">
                <a:solidFill>
                  <a:srgbClr val="0F766E"/>
                </a:solidFill>
                <a:latin typeface="Arial"/>
                <a:ea typeface="Arial"/>
                <a:cs typeface="Arial"/>
              </a:defRPr>
            </a:pPr>
            <a:r>
              <a:rPr sz="1200" b="1" i="0">
                <a:solidFill>
                  <a:srgbClr val="0F766E"/>
                </a:solidFill>
                <a:latin typeface="Arial"/>
                <a:ea typeface="Arial"/>
                <a:cs typeface="Arial"/>
              </a:rPr>
              <a:t>Tests &amp; CI</a:t>
            </a:r>
          </a:p>
        </p:txBody>
      </p:sp>
      <p:sp>
        <p:nvSpPr>
          <p:cNvPr id="12" name="">
            <a:extLst xmlns:a="http://schemas.openxmlformats.org/drawingml/2006/main">
              <a:ext uri="{FF2B5EF4-FFF2-40B4-BE49-F238E27FC236}">
                <a16:creationId xmlns:a16="http://schemas.microsoft.com/office/drawing/2014/main" id="{910AE2F7-5389-4CB5-B8B1-919CDE35B4B2}"/>
              </a:ext>
            </a:extLst>
          </p:cNvPr>
          <p:cNvSpPr>
            <a:spLocks xmlns:a="http://schemas.openxmlformats.org/drawingml/2006/main" noGrp="1"/>
          </p:cNvSpPr>
          <p:nvPr/>
        </p:nvSpPr>
        <p:spPr>
          <a:xfrm xmlns:a="http://schemas.openxmlformats.org/drawingml/2006/main">
            <a:off x="2781300" y="249555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792 tests · portes de release</a:t>
            </a:r>
          </a:p>
        </p:txBody>
      </p:sp>
      <p:sp>
        <p:nvSpPr>
          <p:cNvPr id="13" name="">
            <a:extLst xmlns:a="http://schemas.openxmlformats.org/drawingml/2006/main">
              <a:ext uri="{FF2B5EF4-FFF2-40B4-BE49-F238E27FC236}">
                <a16:creationId xmlns:a16="http://schemas.microsoft.com/office/drawing/2014/main" id="{CC742908-D687-45CE-B48C-A87E81E13BD3}"/>
              </a:ext>
            </a:extLst>
          </p:cNvPr>
          <p:cNvSpPr>
            <a:spLocks xmlns:a="http://schemas.openxmlformats.org/drawingml/2006/main" noGrp="1"/>
          </p:cNvSpPr>
          <p:nvPr/>
        </p:nvSpPr>
        <p:spPr>
          <a:xfrm xmlns:a="http://schemas.openxmlformats.org/drawingml/2006/main">
            <a:off x="5410200" y="2495550"/>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08"/>
          </a:bodyPr>
          <a:lstStyle xmlns:a="http://schemas.openxmlformats.org/drawingml/2006/main"/>
          <a:p xmlns:a="http://schemas.openxmlformats.org/drawingml/2006/main">
            <a:pPr algn="r">
              <a:defRPr sz="975" b="1" i="0">
                <a:solidFill>
                  <a:srgbClr val="0F766E"/>
                </a:solidFill>
                <a:latin typeface="Arial"/>
                <a:ea typeface="Arial"/>
                <a:cs typeface="Arial"/>
              </a:defRPr>
            </a:pPr>
            <a:r>
              <a:rPr sz="975" b="1" i="0">
                <a:solidFill>
                  <a:srgbClr val="0F766E"/>
                </a:solidFill>
                <a:latin typeface="Arial"/>
                <a:ea typeface="Arial"/>
                <a:cs typeface="Arial"/>
              </a:rPr>
              <a:t>LIVRÉ</a:t>
            </a:r>
          </a:p>
        </p:txBody>
      </p:sp>
      <p:sp>
        <p:nvSpPr>
          <p:cNvPr id="14" name="">
            <a:extLst xmlns:a="http://schemas.openxmlformats.org/drawingml/2006/main">
              <a:ext uri="{FF2B5EF4-FFF2-40B4-BE49-F238E27FC236}">
                <a16:creationId xmlns:a16="http://schemas.microsoft.com/office/drawing/2014/main" id="{3494554E-6110-4AA5-9F2D-1312F37279FD}"/>
              </a:ext>
            </a:extLst>
          </p:cNvPr>
          <p:cNvSpPr>
            <a:spLocks xmlns:a="http://schemas.openxmlformats.org/drawingml/2006/main" noGrp="1"/>
          </p:cNvSpPr>
          <p:nvPr/>
        </p:nvSpPr>
        <p:spPr>
          <a:xfrm xmlns:a="http://schemas.openxmlformats.org/drawingml/2006/main">
            <a:off x="838200" y="2914650"/>
            <a:ext cx="6076950" cy="428625"/>
          </a:xfrm>
          <a:prstGeom xmlns:a="http://schemas.openxmlformats.org/drawingml/2006/main" prst="rect">
            <a:avLst/>
          </a:prstGeom>
          <a:solidFill xmlns:a="http://schemas.openxmlformats.org/drawingml/2006/main">
            <a:srgbClr val="DFF4E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014CB66-8EA6-4EAE-B445-08C8C51A8541}"/>
              </a:ext>
            </a:extLst>
          </p:cNvPr>
          <p:cNvSpPr>
            <a:spLocks xmlns:a="http://schemas.openxmlformats.org/drawingml/2006/main" noGrp="1"/>
          </p:cNvSpPr>
          <p:nvPr/>
        </p:nvSpPr>
        <p:spPr>
          <a:xfrm xmlns:a="http://schemas.openxmlformats.org/drawingml/2006/main">
            <a:off x="990600" y="3019425"/>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i="0">
                <a:solidFill>
                  <a:srgbClr val="0F766E"/>
                </a:solidFill>
                <a:latin typeface="Arial"/>
                <a:ea typeface="Arial"/>
                <a:cs typeface="Arial"/>
              </a:defRPr>
            </a:pPr>
            <a:r>
              <a:rPr sz="1200" b="1" i="0">
                <a:solidFill>
                  <a:srgbClr val="0F766E"/>
                </a:solidFill>
                <a:latin typeface="Arial"/>
                <a:ea typeface="Arial"/>
                <a:cs typeface="Arial"/>
              </a:rPr>
              <a:t>Explicabilité</a:t>
            </a:r>
          </a:p>
        </p:txBody>
      </p:sp>
      <p:sp>
        <p:nvSpPr>
          <p:cNvPr id="16" name="">
            <a:extLst xmlns:a="http://schemas.openxmlformats.org/drawingml/2006/main">
              <a:ext uri="{FF2B5EF4-FFF2-40B4-BE49-F238E27FC236}">
                <a16:creationId xmlns:a16="http://schemas.microsoft.com/office/drawing/2014/main" id="{4BA44D27-DB6F-4A8B-AF9C-EA0D4339AF97}"/>
              </a:ext>
            </a:extLst>
          </p:cNvPr>
          <p:cNvSpPr>
            <a:spLocks xmlns:a="http://schemas.openxmlformats.org/drawingml/2006/main" noGrp="1"/>
          </p:cNvSpPr>
          <p:nvPr/>
        </p:nvSpPr>
        <p:spPr>
          <a:xfrm xmlns:a="http://schemas.openxmlformats.org/drawingml/2006/main">
            <a:off x="2781300" y="3019425"/>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trace HMM · attributions exactes</a:t>
            </a:r>
          </a:p>
        </p:txBody>
      </p:sp>
      <p:sp>
        <p:nvSpPr>
          <p:cNvPr id="17" name="">
            <a:extLst xmlns:a="http://schemas.openxmlformats.org/drawingml/2006/main">
              <a:ext uri="{FF2B5EF4-FFF2-40B4-BE49-F238E27FC236}">
                <a16:creationId xmlns:a16="http://schemas.microsoft.com/office/drawing/2014/main" id="{48345298-1E0D-428F-B34A-09FE971C0A1C}"/>
              </a:ext>
            </a:extLst>
          </p:cNvPr>
          <p:cNvSpPr>
            <a:spLocks xmlns:a="http://schemas.openxmlformats.org/drawingml/2006/main" noGrp="1"/>
          </p:cNvSpPr>
          <p:nvPr/>
        </p:nvSpPr>
        <p:spPr>
          <a:xfrm xmlns:a="http://schemas.openxmlformats.org/drawingml/2006/main">
            <a:off x="5410200" y="3019425"/>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08"/>
          </a:bodyPr>
          <a:lstStyle xmlns:a="http://schemas.openxmlformats.org/drawingml/2006/main"/>
          <a:p xmlns:a="http://schemas.openxmlformats.org/drawingml/2006/main">
            <a:pPr algn="r">
              <a:defRPr sz="975" b="1" i="0">
                <a:solidFill>
                  <a:srgbClr val="0F766E"/>
                </a:solidFill>
                <a:latin typeface="Arial"/>
                <a:ea typeface="Arial"/>
                <a:cs typeface="Arial"/>
              </a:defRPr>
            </a:pPr>
            <a:r>
              <a:rPr sz="975" b="1" i="0">
                <a:solidFill>
                  <a:srgbClr val="0F766E"/>
                </a:solidFill>
                <a:latin typeface="Arial"/>
                <a:ea typeface="Arial"/>
                <a:cs typeface="Arial"/>
              </a:rPr>
              <a:t>LIVRÉ</a:t>
            </a:r>
          </a:p>
        </p:txBody>
      </p:sp>
      <p:sp>
        <p:nvSpPr>
          <p:cNvPr id="18" name="">
            <a:extLst xmlns:a="http://schemas.openxmlformats.org/drawingml/2006/main">
              <a:ext uri="{FF2B5EF4-FFF2-40B4-BE49-F238E27FC236}">
                <a16:creationId xmlns:a16="http://schemas.microsoft.com/office/drawing/2014/main" id="{93CCD9DE-0B0C-4C3D-A13B-E11EEB687230}"/>
              </a:ext>
            </a:extLst>
          </p:cNvPr>
          <p:cNvSpPr>
            <a:spLocks xmlns:a="http://schemas.openxmlformats.org/drawingml/2006/main" noGrp="1"/>
          </p:cNvSpPr>
          <p:nvPr/>
        </p:nvSpPr>
        <p:spPr>
          <a:xfrm xmlns:a="http://schemas.openxmlformats.org/drawingml/2006/main">
            <a:off x="838200" y="3438525"/>
            <a:ext cx="6076950" cy="428625"/>
          </a:xfrm>
          <a:prstGeom xmlns:a="http://schemas.openxmlformats.org/drawingml/2006/main" prst="rect">
            <a:avLst/>
          </a:prstGeom>
          <a:solidFill xmlns:a="http://schemas.openxmlformats.org/drawingml/2006/main">
            <a:srgbClr val="DDEE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D970FA3-BF5C-444E-9C31-8FBD122FA18B}"/>
              </a:ext>
            </a:extLst>
          </p:cNvPr>
          <p:cNvSpPr>
            <a:spLocks xmlns:a="http://schemas.openxmlformats.org/drawingml/2006/main" noGrp="1"/>
          </p:cNvSpPr>
          <p:nvPr/>
        </p:nvSpPr>
        <p:spPr>
          <a:xfrm xmlns:a="http://schemas.openxmlformats.org/drawingml/2006/main">
            <a:off x="990600" y="3543300"/>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i="0">
                <a:solidFill>
                  <a:srgbClr val="173B67"/>
                </a:solidFill>
                <a:latin typeface="Arial"/>
                <a:ea typeface="Arial"/>
                <a:cs typeface="Arial"/>
              </a:defRPr>
            </a:pPr>
            <a:r>
              <a:rPr sz="1200" b="1" i="0">
                <a:solidFill>
                  <a:srgbClr val="173B67"/>
                </a:solidFill>
                <a:latin typeface="Arial"/>
                <a:ea typeface="Arial"/>
                <a:cs typeface="Arial"/>
              </a:rPr>
              <a:t>Service</a:t>
            </a:r>
          </a:p>
        </p:txBody>
      </p:sp>
      <p:sp>
        <p:nvSpPr>
          <p:cNvPr id="20" name="">
            <a:extLst xmlns:a="http://schemas.openxmlformats.org/drawingml/2006/main">
              <a:ext uri="{FF2B5EF4-FFF2-40B4-BE49-F238E27FC236}">
                <a16:creationId xmlns:a16="http://schemas.microsoft.com/office/drawing/2014/main" id="{2EE9A3CC-5934-4BBE-AAEF-F3A94745E95A}"/>
              </a:ext>
            </a:extLst>
          </p:cNvPr>
          <p:cNvSpPr>
            <a:spLocks xmlns:a="http://schemas.openxmlformats.org/drawingml/2006/main" noGrp="1"/>
          </p:cNvSpPr>
          <p:nvPr/>
        </p:nvSpPr>
        <p:spPr>
          <a:xfrm xmlns:a="http://schemas.openxmlformats.org/drawingml/2006/main">
            <a:off x="2781300" y="3543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API · dashboard · Docker</a:t>
            </a:r>
          </a:p>
        </p:txBody>
      </p:sp>
      <p:sp>
        <p:nvSpPr>
          <p:cNvPr id="21" name="">
            <a:extLst xmlns:a="http://schemas.openxmlformats.org/drawingml/2006/main">
              <a:ext uri="{FF2B5EF4-FFF2-40B4-BE49-F238E27FC236}">
                <a16:creationId xmlns:a16="http://schemas.microsoft.com/office/drawing/2014/main" id="{C76D533F-D424-4EDC-A37E-8441C2E199AB}"/>
              </a:ext>
            </a:extLst>
          </p:cNvPr>
          <p:cNvSpPr>
            <a:spLocks xmlns:a="http://schemas.openxmlformats.org/drawingml/2006/main" noGrp="1"/>
          </p:cNvSpPr>
          <p:nvPr/>
        </p:nvSpPr>
        <p:spPr>
          <a:xfrm xmlns:a="http://schemas.openxmlformats.org/drawingml/2006/main">
            <a:off x="5410200" y="3543300"/>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08"/>
          </a:bodyPr>
          <a:lstStyle xmlns:a="http://schemas.openxmlformats.org/drawingml/2006/main"/>
          <a:p xmlns:a="http://schemas.openxmlformats.org/drawingml/2006/main">
            <a:pPr algn="r">
              <a:defRPr sz="975" b="1" i="0">
                <a:solidFill>
                  <a:srgbClr val="173B67"/>
                </a:solidFill>
                <a:latin typeface="Arial"/>
                <a:ea typeface="Arial"/>
                <a:cs typeface="Arial"/>
              </a:defRPr>
            </a:pPr>
            <a:r>
              <a:rPr sz="975" b="1" i="0">
                <a:solidFill>
                  <a:srgbClr val="173B67"/>
                </a:solidFill>
                <a:latin typeface="Arial"/>
                <a:ea typeface="Arial"/>
                <a:cs typeface="Arial"/>
              </a:rPr>
              <a:t>PROTOTYPE</a:t>
            </a:r>
          </a:p>
        </p:txBody>
      </p:sp>
      <p:sp>
        <p:nvSpPr>
          <p:cNvPr id="22" name="">
            <a:extLst xmlns:a="http://schemas.openxmlformats.org/drawingml/2006/main">
              <a:ext uri="{FF2B5EF4-FFF2-40B4-BE49-F238E27FC236}">
                <a16:creationId xmlns:a16="http://schemas.microsoft.com/office/drawing/2014/main" id="{04F9B922-7B9A-46AD-9F67-A77445A27870}"/>
              </a:ext>
            </a:extLst>
          </p:cNvPr>
          <p:cNvSpPr>
            <a:spLocks xmlns:a="http://schemas.openxmlformats.org/drawingml/2006/main" noGrp="1"/>
          </p:cNvSpPr>
          <p:nvPr/>
        </p:nvSpPr>
        <p:spPr>
          <a:xfrm xmlns:a="http://schemas.openxmlformats.org/drawingml/2006/main">
            <a:off x="838200" y="3962400"/>
            <a:ext cx="6076950" cy="428625"/>
          </a:xfrm>
          <a:prstGeom xmlns:a="http://schemas.openxmlformats.org/drawingml/2006/main" prst="rect">
            <a:avLst/>
          </a:prstGeom>
          <a:solidFill xmlns:a="http://schemas.openxmlformats.org/drawingml/2006/main">
            <a:srgbClr val="FFF0D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59745C1-B1BE-4795-BBFB-0285271139CE}"/>
              </a:ext>
            </a:extLst>
          </p:cNvPr>
          <p:cNvSpPr>
            <a:spLocks xmlns:a="http://schemas.openxmlformats.org/drawingml/2006/main" noGrp="1"/>
          </p:cNvSpPr>
          <p:nvPr/>
        </p:nvSpPr>
        <p:spPr>
          <a:xfrm xmlns:a="http://schemas.openxmlformats.org/drawingml/2006/main">
            <a:off x="990600" y="4067175"/>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i="0">
                <a:solidFill>
                  <a:srgbClr val="A86812"/>
                </a:solidFill>
                <a:latin typeface="Arial"/>
                <a:ea typeface="Arial"/>
                <a:cs typeface="Arial"/>
              </a:defRPr>
            </a:pPr>
            <a:r>
              <a:rPr sz="1200" b="1" i="0">
                <a:solidFill>
                  <a:srgbClr val="A86812"/>
                </a:solidFill>
                <a:latin typeface="Arial"/>
                <a:ea typeface="Arial"/>
                <a:cs typeface="Arial"/>
              </a:rPr>
              <a:t>Monitoring</a:t>
            </a:r>
          </a:p>
        </p:txBody>
      </p:sp>
      <p:sp>
        <p:nvSpPr>
          <p:cNvPr id="24" name="">
            <a:extLst xmlns:a="http://schemas.openxmlformats.org/drawingml/2006/main">
              <a:ext uri="{FF2B5EF4-FFF2-40B4-BE49-F238E27FC236}">
                <a16:creationId xmlns:a16="http://schemas.microsoft.com/office/drawing/2014/main" id="{6E57BCE9-BC7F-4220-8DEC-E97F489C14C2}"/>
              </a:ext>
            </a:extLst>
          </p:cNvPr>
          <p:cNvSpPr>
            <a:spLocks xmlns:a="http://schemas.openxmlformats.org/drawingml/2006/main" noGrp="1"/>
          </p:cNvSpPr>
          <p:nvPr/>
        </p:nvSpPr>
        <p:spPr>
          <a:xfrm xmlns:a="http://schemas.openxmlformats.org/drawingml/2006/main">
            <a:off x="2781300" y="4067175"/>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PSI · baseline hors ligne</a:t>
            </a:r>
          </a:p>
        </p:txBody>
      </p:sp>
      <p:sp>
        <p:nvSpPr>
          <p:cNvPr id="25" name="">
            <a:extLst xmlns:a="http://schemas.openxmlformats.org/drawingml/2006/main">
              <a:ext uri="{FF2B5EF4-FFF2-40B4-BE49-F238E27FC236}">
                <a16:creationId xmlns:a16="http://schemas.microsoft.com/office/drawing/2014/main" id="{3C64BDA4-6726-4586-ADA1-8C5F08024EBA}"/>
              </a:ext>
            </a:extLst>
          </p:cNvPr>
          <p:cNvSpPr>
            <a:spLocks xmlns:a="http://schemas.openxmlformats.org/drawingml/2006/main" noGrp="1"/>
          </p:cNvSpPr>
          <p:nvPr/>
        </p:nvSpPr>
        <p:spPr>
          <a:xfrm xmlns:a="http://schemas.openxmlformats.org/drawingml/2006/main">
            <a:off x="5410200" y="4067175"/>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08"/>
          </a:bodyPr>
          <a:lstStyle xmlns:a="http://schemas.openxmlformats.org/drawingml/2006/main"/>
          <a:p xmlns:a="http://schemas.openxmlformats.org/drawingml/2006/main">
            <a:pPr algn="r">
              <a:defRPr sz="975" b="1" i="0">
                <a:solidFill>
                  <a:srgbClr val="A86812"/>
                </a:solidFill>
                <a:latin typeface="Arial"/>
                <a:ea typeface="Arial"/>
                <a:cs typeface="Arial"/>
              </a:defRPr>
            </a:pPr>
            <a:r>
              <a:rPr sz="975" b="1" i="0">
                <a:solidFill>
                  <a:srgbClr val="A86812"/>
                </a:solidFill>
                <a:latin typeface="Arial"/>
                <a:ea typeface="Arial"/>
                <a:cs typeface="Arial"/>
              </a:rPr>
              <a:t>PRÊT, NON ACTIF</a:t>
            </a:r>
          </a:p>
        </p:txBody>
      </p:sp>
      <p:sp>
        <p:nvSpPr>
          <p:cNvPr id="26" name="">
            <a:extLst xmlns:a="http://schemas.openxmlformats.org/drawingml/2006/main">
              <a:ext uri="{FF2B5EF4-FFF2-40B4-BE49-F238E27FC236}">
                <a16:creationId xmlns:a16="http://schemas.microsoft.com/office/drawing/2014/main" id="{2DEA3290-3F43-4F73-90C9-A10835E4D846}"/>
              </a:ext>
            </a:extLst>
          </p:cNvPr>
          <p:cNvSpPr>
            <a:spLocks xmlns:a="http://schemas.openxmlformats.org/drawingml/2006/main" noGrp="1"/>
          </p:cNvSpPr>
          <p:nvPr/>
        </p:nvSpPr>
        <p:spPr>
          <a:xfrm xmlns:a="http://schemas.openxmlformats.org/drawingml/2006/main">
            <a:off x="838200" y="4486275"/>
            <a:ext cx="6076950" cy="428625"/>
          </a:xfrm>
          <a:prstGeom xmlns:a="http://schemas.openxmlformats.org/drawingml/2006/main" prst="rect">
            <a:avLst/>
          </a:prstGeom>
          <a:solidFill xmlns:a="http://schemas.openxmlformats.org/drawingml/2006/main">
            <a:srgbClr val="FCE9E7"/>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253C882-03D4-4EA7-9B8F-8D3B63A30A17}"/>
              </a:ext>
            </a:extLst>
          </p:cNvPr>
          <p:cNvSpPr>
            <a:spLocks xmlns:a="http://schemas.openxmlformats.org/drawingml/2006/main" noGrp="1"/>
          </p:cNvSpPr>
          <p:nvPr/>
        </p:nvSpPr>
        <p:spPr>
          <a:xfrm xmlns:a="http://schemas.openxmlformats.org/drawingml/2006/main">
            <a:off x="990600" y="4591050"/>
            <a:ext cx="1695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i="0">
                <a:solidFill>
                  <a:srgbClr val="B7433E"/>
                </a:solidFill>
                <a:latin typeface="Arial"/>
                <a:ea typeface="Arial"/>
                <a:cs typeface="Arial"/>
              </a:defRPr>
            </a:pPr>
            <a:r>
              <a:rPr sz="1200" b="1" i="0">
                <a:solidFill>
                  <a:srgbClr val="B7433E"/>
                </a:solidFill>
                <a:latin typeface="Arial"/>
                <a:ea typeface="Arial"/>
                <a:cs typeface="Arial"/>
              </a:rPr>
              <a:t>Validation indép.</a:t>
            </a:r>
          </a:p>
        </p:txBody>
      </p:sp>
      <p:sp>
        <p:nvSpPr>
          <p:cNvPr id="28" name="">
            <a:extLst xmlns:a="http://schemas.openxmlformats.org/drawingml/2006/main">
              <a:ext uri="{FF2B5EF4-FFF2-40B4-BE49-F238E27FC236}">
                <a16:creationId xmlns:a16="http://schemas.microsoft.com/office/drawing/2014/main" id="{B82E69A0-B252-4BD2-A901-F056177BBB92}"/>
              </a:ext>
            </a:extLst>
          </p:cNvPr>
          <p:cNvSpPr>
            <a:spLocks xmlns:a="http://schemas.openxmlformats.org/drawingml/2006/main" noGrp="1"/>
          </p:cNvSpPr>
          <p:nvPr/>
        </p:nvSpPr>
        <p:spPr>
          <a:xfrm xmlns:a="http://schemas.openxmlformats.org/drawingml/2006/main">
            <a:off x="2781300" y="459105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revue par une seconde ligne</a:t>
            </a:r>
          </a:p>
        </p:txBody>
      </p:sp>
      <p:sp>
        <p:nvSpPr>
          <p:cNvPr id="29" name="">
            <a:extLst xmlns:a="http://schemas.openxmlformats.org/drawingml/2006/main">
              <a:ext uri="{FF2B5EF4-FFF2-40B4-BE49-F238E27FC236}">
                <a16:creationId xmlns:a16="http://schemas.microsoft.com/office/drawing/2014/main" id="{49CEB76A-BE8A-4826-AA83-9361184C25C1}"/>
              </a:ext>
            </a:extLst>
          </p:cNvPr>
          <p:cNvSpPr>
            <a:spLocks xmlns:a="http://schemas.openxmlformats.org/drawingml/2006/main" noGrp="1"/>
          </p:cNvSpPr>
          <p:nvPr/>
        </p:nvSpPr>
        <p:spPr>
          <a:xfrm xmlns:a="http://schemas.openxmlformats.org/drawingml/2006/main">
            <a:off x="5410200" y="4591050"/>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08"/>
          </a:bodyPr>
          <a:lstStyle xmlns:a="http://schemas.openxmlformats.org/drawingml/2006/main"/>
          <a:p xmlns:a="http://schemas.openxmlformats.org/drawingml/2006/main">
            <a:pPr algn="r">
              <a:defRPr sz="975" b="1" i="0">
                <a:solidFill>
                  <a:srgbClr val="B7433E"/>
                </a:solidFill>
                <a:latin typeface="Arial"/>
                <a:ea typeface="Arial"/>
                <a:cs typeface="Arial"/>
              </a:defRPr>
            </a:pPr>
            <a:r>
              <a:rPr sz="975" b="1" i="0">
                <a:solidFill>
                  <a:srgbClr val="B7433E"/>
                </a:solidFill>
                <a:latin typeface="Arial"/>
                <a:ea typeface="Arial"/>
                <a:cs typeface="Arial"/>
              </a:rPr>
              <a:t>À RÉALISER</a:t>
            </a:r>
          </a:p>
        </p:txBody>
      </p:sp>
      <p:sp>
        <p:nvSpPr>
          <p:cNvPr id="30" name="">
            <a:extLst xmlns:a="http://schemas.openxmlformats.org/drawingml/2006/main">
              <a:ext uri="{FF2B5EF4-FFF2-40B4-BE49-F238E27FC236}">
                <a16:creationId xmlns:a16="http://schemas.microsoft.com/office/drawing/2014/main" id="{33E2E35B-5899-4CD1-84BC-56BA07B053D9}"/>
              </a:ext>
            </a:extLst>
          </p:cNvPr>
          <p:cNvSpPr>
            <a:spLocks xmlns:a="http://schemas.openxmlformats.org/drawingml/2006/main" noGrp="1"/>
          </p:cNvSpPr>
          <p:nvPr/>
        </p:nvSpPr>
        <p:spPr>
          <a:xfrm xmlns:a="http://schemas.openxmlformats.org/drawingml/2006/main">
            <a:off x="7486650" y="1200150"/>
            <a:ext cx="4095750" cy="2724150"/>
          </a:xfrm>
          <a:prstGeom xmlns:a="http://schemas.openxmlformats.org/drawingml/2006/main" prst="roundRect">
            <a:avLst>
              <a:gd name="adj" fmla="val 4196"/>
            </a:avLst>
          </a:prstGeom>
          <a:solidFill xmlns:a="http://schemas.openxmlformats.org/drawingml/2006/main">
            <a:srgbClr val="F3F4F6"/>
          </a:solidFill>
          <a:ln xmlns:a="http://schemas.openxmlformats.org/drawingml/2006/main" w="9525">
            <a:solidFill>
              <a:srgbClr val="D1D5DB"/>
            </a:solidFill>
            <a:prstDash val="solid"/>
          </a:ln>
        </p:spPr>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a3c04459c6b64d9c"/>
          <a:stretch xmlns:a="http://schemas.openxmlformats.org/drawingml/2006/main"/>
        </p:blipFill>
        <p:spPr>
          <a:xfrm xmlns:a="http://schemas.openxmlformats.org/drawingml/2006/main">
            <a:off x="8509271" y="1314450"/>
            <a:ext cx="2050508" cy="2266950"/>
          </a:xfrm>
          <a:prstGeom xmlns:a="http://schemas.openxmlformats.org/drawingml/2006/main" prst="rect">
            <a:avLst/>
          </a:prstGeom>
        </p:spPr>
      </p:pic>
      <p:sp>
        <p:nvSpPr>
          <p:cNvPr id="32" name="">
            <a:extLst xmlns:a="http://schemas.openxmlformats.org/drawingml/2006/main">
              <a:ext uri="{FF2B5EF4-FFF2-40B4-BE49-F238E27FC236}">
                <a16:creationId xmlns:a16="http://schemas.microsoft.com/office/drawing/2014/main" id="{452D0373-2E3E-4C9E-AC9D-0F43575BB49B}"/>
              </a:ext>
            </a:extLst>
          </p:cNvPr>
          <p:cNvSpPr>
            <a:spLocks xmlns:a="http://schemas.openxmlformats.org/drawingml/2006/main" noGrp="1"/>
          </p:cNvSpPr>
          <p:nvPr/>
        </p:nvSpPr>
        <p:spPr>
          <a:xfrm xmlns:a="http://schemas.openxmlformats.org/drawingml/2006/main">
            <a:off x="7658100" y="363855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ctr">
              <a:defRPr sz="1125" b="1" i="0">
                <a:solidFill>
                  <a:srgbClr val="111827"/>
                </a:solidFill>
                <a:latin typeface="Arial"/>
                <a:ea typeface="Arial"/>
                <a:cs typeface="Arial"/>
              </a:defRPr>
            </a:pPr>
            <a:r>
              <a:rPr sz="1125" b="1" i="0">
                <a:solidFill>
                  <a:srgbClr val="111827"/>
                </a:solidFill>
                <a:latin typeface="Arial"/>
                <a:ea typeface="Arial"/>
                <a:cs typeface="Arial"/>
              </a:rPr>
              <a:t>API contractuelle · numéraire obligatoire</a:t>
            </a:r>
          </a:p>
        </p:txBody>
      </p:sp>
      <p:sp>
        <p:nvSpPr>
          <p:cNvPr id="33" name="">
            <a:extLst xmlns:a="http://schemas.openxmlformats.org/drawingml/2006/main">
              <a:ext uri="{FF2B5EF4-FFF2-40B4-BE49-F238E27FC236}">
                <a16:creationId xmlns:a16="http://schemas.microsoft.com/office/drawing/2014/main" id="{7A90B957-88A6-45E6-A7C5-7967D2131CA6}"/>
              </a:ext>
            </a:extLst>
          </p:cNvPr>
          <p:cNvSpPr>
            <a:spLocks xmlns:a="http://schemas.openxmlformats.org/drawingml/2006/main" noGrp="1"/>
          </p:cNvSpPr>
          <p:nvPr/>
        </p:nvSpPr>
        <p:spPr>
          <a:xfrm xmlns:a="http://schemas.openxmlformats.org/drawingml/2006/main">
            <a:off x="7639050" y="42862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3D8DFF"/>
                </a:solidFill>
                <a:latin typeface="Arial"/>
                <a:ea typeface="Arial"/>
                <a:cs typeface="Arial"/>
              </a:defRPr>
            </a:pPr>
            <a:r>
              <a:rPr sz="3000" b="1" i="0">
                <a:solidFill>
                  <a:srgbClr val="3D8DFF"/>
                </a:solidFill>
                <a:latin typeface="Arial"/>
                <a:ea typeface="Arial"/>
                <a:cs typeface="Arial"/>
              </a:rPr>
              <a:t>792</a:t>
            </a:r>
          </a:p>
        </p:txBody>
      </p:sp>
      <p:sp>
        <p:nvSpPr>
          <p:cNvPr id="34" name="">
            <a:extLst xmlns:a="http://schemas.openxmlformats.org/drawingml/2006/main">
              <a:ext uri="{FF2B5EF4-FFF2-40B4-BE49-F238E27FC236}">
                <a16:creationId xmlns:a16="http://schemas.microsoft.com/office/drawing/2014/main" id="{F1C8F1BC-C10B-4881-BF2C-0CB875B211EF}"/>
              </a:ext>
            </a:extLst>
          </p:cNvPr>
          <p:cNvSpPr>
            <a:spLocks xmlns:a="http://schemas.openxmlformats.org/drawingml/2006/main" noGrp="1"/>
          </p:cNvSpPr>
          <p:nvPr/>
        </p:nvSpPr>
        <p:spPr>
          <a:xfrm xmlns:a="http://schemas.openxmlformats.org/drawingml/2006/main">
            <a:off x="7639050" y="4857750"/>
            <a:ext cx="1619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tests automatisés</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sur l’état actuel</a:t>
            </a:r>
          </a:p>
        </p:txBody>
      </p:sp>
      <p:sp>
        <p:nvSpPr>
          <p:cNvPr id="35" name="">
            <a:extLst xmlns:a="http://schemas.openxmlformats.org/drawingml/2006/main">
              <a:ext uri="{FF2B5EF4-FFF2-40B4-BE49-F238E27FC236}">
                <a16:creationId xmlns:a16="http://schemas.microsoft.com/office/drawing/2014/main" id="{60BDA370-DCE4-4975-96AC-D5FDA4E50F7A}"/>
              </a:ext>
            </a:extLst>
          </p:cNvPr>
          <p:cNvSpPr>
            <a:spLocks xmlns:a="http://schemas.openxmlformats.org/drawingml/2006/main" noGrp="1"/>
          </p:cNvSpPr>
          <p:nvPr/>
        </p:nvSpPr>
        <p:spPr>
          <a:xfrm xmlns:a="http://schemas.openxmlformats.org/drawingml/2006/main">
            <a:off x="9429750" y="4286250"/>
            <a:ext cx="190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i="0">
                <a:solidFill>
                  <a:srgbClr val="0F766E"/>
                </a:solidFill>
                <a:latin typeface="Arial"/>
                <a:ea typeface="Arial"/>
                <a:cs typeface="Arial"/>
              </a:defRPr>
            </a:pPr>
            <a:r>
              <a:rPr sz="3000" b="1" i="0">
                <a:solidFill>
                  <a:srgbClr val="0F766E"/>
                </a:solidFill>
                <a:latin typeface="Arial"/>
                <a:ea typeface="Arial"/>
                <a:cs typeface="Arial"/>
              </a:rPr>
              <a:t>0 / 1 188</a:t>
            </a:r>
          </a:p>
        </p:txBody>
      </p:sp>
      <p:sp>
        <p:nvSpPr>
          <p:cNvPr id="36" name="">
            <a:extLst xmlns:a="http://schemas.openxmlformats.org/drawingml/2006/main">
              <a:ext uri="{FF2B5EF4-FFF2-40B4-BE49-F238E27FC236}">
                <a16:creationId xmlns:a16="http://schemas.microsoft.com/office/drawing/2014/main" id="{3B99528A-9D78-4A42-B1D4-4DEDC4EEAFC5}"/>
              </a:ext>
            </a:extLst>
          </p:cNvPr>
          <p:cNvSpPr>
            <a:spLocks xmlns:a="http://schemas.openxmlformats.org/drawingml/2006/main" noGrp="1"/>
          </p:cNvSpPr>
          <p:nvPr/>
        </p:nvSpPr>
        <p:spPr>
          <a:xfrm xmlns:a="http://schemas.openxmlformats.org/drawingml/2006/main">
            <a:off x="9429750" y="4857750"/>
            <a:ext cx="190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fallbacks mesurés</a:t>
            </a:r>
          </a:p>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sur le snapshot</a:t>
            </a:r>
          </a:p>
        </p:txBody>
      </p:sp>
      <p:sp>
        <p:nvSpPr>
          <p:cNvPr id="37" name="">
            <a:extLst xmlns:a="http://schemas.openxmlformats.org/drawingml/2006/main">
              <a:ext uri="{FF2B5EF4-FFF2-40B4-BE49-F238E27FC236}">
                <a16:creationId xmlns:a16="http://schemas.microsoft.com/office/drawing/2014/main" id="{D8497D1D-923C-4BB3-9355-D9FAC3311403}"/>
              </a:ext>
            </a:extLst>
          </p:cNvPr>
          <p:cNvSpPr>
            <a:spLocks xmlns:a="http://schemas.openxmlformats.org/drawingml/2006/main" noGrp="1"/>
          </p:cNvSpPr>
          <p:nvPr/>
        </p:nvSpPr>
        <p:spPr>
          <a:xfrm xmlns:a="http://schemas.openxmlformats.org/drawingml/2006/main">
            <a:off x="7524750" y="5619750"/>
            <a:ext cx="3905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defRPr sz="1200" b="1" i="0">
                <a:solidFill>
                  <a:srgbClr val="173B67"/>
                </a:solidFill>
                <a:latin typeface="Arial"/>
                <a:ea typeface="Arial"/>
                <a:cs typeface="Arial"/>
              </a:defRPr>
            </a:pPr>
            <a:r>
              <a:rPr sz="1200" b="1" i="0">
                <a:solidFill>
                  <a:srgbClr val="173B67"/>
                </a:solidFill>
                <a:latin typeface="Arial"/>
                <a:ea typeface="Arial"/>
                <a:cs typeface="Arial"/>
              </a:rPr>
              <a:t>DVC + R2 · Docker · CI · model cards · manifest de snapshot · monitoring hors ligne</a:t>
            </a:r>
          </a:p>
        </p:txBody>
      </p:sp>
    </p:spTree>
    <p:extLst>
      <p:ext uri="{BB962C8B-B14F-4D97-AF65-F5344CB8AC3E}">
        <p14:creationId xmlns:p14="http://schemas.microsoft.com/office/powerpoint/2010/main" val="2208783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23EA41B-4EE4-400E-B92E-6AED98A0E328}"/>
              </a:ext>
            </a:extLst>
          </p:cNvPr>
          <p:cNvSpPr>
            <a:spLocks xmlns:a="http://schemas.openxmlformats.org/drawingml/2006/main" noGrp="1"/>
          </p:cNvSpPr>
          <p:nvPr/>
        </p:nvSpPr>
        <p:spPr>
          <a:xfrm xmlns:a="http://schemas.openxmlformats.org/drawingml/2006/main">
            <a:off x="609600" y="2857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defRPr sz="900" b="1" i="0">
                <a:solidFill>
                  <a:srgbClr val="3D8DFF"/>
                </a:solidFill>
                <a:latin typeface="Arial"/>
                <a:ea typeface="Arial"/>
                <a:cs typeface="Arial"/>
              </a:defRPr>
            </a:pPr>
            <a:r>
              <a:rPr sz="900" b="1" i="0">
                <a:solidFill>
                  <a:srgbClr val="3D8DFF"/>
                </a:solidFill>
                <a:latin typeface="Arial"/>
                <a:ea typeface="Arial"/>
                <a:cs typeface="Arial"/>
              </a:rPr>
              <a:t>LIMITES &amp; PERSPECTIVES</a:t>
            </a:r>
          </a:p>
        </p:txBody>
      </p:sp>
      <p:sp>
        <p:nvSpPr>
          <p:cNvPr id="2" name="">
            <a:extLst xmlns:a="http://schemas.openxmlformats.org/drawingml/2006/main">
              <a:ext uri="{FF2B5EF4-FFF2-40B4-BE49-F238E27FC236}">
                <a16:creationId xmlns:a16="http://schemas.microsoft.com/office/drawing/2014/main" id="{0CF32922-5023-4023-8F97-5FC15E36119E}"/>
              </a:ext>
            </a:extLst>
          </p:cNvPr>
          <p:cNvSpPr>
            <a:spLocks xmlns:a="http://schemas.openxmlformats.org/drawingml/2006/main" noGrp="1"/>
          </p:cNvSpPr>
          <p:nvPr/>
        </p:nvSpPr>
        <p:spPr>
          <a:xfrm xmlns:a="http://schemas.openxmlformats.org/drawingml/2006/main">
            <a:off x="609600" y="5524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700" b="1" i="0">
                <a:solidFill>
                  <a:srgbClr val="111827"/>
                </a:solidFill>
                <a:latin typeface="Arial"/>
                <a:ea typeface="Arial"/>
                <a:cs typeface="Arial"/>
              </a:defRPr>
            </a:pPr>
            <a:r>
              <a:rPr sz="2700" b="1" i="0">
                <a:solidFill>
                  <a:srgbClr val="111827"/>
                </a:solidFill>
                <a:latin typeface="Arial"/>
                <a:ea typeface="Arial"/>
                <a:cs typeface="Arial"/>
              </a:rPr>
              <a:t>Ce qui reste pour passer de prototype à dispositif validé</a:t>
            </a:r>
          </a:p>
        </p:txBody>
      </p:sp>
      <p:sp>
        <p:nvSpPr>
          <p:cNvPr id="3" name="">
            <a:extLst xmlns:a="http://schemas.openxmlformats.org/drawingml/2006/main">
              <a:ext uri="{FF2B5EF4-FFF2-40B4-BE49-F238E27FC236}">
                <a16:creationId xmlns:a16="http://schemas.microsoft.com/office/drawing/2014/main" id="{41527ABC-34EF-440E-BD07-30C1AA14C217}"/>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5D6675"/>
                </a:solidFill>
                <a:latin typeface="Arial"/>
                <a:ea typeface="Arial"/>
                <a:cs typeface="Arial"/>
              </a:defRPr>
            </a:pPr>
            <a:r>
              <a:rPr sz="900" b="1" i="0">
                <a:solidFill>
                  <a:srgbClr val="5D6675"/>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F5A4B1D2-EDD5-465E-8672-4B506BD4B541}"/>
              </a:ext>
            </a:extLst>
          </p:cNvPr>
          <p:cNvSpPr>
            <a:spLocks xmlns:a="http://schemas.openxmlformats.org/drawingml/2006/main" noGrp="1"/>
          </p:cNvSpPr>
          <p:nvPr/>
        </p:nvSpPr>
        <p:spPr>
          <a:xfrm xmlns:a="http://schemas.openxmlformats.org/drawingml/2006/main">
            <a:off x="666750" y="1381125"/>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i="0">
                <a:solidFill>
                  <a:srgbClr val="3D8DFF"/>
                </a:solidFill>
                <a:latin typeface="Arial"/>
                <a:ea typeface="Arial"/>
                <a:cs typeface="Arial"/>
              </a:defRPr>
            </a:pPr>
            <a:r>
              <a:rPr sz="1800" b="1" i="0">
                <a:solidFill>
                  <a:srgbClr val="3D8DFF"/>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B8FED99E-EA4B-4B1D-9E45-B299AEEC210F}"/>
              </a:ext>
            </a:extLst>
          </p:cNvPr>
          <p:cNvSpPr>
            <a:spLocks xmlns:a="http://schemas.openxmlformats.org/drawingml/2006/main" noGrp="1"/>
          </p:cNvSpPr>
          <p:nvPr/>
        </p:nvSpPr>
        <p:spPr>
          <a:xfrm xmlns:a="http://schemas.openxmlformats.org/drawingml/2006/main">
            <a:off x="1295400" y="1514475"/>
            <a:ext cx="40005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A46C3C2-0639-4382-8BF4-DF68E1A7883C}"/>
              </a:ext>
            </a:extLst>
          </p:cNvPr>
          <p:cNvSpPr>
            <a:spLocks xmlns:a="http://schemas.openxmlformats.org/drawingml/2006/main" noGrp="1"/>
          </p:cNvSpPr>
          <p:nvPr/>
        </p:nvSpPr>
        <p:spPr>
          <a:xfrm xmlns:a="http://schemas.openxmlformats.org/drawingml/2006/main">
            <a:off x="1924050" y="13525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defRPr sz="1575" b="1" i="0">
                <a:solidFill>
                  <a:srgbClr val="111827"/>
                </a:solidFill>
                <a:latin typeface="Arial"/>
                <a:ea typeface="Arial"/>
                <a:cs typeface="Arial"/>
              </a:defRPr>
            </a:pPr>
            <a:r>
              <a:rPr sz="1575" b="1" i="0">
                <a:solidFill>
                  <a:srgbClr val="111827"/>
                </a:solidFill>
                <a:latin typeface="Arial"/>
                <a:ea typeface="Arial"/>
                <a:cs typeface="Arial"/>
              </a:rPr>
              <a:t>Industrialiser le Maroc profond</a:t>
            </a:r>
          </a:p>
        </p:txBody>
      </p:sp>
      <p:sp>
        <p:nvSpPr>
          <p:cNvPr id="7" name="">
            <a:extLst xmlns:a="http://schemas.openxmlformats.org/drawingml/2006/main">
              <a:ext uri="{FF2B5EF4-FFF2-40B4-BE49-F238E27FC236}">
                <a16:creationId xmlns:a16="http://schemas.microsoft.com/office/drawing/2014/main" id="{66C11BBE-CFEA-4610-96A2-2B2879C00614}"/>
              </a:ext>
            </a:extLst>
          </p:cNvPr>
          <p:cNvSpPr>
            <a:spLocks xmlns:a="http://schemas.openxmlformats.org/drawingml/2006/main" noGrp="1"/>
          </p:cNvSpPr>
          <p:nvPr/>
        </p:nvSpPr>
        <p:spPr>
          <a:xfrm xmlns:a="http://schemas.openxmlformats.org/drawingml/2006/main">
            <a:off x="5619750" y="1352550"/>
            <a:ext cx="5715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Réconcilier les sources, ajuster dividendes et corporate actions, contractualiser la licence.</a:t>
            </a:r>
          </a:p>
        </p:txBody>
      </p:sp>
      <p:sp>
        <p:nvSpPr>
          <p:cNvPr id="8" name="">
            <a:extLst xmlns:a="http://schemas.openxmlformats.org/drawingml/2006/main">
              <a:ext uri="{FF2B5EF4-FFF2-40B4-BE49-F238E27FC236}">
                <a16:creationId xmlns:a16="http://schemas.microsoft.com/office/drawing/2014/main" id="{1B3A9F9E-63D6-4766-86DA-B9C8D30CF7B4}"/>
              </a:ext>
            </a:extLst>
          </p:cNvPr>
          <p:cNvSpPr>
            <a:spLocks xmlns:a="http://schemas.openxmlformats.org/drawingml/2006/main" noGrp="1"/>
          </p:cNvSpPr>
          <p:nvPr/>
        </p:nvSpPr>
        <p:spPr>
          <a:xfrm xmlns:a="http://schemas.openxmlformats.org/drawingml/2006/main">
            <a:off x="666750" y="2314575"/>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i="0">
                <a:solidFill>
                  <a:srgbClr val="3D8DFF"/>
                </a:solidFill>
                <a:latin typeface="Arial"/>
                <a:ea typeface="Arial"/>
                <a:cs typeface="Arial"/>
              </a:defRPr>
            </a:pPr>
            <a:r>
              <a:rPr sz="1800" b="1" i="0">
                <a:solidFill>
                  <a:srgbClr val="3D8DFF"/>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6CAA24D9-8291-4A71-BCFB-3D2B656B9F57}"/>
              </a:ext>
            </a:extLst>
          </p:cNvPr>
          <p:cNvSpPr>
            <a:spLocks xmlns:a="http://schemas.openxmlformats.org/drawingml/2006/main" noGrp="1"/>
          </p:cNvSpPr>
          <p:nvPr/>
        </p:nvSpPr>
        <p:spPr>
          <a:xfrm xmlns:a="http://schemas.openxmlformats.org/drawingml/2006/main">
            <a:off x="1295400" y="2447925"/>
            <a:ext cx="40005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E0F6E92-1734-4CA3-9B42-0A6677B2FD07}"/>
              </a:ext>
            </a:extLst>
          </p:cNvPr>
          <p:cNvSpPr>
            <a:spLocks xmlns:a="http://schemas.openxmlformats.org/drawingml/2006/main" noGrp="1"/>
          </p:cNvSpPr>
          <p:nvPr/>
        </p:nvSpPr>
        <p:spPr>
          <a:xfrm xmlns:a="http://schemas.openxmlformats.org/drawingml/2006/main">
            <a:off x="1924050" y="22860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defRPr sz="1575" b="1" i="0">
                <a:solidFill>
                  <a:srgbClr val="111827"/>
                </a:solidFill>
                <a:latin typeface="Arial"/>
                <a:ea typeface="Arial"/>
                <a:cs typeface="Arial"/>
              </a:defRPr>
            </a:pPr>
            <a:r>
              <a:rPr sz="1575" b="1" i="0">
                <a:solidFill>
                  <a:srgbClr val="111827"/>
                </a:solidFill>
                <a:latin typeface="Arial"/>
                <a:ea typeface="Arial"/>
                <a:cs typeface="Arial"/>
              </a:rPr>
              <a:t>Validation indépendante</a:t>
            </a:r>
          </a:p>
        </p:txBody>
      </p:sp>
      <p:sp>
        <p:nvSpPr>
          <p:cNvPr id="11" name="">
            <a:extLst xmlns:a="http://schemas.openxmlformats.org/drawingml/2006/main">
              <a:ext uri="{FF2B5EF4-FFF2-40B4-BE49-F238E27FC236}">
                <a16:creationId xmlns:a16="http://schemas.microsoft.com/office/drawing/2014/main" id="{4E2A6226-194D-453D-AB8D-C3AA47FDF362}"/>
              </a:ext>
            </a:extLst>
          </p:cNvPr>
          <p:cNvSpPr>
            <a:spLocks xmlns:a="http://schemas.openxmlformats.org/drawingml/2006/main" noGrp="1"/>
          </p:cNvSpPr>
          <p:nvPr/>
        </p:nvSpPr>
        <p:spPr>
          <a:xfrm xmlns:a="http://schemas.openxmlformats.org/drawingml/2006/main">
            <a:off x="5619750" y="2286000"/>
            <a:ext cx="5715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Séparer équipe de développement et fonction de validation modèle; challenger les hypothèses.</a:t>
            </a:r>
          </a:p>
        </p:txBody>
      </p:sp>
      <p:sp>
        <p:nvSpPr>
          <p:cNvPr id="12" name="">
            <a:extLst xmlns:a="http://schemas.openxmlformats.org/drawingml/2006/main">
              <a:ext uri="{FF2B5EF4-FFF2-40B4-BE49-F238E27FC236}">
                <a16:creationId xmlns:a16="http://schemas.microsoft.com/office/drawing/2014/main" id="{C430BD2C-7BA9-4C71-8571-D86D3649B208}"/>
              </a:ext>
            </a:extLst>
          </p:cNvPr>
          <p:cNvSpPr>
            <a:spLocks xmlns:a="http://schemas.openxmlformats.org/drawingml/2006/main" noGrp="1"/>
          </p:cNvSpPr>
          <p:nvPr/>
        </p:nvSpPr>
        <p:spPr>
          <a:xfrm xmlns:a="http://schemas.openxmlformats.org/drawingml/2006/main">
            <a:off x="666750" y="3248025"/>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i="0">
                <a:solidFill>
                  <a:srgbClr val="5D6675"/>
                </a:solidFill>
                <a:latin typeface="Arial"/>
                <a:ea typeface="Arial"/>
                <a:cs typeface="Arial"/>
              </a:defRPr>
            </a:pPr>
            <a:r>
              <a:rPr sz="1800" b="1" i="0">
                <a:solidFill>
                  <a:srgbClr val="5D6675"/>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C3111E23-0B08-4BFF-87E1-BE4C83938D59}"/>
              </a:ext>
            </a:extLst>
          </p:cNvPr>
          <p:cNvSpPr>
            <a:spLocks xmlns:a="http://schemas.openxmlformats.org/drawingml/2006/main" noGrp="1"/>
          </p:cNvSpPr>
          <p:nvPr/>
        </p:nvSpPr>
        <p:spPr>
          <a:xfrm xmlns:a="http://schemas.openxmlformats.org/drawingml/2006/main">
            <a:off x="1295400" y="3381375"/>
            <a:ext cx="400050" cy="28575"/>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A15FE6-631C-478B-91B0-4CB465514484}"/>
              </a:ext>
            </a:extLst>
          </p:cNvPr>
          <p:cNvSpPr>
            <a:spLocks xmlns:a="http://schemas.openxmlformats.org/drawingml/2006/main" noGrp="1"/>
          </p:cNvSpPr>
          <p:nvPr/>
        </p:nvSpPr>
        <p:spPr>
          <a:xfrm xmlns:a="http://schemas.openxmlformats.org/drawingml/2006/main">
            <a:off x="1924050" y="32194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defRPr sz="1575" b="1" i="0">
                <a:solidFill>
                  <a:srgbClr val="111827"/>
                </a:solidFill>
                <a:latin typeface="Arial"/>
                <a:ea typeface="Arial"/>
                <a:cs typeface="Arial"/>
              </a:defRPr>
            </a:pPr>
            <a:r>
              <a:rPr sz="1575" b="1" i="0">
                <a:solidFill>
                  <a:srgbClr val="111827"/>
                </a:solidFill>
                <a:latin typeface="Arial"/>
                <a:ea typeface="Arial"/>
                <a:cs typeface="Arial"/>
              </a:rPr>
              <a:t>Publication atomique</a:t>
            </a:r>
          </a:p>
        </p:txBody>
      </p:sp>
      <p:sp>
        <p:nvSpPr>
          <p:cNvPr id="15" name="">
            <a:extLst xmlns:a="http://schemas.openxmlformats.org/drawingml/2006/main">
              <a:ext uri="{FF2B5EF4-FFF2-40B4-BE49-F238E27FC236}">
                <a16:creationId xmlns:a16="http://schemas.microsoft.com/office/drawing/2014/main" id="{31478EFE-053D-4EEE-9B89-DAA65217A6FF}"/>
              </a:ext>
            </a:extLst>
          </p:cNvPr>
          <p:cNvSpPr>
            <a:spLocks xmlns:a="http://schemas.openxmlformats.org/drawingml/2006/main" noGrp="1"/>
          </p:cNvSpPr>
          <p:nvPr/>
        </p:nvSpPr>
        <p:spPr>
          <a:xfrm xmlns:a="http://schemas.openxmlformats.org/drawingml/2006/main">
            <a:off x="5619750" y="3219450"/>
            <a:ext cx="5715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Versionner les releases, vérifier le manifest avant lecture et exercer un rollback réel.</a:t>
            </a:r>
          </a:p>
        </p:txBody>
      </p:sp>
      <p:sp>
        <p:nvSpPr>
          <p:cNvPr id="16" name="">
            <a:extLst xmlns:a="http://schemas.openxmlformats.org/drawingml/2006/main">
              <a:ext uri="{FF2B5EF4-FFF2-40B4-BE49-F238E27FC236}">
                <a16:creationId xmlns:a16="http://schemas.microsoft.com/office/drawing/2014/main" id="{9515599D-7F3F-4531-A8FF-8FA26BA21E76}"/>
              </a:ext>
            </a:extLst>
          </p:cNvPr>
          <p:cNvSpPr>
            <a:spLocks xmlns:a="http://schemas.openxmlformats.org/drawingml/2006/main" noGrp="1"/>
          </p:cNvSpPr>
          <p:nvPr/>
        </p:nvSpPr>
        <p:spPr>
          <a:xfrm xmlns:a="http://schemas.openxmlformats.org/drawingml/2006/main">
            <a:off x="666750" y="4181475"/>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i="0">
                <a:solidFill>
                  <a:srgbClr val="5D6675"/>
                </a:solidFill>
                <a:latin typeface="Arial"/>
                <a:ea typeface="Arial"/>
                <a:cs typeface="Arial"/>
              </a:defRPr>
            </a:pPr>
            <a:r>
              <a:rPr sz="1800" b="1" i="0">
                <a:solidFill>
                  <a:srgbClr val="5D6675"/>
                </a:solidFill>
                <a:latin typeface="Arial"/>
                <a:ea typeface="Arial"/>
                <a:cs typeface="Arial"/>
              </a:rPr>
              <a:t>04</a:t>
            </a:r>
          </a:p>
        </p:txBody>
      </p:sp>
      <p:sp>
        <p:nvSpPr>
          <p:cNvPr id="17" name="">
            <a:extLst xmlns:a="http://schemas.openxmlformats.org/drawingml/2006/main">
              <a:ext uri="{FF2B5EF4-FFF2-40B4-BE49-F238E27FC236}">
                <a16:creationId xmlns:a16="http://schemas.microsoft.com/office/drawing/2014/main" id="{D423C665-8F21-4307-9709-E7B83C4415F7}"/>
              </a:ext>
            </a:extLst>
          </p:cNvPr>
          <p:cNvSpPr>
            <a:spLocks xmlns:a="http://schemas.openxmlformats.org/drawingml/2006/main" noGrp="1"/>
          </p:cNvSpPr>
          <p:nvPr/>
        </p:nvSpPr>
        <p:spPr>
          <a:xfrm xmlns:a="http://schemas.openxmlformats.org/drawingml/2006/main">
            <a:off x="1295400" y="4314825"/>
            <a:ext cx="400050" cy="28575"/>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5805C11-B22B-4137-9E13-38143615FB38}"/>
              </a:ext>
            </a:extLst>
          </p:cNvPr>
          <p:cNvSpPr>
            <a:spLocks xmlns:a="http://schemas.openxmlformats.org/drawingml/2006/main" noGrp="1"/>
          </p:cNvSpPr>
          <p:nvPr/>
        </p:nvSpPr>
        <p:spPr>
          <a:xfrm xmlns:a="http://schemas.openxmlformats.org/drawingml/2006/main">
            <a:off x="1924050" y="4152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defRPr sz="1575" b="1" i="0">
                <a:solidFill>
                  <a:srgbClr val="111827"/>
                </a:solidFill>
                <a:latin typeface="Arial"/>
                <a:ea typeface="Arial"/>
                <a:cs typeface="Arial"/>
              </a:defRPr>
            </a:pPr>
            <a:r>
              <a:rPr sz="1575" b="1" i="0">
                <a:solidFill>
                  <a:srgbClr val="111827"/>
                </a:solidFill>
                <a:latin typeface="Arial"/>
                <a:ea typeface="Arial"/>
                <a:cs typeface="Arial"/>
              </a:rPr>
              <a:t>Re-tests pré-spécifiés</a:t>
            </a:r>
          </a:p>
        </p:txBody>
      </p:sp>
      <p:sp>
        <p:nvSpPr>
          <p:cNvPr id="19" name="">
            <a:extLst xmlns:a="http://schemas.openxmlformats.org/drawingml/2006/main">
              <a:ext uri="{FF2B5EF4-FFF2-40B4-BE49-F238E27FC236}">
                <a16:creationId xmlns:a16="http://schemas.microsoft.com/office/drawing/2014/main" id="{C680A89E-1603-4864-B4DB-A17B21CE5EA0}"/>
              </a:ext>
            </a:extLst>
          </p:cNvPr>
          <p:cNvSpPr>
            <a:spLocks xmlns:a="http://schemas.openxmlformats.org/drawingml/2006/main" noGrp="1"/>
          </p:cNvSpPr>
          <p:nvPr/>
        </p:nvSpPr>
        <p:spPr>
          <a:xfrm xmlns:a="http://schemas.openxmlformats.org/drawingml/2006/main">
            <a:off x="5619750" y="4152900"/>
            <a:ext cx="5715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Définir à l’avance fenêtres, coûts, seuils et benchmark avant toute nouvelle expérience.</a:t>
            </a:r>
          </a:p>
        </p:txBody>
      </p:sp>
      <p:sp>
        <p:nvSpPr>
          <p:cNvPr id="20" name="">
            <a:extLst xmlns:a="http://schemas.openxmlformats.org/drawingml/2006/main">
              <a:ext uri="{FF2B5EF4-FFF2-40B4-BE49-F238E27FC236}">
                <a16:creationId xmlns:a16="http://schemas.microsoft.com/office/drawing/2014/main" id="{05966301-7436-4C57-9CFF-866F278FB641}"/>
              </a:ext>
            </a:extLst>
          </p:cNvPr>
          <p:cNvSpPr>
            <a:spLocks xmlns:a="http://schemas.openxmlformats.org/drawingml/2006/main" noGrp="1"/>
          </p:cNvSpPr>
          <p:nvPr/>
        </p:nvSpPr>
        <p:spPr>
          <a:xfrm xmlns:a="http://schemas.openxmlformats.org/drawingml/2006/main">
            <a:off x="666750" y="5114925"/>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i="0">
                <a:solidFill>
                  <a:srgbClr val="5D6675"/>
                </a:solidFill>
                <a:latin typeface="Arial"/>
                <a:ea typeface="Arial"/>
                <a:cs typeface="Arial"/>
              </a:defRPr>
            </a:pPr>
            <a:r>
              <a:rPr sz="1800" b="1" i="0">
                <a:solidFill>
                  <a:srgbClr val="5D6675"/>
                </a:solidFill>
                <a:latin typeface="Arial"/>
                <a:ea typeface="Arial"/>
                <a:cs typeface="Arial"/>
              </a:rPr>
              <a:t>05</a:t>
            </a:r>
          </a:p>
        </p:txBody>
      </p:sp>
      <p:sp>
        <p:nvSpPr>
          <p:cNvPr id="21" name="">
            <a:extLst xmlns:a="http://schemas.openxmlformats.org/drawingml/2006/main">
              <a:ext uri="{FF2B5EF4-FFF2-40B4-BE49-F238E27FC236}">
                <a16:creationId xmlns:a16="http://schemas.microsoft.com/office/drawing/2014/main" id="{7A2DDB3C-10A7-47D3-8727-CAD40FF1DD48}"/>
              </a:ext>
            </a:extLst>
          </p:cNvPr>
          <p:cNvSpPr>
            <a:spLocks xmlns:a="http://schemas.openxmlformats.org/drawingml/2006/main" noGrp="1"/>
          </p:cNvSpPr>
          <p:nvPr/>
        </p:nvSpPr>
        <p:spPr>
          <a:xfrm xmlns:a="http://schemas.openxmlformats.org/drawingml/2006/main">
            <a:off x="1295400" y="5248275"/>
            <a:ext cx="400050" cy="28575"/>
          </a:xfrm>
          <a:prstGeom xmlns:a="http://schemas.openxmlformats.org/drawingml/2006/main" prst="rect">
            <a:avLst/>
          </a:prstGeom>
          <a:solidFill xmlns:a="http://schemas.openxmlformats.org/drawingml/2006/main">
            <a:srgbClr val="D1D5D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23D432A-6DE8-40BC-85F2-91B327C7A03D}"/>
              </a:ext>
            </a:extLst>
          </p:cNvPr>
          <p:cNvSpPr>
            <a:spLocks xmlns:a="http://schemas.openxmlformats.org/drawingml/2006/main" noGrp="1"/>
          </p:cNvSpPr>
          <p:nvPr/>
        </p:nvSpPr>
        <p:spPr>
          <a:xfrm xmlns:a="http://schemas.openxmlformats.org/drawingml/2006/main">
            <a:off x="1924050" y="50863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defRPr sz="1575" b="1" i="0">
                <a:solidFill>
                  <a:srgbClr val="111827"/>
                </a:solidFill>
                <a:latin typeface="Arial"/>
                <a:ea typeface="Arial"/>
                <a:cs typeface="Arial"/>
              </a:defRPr>
            </a:pPr>
            <a:r>
              <a:rPr sz="1575" b="1" i="0">
                <a:solidFill>
                  <a:srgbClr val="111827"/>
                </a:solidFill>
                <a:latin typeface="Arial"/>
                <a:ea typeface="Arial"/>
                <a:cs typeface="Arial"/>
              </a:rPr>
              <a:t>Risque de change opérationnel</a:t>
            </a:r>
          </a:p>
        </p:txBody>
      </p:sp>
      <p:sp>
        <p:nvSpPr>
          <p:cNvPr id="23" name="">
            <a:extLst xmlns:a="http://schemas.openxmlformats.org/drawingml/2006/main">
              <a:ext uri="{FF2B5EF4-FFF2-40B4-BE49-F238E27FC236}">
                <a16:creationId xmlns:a16="http://schemas.microsoft.com/office/drawing/2014/main" id="{456C34B8-90C0-46C7-9386-804338275E21}"/>
              </a:ext>
            </a:extLst>
          </p:cNvPr>
          <p:cNvSpPr>
            <a:spLocks xmlns:a="http://schemas.openxmlformats.org/drawingml/2006/main" noGrp="1"/>
          </p:cNvSpPr>
          <p:nvPr/>
        </p:nvSpPr>
        <p:spPr>
          <a:xfrm xmlns:a="http://schemas.openxmlformats.org/drawingml/2006/main">
            <a:off x="5619750" y="5086350"/>
            <a:ext cx="5715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5D6675"/>
                </a:solidFill>
                <a:latin typeface="Arial"/>
                <a:ea typeface="Arial"/>
                <a:cs typeface="Arial"/>
              </a:defRPr>
            </a:pPr>
            <a:r>
              <a:rPr sz="1200" b="0" i="0">
                <a:solidFill>
                  <a:srgbClr val="5D6675"/>
                </a:solidFill>
                <a:latin typeface="Arial"/>
                <a:ea typeface="Arial"/>
                <a:cs typeface="Arial"/>
              </a:rPr>
              <a:t>Ajouter politique de couverture, liquidité, impact marché, capacité et exécution d’ordres.</a:t>
            </a:r>
          </a:p>
        </p:txBody>
      </p:sp>
      <p:sp>
        <p:nvSpPr>
          <p:cNvPr id="24" name="">
            <a:extLst xmlns:a="http://schemas.openxmlformats.org/drawingml/2006/main">
              <a:ext uri="{FF2B5EF4-FFF2-40B4-BE49-F238E27FC236}">
                <a16:creationId xmlns:a16="http://schemas.microsoft.com/office/drawing/2014/main" id="{0C3F0DF5-EF63-4473-AFC1-113ABFE4FB69}"/>
              </a:ext>
            </a:extLst>
          </p:cNvPr>
          <p:cNvSpPr>
            <a:spLocks xmlns:a="http://schemas.openxmlformats.org/drawingml/2006/main" noGrp="1"/>
          </p:cNvSpPr>
          <p:nvPr/>
        </p:nvSpPr>
        <p:spPr>
          <a:xfrm xmlns:a="http://schemas.openxmlformats.org/drawingml/2006/main">
            <a:off x="609600" y="6057900"/>
            <a:ext cx="10972800" cy="400050"/>
          </a:xfrm>
          <a:prstGeom xmlns:a="http://schemas.openxmlformats.org/drawingml/2006/main" prst="roundRect">
            <a:avLst>
              <a:gd name="adj" fmla="val 50000"/>
            </a:avLst>
          </a:prstGeom>
          <a:solidFill xmlns:a="http://schemas.openxmlformats.org/drawingml/2006/main">
            <a:srgbClr val="F3F4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81E0587-6063-4E1D-B535-CC613EFA88E2}"/>
              </a:ext>
            </a:extLst>
          </p:cNvPr>
          <p:cNvSpPr>
            <a:spLocks xmlns:a="http://schemas.openxmlformats.org/drawingml/2006/main" noGrp="1"/>
          </p:cNvSpPr>
          <p:nvPr/>
        </p:nvSpPr>
        <p:spPr>
          <a:xfrm xmlns:a="http://schemas.openxmlformats.org/drawingml/2006/main">
            <a:off x="857250" y="6162675"/>
            <a:ext cx="1047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ctr">
              <a:defRPr sz="1125" b="1" i="0">
                <a:solidFill>
                  <a:srgbClr val="B7433E"/>
                </a:solidFill>
                <a:latin typeface="Arial"/>
                <a:ea typeface="Arial"/>
                <a:cs typeface="Arial"/>
              </a:defRPr>
            </a:pPr>
            <a:r>
              <a:rPr sz="1125" b="1" i="0">
                <a:solidFill>
                  <a:srgbClr val="B7433E"/>
                </a:solidFill>
                <a:latin typeface="Arial"/>
                <a:ea typeface="Arial"/>
                <a:cs typeface="Arial"/>
              </a:rPr>
              <a:t>Monitoring prêt ≠ monitoring actif · Prototype de recherche ≠ conseil en investissement</a:t>
            </a:r>
          </a:p>
        </p:txBody>
      </p:sp>
    </p:spTree>
    <p:extLst>
      <p:ext uri="{BB962C8B-B14F-4D97-AF65-F5344CB8AC3E}">
        <p14:creationId xmlns:p14="http://schemas.microsoft.com/office/powerpoint/2010/main" val="209516073"/>
      </p:ext>
    </p:extLst>
  </p:cSld>
</p:sld>
</file>

<file path=ppt/slides/slide18.xml><?xml version="1.0" encoding="utf-8"?>
<p:sld xmlns:p="http://schemas.openxmlformats.org/presentationml/2006/main">
  <p:cSld>
    <p:bg>
      <p:bgPr>
        <a:solidFill xmlns:a="http://schemas.openxmlformats.org/drawingml/2006/main">
          <a:srgbClr val="090B1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8E50F0E-275F-4922-A02B-46C2DA435C02}"/>
              </a:ext>
            </a:extLst>
          </p:cNvPr>
          <p:cNvSpPr>
            <a:spLocks xmlns:a="http://schemas.openxmlformats.org/drawingml/2006/main" noGrp="1"/>
          </p:cNvSpPr>
          <p:nvPr/>
        </p:nvSpPr>
        <p:spPr>
          <a:xfrm xmlns:a="http://schemas.openxmlformats.org/drawingml/2006/main">
            <a:off x="11144250" y="342900"/>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900" b="1" i="0">
                <a:solidFill>
                  <a:srgbClr val="9CA3AF"/>
                </a:solidFill>
                <a:latin typeface="Arial"/>
                <a:ea typeface="Arial"/>
                <a:cs typeface="Arial"/>
              </a:defRPr>
            </a:pPr>
            <a:r>
              <a:rPr sz="900" b="1" i="0">
                <a:solidFill>
                  <a:srgbClr val="9CA3AF"/>
                </a:solidFill>
                <a:latin typeface="Arial"/>
                <a:ea typeface="Arial"/>
                <a:cs typeface="Arial"/>
              </a:rPr>
              <a:t>18</a:t>
            </a:r>
          </a:p>
        </p:txBody>
      </p:sp>
      <p:sp>
        <p:nvSpPr>
          <p:cNvPr id="2" name="">
            <a:extLst xmlns:a="http://schemas.openxmlformats.org/drawingml/2006/main">
              <a:ext uri="{FF2B5EF4-FFF2-40B4-BE49-F238E27FC236}">
                <a16:creationId xmlns:a16="http://schemas.microsoft.com/office/drawing/2014/main" id="{D46E5910-C5DE-4AF6-8E41-4B1F18A5D284}"/>
              </a:ext>
            </a:extLst>
          </p:cNvPr>
          <p:cNvSpPr>
            <a:spLocks xmlns:a="http://schemas.openxmlformats.org/drawingml/2006/main" noGrp="1"/>
          </p:cNvSpPr>
          <p:nvPr/>
        </p:nvSpPr>
        <p:spPr>
          <a:xfrm xmlns:a="http://schemas.openxmlformats.org/drawingml/2006/main">
            <a:off x="685800" y="571500"/>
            <a:ext cx="1200150" cy="323850"/>
          </a:xfrm>
          <a:prstGeom xmlns:a="http://schemas.openxmlformats.org/drawingml/2006/main" prst="roundRect">
            <a:avLst>
              <a:gd name="adj" fmla="val 50000"/>
            </a:avLst>
          </a:prstGeom>
          <a:solidFill xmlns:a="http://schemas.openxmlformats.org/drawingml/2006/main">
            <a:srgbClr val="172334"/>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DD57386-FB7A-4304-B4F9-04A9B3D56DB6}"/>
              </a:ext>
            </a:extLst>
          </p:cNvPr>
          <p:cNvSpPr>
            <a:spLocks xmlns:a="http://schemas.openxmlformats.org/drawingml/2006/main" noGrp="1"/>
          </p:cNvSpPr>
          <p:nvPr/>
        </p:nvSpPr>
        <p:spPr>
          <a:xfrm xmlns:a="http://schemas.openxmlformats.org/drawingml/2006/main">
            <a:off x="800100" y="638175"/>
            <a:ext cx="971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ctr">
              <a:defRPr sz="900" b="1" i="0">
                <a:solidFill>
                  <a:srgbClr val="D0EDFA"/>
                </a:solidFill>
                <a:latin typeface="Arial"/>
                <a:ea typeface="Arial"/>
                <a:cs typeface="Arial"/>
              </a:defRPr>
            </a:pPr>
            <a:r>
              <a:rPr sz="900" b="1" i="0">
                <a:solidFill>
                  <a:srgbClr val="D0EDFA"/>
                </a:solidFill>
                <a:latin typeface="Arial"/>
                <a:ea typeface="Arial"/>
                <a:cs typeface="Arial"/>
              </a:rPr>
              <a:t>CONCLUSION</a:t>
            </a:r>
          </a:p>
        </p:txBody>
      </p:sp>
      <p:sp>
        <p:nvSpPr>
          <p:cNvPr id="4" name="">
            <a:extLst xmlns:a="http://schemas.openxmlformats.org/drawingml/2006/main">
              <a:ext uri="{FF2B5EF4-FFF2-40B4-BE49-F238E27FC236}">
                <a16:creationId xmlns:a16="http://schemas.microsoft.com/office/drawing/2014/main" id="{275EF466-2A80-4B21-BC33-23D2375AED05}"/>
              </a:ext>
            </a:extLst>
          </p:cNvPr>
          <p:cNvSpPr>
            <a:spLocks xmlns:a="http://schemas.openxmlformats.org/drawingml/2006/main" noGrp="1"/>
          </p:cNvSpPr>
          <p:nvPr/>
        </p:nvSpPr>
        <p:spPr>
          <a:xfrm xmlns:a="http://schemas.openxmlformats.org/drawingml/2006/main">
            <a:off x="685800" y="1257300"/>
            <a:ext cx="619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600" b="1" i="0">
                <a:solidFill>
                  <a:srgbClr val="FFFFFF"/>
                </a:solidFill>
                <a:latin typeface="Arial"/>
                <a:ea typeface="Arial"/>
                <a:cs typeface="Arial"/>
              </a:defRPr>
            </a:pPr>
            <a:r>
              <a:rPr sz="3600" b="1" i="0">
                <a:solidFill>
                  <a:srgbClr val="FFFFFF"/>
                </a:solidFill>
                <a:latin typeface="Arial"/>
                <a:ea typeface="Arial"/>
                <a:cs typeface="Arial"/>
              </a:rPr>
              <a:t>Nous n’avons pas prouvé</a:t>
            </a:r>
          </a:p>
          <a:p xmlns:a="http://schemas.openxmlformats.org/drawingml/2006/main">
            <a:pPr algn="l">
              <a:defRPr sz="3600" b="1" i="0">
                <a:solidFill>
                  <a:srgbClr val="FFFFFF"/>
                </a:solidFill>
                <a:latin typeface="Arial"/>
                <a:ea typeface="Arial"/>
                <a:cs typeface="Arial"/>
              </a:defRPr>
            </a:pPr>
            <a:r>
              <a:rPr sz="3600" b="1" i="0">
                <a:solidFill>
                  <a:srgbClr val="FFFFFF"/>
                </a:solidFill>
                <a:latin typeface="Arial"/>
                <a:ea typeface="Arial"/>
                <a:cs typeface="Arial"/>
              </a:rPr>
              <a:t>que le ML gagne.</a:t>
            </a:r>
          </a:p>
        </p:txBody>
      </p:sp>
      <p:sp>
        <p:nvSpPr>
          <p:cNvPr id="5" name="">
            <a:extLst xmlns:a="http://schemas.openxmlformats.org/drawingml/2006/main">
              <a:ext uri="{FF2B5EF4-FFF2-40B4-BE49-F238E27FC236}">
                <a16:creationId xmlns:a16="http://schemas.microsoft.com/office/drawing/2014/main" id="{270E7574-D9F8-40CE-88F9-BAAA837A5E3F}"/>
              </a:ext>
            </a:extLst>
          </p:cNvPr>
          <p:cNvSpPr>
            <a:spLocks xmlns:a="http://schemas.openxmlformats.org/drawingml/2006/main" noGrp="1"/>
          </p:cNvSpPr>
          <p:nvPr/>
        </p:nvSpPr>
        <p:spPr>
          <a:xfrm xmlns:a="http://schemas.openxmlformats.org/drawingml/2006/main">
            <a:off x="685800" y="2724150"/>
            <a:ext cx="8191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441"/>
          </a:bodyPr>
          <a:lstStyle xmlns:a="http://schemas.openxmlformats.org/drawingml/2006/main"/>
          <a:p xmlns:a="http://schemas.openxmlformats.org/drawingml/2006/main">
            <a:pPr algn="l">
              <a:defRPr sz="2850" b="1" i="0">
                <a:solidFill>
                  <a:srgbClr val="D0EDFA"/>
                </a:solidFill>
                <a:latin typeface="Arial"/>
                <a:ea typeface="Arial"/>
                <a:cs typeface="Arial"/>
              </a:defRPr>
            </a:pPr>
            <a:r>
              <a:rPr sz="2850" b="1" i="0">
                <a:solidFill>
                  <a:srgbClr val="D0EDFA"/>
                </a:solidFill>
                <a:latin typeface="Arial"/>
                <a:ea typeface="Arial"/>
                <a:cs typeface="Arial"/>
              </a:rPr>
              <a:t>Nous avons construit la chaîne qui permet de le savoir.</a:t>
            </a:r>
          </a:p>
        </p:txBody>
      </p:sp>
      <p:sp>
        <p:nvSpPr>
          <p:cNvPr id="6" name="">
            <a:extLst xmlns:a="http://schemas.openxmlformats.org/drawingml/2006/main">
              <a:ext uri="{FF2B5EF4-FFF2-40B4-BE49-F238E27FC236}">
                <a16:creationId xmlns:a16="http://schemas.microsoft.com/office/drawing/2014/main" id="{4B9AE070-1517-45DC-BC2F-A2E46FB84AE8}"/>
              </a:ext>
            </a:extLst>
          </p:cNvPr>
          <p:cNvSpPr>
            <a:spLocks xmlns:a="http://schemas.openxmlformats.org/drawingml/2006/main" noGrp="1"/>
          </p:cNvSpPr>
          <p:nvPr/>
        </p:nvSpPr>
        <p:spPr>
          <a:xfrm xmlns:a="http://schemas.openxmlformats.org/drawingml/2006/main">
            <a:off x="685800" y="3886200"/>
            <a:ext cx="10820400" cy="9525"/>
          </a:xfrm>
          <a:prstGeom xmlns:a="http://schemas.openxmlformats.org/drawingml/2006/main" prst="rect">
            <a:avLst/>
          </a:prstGeom>
          <a:solidFill xmlns:a="http://schemas.openxmlformats.org/drawingml/2006/main">
            <a:srgbClr val="33415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A8F4EB5-3EBC-457C-BEAB-0B74CAE464C1}"/>
              </a:ext>
            </a:extLst>
          </p:cNvPr>
          <p:cNvSpPr>
            <a:spLocks xmlns:a="http://schemas.openxmlformats.org/drawingml/2006/main" noGrp="1"/>
          </p:cNvSpPr>
          <p:nvPr/>
        </p:nvSpPr>
        <p:spPr>
          <a:xfrm xmlns:a="http://schemas.openxmlformats.org/drawingml/2006/main">
            <a:off x="685800" y="43053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defRPr sz="1500" b="1" i="0">
                <a:solidFill>
                  <a:srgbClr val="FFFFFF"/>
                </a:solidFill>
                <a:latin typeface="Arial"/>
                <a:ea typeface="Arial"/>
                <a:cs typeface="Arial"/>
              </a:defRPr>
            </a:pPr>
            <a:r>
              <a:rPr sz="1500" b="1" i="0">
                <a:solidFill>
                  <a:srgbClr val="FFFFFF"/>
                </a:solidFill>
                <a:latin typeface="Arial"/>
                <a:ea typeface="Arial"/>
                <a:cs typeface="Arial"/>
              </a:rPr>
              <a:t>Rigueur</a:t>
            </a:r>
          </a:p>
        </p:txBody>
      </p:sp>
      <p:sp>
        <p:nvSpPr>
          <p:cNvPr id="8" name="">
            <a:extLst xmlns:a="http://schemas.openxmlformats.org/drawingml/2006/main">
              <a:ext uri="{FF2B5EF4-FFF2-40B4-BE49-F238E27FC236}">
                <a16:creationId xmlns:a16="http://schemas.microsoft.com/office/drawing/2014/main" id="{C697F7C1-D0C0-403C-BD3A-42BFC5CED7C0}"/>
              </a:ext>
            </a:extLst>
          </p:cNvPr>
          <p:cNvSpPr>
            <a:spLocks xmlns:a="http://schemas.openxmlformats.org/drawingml/2006/main" noGrp="1"/>
          </p:cNvSpPr>
          <p:nvPr/>
        </p:nvSpPr>
        <p:spPr>
          <a:xfrm xmlns:a="http://schemas.openxmlformats.org/drawingml/2006/main">
            <a:off x="685800" y="4705350"/>
            <a:ext cx="314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B9C3D0"/>
                </a:solidFill>
                <a:latin typeface="Arial"/>
                <a:ea typeface="Arial"/>
                <a:cs typeface="Arial"/>
              </a:defRPr>
            </a:pPr>
            <a:r>
              <a:rPr sz="1200" b="0" i="0">
                <a:solidFill>
                  <a:srgbClr val="B9C3D0"/>
                </a:solidFill>
                <a:latin typeface="Arial"/>
                <a:ea typeface="Arial"/>
                <a:cs typeface="Arial"/>
              </a:rPr>
              <a:t>forward-only · test gelé · correction multiple</a:t>
            </a:r>
          </a:p>
        </p:txBody>
      </p:sp>
      <p:sp>
        <p:nvSpPr>
          <p:cNvPr id="9" name="">
            <a:extLst xmlns:a="http://schemas.openxmlformats.org/drawingml/2006/main">
              <a:ext uri="{FF2B5EF4-FFF2-40B4-BE49-F238E27FC236}">
                <a16:creationId xmlns:a16="http://schemas.microsoft.com/office/drawing/2014/main" id="{87D73C2A-6212-4181-B252-F9EAADD985C1}"/>
              </a:ext>
            </a:extLst>
          </p:cNvPr>
          <p:cNvSpPr>
            <a:spLocks xmlns:a="http://schemas.openxmlformats.org/drawingml/2006/main" noGrp="1"/>
          </p:cNvSpPr>
          <p:nvPr/>
        </p:nvSpPr>
        <p:spPr>
          <a:xfrm xmlns:a="http://schemas.openxmlformats.org/drawingml/2006/main">
            <a:off x="4305300" y="43053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defRPr sz="1500" b="1" i="0">
                <a:solidFill>
                  <a:srgbClr val="FFFFFF"/>
                </a:solidFill>
                <a:latin typeface="Arial"/>
                <a:ea typeface="Arial"/>
                <a:cs typeface="Arial"/>
              </a:defRPr>
            </a:pPr>
            <a:r>
              <a:rPr sz="1500" b="1" i="0">
                <a:solidFill>
                  <a:srgbClr val="FFFFFF"/>
                </a:solidFill>
                <a:latin typeface="Arial"/>
                <a:ea typeface="Arial"/>
                <a:cs typeface="Arial"/>
              </a:rPr>
              <a:t>Traçabilité</a:t>
            </a:r>
          </a:p>
        </p:txBody>
      </p:sp>
      <p:sp>
        <p:nvSpPr>
          <p:cNvPr id="10" name="">
            <a:extLst xmlns:a="http://schemas.openxmlformats.org/drawingml/2006/main">
              <a:ext uri="{FF2B5EF4-FFF2-40B4-BE49-F238E27FC236}">
                <a16:creationId xmlns:a16="http://schemas.microsoft.com/office/drawing/2014/main" id="{949945EE-8B46-4B47-A28C-D4B8DE7EF155}"/>
              </a:ext>
            </a:extLst>
          </p:cNvPr>
          <p:cNvSpPr>
            <a:spLocks xmlns:a="http://schemas.openxmlformats.org/drawingml/2006/main" noGrp="1"/>
          </p:cNvSpPr>
          <p:nvPr/>
        </p:nvSpPr>
        <p:spPr>
          <a:xfrm xmlns:a="http://schemas.openxmlformats.org/drawingml/2006/main">
            <a:off x="4305300" y="4705350"/>
            <a:ext cx="314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B9C3D0"/>
                </a:solidFill>
                <a:latin typeface="Arial"/>
                <a:ea typeface="Arial"/>
                <a:cs typeface="Arial"/>
              </a:defRPr>
            </a:pPr>
            <a:r>
              <a:rPr sz="1200" b="0" i="0">
                <a:solidFill>
                  <a:srgbClr val="B9C3D0"/>
                </a:solidFill>
                <a:latin typeface="Arial"/>
                <a:ea typeface="Arial"/>
                <a:cs typeface="Arial"/>
              </a:rPr>
              <a:t>DVC · snapshot · artifacts générés</a:t>
            </a:r>
          </a:p>
        </p:txBody>
      </p:sp>
      <p:sp>
        <p:nvSpPr>
          <p:cNvPr id="11" name="">
            <a:extLst xmlns:a="http://schemas.openxmlformats.org/drawingml/2006/main">
              <a:ext uri="{FF2B5EF4-FFF2-40B4-BE49-F238E27FC236}">
                <a16:creationId xmlns:a16="http://schemas.microsoft.com/office/drawing/2014/main" id="{A62E1CEA-E726-414C-A14B-52AC023842CB}"/>
              </a:ext>
            </a:extLst>
          </p:cNvPr>
          <p:cNvSpPr>
            <a:spLocks xmlns:a="http://schemas.openxmlformats.org/drawingml/2006/main" noGrp="1"/>
          </p:cNvSpPr>
          <p:nvPr/>
        </p:nvSpPr>
        <p:spPr>
          <a:xfrm xmlns:a="http://schemas.openxmlformats.org/drawingml/2006/main">
            <a:off x="7924800" y="43053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defRPr sz="1500" b="1" i="0">
                <a:solidFill>
                  <a:srgbClr val="FFFFFF"/>
                </a:solidFill>
                <a:latin typeface="Arial"/>
                <a:ea typeface="Arial"/>
                <a:cs typeface="Arial"/>
              </a:defRPr>
            </a:pPr>
            <a:r>
              <a:rPr sz="1500" b="1" i="0">
                <a:solidFill>
                  <a:srgbClr val="FFFFFF"/>
                </a:solidFill>
                <a:latin typeface="Arial"/>
                <a:ea typeface="Arial"/>
                <a:cs typeface="Arial"/>
              </a:rPr>
              <a:t>Transparence</a:t>
            </a:r>
          </a:p>
        </p:txBody>
      </p:sp>
      <p:sp>
        <p:nvSpPr>
          <p:cNvPr id="12" name="">
            <a:extLst xmlns:a="http://schemas.openxmlformats.org/drawingml/2006/main">
              <a:ext uri="{FF2B5EF4-FFF2-40B4-BE49-F238E27FC236}">
                <a16:creationId xmlns:a16="http://schemas.microsoft.com/office/drawing/2014/main" id="{25FA9219-0621-4A19-9F75-A9D5E6041790}"/>
              </a:ext>
            </a:extLst>
          </p:cNvPr>
          <p:cNvSpPr>
            <a:spLocks xmlns:a="http://schemas.openxmlformats.org/drawingml/2006/main" noGrp="1"/>
          </p:cNvSpPr>
          <p:nvPr/>
        </p:nvSpPr>
        <p:spPr>
          <a:xfrm xmlns:a="http://schemas.openxmlformats.org/drawingml/2006/main">
            <a:off x="7924800" y="4705350"/>
            <a:ext cx="314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i="0">
                <a:solidFill>
                  <a:srgbClr val="B9C3D0"/>
                </a:solidFill>
                <a:latin typeface="Arial"/>
                <a:ea typeface="Arial"/>
                <a:cs typeface="Arial"/>
              </a:defRPr>
            </a:pPr>
            <a:r>
              <a:rPr sz="1200" b="0" i="0">
                <a:solidFill>
                  <a:srgbClr val="B9C3D0"/>
                </a:solidFill>
                <a:latin typeface="Arial"/>
                <a:ea typeface="Arial"/>
                <a:cs typeface="Arial"/>
              </a:rPr>
              <a:t>résultat négatif · limites explicites · explications exactes</a:t>
            </a:r>
          </a:p>
        </p:txBody>
      </p:sp>
      <p:sp>
        <p:nvSpPr>
          <p:cNvPr id="13" name="">
            <a:extLst xmlns:a="http://schemas.openxmlformats.org/drawingml/2006/main">
              <a:ext uri="{FF2B5EF4-FFF2-40B4-BE49-F238E27FC236}">
                <a16:creationId xmlns:a16="http://schemas.microsoft.com/office/drawing/2014/main" id="{65ECB101-3653-4A24-A6B3-4F81A0DC1A2F}"/>
              </a:ext>
            </a:extLst>
          </p:cNvPr>
          <p:cNvSpPr>
            <a:spLocks xmlns:a="http://schemas.openxmlformats.org/drawingml/2006/main" noGrp="1"/>
          </p:cNvSpPr>
          <p:nvPr/>
        </p:nvSpPr>
        <p:spPr>
          <a:xfrm xmlns:a="http://schemas.openxmlformats.org/drawingml/2006/main">
            <a:off x="685800" y="5924550"/>
            <a:ext cx="571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615"/>
          </a:bodyPr>
          <a:lstStyle xmlns:a="http://schemas.openxmlformats.org/drawingml/2006/main"/>
          <a:p xmlns:a="http://schemas.openxmlformats.org/drawingml/2006/main">
            <a:pPr algn="l">
              <a:defRPr sz="1950" b="1" i="0">
                <a:solidFill>
                  <a:srgbClr val="FFFFFF"/>
                </a:solidFill>
                <a:latin typeface="Arial"/>
                <a:ea typeface="Arial"/>
                <a:cs typeface="Arial"/>
              </a:defRPr>
            </a:pPr>
            <a:r>
              <a:rPr sz="1950" b="1" i="0">
                <a:solidFill>
                  <a:srgbClr val="FFFFFF"/>
                </a:solidFill>
                <a:latin typeface="Arial"/>
                <a:ea typeface="Arial"/>
                <a:cs typeface="Arial"/>
              </a:rPr>
              <a:t>Merci — Questions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1c96916ae024832"/>
          <a:stretch xmlns:a="http://schemas.openxmlformats.org/drawingml/2006/main"/>
        </p:blipFill>
        <p:spPr>
          <a:xfrm xmlns:a="http://schemas.openxmlformats.org/drawingml/2006/main">
            <a:off x="9086850" y="5747499"/>
            <a:ext cx="990600" cy="487451"/>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0d303eb5a97549c5"/>
          <a:stretch xmlns:a="http://schemas.openxmlformats.org/drawingml/2006/main"/>
        </p:blipFill>
        <p:spPr>
          <a:xfrm xmlns:a="http://schemas.openxmlformats.org/drawingml/2006/main">
            <a:off x="10353297" y="5657850"/>
            <a:ext cx="1010405" cy="666750"/>
          </a:xfrm>
          <a:prstGeom xmlns:a="http://schemas.openxmlformats.org/drawingml/2006/main" prst="rect">
            <a:avLst/>
          </a:prstGeom>
        </p:spPr>
      </p:pic>
    </p:spTree>
    <p:extLst>
      <p:ext uri="{BB962C8B-B14F-4D97-AF65-F5344CB8AC3E}">
        <p14:creationId xmlns:p14="http://schemas.microsoft.com/office/powerpoint/2010/main" val="17257617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2026-08-09T07:33:28.1180000Z</dcterms:created>
  <dcterms:modified xsi:type="dcterms:W3CDTF">2026-08-09T07:33:28.1180000Z</dcterms:modified>
</coreProperties>
</file>