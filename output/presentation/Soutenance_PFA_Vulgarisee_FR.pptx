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Nous présentons un projet de fin d’année mené à l’INPT avec EURAFRIC Information : un système qui répartit un capital entre actifs, et surtout un dispositif capable de dire si cette répartition est réellement meilleure. [~40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temps. Je commence par le vocabulaire, parce que la suite n’a de sens qu’avec quatre ou cinq mots précis. Puis le problème, notre réponse, les résultats. [~30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portefeuille, c’est un capital réparti entre plusieurs actifs. La seule chose que notre système décide, ce sont ces pourcentages — les poids. Il ne prédit pas un cours ; il répond à « combien mettre où ». Et il reprend cette décision chaque mois, ce qui coûte des frais à chaque fois. [~60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comparer deux portefeuilles, le rendement seul ne suffit pas. Ces deux courbes finissent au même niveau, mais l’une tremble trois fois plus. Le ratio de Sharpe mesure exactement cela : le rendement obtenu par unité de risque subi. C’est la note qui servira à tout comparer. [~60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L’idée de Markowitz, prix Nobel : en combinant des actifs qui ne bougent pas ensemble, on réduit le risque sans perdre de rendement. La courbe bleue est l’ensemble des meilleurs compromis. Le point important : le modèle a besoin de deux ingrédients qu’on ne connaît jamais vraiment — il les estime. [~60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mots qui décident si un résultat vaut quelque chose. Un backtest rejoue l’histoire. Une fuite de données, c’est utiliser sans le vouloir une information du futur. Le surapprentissage, c’est apprendre le bruit. Et le data snooping : à force d’essayer, on finit toujours par trouver un gagnant apparent. Tout notre protocole est construit contre ces quatre risques. [~70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Voilà la question. Elle est posée sous contraintes réelles de gestion : pas de vente à découvert, aucun actif au-delà de 25 %, frais déduits, décision mensuelle. Et nous l’étudions sur trois terrains évalués séparément — nous ne mélangeons jamais des dirhams et des dollars. [~60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c’est difficile. Quatre échecs connus de l’approche classique : elle prend des estimations bruitées pour des certitudes, elle suppose que demain ressemble à hier, elle s’effondre en crise, et elle se laisse flatter par la répétition des essais. Chacun appelle une réponse technique précise — c’est notre plan de construction. [~70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image pour le troisième échec. En temps normal, actions et valeurs refuges se comportent différemment. En crise, les actions se resserrent : la corrélation monte jusqu’à 0,94 en mars 2020. Le portefeuille se comporte alors comme un seul actif — la diversification disparaît quand on en a le plus besoin. [~60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piège central, et c’est notre message principal. Nous avons évalué 240 stratégies, liste figée avant tout calcul. Le meilleur candidat dépasse la référence de 0,093 de Sharpe. Sur le papier, c’est publiable. Les tests de sélection multiple répondent p = 0,90 : c’est le maximum d’une recherche, pas une découverte. Sans ce test, nous aurions annoncé un faux résultat. [~80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réponse est une chaîne complète, à sens unique, de la donnée brute à la décision publiée. Trois règles la gouvernent : aucun chiffre saisi à la main, aucune décision qui regarde l’avenir, aucune affirmation sans test. [~50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d’abord. Trois couches : le brut qu’on ne réécrit jamais, une couche de mise en cohérence, et une couche finale — la seule que les modèles ont le droit de lire. Cela nous a permis de corriger deux biais réels : les dividendes de la Bourse de Casablanca, et la conversion en dirhams au taux officiel de Bank Al-Maghrib. Les deux ont changé nos résultats ; nous les avons appliqués quand même. [~75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modèles, par paliers. On part des références classiques, on rend la structure de risque dynamique, puis on ajoute un modèle de régimes — un HMM qui reconnaît tout seul si le marché est calme ou sous tension — et enfin des challengers Random Forest et XGBoost. Chaque étage doit battre le précédent pour être retenu. [~70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L’épreuve. À chaque date de décision, le modèle est réentraîné avec les seules données déjà disponibles, puis subit le mois suivant sans le connaître. On écarte les jours à cheval sur la frontière, on garde une dernière période totalement intacte, et chaque mouvement est facturé avant d’être compté. [~65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verrous entre un bon chiffre et une affirmation : la comparaison est appariée jour par jour ; le fait d’avoir essayé 240 configurations est corrigé statistiquement ; et la référence à battre a été fixée à l’avance, jamais réécrite après coup. C’est ce qui rend nos résultats vérifiables. [~60 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résultats, hors échantillon et nets de frais. La bande bleue claire, c’est l’ensemble des références classiques : son bord bas est la moins bonne, son bord haut la meilleure. La ligne foncée est notre système à régimes. Il reste dans la bande du début à la fin, 2008, 2020 et 2022 compris. La vraie question n’est donc pas « est-ce que ça marche », mais « l’écart est-il réel ou dans le bruit » — et c’est exactement ce que la chaîne sait trancher. [~60 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Premier résultat concret. Le modèle de régimes n’a jamais reçu la liste des crises : il apprend seul. Sur les cinq crises de la période, fixées à l’avance d’après des dates externes, il les a toutes reconnues. 92 % des mois de crise classés « sous tension », contre 29 % hors crise. C’est un diagnostic directement lisible par un gérant. [~70 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résultat, et le plus actionnable. À moteur identique, relâcher la règle « aucun actif au-delà de 25 % » coûte 10 % de Sharpe. C’est davantage que l’effet de n’importe quel modèle testé. Une règle de gouvernance simple absorbe l’erreur d’estimation mieux que la sophistication. [~65 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résultat, celui dont nous sommes le plus fiers. Avec un backtest seul, nous aurions écrit « notre XGBoost améliore le Sharpe de 0,093 ». Notre chaîne répond : c’est le maximum d’une recherche, les tests ne le retiennent pas. Un prototype qui ne sait pas invalider ses propres résultats n’a pas de valeur pour une direction des risques. [~70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lecture d’ensemble, en toute transparence. À gauche, ce que nous établissons. À droite, ce que nous n’établissons pas : sur nos univers et nos fenêtres, aucune couche ML ne démontre de surperformance significative face à son comparateur. C’est une réponse, pas un échec — la question posée était « peut-on le savoir », et nous savons. Les deux colonnes viennent du même dispositif : c’est ce qui rend la première crédible. [~80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livrable n’est pas un notebook. Un tableau de bord, une API en lecture seule dont les chiffres sont lus depuis les artefacts, des données versionnées, une intégration continue, un conteneur, et près de 900 tests automatisés qui gardent les invariants. [~55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qui reste. Élargir l’univers marocain, faire valider le dispositif par une équipe indépendante, modéliser la couverture du risque de change, et passer à l’échelle sur davantage d’actifs — c’est là qu’un optimiseur a le plus de marge pour exprimer une vue. [~55 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conclusion : un système complet d’allocation, évalué sans tricher, capable de reconnaître les crises, de montrer ce qui améliore réellement un portefeuille — et de refuser ce qui n’est que du hasard. Merci de votre attention. [~40 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ANNEXE — à garder pour les questions. Les chiffres exacts par univers, et la mise en garde : les Sharpe ne se comparent pas d’un univers à l’autre (devises, fenêtres et nombres d’actifs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ANNEXE — intégrité et périmètre. 7 ajustements sur 1 184 ont utilisé un estimateur de repli : ils sont comptés et signalés comme hybrides plutôt que publiés sous une étiquette qu’ils ne méritent pas. Et le cadrage : prototype de recherche académique, aucune recommandation d’investissement.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219200"/>
            <a:ext cx="1219200" cy="50800"/>
          </a:xfrm>
          <a:prstGeom prst="rect">
            <a:avLst/>
          </a:prstGeom>
          <a:solidFill>
            <a:srgbClr val="3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660400"/>
            <a:ext cx="8890000" cy="228600"/>
          </a:xfrm>
          <a:prstGeom prst="rect">
            <a:avLst/>
          </a:prstGeom>
          <a:noFill/>
        </p:spPr>
        <p:txBody>
          <a:bodyPr wrap="square" lIns="0" rIns="0" tIns="0" bIns="0">
            <a:spAutoFit/>
          </a:bodyPr>
          <a:lstStyle/>
          <a:p>
            <a:r>
              <a:rPr sz="1050" b="1">
                <a:solidFill>
                  <a:srgbClr val="3D8DFF"/>
                </a:solidFill>
                <a:latin typeface="Arial"/>
              </a:rPr>
              <a:t>PROJET DE FIN D’ANNÉE · INPT × EURAFRIC INFORMATION</a:t>
            </a:r>
          </a:p>
        </p:txBody>
      </p:sp>
      <p:sp>
        <p:nvSpPr>
          <p:cNvPr id="5" name="TextBox 4"/>
          <p:cNvSpPr txBox="1"/>
          <p:nvPr/>
        </p:nvSpPr>
        <p:spPr>
          <a:xfrm>
            <a:off x="609600" y="1625600"/>
            <a:ext cx="10541000" cy="1524000"/>
          </a:xfrm>
          <a:prstGeom prst="rect">
            <a:avLst/>
          </a:prstGeom>
          <a:noFill/>
        </p:spPr>
        <p:txBody>
          <a:bodyPr wrap="square" lIns="0" rIns="0" tIns="0" bIns="0">
            <a:spAutoFit/>
          </a:bodyPr>
          <a:lstStyle/>
          <a:p>
            <a:pPr>
              <a:lnSpc>
                <a:spcPct val="112000"/>
              </a:lnSpc>
            </a:pPr>
            <a:r>
              <a:rPr sz="4000" b="1">
                <a:solidFill>
                  <a:srgbClr val="111827"/>
                </a:solidFill>
                <a:latin typeface="Arial"/>
              </a:rPr>
              <a:t>Optimisation de portefeuille</a:t>
            </a:r>
          </a:p>
          <a:p>
            <a:pPr>
              <a:lnSpc>
                <a:spcPct val="112000"/>
              </a:lnSpc>
            </a:pPr>
            <a:r>
              <a:rPr sz="4000" b="1">
                <a:solidFill>
                  <a:srgbClr val="111827"/>
                </a:solidFill>
                <a:latin typeface="Arial"/>
              </a:rPr>
              <a:t>pilotée par Machine Learning</a:t>
            </a:r>
          </a:p>
        </p:txBody>
      </p:sp>
      <p:sp>
        <p:nvSpPr>
          <p:cNvPr id="6" name="TextBox 5"/>
          <p:cNvSpPr txBox="1"/>
          <p:nvPr/>
        </p:nvSpPr>
        <p:spPr>
          <a:xfrm>
            <a:off x="609600" y="3327400"/>
            <a:ext cx="9652000" cy="711200"/>
          </a:xfrm>
          <a:prstGeom prst="rect">
            <a:avLst/>
          </a:prstGeom>
          <a:noFill/>
        </p:spPr>
        <p:txBody>
          <a:bodyPr wrap="square" lIns="0" rIns="0" tIns="0" bIns="0">
            <a:spAutoFit/>
          </a:bodyPr>
          <a:lstStyle/>
          <a:p>
            <a:pPr>
              <a:lnSpc>
                <a:spcPct val="135000"/>
              </a:lnSpc>
            </a:pPr>
            <a:r>
              <a:rPr sz="1500" b="0">
                <a:solidFill>
                  <a:srgbClr val="5D6675"/>
                </a:solidFill>
                <a:latin typeface="Arial"/>
              </a:rPr>
              <a:t>Peut-on améliorer la répartition d’un capital grâce à l’apprentissage automatique —</a:t>
            </a:r>
          </a:p>
          <a:p>
            <a:pPr>
              <a:lnSpc>
                <a:spcPct val="135000"/>
              </a:lnSpc>
            </a:pPr>
            <a:r>
              <a:rPr sz="1500" b="0">
                <a:solidFill>
                  <a:srgbClr val="5D6675"/>
                </a:solidFill>
                <a:latin typeface="Arial"/>
              </a:rPr>
              <a:t>et savoir, de façon vérifiable, si l’amélioration est réelle ?</a:t>
            </a:r>
          </a:p>
        </p:txBody>
      </p:sp>
      <p:sp>
        <p:nvSpPr>
          <p:cNvPr id="7" name="Rounded Rectangle 6"/>
          <p:cNvSpPr/>
          <p:nvPr/>
        </p:nvSpPr>
        <p:spPr>
          <a:xfrm>
            <a:off x="609600" y="4470400"/>
            <a:ext cx="10972800" cy="12700"/>
          </a:xfrm>
          <a:prstGeom prst="roundRect">
            <a:avLst>
              <a:gd name="adj" fmla="val 3000"/>
            </a:avLst>
          </a:prstGeom>
          <a:solidFill>
            <a:srgbClr val="C9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4826000"/>
            <a:ext cx="5461000" cy="889000"/>
          </a:xfrm>
          <a:prstGeom prst="rect">
            <a:avLst/>
          </a:prstGeom>
          <a:noFill/>
        </p:spPr>
        <p:txBody>
          <a:bodyPr wrap="square" lIns="0" rIns="0" tIns="0" bIns="0">
            <a:spAutoFit/>
          </a:bodyPr>
          <a:lstStyle/>
          <a:p>
            <a:r>
              <a:rPr sz="1300" b="1">
                <a:solidFill>
                  <a:srgbClr val="111827"/>
                </a:solidFill>
                <a:latin typeface="Arial"/>
              </a:rPr>
              <a:t>Souhail BOURHIM · Zakarya EL WALI · Yasmine BOUAJINE</a:t>
            </a:r>
          </a:p>
        </p:txBody>
      </p:sp>
      <p:sp>
        <p:nvSpPr>
          <p:cNvPr id="9" name="TextBox 8"/>
          <p:cNvSpPr txBox="1"/>
          <p:nvPr/>
        </p:nvSpPr>
        <p:spPr>
          <a:xfrm>
            <a:off x="609600" y="5130800"/>
            <a:ext cx="5461000" cy="508000"/>
          </a:xfrm>
          <a:prstGeom prst="rect">
            <a:avLst/>
          </a:prstGeom>
          <a:noFill/>
        </p:spPr>
        <p:txBody>
          <a:bodyPr wrap="square" lIns="0" rIns="0" tIns="0" bIns="0">
            <a:spAutoFit/>
          </a:bodyPr>
          <a:lstStyle/>
          <a:p>
            <a:r>
              <a:rPr sz="1150" b="0">
                <a:solidFill>
                  <a:srgbClr val="5D6675"/>
                </a:solidFill>
                <a:latin typeface="Arial"/>
              </a:rPr>
              <a:t>Étudiants ingénieurs · INPT</a:t>
            </a:r>
          </a:p>
        </p:txBody>
      </p:sp>
      <p:sp>
        <p:nvSpPr>
          <p:cNvPr id="10" name="TextBox 9"/>
          <p:cNvSpPr txBox="1"/>
          <p:nvPr/>
        </p:nvSpPr>
        <p:spPr>
          <a:xfrm>
            <a:off x="7112000" y="4826000"/>
            <a:ext cx="4470400" cy="889000"/>
          </a:xfrm>
          <a:prstGeom prst="rect">
            <a:avLst/>
          </a:prstGeom>
          <a:noFill/>
        </p:spPr>
        <p:txBody>
          <a:bodyPr wrap="square" lIns="0" rIns="0" tIns="0" bIns="0">
            <a:spAutoFit/>
          </a:bodyPr>
          <a:lstStyle/>
          <a:p>
            <a:r>
              <a:rPr sz="1300" b="1">
                <a:solidFill>
                  <a:srgbClr val="111827"/>
                </a:solidFill>
                <a:latin typeface="Arial"/>
              </a:rPr>
              <a:t>Encadré par M. Abdelmouttalib MAQIL</a:t>
            </a:r>
          </a:p>
        </p:txBody>
      </p:sp>
      <p:sp>
        <p:nvSpPr>
          <p:cNvPr id="11" name="TextBox 10"/>
          <p:cNvSpPr txBox="1"/>
          <p:nvPr/>
        </p:nvSpPr>
        <p:spPr>
          <a:xfrm>
            <a:off x="7112000" y="5130800"/>
            <a:ext cx="4470400" cy="508000"/>
          </a:xfrm>
          <a:prstGeom prst="rect">
            <a:avLst/>
          </a:prstGeom>
          <a:noFill/>
        </p:spPr>
        <p:txBody>
          <a:bodyPr wrap="square" lIns="0" rIns="0" tIns="0" bIns="0">
            <a:spAutoFit/>
          </a:bodyPr>
          <a:lstStyle/>
          <a:p>
            <a:r>
              <a:rPr sz="1150" b="0">
                <a:solidFill>
                  <a:srgbClr val="5D6675"/>
                </a:solidFill>
                <a:latin typeface="Arial"/>
              </a:rPr>
              <a:t>EURAFRIC Information</a:t>
            </a:r>
          </a:p>
        </p:txBody>
      </p:sp>
      <p:sp>
        <p:nvSpPr>
          <p:cNvPr id="12" name="TextBox 11"/>
          <p:cNvSpPr txBox="1"/>
          <p:nvPr/>
        </p:nvSpPr>
        <p:spPr>
          <a:xfrm>
            <a:off x="609600" y="5969000"/>
            <a:ext cx="6350000" cy="254000"/>
          </a:xfrm>
          <a:prstGeom prst="rect">
            <a:avLst/>
          </a:prstGeom>
          <a:noFill/>
        </p:spPr>
        <p:txBody>
          <a:bodyPr wrap="square" lIns="0" rIns="0" tIns="0" bIns="0">
            <a:spAutoFit/>
          </a:bodyPr>
          <a:lstStyle/>
          <a:p>
            <a:r>
              <a:rPr sz="1100" b="0">
                <a:solidFill>
                  <a:srgbClr val="5D6675"/>
                </a:solidFill>
                <a:latin typeface="Arial"/>
              </a:rPr>
              <a:t>Soutenance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FEUILLE DE ROUTE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Quatre temps, une seule question</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02</a:t>
            </a:r>
          </a:p>
        </p:txBody>
      </p:sp>
      <p:sp>
        <p:nvSpPr>
          <p:cNvPr id="5" name="Rounded Rectangle 4"/>
          <p:cNvSpPr/>
          <p:nvPr/>
        </p:nvSpPr>
        <p:spPr>
          <a:xfrm>
            <a:off x="609600" y="1727200"/>
            <a:ext cx="2540000" cy="381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57400"/>
            <a:ext cx="762000" cy="584200"/>
          </a:xfrm>
          <a:prstGeom prst="rect">
            <a:avLst/>
          </a:prstGeom>
          <a:noFill/>
        </p:spPr>
        <p:txBody>
          <a:bodyPr wrap="square" lIns="0" rIns="0" tIns="0" bIns="0">
            <a:spAutoFit/>
          </a:bodyPr>
          <a:lstStyle/>
          <a:p>
            <a:r>
              <a:rPr sz="3400" b="1">
                <a:solidFill>
                  <a:srgbClr val="1B3A6B"/>
                </a:solidFill>
                <a:latin typeface="Arial"/>
              </a:rPr>
              <a:t>1</a:t>
            </a:r>
          </a:p>
        </p:txBody>
      </p:sp>
      <p:sp>
        <p:nvSpPr>
          <p:cNvPr id="7" name="TextBox 6"/>
          <p:cNvSpPr txBox="1"/>
          <p:nvPr/>
        </p:nvSpPr>
        <p:spPr>
          <a:xfrm>
            <a:off x="863600" y="2794000"/>
            <a:ext cx="2032000" cy="304800"/>
          </a:xfrm>
          <a:prstGeom prst="rect">
            <a:avLst/>
          </a:prstGeom>
          <a:noFill/>
        </p:spPr>
        <p:txBody>
          <a:bodyPr wrap="square" lIns="0" rIns="0" tIns="0" bIns="0">
            <a:spAutoFit/>
          </a:bodyPr>
          <a:lstStyle/>
          <a:p>
            <a:r>
              <a:rPr sz="1500" b="1">
                <a:solidFill>
                  <a:srgbClr val="111827"/>
                </a:solidFill>
                <a:latin typeface="Arial"/>
              </a:rPr>
              <a:t>Le vocabulaire</a:t>
            </a:r>
          </a:p>
        </p:txBody>
      </p:sp>
      <p:sp>
        <p:nvSpPr>
          <p:cNvPr id="8" name="TextBox 7"/>
          <p:cNvSpPr txBox="1"/>
          <p:nvPr/>
        </p:nvSpPr>
        <p:spPr>
          <a:xfrm>
            <a:off x="863600" y="3276600"/>
            <a:ext cx="2133600" cy="1905000"/>
          </a:xfrm>
          <a:prstGeom prst="rect">
            <a:avLst/>
          </a:prstGeom>
          <a:noFill/>
        </p:spPr>
        <p:txBody>
          <a:bodyPr wrap="square" lIns="0" rIns="0" tIns="0" bIns="0">
            <a:spAutoFit/>
          </a:bodyPr>
          <a:lstStyle/>
          <a:p>
            <a:pPr>
              <a:lnSpc>
                <a:spcPct val="145000"/>
              </a:lnSpc>
            </a:pPr>
            <a:r>
              <a:rPr sz="1150" b="0">
                <a:solidFill>
                  <a:srgbClr val="5D6675"/>
                </a:solidFill>
                <a:latin typeface="Arial"/>
              </a:rPr>
              <a:t>Portefeuille, risque, Sharpe,</a:t>
            </a:r>
          </a:p>
          <a:p>
            <a:pPr>
              <a:lnSpc>
                <a:spcPct val="145000"/>
              </a:lnSpc>
            </a:pPr>
            <a:r>
              <a:rPr sz="1150" b="0">
                <a:solidFill>
                  <a:srgbClr val="5D6675"/>
                </a:solidFill>
                <a:latin typeface="Arial"/>
              </a:rPr>
              <a:t>backtest : tout ce qu’il faut</a:t>
            </a:r>
          </a:p>
          <a:p>
            <a:pPr>
              <a:lnSpc>
                <a:spcPct val="145000"/>
              </a:lnSpc>
            </a:pPr>
            <a:r>
              <a:rPr sz="1150" b="0">
                <a:solidFill>
                  <a:srgbClr val="5D6675"/>
                </a:solidFill>
                <a:latin typeface="Arial"/>
              </a:rPr>
              <a:t>pour suivre la suite.</a:t>
            </a:r>
          </a:p>
        </p:txBody>
      </p:sp>
      <p:sp>
        <p:nvSpPr>
          <p:cNvPr id="9" name="Rounded Rectangle 8"/>
          <p:cNvSpPr/>
          <p:nvPr/>
        </p:nvSpPr>
        <p:spPr>
          <a:xfrm>
            <a:off x="3403600" y="1727200"/>
            <a:ext cx="2540000" cy="381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2057400"/>
            <a:ext cx="762000" cy="584200"/>
          </a:xfrm>
          <a:prstGeom prst="rect">
            <a:avLst/>
          </a:prstGeom>
          <a:noFill/>
        </p:spPr>
        <p:txBody>
          <a:bodyPr wrap="square" lIns="0" rIns="0" tIns="0" bIns="0">
            <a:spAutoFit/>
          </a:bodyPr>
          <a:lstStyle/>
          <a:p>
            <a:r>
              <a:rPr sz="3400" b="1">
                <a:solidFill>
                  <a:srgbClr val="B7433E"/>
                </a:solidFill>
                <a:latin typeface="Arial"/>
              </a:rPr>
              <a:t>2</a:t>
            </a:r>
          </a:p>
        </p:txBody>
      </p:sp>
      <p:sp>
        <p:nvSpPr>
          <p:cNvPr id="11" name="TextBox 10"/>
          <p:cNvSpPr txBox="1"/>
          <p:nvPr/>
        </p:nvSpPr>
        <p:spPr>
          <a:xfrm>
            <a:off x="3657600" y="2794000"/>
            <a:ext cx="2032000" cy="304800"/>
          </a:xfrm>
          <a:prstGeom prst="rect">
            <a:avLst/>
          </a:prstGeom>
          <a:noFill/>
        </p:spPr>
        <p:txBody>
          <a:bodyPr wrap="square" lIns="0" rIns="0" tIns="0" bIns="0">
            <a:spAutoFit/>
          </a:bodyPr>
          <a:lstStyle/>
          <a:p>
            <a:r>
              <a:rPr sz="1500" b="1">
                <a:solidFill>
                  <a:srgbClr val="111827"/>
                </a:solidFill>
                <a:latin typeface="Arial"/>
              </a:rPr>
              <a:t>Le problème</a:t>
            </a:r>
          </a:p>
        </p:txBody>
      </p:sp>
      <p:sp>
        <p:nvSpPr>
          <p:cNvPr id="12" name="TextBox 11"/>
          <p:cNvSpPr txBox="1"/>
          <p:nvPr/>
        </p:nvSpPr>
        <p:spPr>
          <a:xfrm>
            <a:off x="3657600" y="3276600"/>
            <a:ext cx="2133600" cy="1905000"/>
          </a:xfrm>
          <a:prstGeom prst="rect">
            <a:avLst/>
          </a:prstGeom>
          <a:noFill/>
        </p:spPr>
        <p:txBody>
          <a:bodyPr wrap="square" lIns="0" rIns="0" tIns="0" bIns="0">
            <a:spAutoFit/>
          </a:bodyPr>
          <a:lstStyle/>
          <a:p>
            <a:pPr>
              <a:lnSpc>
                <a:spcPct val="145000"/>
              </a:lnSpc>
            </a:pPr>
            <a:r>
              <a:rPr sz="1150" b="0">
                <a:solidFill>
                  <a:srgbClr val="5D6675"/>
                </a:solidFill>
                <a:latin typeface="Arial"/>
              </a:rPr>
              <a:t>Pourquoi répartir un capital</a:t>
            </a:r>
          </a:p>
          <a:p>
            <a:pPr>
              <a:lnSpc>
                <a:spcPct val="145000"/>
              </a:lnSpc>
            </a:pPr>
            <a:r>
              <a:rPr sz="1150" b="0">
                <a:solidFill>
                  <a:srgbClr val="5D6675"/>
                </a:solidFill>
                <a:latin typeface="Arial"/>
              </a:rPr>
              <a:t>est difficile — et pourquoi</a:t>
            </a:r>
          </a:p>
          <a:p>
            <a:pPr>
              <a:lnSpc>
                <a:spcPct val="145000"/>
              </a:lnSpc>
            </a:pPr>
            <a:r>
              <a:rPr sz="1150" b="0">
                <a:solidFill>
                  <a:srgbClr val="5D6675"/>
                </a:solidFill>
                <a:latin typeface="Arial"/>
              </a:rPr>
              <a:t>un bon backtest peut mentir.</a:t>
            </a:r>
          </a:p>
        </p:txBody>
      </p:sp>
      <p:sp>
        <p:nvSpPr>
          <p:cNvPr id="13" name="Rounded Rectangle 12"/>
          <p:cNvSpPr/>
          <p:nvPr/>
        </p:nvSpPr>
        <p:spPr>
          <a:xfrm>
            <a:off x="6197600" y="1727200"/>
            <a:ext cx="2540000" cy="381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1600" y="2057400"/>
            <a:ext cx="762000" cy="584200"/>
          </a:xfrm>
          <a:prstGeom prst="rect">
            <a:avLst/>
          </a:prstGeom>
          <a:noFill/>
        </p:spPr>
        <p:txBody>
          <a:bodyPr wrap="square" lIns="0" rIns="0" tIns="0" bIns="0">
            <a:spAutoFit/>
          </a:bodyPr>
          <a:lstStyle/>
          <a:p>
            <a:r>
              <a:rPr sz="3400" b="1">
                <a:solidFill>
                  <a:srgbClr val="0F766E"/>
                </a:solidFill>
                <a:latin typeface="Arial"/>
              </a:rPr>
              <a:t>3</a:t>
            </a:r>
          </a:p>
        </p:txBody>
      </p:sp>
      <p:sp>
        <p:nvSpPr>
          <p:cNvPr id="15" name="TextBox 14"/>
          <p:cNvSpPr txBox="1"/>
          <p:nvPr/>
        </p:nvSpPr>
        <p:spPr>
          <a:xfrm>
            <a:off x="6451600" y="2794000"/>
            <a:ext cx="2032000" cy="304800"/>
          </a:xfrm>
          <a:prstGeom prst="rect">
            <a:avLst/>
          </a:prstGeom>
          <a:noFill/>
        </p:spPr>
        <p:txBody>
          <a:bodyPr wrap="square" lIns="0" rIns="0" tIns="0" bIns="0">
            <a:spAutoFit/>
          </a:bodyPr>
          <a:lstStyle/>
          <a:p>
            <a:r>
              <a:rPr sz="1500" b="1">
                <a:solidFill>
                  <a:srgbClr val="111827"/>
                </a:solidFill>
                <a:latin typeface="Arial"/>
              </a:rPr>
              <a:t>Notre réponse</a:t>
            </a:r>
          </a:p>
        </p:txBody>
      </p:sp>
      <p:sp>
        <p:nvSpPr>
          <p:cNvPr id="16" name="TextBox 15"/>
          <p:cNvSpPr txBox="1"/>
          <p:nvPr/>
        </p:nvSpPr>
        <p:spPr>
          <a:xfrm>
            <a:off x="6451600" y="3276600"/>
            <a:ext cx="2133600" cy="1905000"/>
          </a:xfrm>
          <a:prstGeom prst="rect">
            <a:avLst/>
          </a:prstGeom>
          <a:noFill/>
        </p:spPr>
        <p:txBody>
          <a:bodyPr wrap="square" lIns="0" rIns="0" tIns="0" bIns="0">
            <a:spAutoFit/>
          </a:bodyPr>
          <a:lstStyle/>
          <a:p>
            <a:pPr>
              <a:lnSpc>
                <a:spcPct val="145000"/>
              </a:lnSpc>
            </a:pPr>
            <a:r>
              <a:rPr sz="1150" b="0">
                <a:solidFill>
                  <a:srgbClr val="5D6675"/>
                </a:solidFill>
                <a:latin typeface="Arial"/>
              </a:rPr>
              <a:t>Une chaîne complète : données,</a:t>
            </a:r>
          </a:p>
          <a:p>
            <a:pPr>
              <a:lnSpc>
                <a:spcPct val="145000"/>
              </a:lnSpc>
            </a:pPr>
            <a:r>
              <a:rPr sz="1150" b="0">
                <a:solidFill>
                  <a:srgbClr val="5D6675"/>
                </a:solidFill>
                <a:latin typeface="Arial"/>
              </a:rPr>
              <a:t>modèles, épreuve temporelle,</a:t>
            </a:r>
          </a:p>
          <a:p>
            <a:pPr>
              <a:lnSpc>
                <a:spcPct val="145000"/>
              </a:lnSpc>
            </a:pPr>
            <a:r>
              <a:rPr sz="1150" b="0">
                <a:solidFill>
                  <a:srgbClr val="5D6675"/>
                </a:solidFill>
                <a:latin typeface="Arial"/>
              </a:rPr>
              <a:t>tests statistiques.</a:t>
            </a:r>
          </a:p>
        </p:txBody>
      </p:sp>
      <p:sp>
        <p:nvSpPr>
          <p:cNvPr id="17" name="Rounded Rectangle 16"/>
          <p:cNvSpPr/>
          <p:nvPr/>
        </p:nvSpPr>
        <p:spPr>
          <a:xfrm>
            <a:off x="8991600" y="1727200"/>
            <a:ext cx="2540000" cy="381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45600" y="2057400"/>
            <a:ext cx="762000" cy="584200"/>
          </a:xfrm>
          <a:prstGeom prst="rect">
            <a:avLst/>
          </a:prstGeom>
          <a:noFill/>
        </p:spPr>
        <p:txBody>
          <a:bodyPr wrap="square" lIns="0" rIns="0" tIns="0" bIns="0">
            <a:spAutoFit/>
          </a:bodyPr>
          <a:lstStyle/>
          <a:p>
            <a:r>
              <a:rPr sz="3400" b="1">
                <a:solidFill>
                  <a:srgbClr val="A86812"/>
                </a:solidFill>
                <a:latin typeface="Arial"/>
              </a:rPr>
              <a:t>4</a:t>
            </a:r>
          </a:p>
        </p:txBody>
      </p:sp>
      <p:sp>
        <p:nvSpPr>
          <p:cNvPr id="19" name="TextBox 18"/>
          <p:cNvSpPr txBox="1"/>
          <p:nvPr/>
        </p:nvSpPr>
        <p:spPr>
          <a:xfrm>
            <a:off x="9245600" y="2794000"/>
            <a:ext cx="2032000" cy="304800"/>
          </a:xfrm>
          <a:prstGeom prst="rect">
            <a:avLst/>
          </a:prstGeom>
          <a:noFill/>
        </p:spPr>
        <p:txBody>
          <a:bodyPr wrap="square" lIns="0" rIns="0" tIns="0" bIns="0">
            <a:spAutoFit/>
          </a:bodyPr>
          <a:lstStyle/>
          <a:p>
            <a:r>
              <a:rPr sz="1500" b="1">
                <a:solidFill>
                  <a:srgbClr val="111827"/>
                </a:solidFill>
                <a:latin typeface="Arial"/>
              </a:rPr>
              <a:t>Les résultats</a:t>
            </a:r>
          </a:p>
        </p:txBody>
      </p:sp>
      <p:sp>
        <p:nvSpPr>
          <p:cNvPr id="20" name="TextBox 19"/>
          <p:cNvSpPr txBox="1"/>
          <p:nvPr/>
        </p:nvSpPr>
        <p:spPr>
          <a:xfrm>
            <a:off x="9245600" y="3276600"/>
            <a:ext cx="2133600" cy="1905000"/>
          </a:xfrm>
          <a:prstGeom prst="rect">
            <a:avLst/>
          </a:prstGeom>
          <a:noFill/>
        </p:spPr>
        <p:txBody>
          <a:bodyPr wrap="square" lIns="0" rIns="0" tIns="0" bIns="0">
            <a:spAutoFit/>
          </a:bodyPr>
          <a:lstStyle/>
          <a:p>
            <a:pPr>
              <a:lnSpc>
                <a:spcPct val="145000"/>
              </a:lnSpc>
            </a:pPr>
            <a:r>
              <a:rPr sz="1150" b="0">
                <a:solidFill>
                  <a:srgbClr val="5D6675"/>
                </a:solidFill>
                <a:latin typeface="Arial"/>
              </a:rPr>
              <a:t>Ce que le système détecte,</a:t>
            </a:r>
          </a:p>
          <a:p>
            <a:pPr>
              <a:lnSpc>
                <a:spcPct val="145000"/>
              </a:lnSpc>
            </a:pPr>
            <a:r>
              <a:rPr sz="1150" b="0">
                <a:solidFill>
                  <a:srgbClr val="5D6675"/>
                </a:solidFill>
                <a:latin typeface="Arial"/>
              </a:rPr>
              <a:t>ce qui améliore vraiment,</a:t>
            </a:r>
          </a:p>
          <a:p>
            <a:pPr>
              <a:lnSpc>
                <a:spcPct val="145000"/>
              </a:lnSpc>
            </a:pPr>
            <a:r>
              <a:rPr sz="1150" b="0">
                <a:solidFill>
                  <a:srgbClr val="5D6675"/>
                </a:solidFill>
                <a:latin typeface="Arial"/>
              </a:rPr>
              <a:t>et ce qui est livré.</a:t>
            </a:r>
          </a:p>
        </p:txBody>
      </p:sp>
      <p:sp>
        <p:nvSpPr>
          <p:cNvPr id="21" name="TextBox 20"/>
          <p:cNvSpPr txBox="1"/>
          <p:nvPr/>
        </p:nvSpPr>
        <p:spPr>
          <a:xfrm>
            <a:off x="609600" y="59436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Le fil conducteur : une décision d’investissement n’a de valeur que si l’on peut prouver qu’elle n’est pas le fruit du hasard.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VOCABULAIRE · 1/4</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Un portefeuille, une allocation, un rééquilibrage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03</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Le système ne choisit pas « quand acheter » : il choisit des pourcentages, tous les mois.</a:t>
            </a:r>
          </a:p>
        </p:txBody>
      </p:sp>
      <p:pic>
        <p:nvPicPr>
          <p:cNvPr id="6" name="Picture 5" descr="allocation_expliquee.png"/>
          <p:cNvPicPr>
            <a:picLocks noChangeAspect="1"/>
          </p:cNvPicPr>
          <p:nvPr/>
        </p:nvPicPr>
        <p:blipFill>
          <a:blip r:embed="rId2"/>
          <a:stretch>
            <a:fillRect/>
          </a:stretch>
        </p:blipFill>
        <p:spPr>
          <a:xfrm>
            <a:off x="609600" y="1519356"/>
            <a:ext cx="10972800" cy="4022487"/>
          </a:xfrm>
          <a:prstGeom prst="rect">
            <a:avLst/>
          </a:prstGeom>
        </p:spPr>
      </p:pic>
      <p:sp>
        <p:nvSpPr>
          <p:cNvPr id="7" name="Rounded Rectangle 6"/>
          <p:cNvSpPr/>
          <p:nvPr/>
        </p:nvSpPr>
        <p:spPr>
          <a:xfrm>
            <a:off x="609600" y="5740400"/>
            <a:ext cx="10972800" cy="7366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5918200"/>
            <a:ext cx="10414000" cy="508000"/>
          </a:xfrm>
          <a:prstGeom prst="rect">
            <a:avLst/>
          </a:prstGeom>
          <a:noFill/>
        </p:spPr>
        <p:txBody>
          <a:bodyPr wrap="square" lIns="0" rIns="0" tIns="0" bIns="0">
            <a:spAutoFit/>
          </a:bodyPr>
          <a:lstStyle/>
          <a:p>
            <a:pPr>
              <a:lnSpc>
                <a:spcPct val="125000"/>
              </a:lnSpc>
            </a:pPr>
            <a:r>
              <a:rPr sz="1250" b="1">
                <a:solidFill>
                  <a:srgbClr val="111827"/>
                </a:solidFill>
                <a:latin typeface="Arial"/>
              </a:rPr>
              <a:t>À retenir : la sortie du modèle est un vecteur de poids. Tout le reste — performance, risque, frais — en découle mécaniquement.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VOCABULAIRE · 2/4</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Le ratio de Sharpe : la note qui compte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04</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Gagner beaucoup en dormant mal ne vaut pas gagner autant tranquillement.</a:t>
            </a:r>
          </a:p>
        </p:txBody>
      </p:sp>
      <p:pic>
        <p:nvPicPr>
          <p:cNvPr id="6" name="Picture 5" descr="sharpe_explique.png"/>
          <p:cNvPicPr>
            <a:picLocks noChangeAspect="1"/>
          </p:cNvPicPr>
          <p:nvPr/>
        </p:nvPicPr>
        <p:blipFill>
          <a:blip r:embed="rId2"/>
          <a:stretch>
            <a:fillRect/>
          </a:stretch>
        </p:blipFill>
        <p:spPr>
          <a:xfrm>
            <a:off x="609600" y="1862038"/>
            <a:ext cx="7620000" cy="3591123"/>
          </a:xfrm>
          <a:prstGeom prst="rect">
            <a:avLst/>
          </a:prstGeom>
        </p:spPr>
      </p:pic>
      <p:sp>
        <p:nvSpPr>
          <p:cNvPr id="7" name="Rounded Rectangle 6"/>
          <p:cNvSpPr/>
          <p:nvPr/>
        </p:nvSpPr>
        <p:spPr>
          <a:xfrm>
            <a:off x="8483600" y="1651000"/>
            <a:ext cx="3098800" cy="1905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12200" y="18796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2200" y="2057400"/>
            <a:ext cx="2641600" cy="279400"/>
          </a:xfrm>
          <a:prstGeom prst="rect">
            <a:avLst/>
          </a:prstGeom>
          <a:noFill/>
        </p:spPr>
        <p:txBody>
          <a:bodyPr wrap="square" lIns="0" rIns="0" tIns="0" bIns="0">
            <a:spAutoFit/>
          </a:bodyPr>
          <a:lstStyle/>
          <a:p>
            <a:r>
              <a:rPr sz="1300" b="1">
                <a:solidFill>
                  <a:srgbClr val="0F766E"/>
                </a:solidFill>
                <a:latin typeface="Arial"/>
              </a:rPr>
              <a:t>Rendement</a:t>
            </a:r>
          </a:p>
        </p:txBody>
      </p:sp>
      <p:sp>
        <p:nvSpPr>
          <p:cNvPr id="10" name="TextBox 9"/>
          <p:cNvSpPr txBox="1"/>
          <p:nvPr/>
        </p:nvSpPr>
        <p:spPr>
          <a:xfrm>
            <a:off x="8712200" y="2387600"/>
            <a:ext cx="2641600" cy="965200"/>
          </a:xfrm>
          <a:prstGeom prst="rect">
            <a:avLst/>
          </a:prstGeom>
          <a:noFill/>
        </p:spPr>
        <p:txBody>
          <a:bodyPr wrap="square" lIns="0" rIns="0" tIns="0" bIns="0">
            <a:spAutoFit/>
          </a:bodyPr>
          <a:lstStyle/>
          <a:p>
            <a:pPr>
              <a:lnSpc>
                <a:spcPct val="132000"/>
              </a:lnSpc>
            </a:pPr>
            <a:r>
              <a:rPr sz="1150" b="0">
                <a:solidFill>
                  <a:srgbClr val="5D6675"/>
                </a:solidFill>
                <a:latin typeface="Arial"/>
              </a:rPr>
              <a:t>Ce que le portefeuille rapporte,</a:t>
            </a:r>
          </a:p>
          <a:p>
            <a:pPr>
              <a:lnSpc>
                <a:spcPct val="132000"/>
              </a:lnSpc>
            </a:pPr>
            <a:r>
              <a:rPr sz="1150" b="0">
                <a:solidFill>
                  <a:srgbClr val="5D6675"/>
                </a:solidFill>
                <a:latin typeface="Arial"/>
              </a:rPr>
              <a:t>en pourcentage, sur une année.</a:t>
            </a:r>
          </a:p>
        </p:txBody>
      </p:sp>
      <p:sp>
        <p:nvSpPr>
          <p:cNvPr id="11" name="Rounded Rectangle 10"/>
          <p:cNvSpPr/>
          <p:nvPr/>
        </p:nvSpPr>
        <p:spPr>
          <a:xfrm>
            <a:off x="8483600" y="3708400"/>
            <a:ext cx="3098800" cy="2108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200" y="3937000"/>
            <a:ext cx="431800" cy="38100"/>
          </a:xfrm>
          <a:prstGeom prst="rect">
            <a:avLst/>
          </a:prstGeom>
          <a:solidFill>
            <a:srgbClr val="B74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2200" y="4114800"/>
            <a:ext cx="2641600" cy="279400"/>
          </a:xfrm>
          <a:prstGeom prst="rect">
            <a:avLst/>
          </a:prstGeom>
          <a:noFill/>
        </p:spPr>
        <p:txBody>
          <a:bodyPr wrap="square" lIns="0" rIns="0" tIns="0" bIns="0">
            <a:spAutoFit/>
          </a:bodyPr>
          <a:lstStyle/>
          <a:p>
            <a:r>
              <a:rPr sz="1300" b="1">
                <a:solidFill>
                  <a:srgbClr val="B7433E"/>
                </a:solidFill>
                <a:latin typeface="Arial"/>
              </a:rPr>
              <a:t>Risque (volatilité)</a:t>
            </a:r>
          </a:p>
        </p:txBody>
      </p:sp>
      <p:sp>
        <p:nvSpPr>
          <p:cNvPr id="14" name="TextBox 13"/>
          <p:cNvSpPr txBox="1"/>
          <p:nvPr/>
        </p:nvSpPr>
        <p:spPr>
          <a:xfrm>
            <a:off x="8712200" y="4445000"/>
            <a:ext cx="2641600" cy="1168400"/>
          </a:xfrm>
          <a:prstGeom prst="rect">
            <a:avLst/>
          </a:prstGeom>
          <a:noFill/>
        </p:spPr>
        <p:txBody>
          <a:bodyPr wrap="square" lIns="0" rIns="0" tIns="0" bIns="0">
            <a:spAutoFit/>
          </a:bodyPr>
          <a:lstStyle/>
          <a:p>
            <a:pPr>
              <a:lnSpc>
                <a:spcPct val="132000"/>
              </a:lnSpc>
            </a:pPr>
            <a:r>
              <a:rPr sz="1150" b="0">
                <a:solidFill>
                  <a:srgbClr val="5D6675"/>
                </a:solidFill>
                <a:latin typeface="Arial"/>
              </a:rPr>
              <a:t>L’amplitude des secousses :</a:t>
            </a:r>
          </a:p>
          <a:p>
            <a:pPr>
              <a:lnSpc>
                <a:spcPct val="132000"/>
              </a:lnSpc>
            </a:pPr>
            <a:r>
              <a:rPr sz="1150" b="0">
                <a:solidFill>
                  <a:srgbClr val="5D6675"/>
                </a:solidFill>
                <a:latin typeface="Arial"/>
              </a:rPr>
              <a:t>plus la courbe tremble,</a:t>
            </a:r>
          </a:p>
          <a:p>
            <a:pPr>
              <a:lnSpc>
                <a:spcPct val="132000"/>
              </a:lnSpc>
            </a:pPr>
            <a:r>
              <a:rPr sz="1150" b="0">
                <a:solidFill>
                  <a:srgbClr val="5D6675"/>
                </a:solidFill>
                <a:latin typeface="Arial"/>
              </a:rPr>
              <a:t>plus le risque est élevé.</a:t>
            </a:r>
          </a:p>
        </p:txBody>
      </p:sp>
      <p:sp>
        <p:nvSpPr>
          <p:cNvPr id="15" name="TextBox 14"/>
          <p:cNvSpPr txBox="1"/>
          <p:nvPr/>
        </p:nvSpPr>
        <p:spPr>
          <a:xfrm>
            <a:off x="609600" y="60706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Dans toute la présentation, les Sharpe sont nets de frais de transaction et calculés hors échantillon — sur des données que le modèle n’a jamais vues.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VOCABULAIRE · 3/4</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Markowitz : ne pas mettre tous ses œufs au même endroit</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05</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Prix Nobel 1990. L’idée : combiner des actifs qui ne bougent pas ensemble réduit le risque sans sacrifier le rendement.</a:t>
            </a:r>
          </a:p>
        </p:txBody>
      </p:sp>
      <p:pic>
        <p:nvPicPr>
          <p:cNvPr id="6" name="Picture 5" descr="frontiere_efficiente.png"/>
          <p:cNvPicPr>
            <a:picLocks noChangeAspect="1"/>
          </p:cNvPicPr>
          <p:nvPr/>
        </p:nvPicPr>
        <p:blipFill>
          <a:blip r:embed="rId2"/>
          <a:stretch>
            <a:fillRect/>
          </a:stretch>
        </p:blipFill>
        <p:spPr>
          <a:xfrm>
            <a:off x="781229" y="1498600"/>
            <a:ext cx="6768741" cy="4444999"/>
          </a:xfrm>
          <a:prstGeom prst="rect">
            <a:avLst/>
          </a:prstGeom>
        </p:spPr>
      </p:pic>
      <p:sp>
        <p:nvSpPr>
          <p:cNvPr id="7" name="Rounded Rectangle 6"/>
          <p:cNvSpPr/>
          <p:nvPr/>
        </p:nvSpPr>
        <p:spPr>
          <a:xfrm>
            <a:off x="7975600" y="1600200"/>
            <a:ext cx="3606800" cy="1981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04200" y="18288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4200" y="2006600"/>
            <a:ext cx="3149600" cy="279400"/>
          </a:xfrm>
          <a:prstGeom prst="rect">
            <a:avLst/>
          </a:prstGeom>
          <a:noFill/>
        </p:spPr>
        <p:txBody>
          <a:bodyPr wrap="square" lIns="0" rIns="0" tIns="0" bIns="0">
            <a:spAutoFit/>
          </a:bodyPr>
          <a:lstStyle/>
          <a:p>
            <a:r>
              <a:rPr sz="1300" b="1">
                <a:solidFill>
                  <a:srgbClr val="1B3A6B"/>
                </a:solidFill>
                <a:latin typeface="Arial"/>
              </a:rPr>
              <a:t>La frontière efficiente</a:t>
            </a:r>
          </a:p>
        </p:txBody>
      </p:sp>
      <p:sp>
        <p:nvSpPr>
          <p:cNvPr id="10" name="TextBox 9"/>
          <p:cNvSpPr txBox="1"/>
          <p:nvPr/>
        </p:nvSpPr>
        <p:spPr>
          <a:xfrm>
            <a:off x="8204200" y="2336800"/>
            <a:ext cx="3149600" cy="1041400"/>
          </a:xfrm>
          <a:prstGeom prst="rect">
            <a:avLst/>
          </a:prstGeom>
          <a:noFill/>
        </p:spPr>
        <p:txBody>
          <a:bodyPr wrap="square" lIns="0" rIns="0" tIns="0" bIns="0">
            <a:spAutoFit/>
          </a:bodyPr>
          <a:lstStyle/>
          <a:p>
            <a:pPr>
              <a:lnSpc>
                <a:spcPct val="132000"/>
              </a:lnSpc>
            </a:pPr>
            <a:r>
              <a:rPr sz="1150" b="0">
                <a:solidFill>
                  <a:srgbClr val="5D6675"/>
                </a:solidFill>
                <a:latin typeface="Arial"/>
              </a:rPr>
              <a:t>Chaque point gris est un portefeuille possible. La courbe bleue rassemble les meilleurs : à risque donné, aucun ne rapporte plus.</a:t>
            </a:r>
          </a:p>
        </p:txBody>
      </p:sp>
      <p:sp>
        <p:nvSpPr>
          <p:cNvPr id="11" name="Rounded Rectangle 10"/>
          <p:cNvSpPr/>
          <p:nvPr/>
        </p:nvSpPr>
        <p:spPr>
          <a:xfrm>
            <a:off x="7975600" y="3759200"/>
            <a:ext cx="3606800" cy="2184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04200" y="3987800"/>
            <a:ext cx="431800" cy="38100"/>
          </a:xfrm>
          <a:prstGeom prst="rect">
            <a:avLst/>
          </a:prstGeom>
          <a:solidFill>
            <a:srgbClr val="A86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04200" y="4165600"/>
            <a:ext cx="3149600" cy="279400"/>
          </a:xfrm>
          <a:prstGeom prst="rect">
            <a:avLst/>
          </a:prstGeom>
          <a:noFill/>
        </p:spPr>
        <p:txBody>
          <a:bodyPr wrap="square" lIns="0" rIns="0" tIns="0" bIns="0">
            <a:spAutoFit/>
          </a:bodyPr>
          <a:lstStyle/>
          <a:p>
            <a:r>
              <a:rPr sz="1300" b="1">
                <a:solidFill>
                  <a:srgbClr val="A86812"/>
                </a:solidFill>
                <a:latin typeface="Arial"/>
              </a:rPr>
              <a:t>Ce dont le modèle a besoin</a:t>
            </a:r>
          </a:p>
        </p:txBody>
      </p:sp>
      <p:sp>
        <p:nvSpPr>
          <p:cNvPr id="14" name="TextBox 13"/>
          <p:cNvSpPr txBox="1"/>
          <p:nvPr/>
        </p:nvSpPr>
        <p:spPr>
          <a:xfrm>
            <a:off x="8204200" y="4495800"/>
            <a:ext cx="3149600" cy="1244600"/>
          </a:xfrm>
          <a:prstGeom prst="rect">
            <a:avLst/>
          </a:prstGeom>
          <a:noFill/>
        </p:spPr>
        <p:txBody>
          <a:bodyPr wrap="square" lIns="0" rIns="0" tIns="0" bIns="0">
            <a:spAutoFit/>
          </a:bodyPr>
          <a:lstStyle/>
          <a:p>
            <a:pPr>
              <a:lnSpc>
                <a:spcPct val="132000"/>
              </a:lnSpc>
            </a:pPr>
            <a:r>
              <a:rPr sz="1150" b="0">
                <a:solidFill>
                  <a:srgbClr val="5D6675"/>
                </a:solidFill>
                <a:latin typeface="Arial"/>
              </a:rPr>
              <a:t>Le rendement attendu de chaque actif, et la façon dont ils bougent les uns par rapport aux autres (la « covariance »).</a:t>
            </a:r>
          </a:p>
          <a:p>
            <a:pPr>
              <a:lnSpc>
                <a:spcPct val="132000"/>
              </a:lnSpc>
            </a:pPr>
            <a:r>
              <a:rPr sz="1150" b="0">
                <a:solidFill>
                  <a:srgbClr val="5D6675"/>
                </a:solidFill>
                <a:latin typeface="Arial"/>
              </a:rPr>
              <a:t>Ces deux entrées sont estimées — donc incertaines.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VOCABULAIRE · 4/4</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Backtest, fuite de données, surapprentissage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06</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Les trois mots qui décident si un résultat de finance quantitative vaut quelque chose.</a:t>
            </a:r>
          </a:p>
        </p:txBody>
      </p:sp>
      <p:sp>
        <p:nvSpPr>
          <p:cNvPr id="6" name="Rounded Rectangle 5"/>
          <p:cNvSpPr/>
          <p:nvPr/>
        </p:nvSpPr>
        <p:spPr>
          <a:xfrm>
            <a:off x="609600" y="1625600"/>
            <a:ext cx="5334000" cy="2006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8200" y="18542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2032000"/>
            <a:ext cx="4876800" cy="279400"/>
          </a:xfrm>
          <a:prstGeom prst="rect">
            <a:avLst/>
          </a:prstGeom>
          <a:noFill/>
        </p:spPr>
        <p:txBody>
          <a:bodyPr wrap="square" lIns="0" rIns="0" tIns="0" bIns="0">
            <a:spAutoFit/>
          </a:bodyPr>
          <a:lstStyle/>
          <a:p>
            <a:r>
              <a:rPr sz="1300" b="1">
                <a:solidFill>
                  <a:srgbClr val="1B3A6B"/>
                </a:solidFill>
                <a:latin typeface="Arial"/>
              </a:rPr>
              <a:t>Backtest</a:t>
            </a:r>
          </a:p>
        </p:txBody>
      </p:sp>
      <p:sp>
        <p:nvSpPr>
          <p:cNvPr id="9" name="TextBox 8"/>
          <p:cNvSpPr txBox="1"/>
          <p:nvPr/>
        </p:nvSpPr>
        <p:spPr>
          <a:xfrm>
            <a:off x="838200" y="2362200"/>
            <a:ext cx="4876800" cy="1066800"/>
          </a:xfrm>
          <a:prstGeom prst="rect">
            <a:avLst/>
          </a:prstGeom>
          <a:noFill/>
        </p:spPr>
        <p:txBody>
          <a:bodyPr wrap="square" lIns="0" rIns="0" tIns="0" bIns="0">
            <a:spAutoFit/>
          </a:bodyPr>
          <a:lstStyle/>
          <a:p>
            <a:pPr>
              <a:lnSpc>
                <a:spcPct val="132000"/>
              </a:lnSpc>
            </a:pPr>
            <a:r>
              <a:rPr sz="1200" b="0">
                <a:solidFill>
                  <a:srgbClr val="5D6675"/>
                </a:solidFill>
                <a:latin typeface="Arial"/>
              </a:rPr>
              <a:t>Rejouer l’histoire : on simule la stratégie sur le passé et on regarde ce qu’elle aurait gagné.</a:t>
            </a:r>
          </a:p>
        </p:txBody>
      </p:sp>
      <p:sp>
        <p:nvSpPr>
          <p:cNvPr id="10" name="Rounded Rectangle 9"/>
          <p:cNvSpPr/>
          <p:nvPr/>
        </p:nvSpPr>
        <p:spPr>
          <a:xfrm>
            <a:off x="6248400" y="1625600"/>
            <a:ext cx="5334000" cy="2006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77000" y="1854200"/>
            <a:ext cx="431800" cy="38100"/>
          </a:xfrm>
          <a:prstGeom prst="rect">
            <a:avLst/>
          </a:prstGeom>
          <a:solidFill>
            <a:srgbClr val="B74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7000" y="2032000"/>
            <a:ext cx="4876800" cy="279400"/>
          </a:xfrm>
          <a:prstGeom prst="rect">
            <a:avLst/>
          </a:prstGeom>
          <a:noFill/>
        </p:spPr>
        <p:txBody>
          <a:bodyPr wrap="square" lIns="0" rIns="0" tIns="0" bIns="0">
            <a:spAutoFit/>
          </a:bodyPr>
          <a:lstStyle/>
          <a:p>
            <a:r>
              <a:rPr sz="1300" b="1">
                <a:solidFill>
                  <a:srgbClr val="B7433E"/>
                </a:solidFill>
                <a:latin typeface="Arial"/>
              </a:rPr>
              <a:t>Fuite de données</a:t>
            </a:r>
          </a:p>
        </p:txBody>
      </p:sp>
      <p:sp>
        <p:nvSpPr>
          <p:cNvPr id="13" name="TextBox 12"/>
          <p:cNvSpPr txBox="1"/>
          <p:nvPr/>
        </p:nvSpPr>
        <p:spPr>
          <a:xfrm>
            <a:off x="6477000" y="2362200"/>
            <a:ext cx="4876800" cy="1066800"/>
          </a:xfrm>
          <a:prstGeom prst="rect">
            <a:avLst/>
          </a:prstGeom>
          <a:noFill/>
        </p:spPr>
        <p:txBody>
          <a:bodyPr wrap="square" lIns="0" rIns="0" tIns="0" bIns="0">
            <a:spAutoFit/>
          </a:bodyPr>
          <a:lstStyle/>
          <a:p>
            <a:pPr>
              <a:lnSpc>
                <a:spcPct val="132000"/>
              </a:lnSpc>
            </a:pPr>
            <a:r>
              <a:rPr sz="1200" b="0">
                <a:solidFill>
                  <a:srgbClr val="5D6675"/>
                </a:solidFill>
                <a:latin typeface="Arial"/>
              </a:rPr>
              <a:t>Utiliser, même par accident, une information postérieure à la décision. Le backtest devient magnifique — et faux.</a:t>
            </a:r>
          </a:p>
        </p:txBody>
      </p:sp>
      <p:sp>
        <p:nvSpPr>
          <p:cNvPr id="14" name="Rounded Rectangle 13"/>
          <p:cNvSpPr/>
          <p:nvPr/>
        </p:nvSpPr>
        <p:spPr>
          <a:xfrm>
            <a:off x="609600" y="3860800"/>
            <a:ext cx="5334000" cy="2006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8200" y="4089400"/>
            <a:ext cx="431800" cy="38100"/>
          </a:xfrm>
          <a:prstGeom prst="rect">
            <a:avLst/>
          </a:prstGeom>
          <a:solidFill>
            <a:srgbClr val="A86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4267200"/>
            <a:ext cx="4876800" cy="279400"/>
          </a:xfrm>
          <a:prstGeom prst="rect">
            <a:avLst/>
          </a:prstGeom>
          <a:noFill/>
        </p:spPr>
        <p:txBody>
          <a:bodyPr wrap="square" lIns="0" rIns="0" tIns="0" bIns="0">
            <a:spAutoFit/>
          </a:bodyPr>
          <a:lstStyle/>
          <a:p>
            <a:r>
              <a:rPr sz="1300" b="1">
                <a:solidFill>
                  <a:srgbClr val="A86812"/>
                </a:solidFill>
                <a:latin typeface="Arial"/>
              </a:rPr>
              <a:t>Surapprentissage</a:t>
            </a:r>
          </a:p>
        </p:txBody>
      </p:sp>
      <p:sp>
        <p:nvSpPr>
          <p:cNvPr id="17" name="TextBox 16"/>
          <p:cNvSpPr txBox="1"/>
          <p:nvPr/>
        </p:nvSpPr>
        <p:spPr>
          <a:xfrm>
            <a:off x="838200" y="4597400"/>
            <a:ext cx="4876800" cy="1066800"/>
          </a:xfrm>
          <a:prstGeom prst="rect">
            <a:avLst/>
          </a:prstGeom>
          <a:noFill/>
        </p:spPr>
        <p:txBody>
          <a:bodyPr wrap="square" lIns="0" rIns="0" tIns="0" bIns="0">
            <a:spAutoFit/>
          </a:bodyPr>
          <a:lstStyle/>
          <a:p>
            <a:pPr>
              <a:lnSpc>
                <a:spcPct val="132000"/>
              </a:lnSpc>
            </a:pPr>
            <a:r>
              <a:rPr sz="1200" b="0">
                <a:solidFill>
                  <a:srgbClr val="5D6675"/>
                </a:solidFill>
                <a:latin typeface="Arial"/>
              </a:rPr>
              <a:t>Le modèle apprend le bruit du passé au lieu de la règle. Il excelle sur l’histoire, échoue sur l’avenir.</a:t>
            </a:r>
          </a:p>
        </p:txBody>
      </p:sp>
      <p:sp>
        <p:nvSpPr>
          <p:cNvPr id="18" name="Rounded Rectangle 17"/>
          <p:cNvSpPr/>
          <p:nvPr/>
        </p:nvSpPr>
        <p:spPr>
          <a:xfrm>
            <a:off x="6248400" y="3860800"/>
            <a:ext cx="5334000" cy="2006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77000" y="40894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0" y="4267200"/>
            <a:ext cx="4876800" cy="279400"/>
          </a:xfrm>
          <a:prstGeom prst="rect">
            <a:avLst/>
          </a:prstGeom>
          <a:noFill/>
        </p:spPr>
        <p:txBody>
          <a:bodyPr wrap="square" lIns="0" rIns="0" tIns="0" bIns="0">
            <a:spAutoFit/>
          </a:bodyPr>
          <a:lstStyle/>
          <a:p>
            <a:r>
              <a:rPr sz="1300" b="1">
                <a:solidFill>
                  <a:srgbClr val="0F766E"/>
                </a:solidFill>
                <a:latin typeface="Arial"/>
              </a:rPr>
              <a:t>Data snooping</a:t>
            </a:r>
          </a:p>
        </p:txBody>
      </p:sp>
      <p:sp>
        <p:nvSpPr>
          <p:cNvPr id="21" name="TextBox 20"/>
          <p:cNvSpPr txBox="1"/>
          <p:nvPr/>
        </p:nvSpPr>
        <p:spPr>
          <a:xfrm>
            <a:off x="6477000" y="4597400"/>
            <a:ext cx="4876800" cy="1066800"/>
          </a:xfrm>
          <a:prstGeom prst="rect">
            <a:avLst/>
          </a:prstGeom>
          <a:noFill/>
        </p:spPr>
        <p:txBody>
          <a:bodyPr wrap="square" lIns="0" rIns="0" tIns="0" bIns="0">
            <a:spAutoFit/>
          </a:bodyPr>
          <a:lstStyle/>
          <a:p>
            <a:pPr>
              <a:lnSpc>
                <a:spcPct val="132000"/>
              </a:lnSpc>
            </a:pPr>
            <a:r>
              <a:rPr sz="1200" b="0">
                <a:solidFill>
                  <a:srgbClr val="5D6675"/>
                </a:solidFill>
                <a:latin typeface="Arial"/>
              </a:rPr>
              <a:t>À force d’essayer des stratégies, on finit par en trouver une qui brille par pur hasard.</a:t>
            </a:r>
          </a:p>
        </p:txBody>
      </p:sp>
      <p:sp>
        <p:nvSpPr>
          <p:cNvPr id="22" name="TextBox 21"/>
          <p:cNvSpPr txBox="1"/>
          <p:nvPr/>
        </p:nvSpPr>
        <p:spPr>
          <a:xfrm>
            <a:off x="609600" y="60452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Ces quatre notions structurent tout le protocole d’évaluation du projet.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PROBLÈME · CONTEXTE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La question posée par le projet</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07</a:t>
            </a:r>
          </a:p>
        </p:txBody>
      </p:sp>
      <p:sp>
        <p:nvSpPr>
          <p:cNvPr id="5" name="Rounded Rectangle 4"/>
          <p:cNvSpPr/>
          <p:nvPr/>
        </p:nvSpPr>
        <p:spPr>
          <a:xfrm>
            <a:off x="609600" y="1574800"/>
            <a:ext cx="10972800" cy="13716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4200"/>
            <a:ext cx="10363200" cy="889000"/>
          </a:xfrm>
          <a:prstGeom prst="rect">
            <a:avLst/>
          </a:prstGeom>
          <a:noFill/>
        </p:spPr>
        <p:txBody>
          <a:bodyPr wrap="square" lIns="0" rIns="0" tIns="0" bIns="0">
            <a:spAutoFit/>
          </a:bodyPr>
          <a:lstStyle/>
          <a:p>
            <a:pPr>
              <a:lnSpc>
                <a:spcPct val="135000"/>
              </a:lnSpc>
            </a:pPr>
            <a:r>
              <a:rPr sz="1450" b="1">
                <a:solidFill>
                  <a:srgbClr val="111827"/>
                </a:solidFill>
                <a:latin typeface="Arial"/>
              </a:rPr>
              <a:t>« Répartir un capital entre des actions de la Bourse de Casablanca et des ETF internationaux.</a:t>
            </a:r>
          </a:p>
          <a:p>
            <a:pPr>
              <a:lnSpc>
                <a:spcPct val="135000"/>
              </a:lnSpc>
            </a:pPr>
            <a:r>
              <a:rPr sz="1450" b="1">
                <a:solidFill>
                  <a:srgbClr val="111827"/>
                </a:solidFill>
                <a:latin typeface="Arial"/>
              </a:rPr>
              <a:t>Le Machine Learning fait-il mieux que la méthode classique — une fois payés les frais et vérifiée la statistique ? »</a:t>
            </a:r>
          </a:p>
        </p:txBody>
      </p:sp>
      <p:sp>
        <p:nvSpPr>
          <p:cNvPr id="7" name="TextBox 6"/>
          <p:cNvSpPr txBox="1"/>
          <p:nvPr/>
        </p:nvSpPr>
        <p:spPr>
          <a:xfrm>
            <a:off x="609600" y="3251200"/>
            <a:ext cx="6350000" cy="254000"/>
          </a:xfrm>
          <a:prstGeom prst="rect">
            <a:avLst/>
          </a:prstGeom>
          <a:noFill/>
        </p:spPr>
        <p:txBody>
          <a:bodyPr wrap="square" lIns="0" rIns="0" tIns="0" bIns="0">
            <a:spAutoFit/>
          </a:bodyPr>
          <a:lstStyle/>
          <a:p>
            <a:r>
              <a:rPr sz="1000" b="1">
                <a:solidFill>
                  <a:srgbClr val="3D8DFF"/>
                </a:solidFill>
                <a:latin typeface="Arial"/>
              </a:rPr>
              <a:t>LES CONTRAINTES IMPOSÉES AU SYSTÈME</a:t>
            </a:r>
          </a:p>
        </p:txBody>
      </p:sp>
      <p:sp>
        <p:nvSpPr>
          <p:cNvPr id="8" name="Rounded Rectangle 7"/>
          <p:cNvSpPr/>
          <p:nvPr/>
        </p:nvSpPr>
        <p:spPr>
          <a:xfrm>
            <a:off x="609600" y="3606800"/>
            <a:ext cx="2540000" cy="1574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3860800"/>
            <a:ext cx="2159000" cy="304800"/>
          </a:xfrm>
          <a:prstGeom prst="rect">
            <a:avLst/>
          </a:prstGeom>
          <a:noFill/>
        </p:spPr>
        <p:txBody>
          <a:bodyPr wrap="square" lIns="0" rIns="0" tIns="0" bIns="0">
            <a:spAutoFit/>
          </a:bodyPr>
          <a:lstStyle/>
          <a:p>
            <a:r>
              <a:rPr sz="1350" b="1">
                <a:solidFill>
                  <a:srgbClr val="1B3A6B"/>
                </a:solidFill>
                <a:latin typeface="Arial"/>
              </a:rPr>
              <a:t>Long-only</a:t>
            </a:r>
          </a:p>
        </p:txBody>
      </p:sp>
      <p:sp>
        <p:nvSpPr>
          <p:cNvPr id="10" name="TextBox 9"/>
          <p:cNvSpPr txBox="1"/>
          <p:nvPr/>
        </p:nvSpPr>
        <p:spPr>
          <a:xfrm>
            <a:off x="838200" y="4241800"/>
            <a:ext cx="2159000" cy="812800"/>
          </a:xfrm>
          <a:prstGeom prst="rect">
            <a:avLst/>
          </a:prstGeom>
          <a:noFill/>
        </p:spPr>
        <p:txBody>
          <a:bodyPr wrap="square" lIns="0" rIns="0" tIns="0" bIns="0">
            <a:spAutoFit/>
          </a:bodyPr>
          <a:lstStyle/>
          <a:p>
            <a:pPr>
              <a:lnSpc>
                <a:spcPct val="130000"/>
              </a:lnSpc>
            </a:pPr>
            <a:r>
              <a:rPr sz="1100" b="0">
                <a:solidFill>
                  <a:srgbClr val="5D6675"/>
                </a:solidFill>
                <a:latin typeface="Arial"/>
              </a:rPr>
              <a:t>aucune vente à découvert :</a:t>
            </a:r>
          </a:p>
          <a:p>
            <a:pPr>
              <a:lnSpc>
                <a:spcPct val="130000"/>
              </a:lnSpc>
            </a:pPr>
            <a:r>
              <a:rPr sz="1100" b="0">
                <a:solidFill>
                  <a:srgbClr val="5D6675"/>
                </a:solidFill>
                <a:latin typeface="Arial"/>
              </a:rPr>
              <a:t>une contrainte de gestion réelle</a:t>
            </a:r>
          </a:p>
        </p:txBody>
      </p:sp>
      <p:sp>
        <p:nvSpPr>
          <p:cNvPr id="11" name="Rounded Rectangle 10"/>
          <p:cNvSpPr/>
          <p:nvPr/>
        </p:nvSpPr>
        <p:spPr>
          <a:xfrm>
            <a:off x="3403600" y="3606800"/>
            <a:ext cx="2540000" cy="1574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2200" y="3860800"/>
            <a:ext cx="2159000" cy="304800"/>
          </a:xfrm>
          <a:prstGeom prst="rect">
            <a:avLst/>
          </a:prstGeom>
          <a:noFill/>
        </p:spPr>
        <p:txBody>
          <a:bodyPr wrap="square" lIns="0" rIns="0" tIns="0" bIns="0">
            <a:spAutoFit/>
          </a:bodyPr>
          <a:lstStyle/>
          <a:p>
            <a:r>
              <a:rPr sz="1350" b="1">
                <a:solidFill>
                  <a:srgbClr val="1B3A6B"/>
                </a:solidFill>
                <a:latin typeface="Arial"/>
              </a:rPr>
              <a:t>Plafond 25 %</a:t>
            </a:r>
          </a:p>
        </p:txBody>
      </p:sp>
      <p:sp>
        <p:nvSpPr>
          <p:cNvPr id="13" name="TextBox 12"/>
          <p:cNvSpPr txBox="1"/>
          <p:nvPr/>
        </p:nvSpPr>
        <p:spPr>
          <a:xfrm>
            <a:off x="3632200" y="4241800"/>
            <a:ext cx="2159000" cy="812800"/>
          </a:xfrm>
          <a:prstGeom prst="rect">
            <a:avLst/>
          </a:prstGeom>
          <a:noFill/>
        </p:spPr>
        <p:txBody>
          <a:bodyPr wrap="square" lIns="0" rIns="0" tIns="0" bIns="0">
            <a:spAutoFit/>
          </a:bodyPr>
          <a:lstStyle/>
          <a:p>
            <a:pPr>
              <a:lnSpc>
                <a:spcPct val="130000"/>
              </a:lnSpc>
            </a:pPr>
            <a:r>
              <a:rPr sz="1100" b="0">
                <a:solidFill>
                  <a:srgbClr val="5D6675"/>
                </a:solidFill>
                <a:latin typeface="Arial"/>
              </a:rPr>
              <a:t>aucun actif ne peut dépasser</a:t>
            </a:r>
          </a:p>
          <a:p>
            <a:pPr>
              <a:lnSpc>
                <a:spcPct val="130000"/>
              </a:lnSpc>
            </a:pPr>
            <a:r>
              <a:rPr sz="1100" b="0">
                <a:solidFill>
                  <a:srgbClr val="5D6675"/>
                </a:solidFill>
                <a:latin typeface="Arial"/>
              </a:rPr>
              <a:t>un quart du portefeuille</a:t>
            </a:r>
          </a:p>
        </p:txBody>
      </p:sp>
      <p:sp>
        <p:nvSpPr>
          <p:cNvPr id="14" name="Rounded Rectangle 13"/>
          <p:cNvSpPr/>
          <p:nvPr/>
        </p:nvSpPr>
        <p:spPr>
          <a:xfrm>
            <a:off x="6197600" y="3606800"/>
            <a:ext cx="2540000" cy="1574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6200" y="3860800"/>
            <a:ext cx="2159000" cy="304800"/>
          </a:xfrm>
          <a:prstGeom prst="rect">
            <a:avLst/>
          </a:prstGeom>
          <a:noFill/>
        </p:spPr>
        <p:txBody>
          <a:bodyPr wrap="square" lIns="0" rIns="0" tIns="0" bIns="0">
            <a:spAutoFit/>
          </a:bodyPr>
          <a:lstStyle/>
          <a:p>
            <a:r>
              <a:rPr sz="1350" b="1">
                <a:solidFill>
                  <a:srgbClr val="1B3A6B"/>
                </a:solidFill>
                <a:latin typeface="Arial"/>
              </a:rPr>
              <a:t>Frais réels</a:t>
            </a:r>
          </a:p>
        </p:txBody>
      </p:sp>
      <p:sp>
        <p:nvSpPr>
          <p:cNvPr id="16" name="TextBox 15"/>
          <p:cNvSpPr txBox="1"/>
          <p:nvPr/>
        </p:nvSpPr>
        <p:spPr>
          <a:xfrm>
            <a:off x="6426200" y="4241800"/>
            <a:ext cx="2159000" cy="812800"/>
          </a:xfrm>
          <a:prstGeom prst="rect">
            <a:avLst/>
          </a:prstGeom>
          <a:noFill/>
        </p:spPr>
        <p:txBody>
          <a:bodyPr wrap="square" lIns="0" rIns="0" tIns="0" bIns="0">
            <a:spAutoFit/>
          </a:bodyPr>
          <a:lstStyle/>
          <a:p>
            <a:pPr>
              <a:lnSpc>
                <a:spcPct val="130000"/>
              </a:lnSpc>
            </a:pPr>
            <a:r>
              <a:rPr sz="1100" b="0">
                <a:solidFill>
                  <a:srgbClr val="5D6675"/>
                </a:solidFill>
                <a:latin typeface="Arial"/>
              </a:rPr>
              <a:t>chaque rebalancement coûte,</a:t>
            </a:r>
          </a:p>
          <a:p>
            <a:pPr>
              <a:lnSpc>
                <a:spcPct val="130000"/>
              </a:lnSpc>
            </a:pPr>
            <a:r>
              <a:rPr sz="1100" b="0">
                <a:solidFill>
                  <a:srgbClr val="5D6675"/>
                </a:solidFill>
                <a:latin typeface="Arial"/>
              </a:rPr>
              <a:t>et le coût est déduit</a:t>
            </a:r>
          </a:p>
        </p:txBody>
      </p:sp>
      <p:sp>
        <p:nvSpPr>
          <p:cNvPr id="17" name="Rounded Rectangle 16"/>
          <p:cNvSpPr/>
          <p:nvPr/>
        </p:nvSpPr>
        <p:spPr>
          <a:xfrm>
            <a:off x="8991600" y="3606800"/>
            <a:ext cx="2540000" cy="1574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0200" y="3860800"/>
            <a:ext cx="2159000" cy="304800"/>
          </a:xfrm>
          <a:prstGeom prst="rect">
            <a:avLst/>
          </a:prstGeom>
          <a:noFill/>
        </p:spPr>
        <p:txBody>
          <a:bodyPr wrap="square" lIns="0" rIns="0" tIns="0" bIns="0">
            <a:spAutoFit/>
          </a:bodyPr>
          <a:lstStyle/>
          <a:p>
            <a:r>
              <a:rPr sz="1350" b="1">
                <a:solidFill>
                  <a:srgbClr val="1B3A6B"/>
                </a:solidFill>
                <a:latin typeface="Arial"/>
              </a:rPr>
              <a:t>Mensuel</a:t>
            </a:r>
          </a:p>
        </p:txBody>
      </p:sp>
      <p:sp>
        <p:nvSpPr>
          <p:cNvPr id="19" name="TextBox 18"/>
          <p:cNvSpPr txBox="1"/>
          <p:nvPr/>
        </p:nvSpPr>
        <p:spPr>
          <a:xfrm>
            <a:off x="9220200" y="4241800"/>
            <a:ext cx="2159000" cy="812800"/>
          </a:xfrm>
          <a:prstGeom prst="rect">
            <a:avLst/>
          </a:prstGeom>
          <a:noFill/>
        </p:spPr>
        <p:txBody>
          <a:bodyPr wrap="square" lIns="0" rIns="0" tIns="0" bIns="0">
            <a:spAutoFit/>
          </a:bodyPr>
          <a:lstStyle/>
          <a:p>
            <a:pPr>
              <a:lnSpc>
                <a:spcPct val="130000"/>
              </a:lnSpc>
            </a:pPr>
            <a:r>
              <a:rPr sz="1100" b="0">
                <a:solidFill>
                  <a:srgbClr val="5D6675"/>
                </a:solidFill>
                <a:latin typeface="Arial"/>
              </a:rPr>
              <a:t>la décision est reprise</a:t>
            </a:r>
          </a:p>
          <a:p>
            <a:pPr>
              <a:lnSpc>
                <a:spcPct val="130000"/>
              </a:lnSpc>
            </a:pPr>
            <a:r>
              <a:rPr sz="1100" b="0">
                <a:solidFill>
                  <a:srgbClr val="5D6675"/>
                </a:solidFill>
                <a:latin typeface="Arial"/>
              </a:rPr>
              <a:t>à chaque fin de mois</a:t>
            </a:r>
          </a:p>
        </p:txBody>
      </p:sp>
      <p:sp>
        <p:nvSpPr>
          <p:cNvPr id="20" name="TextBox 19"/>
          <p:cNvSpPr txBox="1"/>
          <p:nvPr/>
        </p:nvSpPr>
        <p:spPr>
          <a:xfrm>
            <a:off x="609600" y="5435600"/>
            <a:ext cx="10972800" cy="304800"/>
          </a:xfrm>
          <a:prstGeom prst="rect">
            <a:avLst/>
          </a:prstGeom>
          <a:noFill/>
        </p:spPr>
        <p:txBody>
          <a:bodyPr wrap="square" lIns="0" rIns="0" tIns="0" bIns="0">
            <a:spAutoFit/>
          </a:bodyPr>
          <a:lstStyle/>
          <a:p>
            <a:r>
              <a:rPr sz="1000" b="1">
                <a:solidFill>
                  <a:srgbClr val="3D8DFF"/>
                </a:solidFill>
                <a:latin typeface="Arial"/>
              </a:rPr>
              <a:t>TROIS TERRAINS D’ÉTUDE, ÉVALUÉS SÉPARÉMENT</a:t>
            </a:r>
          </a:p>
        </p:txBody>
      </p:sp>
      <p:sp>
        <p:nvSpPr>
          <p:cNvPr id="21" name="TextBox 20"/>
          <p:cNvSpPr txBox="1"/>
          <p:nvPr/>
        </p:nvSpPr>
        <p:spPr>
          <a:xfrm>
            <a:off x="609600" y="5791200"/>
            <a:ext cx="3429000" cy="254000"/>
          </a:xfrm>
          <a:prstGeom prst="rect">
            <a:avLst/>
          </a:prstGeom>
          <a:noFill/>
        </p:spPr>
        <p:txBody>
          <a:bodyPr wrap="square" lIns="0" rIns="0" tIns="0" bIns="0">
            <a:spAutoFit/>
          </a:bodyPr>
          <a:lstStyle/>
          <a:p>
            <a:r>
              <a:rPr sz="1300" b="1">
                <a:solidFill>
                  <a:srgbClr val="0F766E"/>
                </a:solidFill>
                <a:latin typeface="Arial"/>
              </a:rPr>
              <a:t>full_2021</a:t>
            </a:r>
          </a:p>
        </p:txBody>
      </p:sp>
      <p:sp>
        <p:nvSpPr>
          <p:cNvPr id="22" name="TextBox 21"/>
          <p:cNvSpPr txBox="1"/>
          <p:nvPr/>
        </p:nvSpPr>
        <p:spPr>
          <a:xfrm>
            <a:off x="609600" y="6070600"/>
            <a:ext cx="3429000" cy="431800"/>
          </a:xfrm>
          <a:prstGeom prst="rect">
            <a:avLst/>
          </a:prstGeom>
          <a:noFill/>
        </p:spPr>
        <p:txBody>
          <a:bodyPr wrap="square" lIns="0" rIns="0" tIns="0" bIns="0">
            <a:spAutoFit/>
          </a:bodyPr>
          <a:lstStyle/>
          <a:p>
            <a:r>
              <a:rPr sz="1100" b="0">
                <a:solidFill>
                  <a:srgbClr val="5D6675"/>
                </a:solidFill>
                <a:latin typeface="Arial"/>
              </a:rPr>
              <a:t>4 actions BVC + 5 ETF · en dirhams · 2021–2026</a:t>
            </a:r>
          </a:p>
        </p:txBody>
      </p:sp>
      <p:sp>
        <p:nvSpPr>
          <p:cNvPr id="23" name="TextBox 22"/>
          <p:cNvSpPr txBox="1"/>
          <p:nvPr/>
        </p:nvSpPr>
        <p:spPr>
          <a:xfrm>
            <a:off x="4318000" y="5791200"/>
            <a:ext cx="3429000" cy="254000"/>
          </a:xfrm>
          <a:prstGeom prst="rect">
            <a:avLst/>
          </a:prstGeom>
          <a:noFill/>
        </p:spPr>
        <p:txBody>
          <a:bodyPr wrap="square" lIns="0" rIns="0" tIns="0" bIns="0">
            <a:spAutoFit/>
          </a:bodyPr>
          <a:lstStyle/>
          <a:p>
            <a:r>
              <a:rPr sz="1300" b="1">
                <a:solidFill>
                  <a:srgbClr val="0F766E"/>
                </a:solidFill>
                <a:latin typeface="Arial"/>
              </a:rPr>
              <a:t>etf_2017</a:t>
            </a:r>
          </a:p>
        </p:txBody>
      </p:sp>
      <p:sp>
        <p:nvSpPr>
          <p:cNvPr id="24" name="TextBox 23"/>
          <p:cNvSpPr txBox="1"/>
          <p:nvPr/>
        </p:nvSpPr>
        <p:spPr>
          <a:xfrm>
            <a:off x="4318000" y="6070600"/>
            <a:ext cx="3429000" cy="431800"/>
          </a:xfrm>
          <a:prstGeom prst="rect">
            <a:avLst/>
          </a:prstGeom>
          <a:noFill/>
        </p:spPr>
        <p:txBody>
          <a:bodyPr wrap="square" lIns="0" rIns="0" tIns="0" bIns="0">
            <a:spAutoFit/>
          </a:bodyPr>
          <a:lstStyle/>
          <a:p>
            <a:r>
              <a:rPr sz="1100" b="0">
                <a:solidFill>
                  <a:srgbClr val="5D6675"/>
                </a:solidFill>
                <a:latin typeface="Arial"/>
              </a:rPr>
              <a:t>5 ETF internationaux · en dollars · 2004–2026</a:t>
            </a:r>
          </a:p>
        </p:txBody>
      </p:sp>
      <p:sp>
        <p:nvSpPr>
          <p:cNvPr id="25" name="TextBox 24"/>
          <p:cNvSpPr txBox="1"/>
          <p:nvPr/>
        </p:nvSpPr>
        <p:spPr>
          <a:xfrm>
            <a:off x="8026400" y="5791200"/>
            <a:ext cx="3429000" cy="254000"/>
          </a:xfrm>
          <a:prstGeom prst="rect">
            <a:avLst/>
          </a:prstGeom>
          <a:noFill/>
        </p:spPr>
        <p:txBody>
          <a:bodyPr wrap="square" lIns="0" rIns="0" tIns="0" bIns="0">
            <a:spAutoFit/>
          </a:bodyPr>
          <a:lstStyle/>
          <a:p>
            <a:r>
              <a:rPr sz="1300" b="1">
                <a:solidFill>
                  <a:srgbClr val="0F766E"/>
                </a:solidFill>
                <a:latin typeface="Arial"/>
              </a:rPr>
              <a:t>global_2004</a:t>
            </a:r>
          </a:p>
        </p:txBody>
      </p:sp>
      <p:sp>
        <p:nvSpPr>
          <p:cNvPr id="26" name="TextBox 25"/>
          <p:cNvSpPr txBox="1"/>
          <p:nvPr/>
        </p:nvSpPr>
        <p:spPr>
          <a:xfrm>
            <a:off x="8026400" y="6070600"/>
            <a:ext cx="3429000" cy="431800"/>
          </a:xfrm>
          <a:prstGeom prst="rect">
            <a:avLst/>
          </a:prstGeom>
          <a:noFill/>
        </p:spPr>
        <p:txBody>
          <a:bodyPr wrap="square" lIns="0" rIns="0" tIns="0" bIns="0">
            <a:spAutoFit/>
          </a:bodyPr>
          <a:lstStyle/>
          <a:p>
            <a:r>
              <a:rPr sz="1100" b="0">
                <a:solidFill>
                  <a:srgbClr val="5D6675"/>
                </a:solidFill>
                <a:latin typeface="Arial"/>
              </a:rPr>
              <a:t>10 ETF multi-classes · en dollars · 2004–2026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PROBLÈME · POURQUOI C’EST DIFFICILE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Quatre façons dont l’optimisation classique échoue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08</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Chaque échec appelle une réponse technique précise — c’est le plan de construction du système.</a:t>
            </a:r>
          </a:p>
        </p:txBody>
      </p:sp>
      <p:pic>
        <p:nvPicPr>
          <p:cNvPr id="6" name="Picture 5" descr="quatre_problemes.png"/>
          <p:cNvPicPr>
            <a:picLocks noChangeAspect="1"/>
          </p:cNvPicPr>
          <p:nvPr/>
        </p:nvPicPr>
        <p:blipFill>
          <a:blip r:embed="rId2"/>
          <a:stretch>
            <a:fillRect/>
          </a:stretch>
        </p:blipFill>
        <p:spPr>
          <a:xfrm>
            <a:off x="1993382" y="1574800"/>
            <a:ext cx="8205234" cy="3810000"/>
          </a:xfrm>
          <a:prstGeom prst="rect">
            <a:avLst/>
          </a:prstGeom>
        </p:spPr>
      </p:pic>
      <p:sp>
        <p:nvSpPr>
          <p:cNvPr id="7" name="Rounded Rectangle 6"/>
          <p:cNvSpPr/>
          <p:nvPr/>
        </p:nvSpPr>
        <p:spPr>
          <a:xfrm>
            <a:off x="609600" y="5562600"/>
            <a:ext cx="10972800" cy="889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5740400"/>
            <a:ext cx="10414000" cy="584200"/>
          </a:xfrm>
          <a:prstGeom prst="rect">
            <a:avLst/>
          </a:prstGeom>
          <a:noFill/>
        </p:spPr>
        <p:txBody>
          <a:bodyPr wrap="square" lIns="0" rIns="0" tIns="0" bIns="0">
            <a:spAutoFit/>
          </a:bodyPr>
          <a:lstStyle/>
          <a:p>
            <a:pPr>
              <a:lnSpc>
                <a:spcPct val="130000"/>
              </a:lnSpc>
            </a:pPr>
            <a:r>
              <a:rPr sz="1200" b="0">
                <a:solidFill>
                  <a:srgbClr val="5D6675"/>
                </a:solidFill>
                <a:latin typeface="Arial"/>
              </a:rPr>
              <a:t>Traduction : l’optimiseur classique prend des estimations incertaines pour des certitudes, suppose que demain ressemble à hier,</a:t>
            </a:r>
          </a:p>
          <a:p>
            <a:pPr>
              <a:lnSpc>
                <a:spcPct val="130000"/>
              </a:lnSpc>
            </a:pPr>
            <a:r>
              <a:rPr sz="1200" b="0">
                <a:solidFill>
                  <a:srgbClr val="5D6675"/>
                </a:solidFill>
                <a:latin typeface="Arial"/>
              </a:rPr>
              <a:t>et s’effondre exactement au moment où la diversification devrait protéger.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PROBLÈME · LE MOMENT CRITIQUE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En crise, la diversification disparaît quand on en a besoin</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09</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Les actions se mettent à tomber ensemble ; seuls l’or et les obligations s’en détachent.</a:t>
            </a:r>
          </a:p>
        </p:txBody>
      </p:sp>
      <p:pic>
        <p:nvPicPr>
          <p:cNvPr id="6" name="Picture 5" descr="correlations_crise.png"/>
          <p:cNvPicPr>
            <a:picLocks noChangeAspect="1"/>
          </p:cNvPicPr>
          <p:nvPr/>
        </p:nvPicPr>
        <p:blipFill>
          <a:blip r:embed="rId2"/>
          <a:stretch>
            <a:fillRect/>
          </a:stretch>
        </p:blipFill>
        <p:spPr>
          <a:xfrm>
            <a:off x="609600" y="1590777"/>
            <a:ext cx="8128000" cy="4260644"/>
          </a:xfrm>
          <a:prstGeom prst="rect">
            <a:avLst/>
          </a:prstGeom>
        </p:spPr>
      </p:pic>
      <p:sp>
        <p:nvSpPr>
          <p:cNvPr id="7" name="TextBox 6"/>
          <p:cNvSpPr txBox="1"/>
          <p:nvPr/>
        </p:nvSpPr>
        <p:spPr>
          <a:xfrm>
            <a:off x="9042400" y="1905000"/>
            <a:ext cx="2540000" cy="533400"/>
          </a:xfrm>
          <a:prstGeom prst="rect">
            <a:avLst/>
          </a:prstGeom>
          <a:noFill/>
        </p:spPr>
        <p:txBody>
          <a:bodyPr wrap="square" lIns="0" rIns="0" tIns="0" bIns="0">
            <a:spAutoFit/>
          </a:bodyPr>
          <a:lstStyle/>
          <a:p>
            <a:r>
              <a:rPr sz="2600" b="1">
                <a:solidFill>
                  <a:srgbClr val="B7433E"/>
                </a:solidFill>
                <a:latin typeface="Arial"/>
              </a:rPr>
              <a:t>0,79 → 0,94</a:t>
            </a:r>
          </a:p>
        </p:txBody>
      </p:sp>
      <p:sp>
        <p:nvSpPr>
          <p:cNvPr id="8" name="TextBox 7"/>
          <p:cNvSpPr txBox="1"/>
          <p:nvPr/>
        </p:nvSpPr>
        <p:spPr>
          <a:xfrm>
            <a:off x="9042400" y="2438400"/>
            <a:ext cx="2540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corrélation entre actions</a:t>
            </a:r>
          </a:p>
          <a:p>
            <a:pPr>
              <a:lnSpc>
                <a:spcPct val="120000"/>
              </a:lnSpc>
            </a:pPr>
            <a:r>
              <a:rPr sz="1150" b="0">
                <a:solidFill>
                  <a:srgbClr val="5D6675"/>
                </a:solidFill>
                <a:latin typeface="Arial"/>
              </a:rPr>
              <a:t>en mars 2020 : le portefeuille</a:t>
            </a:r>
          </a:p>
          <a:p>
            <a:pPr>
              <a:lnSpc>
                <a:spcPct val="120000"/>
              </a:lnSpc>
            </a:pPr>
            <a:r>
              <a:rPr sz="1150" b="0">
                <a:solidFill>
                  <a:srgbClr val="5D6675"/>
                </a:solidFill>
                <a:latin typeface="Arial"/>
              </a:rPr>
              <a:t>se comporte comme un seul actif</a:t>
            </a:r>
          </a:p>
        </p:txBody>
      </p:sp>
      <p:sp>
        <p:nvSpPr>
          <p:cNvPr id="9" name="Rounded Rectangle 8"/>
          <p:cNvSpPr/>
          <p:nvPr/>
        </p:nvSpPr>
        <p:spPr>
          <a:xfrm>
            <a:off x="9042400" y="3759200"/>
            <a:ext cx="2540000" cy="2184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71000" y="39878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71000" y="4165600"/>
            <a:ext cx="2082800" cy="279400"/>
          </a:xfrm>
          <a:prstGeom prst="rect">
            <a:avLst/>
          </a:prstGeom>
          <a:noFill/>
        </p:spPr>
        <p:txBody>
          <a:bodyPr wrap="square" lIns="0" rIns="0" tIns="0" bIns="0">
            <a:spAutoFit/>
          </a:bodyPr>
          <a:lstStyle/>
          <a:p>
            <a:r>
              <a:rPr sz="1300" b="1">
                <a:solidFill>
                  <a:srgbClr val="1B3A6B"/>
                </a:solidFill>
                <a:latin typeface="Arial"/>
              </a:rPr>
              <a:t>Conséquence</a:t>
            </a:r>
          </a:p>
        </p:txBody>
      </p:sp>
      <p:sp>
        <p:nvSpPr>
          <p:cNvPr id="12" name="TextBox 11"/>
          <p:cNvSpPr txBox="1"/>
          <p:nvPr/>
        </p:nvSpPr>
        <p:spPr>
          <a:xfrm>
            <a:off x="9271000" y="4495800"/>
            <a:ext cx="2082800" cy="1244600"/>
          </a:xfrm>
          <a:prstGeom prst="rect">
            <a:avLst/>
          </a:prstGeom>
          <a:noFill/>
        </p:spPr>
        <p:txBody>
          <a:bodyPr wrap="square" lIns="0" rIns="0" tIns="0" bIns="0">
            <a:spAutoFit/>
          </a:bodyPr>
          <a:lstStyle/>
          <a:p>
            <a:pPr>
              <a:lnSpc>
                <a:spcPct val="132000"/>
              </a:lnSpc>
            </a:pPr>
            <a:r>
              <a:rPr sz="1100" b="0">
                <a:solidFill>
                  <a:srgbClr val="5D6675"/>
                </a:solidFill>
                <a:latin typeface="Arial"/>
              </a:rPr>
              <a:t>Un modèle qui suppose</a:t>
            </a:r>
          </a:p>
          <a:p>
            <a:pPr>
              <a:lnSpc>
                <a:spcPct val="132000"/>
              </a:lnSpc>
            </a:pPr>
            <a:r>
              <a:rPr sz="1100" b="0">
                <a:solidFill>
                  <a:srgbClr val="5D6675"/>
                </a:solidFill>
                <a:latin typeface="Arial"/>
              </a:rPr>
              <a:t>une structure de risque fixe</a:t>
            </a:r>
          </a:p>
          <a:p>
            <a:pPr>
              <a:lnSpc>
                <a:spcPct val="132000"/>
              </a:lnSpc>
            </a:pPr>
            <a:r>
              <a:rPr sz="1100" b="0">
                <a:solidFill>
                  <a:srgbClr val="5D6675"/>
                </a:solidFill>
                <a:latin typeface="Arial"/>
              </a:rPr>
              <a:t>se trompe précisément</a:t>
            </a:r>
          </a:p>
          <a:p>
            <a:pPr>
              <a:lnSpc>
                <a:spcPct val="132000"/>
              </a:lnSpc>
            </a:pPr>
            <a:r>
              <a:rPr sz="1100" b="0">
                <a:solidFill>
                  <a:srgbClr val="5D6675"/>
                </a:solidFill>
                <a:latin typeface="Arial"/>
              </a:rPr>
              <a:t>les jours qui coûtent cher.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PROBLÈME · LE PIÈGE CENTRAL</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Le meilleur backtest d’une longue recherche est presque toujours une illusion</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10</a:t>
            </a:r>
          </a:p>
        </p:txBody>
      </p:sp>
      <p:pic>
        <p:nvPicPr>
          <p:cNvPr id="5" name="Picture 4" descr="snooping_240.png"/>
          <p:cNvPicPr>
            <a:picLocks noChangeAspect="1"/>
          </p:cNvPicPr>
          <p:nvPr/>
        </p:nvPicPr>
        <p:blipFill>
          <a:blip r:embed="rId2"/>
          <a:stretch>
            <a:fillRect/>
          </a:stretch>
        </p:blipFill>
        <p:spPr>
          <a:xfrm>
            <a:off x="609600" y="1685808"/>
            <a:ext cx="7874000" cy="3791184"/>
          </a:xfrm>
          <a:prstGeom prst="rect">
            <a:avLst/>
          </a:prstGeom>
        </p:spPr>
      </p:pic>
      <p:sp>
        <p:nvSpPr>
          <p:cNvPr id="6" name="TextBox 5"/>
          <p:cNvSpPr txBox="1"/>
          <p:nvPr/>
        </p:nvSpPr>
        <p:spPr>
          <a:xfrm>
            <a:off x="8890000" y="1651000"/>
            <a:ext cx="2692400" cy="584200"/>
          </a:xfrm>
          <a:prstGeom prst="rect">
            <a:avLst/>
          </a:prstGeom>
          <a:noFill/>
        </p:spPr>
        <p:txBody>
          <a:bodyPr wrap="square" lIns="0" rIns="0" tIns="0" bIns="0">
            <a:spAutoFit/>
          </a:bodyPr>
          <a:lstStyle/>
          <a:p>
            <a:r>
              <a:rPr sz="3000" b="1">
                <a:solidFill>
                  <a:srgbClr val="1B3A6B"/>
                </a:solidFill>
                <a:latin typeface="Arial"/>
              </a:rPr>
              <a:t>240</a:t>
            </a:r>
          </a:p>
        </p:txBody>
      </p:sp>
      <p:sp>
        <p:nvSpPr>
          <p:cNvPr id="7" name="TextBox 6"/>
          <p:cNvSpPr txBox="1"/>
          <p:nvPr/>
        </p:nvSpPr>
        <p:spPr>
          <a:xfrm>
            <a:off x="8890000" y="2235200"/>
            <a:ext cx="2692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stratégies entièrement</a:t>
            </a:r>
          </a:p>
          <a:p>
            <a:pPr>
              <a:lnSpc>
                <a:spcPct val="120000"/>
              </a:lnSpc>
            </a:pPr>
            <a:r>
              <a:rPr sz="1150" b="0">
                <a:solidFill>
                  <a:srgbClr val="5D6675"/>
                </a:solidFill>
                <a:latin typeface="Arial"/>
              </a:rPr>
              <a:t>évaluées, liste figée</a:t>
            </a:r>
          </a:p>
          <a:p>
            <a:pPr>
              <a:lnSpc>
                <a:spcPct val="120000"/>
              </a:lnSpc>
            </a:pPr>
            <a:r>
              <a:rPr sz="1150" b="0">
                <a:solidFill>
                  <a:srgbClr val="5D6675"/>
                </a:solidFill>
                <a:latin typeface="Arial"/>
              </a:rPr>
              <a:t>avant tout calcul</a:t>
            </a:r>
          </a:p>
        </p:txBody>
      </p:sp>
      <p:sp>
        <p:nvSpPr>
          <p:cNvPr id="8" name="TextBox 7"/>
          <p:cNvSpPr txBox="1"/>
          <p:nvPr/>
        </p:nvSpPr>
        <p:spPr>
          <a:xfrm>
            <a:off x="8890000" y="3327400"/>
            <a:ext cx="2692400" cy="584200"/>
          </a:xfrm>
          <a:prstGeom prst="rect">
            <a:avLst/>
          </a:prstGeom>
          <a:noFill/>
        </p:spPr>
        <p:txBody>
          <a:bodyPr wrap="square" lIns="0" rIns="0" tIns="0" bIns="0">
            <a:spAutoFit/>
          </a:bodyPr>
          <a:lstStyle/>
          <a:p>
            <a:r>
              <a:rPr sz="3000" b="1">
                <a:solidFill>
                  <a:srgbClr val="B7433E"/>
                </a:solidFill>
                <a:latin typeface="Arial"/>
              </a:rPr>
              <a:t>+0,093</a:t>
            </a:r>
          </a:p>
        </p:txBody>
      </p:sp>
      <p:sp>
        <p:nvSpPr>
          <p:cNvPr id="9" name="TextBox 8"/>
          <p:cNvSpPr txBox="1"/>
          <p:nvPr/>
        </p:nvSpPr>
        <p:spPr>
          <a:xfrm>
            <a:off x="8890000" y="3911600"/>
            <a:ext cx="2692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l’écart du « champion » :</a:t>
            </a:r>
          </a:p>
          <a:p>
            <a:pPr>
              <a:lnSpc>
                <a:spcPct val="120000"/>
              </a:lnSpc>
            </a:pPr>
            <a:r>
              <a:rPr sz="1150" b="0">
                <a:solidFill>
                  <a:srgbClr val="5D6675"/>
                </a:solidFill>
                <a:latin typeface="Arial"/>
              </a:rPr>
              <a:t>séduisant sur le papier</a:t>
            </a:r>
          </a:p>
        </p:txBody>
      </p:sp>
      <p:sp>
        <p:nvSpPr>
          <p:cNvPr id="10" name="TextBox 9"/>
          <p:cNvSpPr txBox="1"/>
          <p:nvPr/>
        </p:nvSpPr>
        <p:spPr>
          <a:xfrm>
            <a:off x="8890000" y="5003800"/>
            <a:ext cx="2692400" cy="533400"/>
          </a:xfrm>
          <a:prstGeom prst="rect">
            <a:avLst/>
          </a:prstGeom>
          <a:noFill/>
        </p:spPr>
        <p:txBody>
          <a:bodyPr wrap="square" lIns="0" rIns="0" tIns="0" bIns="0">
            <a:spAutoFit/>
          </a:bodyPr>
          <a:lstStyle/>
          <a:p>
            <a:r>
              <a:rPr sz="2600" b="1">
                <a:solidFill>
                  <a:srgbClr val="0F766E"/>
                </a:solidFill>
                <a:latin typeface="Arial"/>
              </a:rPr>
              <a:t>p = 0,90</a:t>
            </a:r>
          </a:p>
        </p:txBody>
      </p:sp>
      <p:sp>
        <p:nvSpPr>
          <p:cNvPr id="11" name="TextBox 10"/>
          <p:cNvSpPr txBox="1"/>
          <p:nvPr/>
        </p:nvSpPr>
        <p:spPr>
          <a:xfrm>
            <a:off x="8890000" y="5537200"/>
            <a:ext cx="2692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le test de sélection multiple</a:t>
            </a:r>
          </a:p>
          <a:p>
            <a:pPr>
              <a:lnSpc>
                <a:spcPct val="120000"/>
              </a:lnSpc>
            </a:pPr>
            <a:r>
              <a:rPr sz="1150" b="0">
                <a:solidFill>
                  <a:srgbClr val="5D6675"/>
                </a:solidFill>
                <a:latin typeface="Arial"/>
              </a:rPr>
              <a:t>ne retient pas ce résultat</a:t>
            </a:r>
          </a:p>
        </p:txBody>
      </p:sp>
      <p:sp>
        <p:nvSpPr>
          <p:cNvPr id="12" name="TextBox 11"/>
          <p:cNvSpPr txBox="1"/>
          <p:nvPr/>
        </p:nvSpPr>
        <p:spPr>
          <a:xfrm>
            <a:off x="609600" y="59690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C’est le biais qui explique une grande partie des stratégies publiées qui ne fonctionnent jamais en réel. Le projet le traite comme un adversaire, pas comme un détail.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NOTRE RÉPONSE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Une chaîne complète, de la donnée brute à la décision publiée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11</a:t>
            </a:r>
          </a:p>
        </p:txBody>
      </p:sp>
      <p:pic>
        <p:nvPicPr>
          <p:cNvPr id="5" name="Picture 4" descr="chaine_simple.png"/>
          <p:cNvPicPr>
            <a:picLocks noChangeAspect="1"/>
          </p:cNvPicPr>
          <p:nvPr/>
        </p:nvPicPr>
        <p:blipFill>
          <a:blip r:embed="rId2"/>
          <a:stretch>
            <a:fillRect/>
          </a:stretch>
        </p:blipFill>
        <p:spPr>
          <a:xfrm>
            <a:off x="609600" y="1737508"/>
            <a:ext cx="10972800" cy="3128983"/>
          </a:xfrm>
          <a:prstGeom prst="rect">
            <a:avLst/>
          </a:prstGeom>
        </p:spPr>
      </p:pic>
      <p:sp>
        <p:nvSpPr>
          <p:cNvPr id="6" name="Rounded Rectangle 5"/>
          <p:cNvSpPr/>
          <p:nvPr/>
        </p:nvSpPr>
        <p:spPr>
          <a:xfrm>
            <a:off x="609600" y="5080000"/>
            <a:ext cx="3556000" cy="139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38200" y="53086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200" y="5486400"/>
            <a:ext cx="3098800" cy="279400"/>
          </a:xfrm>
          <a:prstGeom prst="rect">
            <a:avLst/>
          </a:prstGeom>
          <a:noFill/>
        </p:spPr>
        <p:txBody>
          <a:bodyPr wrap="square" lIns="0" rIns="0" tIns="0" bIns="0">
            <a:spAutoFit/>
          </a:bodyPr>
          <a:lstStyle/>
          <a:p>
            <a:r>
              <a:rPr sz="1250" b="1">
                <a:solidFill>
                  <a:srgbClr val="0F766E"/>
                </a:solidFill>
                <a:latin typeface="Arial"/>
              </a:rPr>
              <a:t>Rien n’est saisi à la main</a:t>
            </a:r>
          </a:p>
        </p:txBody>
      </p:sp>
      <p:sp>
        <p:nvSpPr>
          <p:cNvPr id="9" name="TextBox 8"/>
          <p:cNvSpPr txBox="1"/>
          <p:nvPr/>
        </p:nvSpPr>
        <p:spPr>
          <a:xfrm>
            <a:off x="838200" y="5816600"/>
            <a:ext cx="3098800" cy="457200"/>
          </a:xfrm>
          <a:prstGeom prst="rect">
            <a:avLst/>
          </a:prstGeom>
          <a:noFill/>
        </p:spPr>
        <p:txBody>
          <a:bodyPr wrap="square" lIns="0" rIns="0" tIns="0" bIns="0">
            <a:spAutoFit/>
          </a:bodyPr>
          <a:lstStyle/>
          <a:p>
            <a:pPr>
              <a:lnSpc>
                <a:spcPct val="132000"/>
              </a:lnSpc>
            </a:pPr>
            <a:r>
              <a:rPr sz="1100" b="0">
                <a:solidFill>
                  <a:srgbClr val="5D6675"/>
                </a:solidFill>
                <a:latin typeface="Arial"/>
              </a:rPr>
              <a:t>Chaque chiffre affiché est régénéré</a:t>
            </a:r>
          </a:p>
          <a:p>
            <a:pPr>
              <a:lnSpc>
                <a:spcPct val="132000"/>
              </a:lnSpc>
            </a:pPr>
            <a:r>
              <a:rPr sz="1100" b="0">
                <a:solidFill>
                  <a:srgbClr val="5D6675"/>
                </a:solidFill>
                <a:latin typeface="Arial"/>
              </a:rPr>
              <a:t>depuis un artefact versé.</a:t>
            </a:r>
          </a:p>
        </p:txBody>
      </p:sp>
      <p:sp>
        <p:nvSpPr>
          <p:cNvPr id="10" name="Rounded Rectangle 9"/>
          <p:cNvSpPr/>
          <p:nvPr/>
        </p:nvSpPr>
        <p:spPr>
          <a:xfrm>
            <a:off x="4318000" y="5080000"/>
            <a:ext cx="3556000" cy="139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46600" y="53086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6600" y="5486400"/>
            <a:ext cx="3098800" cy="279400"/>
          </a:xfrm>
          <a:prstGeom prst="rect">
            <a:avLst/>
          </a:prstGeom>
          <a:noFill/>
        </p:spPr>
        <p:txBody>
          <a:bodyPr wrap="square" lIns="0" rIns="0" tIns="0" bIns="0">
            <a:spAutoFit/>
          </a:bodyPr>
          <a:lstStyle/>
          <a:p>
            <a:r>
              <a:rPr sz="1250" b="1">
                <a:solidFill>
                  <a:srgbClr val="1B3A6B"/>
                </a:solidFill>
                <a:latin typeface="Arial"/>
              </a:rPr>
              <a:t>Rien ne regarde l’avenir</a:t>
            </a:r>
          </a:p>
        </p:txBody>
      </p:sp>
      <p:sp>
        <p:nvSpPr>
          <p:cNvPr id="13" name="TextBox 12"/>
          <p:cNvSpPr txBox="1"/>
          <p:nvPr/>
        </p:nvSpPr>
        <p:spPr>
          <a:xfrm>
            <a:off x="4546600" y="5816600"/>
            <a:ext cx="3098800" cy="457200"/>
          </a:xfrm>
          <a:prstGeom prst="rect">
            <a:avLst/>
          </a:prstGeom>
          <a:noFill/>
        </p:spPr>
        <p:txBody>
          <a:bodyPr wrap="square" lIns="0" rIns="0" tIns="0" bIns="0">
            <a:spAutoFit/>
          </a:bodyPr>
          <a:lstStyle/>
          <a:p>
            <a:pPr>
              <a:lnSpc>
                <a:spcPct val="132000"/>
              </a:lnSpc>
            </a:pPr>
            <a:r>
              <a:rPr sz="1100" b="0">
                <a:solidFill>
                  <a:srgbClr val="5D6675"/>
                </a:solidFill>
                <a:latin typeface="Arial"/>
              </a:rPr>
              <a:t>Une décision n’utilise que</a:t>
            </a:r>
          </a:p>
          <a:p>
            <a:pPr>
              <a:lnSpc>
                <a:spcPct val="132000"/>
              </a:lnSpc>
            </a:pPr>
            <a:r>
              <a:rPr sz="1100" b="0">
                <a:solidFill>
                  <a:srgbClr val="5D6675"/>
                </a:solidFill>
                <a:latin typeface="Arial"/>
              </a:rPr>
              <a:t>l’information antérieure.</a:t>
            </a:r>
          </a:p>
        </p:txBody>
      </p:sp>
      <p:sp>
        <p:nvSpPr>
          <p:cNvPr id="14" name="Rounded Rectangle 13"/>
          <p:cNvSpPr/>
          <p:nvPr/>
        </p:nvSpPr>
        <p:spPr>
          <a:xfrm>
            <a:off x="8026400" y="5080000"/>
            <a:ext cx="3556000" cy="139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55000" y="5308600"/>
            <a:ext cx="431800" cy="38100"/>
          </a:xfrm>
          <a:prstGeom prst="rect">
            <a:avLst/>
          </a:prstGeom>
          <a:solidFill>
            <a:srgbClr val="A86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5000" y="5486400"/>
            <a:ext cx="3098800" cy="279400"/>
          </a:xfrm>
          <a:prstGeom prst="rect">
            <a:avLst/>
          </a:prstGeom>
          <a:noFill/>
        </p:spPr>
        <p:txBody>
          <a:bodyPr wrap="square" lIns="0" rIns="0" tIns="0" bIns="0">
            <a:spAutoFit/>
          </a:bodyPr>
          <a:lstStyle/>
          <a:p>
            <a:r>
              <a:rPr sz="1250" b="1">
                <a:solidFill>
                  <a:srgbClr val="A86812"/>
                </a:solidFill>
                <a:latin typeface="Arial"/>
              </a:rPr>
              <a:t>Rien n’est publié sans test</a:t>
            </a:r>
          </a:p>
        </p:txBody>
      </p:sp>
      <p:sp>
        <p:nvSpPr>
          <p:cNvPr id="17" name="TextBox 16"/>
          <p:cNvSpPr txBox="1"/>
          <p:nvPr/>
        </p:nvSpPr>
        <p:spPr>
          <a:xfrm>
            <a:off x="8255000" y="5816600"/>
            <a:ext cx="3098800" cy="457200"/>
          </a:xfrm>
          <a:prstGeom prst="rect">
            <a:avLst/>
          </a:prstGeom>
          <a:noFill/>
        </p:spPr>
        <p:txBody>
          <a:bodyPr wrap="square" lIns="0" rIns="0" tIns="0" bIns="0">
            <a:spAutoFit/>
          </a:bodyPr>
          <a:lstStyle/>
          <a:p>
            <a:pPr>
              <a:lnSpc>
                <a:spcPct val="132000"/>
              </a:lnSpc>
            </a:pPr>
            <a:r>
              <a:rPr sz="1100" b="0">
                <a:solidFill>
                  <a:srgbClr val="5D6675"/>
                </a:solidFill>
                <a:latin typeface="Arial"/>
              </a:rPr>
              <a:t>Une amélioration doit survivre</a:t>
            </a:r>
          </a:p>
          <a:p>
            <a:pPr>
              <a:lnSpc>
                <a:spcPct val="132000"/>
              </a:lnSpc>
            </a:pPr>
            <a:r>
              <a:rPr sz="1100" b="0">
                <a:solidFill>
                  <a:srgbClr val="5D6675"/>
                </a:solidFill>
                <a:latin typeface="Arial"/>
              </a:rPr>
              <a:t>à la correction statistique.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NOTRE RÉPONSE · LES DONNÉES</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Une donnée n’entre dans le système que si elle est traçable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12</a:t>
            </a:r>
          </a:p>
        </p:txBody>
      </p:sp>
      <p:sp>
        <p:nvSpPr>
          <p:cNvPr id="5" name="Rounded Rectangle 4"/>
          <p:cNvSpPr/>
          <p:nvPr/>
        </p:nvSpPr>
        <p:spPr>
          <a:xfrm>
            <a:off x="609600" y="1574800"/>
            <a:ext cx="3556000" cy="2133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8034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981200"/>
            <a:ext cx="3098800" cy="279400"/>
          </a:xfrm>
          <a:prstGeom prst="rect">
            <a:avLst/>
          </a:prstGeom>
          <a:noFill/>
        </p:spPr>
        <p:txBody>
          <a:bodyPr wrap="square" lIns="0" rIns="0" tIns="0" bIns="0">
            <a:spAutoFit/>
          </a:bodyPr>
          <a:lstStyle/>
          <a:p>
            <a:r>
              <a:rPr sz="1300" b="1">
                <a:solidFill>
                  <a:srgbClr val="1B3A6B"/>
                </a:solidFill>
                <a:latin typeface="Arial"/>
              </a:rPr>
              <a:t>Bronze</a:t>
            </a:r>
          </a:p>
        </p:txBody>
      </p:sp>
      <p:sp>
        <p:nvSpPr>
          <p:cNvPr id="8" name="TextBox 7"/>
          <p:cNvSpPr txBox="1"/>
          <p:nvPr/>
        </p:nvSpPr>
        <p:spPr>
          <a:xfrm>
            <a:off x="838200" y="2311400"/>
            <a:ext cx="3098800" cy="1193800"/>
          </a:xfrm>
          <a:prstGeom prst="rect">
            <a:avLst/>
          </a:prstGeom>
          <a:noFill/>
        </p:spPr>
        <p:txBody>
          <a:bodyPr wrap="square" lIns="0" rIns="0" tIns="0" bIns="0">
            <a:spAutoFit/>
          </a:bodyPr>
          <a:lstStyle/>
          <a:p>
            <a:pPr>
              <a:lnSpc>
                <a:spcPct val="132000"/>
              </a:lnSpc>
            </a:pPr>
            <a:r>
              <a:rPr sz="1150" b="0">
                <a:solidFill>
                  <a:srgbClr val="5D6675"/>
                </a:solidFill>
                <a:latin typeface="Arial"/>
              </a:rPr>
              <a:t>La donnée brute, conservée telle quelle. On ne réécrit jamais la source.</a:t>
            </a:r>
          </a:p>
        </p:txBody>
      </p:sp>
      <p:sp>
        <p:nvSpPr>
          <p:cNvPr id="9" name="Rounded Rectangle 8"/>
          <p:cNvSpPr/>
          <p:nvPr/>
        </p:nvSpPr>
        <p:spPr>
          <a:xfrm>
            <a:off x="4318000" y="1574800"/>
            <a:ext cx="3556000" cy="2133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46600" y="18034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6600" y="1981200"/>
            <a:ext cx="3098800" cy="279400"/>
          </a:xfrm>
          <a:prstGeom prst="rect">
            <a:avLst/>
          </a:prstGeom>
          <a:noFill/>
        </p:spPr>
        <p:txBody>
          <a:bodyPr wrap="square" lIns="0" rIns="0" tIns="0" bIns="0">
            <a:spAutoFit/>
          </a:bodyPr>
          <a:lstStyle/>
          <a:p>
            <a:r>
              <a:rPr sz="1300" b="1">
                <a:solidFill>
                  <a:srgbClr val="0F766E"/>
                </a:solidFill>
                <a:latin typeface="Arial"/>
              </a:rPr>
              <a:t>Silver</a:t>
            </a:r>
          </a:p>
        </p:txBody>
      </p:sp>
      <p:sp>
        <p:nvSpPr>
          <p:cNvPr id="12" name="TextBox 11"/>
          <p:cNvSpPr txBox="1"/>
          <p:nvPr/>
        </p:nvSpPr>
        <p:spPr>
          <a:xfrm>
            <a:off x="4546600" y="2311400"/>
            <a:ext cx="3098800" cy="1193800"/>
          </a:xfrm>
          <a:prstGeom prst="rect">
            <a:avLst/>
          </a:prstGeom>
          <a:noFill/>
        </p:spPr>
        <p:txBody>
          <a:bodyPr wrap="square" lIns="0" rIns="0" tIns="0" bIns="0">
            <a:spAutoFit/>
          </a:bodyPr>
          <a:lstStyle/>
          <a:p>
            <a:pPr>
              <a:lnSpc>
                <a:spcPct val="132000"/>
              </a:lnSpc>
            </a:pPr>
            <a:r>
              <a:rPr sz="1150" b="0">
                <a:solidFill>
                  <a:srgbClr val="5D6675"/>
                </a:solidFill>
                <a:latin typeface="Arial"/>
              </a:rPr>
              <a:t>Calendriers alignés, conversion en dirhams au taux officiel Bank Al-Maghrib, contrôles de cohérence.</a:t>
            </a:r>
          </a:p>
        </p:txBody>
      </p:sp>
      <p:sp>
        <p:nvSpPr>
          <p:cNvPr id="13" name="Rounded Rectangle 12"/>
          <p:cNvSpPr/>
          <p:nvPr/>
        </p:nvSpPr>
        <p:spPr>
          <a:xfrm>
            <a:off x="8026400" y="1574800"/>
            <a:ext cx="3556000" cy="21336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55000" y="1803400"/>
            <a:ext cx="431800" cy="38100"/>
          </a:xfrm>
          <a:prstGeom prst="rect">
            <a:avLst/>
          </a:prstGeom>
          <a:solidFill>
            <a:srgbClr val="2F7D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5000" y="1981200"/>
            <a:ext cx="3098800" cy="279400"/>
          </a:xfrm>
          <a:prstGeom prst="rect">
            <a:avLst/>
          </a:prstGeom>
          <a:noFill/>
        </p:spPr>
        <p:txBody>
          <a:bodyPr wrap="square" lIns="0" rIns="0" tIns="0" bIns="0">
            <a:spAutoFit/>
          </a:bodyPr>
          <a:lstStyle/>
          <a:p>
            <a:r>
              <a:rPr sz="1300" b="1">
                <a:solidFill>
                  <a:srgbClr val="2F7D3B"/>
                </a:solidFill>
                <a:latin typeface="Arial"/>
              </a:rPr>
              <a:t>Gold</a:t>
            </a:r>
          </a:p>
        </p:txBody>
      </p:sp>
      <p:sp>
        <p:nvSpPr>
          <p:cNvPr id="16" name="TextBox 15"/>
          <p:cNvSpPr txBox="1"/>
          <p:nvPr/>
        </p:nvSpPr>
        <p:spPr>
          <a:xfrm>
            <a:off x="8255000" y="2311400"/>
            <a:ext cx="3098800" cy="1193800"/>
          </a:xfrm>
          <a:prstGeom prst="rect">
            <a:avLst/>
          </a:prstGeom>
          <a:noFill/>
        </p:spPr>
        <p:txBody>
          <a:bodyPr wrap="square" lIns="0" rIns="0" tIns="0" bIns="0">
            <a:spAutoFit/>
          </a:bodyPr>
          <a:lstStyle/>
          <a:p>
            <a:pPr>
              <a:lnSpc>
                <a:spcPct val="132000"/>
              </a:lnSpc>
            </a:pPr>
            <a:r>
              <a:rPr sz="1150" b="0">
                <a:solidFill>
                  <a:srgbClr val="5D6675"/>
                </a:solidFill>
                <a:latin typeface="Arial"/>
              </a:rPr>
              <a:t>Rendements, indicateurs et preuves : la seule couche que les modèles et le rapport ont le droit de lire.</a:t>
            </a:r>
          </a:p>
        </p:txBody>
      </p:sp>
      <p:sp>
        <p:nvSpPr>
          <p:cNvPr id="17" name="TextBox 16"/>
          <p:cNvSpPr txBox="1"/>
          <p:nvPr/>
        </p:nvSpPr>
        <p:spPr>
          <a:xfrm>
            <a:off x="609600" y="4013200"/>
            <a:ext cx="10972800" cy="254000"/>
          </a:xfrm>
          <a:prstGeom prst="rect">
            <a:avLst/>
          </a:prstGeom>
          <a:noFill/>
        </p:spPr>
        <p:txBody>
          <a:bodyPr wrap="square" lIns="0" rIns="0" tIns="0" bIns="0">
            <a:spAutoFit/>
          </a:bodyPr>
          <a:lstStyle/>
          <a:p>
            <a:r>
              <a:rPr sz="1000" b="1">
                <a:solidFill>
                  <a:srgbClr val="3D8DFF"/>
                </a:solidFill>
                <a:latin typeface="Arial"/>
              </a:rPr>
              <a:t>CE QUE CELA ÉVITE CONCRÈTEMENT</a:t>
            </a:r>
          </a:p>
        </p:txBody>
      </p:sp>
      <p:sp>
        <p:nvSpPr>
          <p:cNvPr id="18" name="Rounded Rectangle 17"/>
          <p:cNvSpPr/>
          <p:nvPr/>
        </p:nvSpPr>
        <p:spPr>
          <a:xfrm>
            <a:off x="609600" y="4368800"/>
            <a:ext cx="5334000" cy="1676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3600" y="4622800"/>
            <a:ext cx="4826000" cy="279400"/>
          </a:xfrm>
          <a:prstGeom prst="rect">
            <a:avLst/>
          </a:prstGeom>
          <a:noFill/>
        </p:spPr>
        <p:txBody>
          <a:bodyPr wrap="square" lIns="0" rIns="0" tIns="0" bIns="0">
            <a:spAutoFit/>
          </a:bodyPr>
          <a:lstStyle/>
          <a:p>
            <a:r>
              <a:rPr sz="1300" b="1">
                <a:solidFill>
                  <a:srgbClr val="B7433E"/>
                </a:solidFill>
                <a:latin typeface="Arial"/>
              </a:rPr>
              <a:t>Le biais de dividende</a:t>
            </a:r>
          </a:p>
        </p:txBody>
      </p:sp>
      <p:sp>
        <p:nvSpPr>
          <p:cNvPr id="20" name="TextBox 19"/>
          <p:cNvSpPr txBox="1"/>
          <p:nvPr/>
        </p:nvSpPr>
        <p:spPr>
          <a:xfrm>
            <a:off x="863600" y="4978400"/>
            <a:ext cx="4826000" cy="939800"/>
          </a:xfrm>
          <a:prstGeom prst="rect">
            <a:avLst/>
          </a:prstGeom>
          <a:noFill/>
        </p:spPr>
        <p:txBody>
          <a:bodyPr wrap="square" lIns="0" rIns="0" tIns="0" bIns="0">
            <a:spAutoFit/>
          </a:bodyPr>
          <a:lstStyle/>
          <a:p>
            <a:pPr>
              <a:lnSpc>
                <a:spcPct val="132000"/>
              </a:lnSpc>
            </a:pPr>
            <a:r>
              <a:rPr sz="1150" b="0">
                <a:solidFill>
                  <a:srgbClr val="5D6675"/>
                </a:solidFill>
                <a:latin typeface="Arial"/>
              </a:rPr>
              <a:t>Les dividendes des actions BVC sont réintégrés à leur date de détachement : ignorer cela sous-estime la performance réelle.</a:t>
            </a:r>
          </a:p>
        </p:txBody>
      </p:sp>
      <p:sp>
        <p:nvSpPr>
          <p:cNvPr id="21" name="Rounded Rectangle 20"/>
          <p:cNvSpPr/>
          <p:nvPr/>
        </p:nvSpPr>
        <p:spPr>
          <a:xfrm>
            <a:off x="6248400" y="4368800"/>
            <a:ext cx="5334000" cy="1676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2400" y="4622800"/>
            <a:ext cx="4826000" cy="279400"/>
          </a:xfrm>
          <a:prstGeom prst="rect">
            <a:avLst/>
          </a:prstGeom>
          <a:noFill/>
        </p:spPr>
        <p:txBody>
          <a:bodyPr wrap="square" lIns="0" rIns="0" tIns="0" bIns="0">
            <a:spAutoFit/>
          </a:bodyPr>
          <a:lstStyle/>
          <a:p>
            <a:r>
              <a:rPr sz="1300" b="1">
                <a:solidFill>
                  <a:srgbClr val="B7433E"/>
                </a:solidFill>
                <a:latin typeface="Arial"/>
              </a:rPr>
              <a:t>Le piège de la devise</a:t>
            </a:r>
          </a:p>
        </p:txBody>
      </p:sp>
      <p:sp>
        <p:nvSpPr>
          <p:cNvPr id="23" name="TextBox 22"/>
          <p:cNvSpPr txBox="1"/>
          <p:nvPr/>
        </p:nvSpPr>
        <p:spPr>
          <a:xfrm>
            <a:off x="6502400" y="4978400"/>
            <a:ext cx="4826000" cy="939800"/>
          </a:xfrm>
          <a:prstGeom prst="rect">
            <a:avLst/>
          </a:prstGeom>
          <a:noFill/>
        </p:spPr>
        <p:txBody>
          <a:bodyPr wrap="square" lIns="0" rIns="0" tIns="0" bIns="0">
            <a:spAutoFit/>
          </a:bodyPr>
          <a:lstStyle/>
          <a:p>
            <a:pPr>
              <a:lnSpc>
                <a:spcPct val="132000"/>
              </a:lnSpc>
            </a:pPr>
            <a:r>
              <a:rPr sz="1150" b="0">
                <a:solidFill>
                  <a:srgbClr val="5D6675"/>
                </a:solidFill>
                <a:latin typeface="Arial"/>
              </a:rPr>
              <a:t>Un ETF coté en dollars n’est pas comparable à une action cotée en dirhams. Tout est ramené à une seule monnaie, au taux officiel.</a:t>
            </a:r>
          </a:p>
        </p:txBody>
      </p:sp>
      <p:sp>
        <p:nvSpPr>
          <p:cNvPr id="24" name="TextBox 23"/>
          <p:cNvSpPr txBox="1"/>
          <p:nvPr/>
        </p:nvSpPr>
        <p:spPr>
          <a:xfrm>
            <a:off x="609600" y="62230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Ces deux corrections ont changé les résultats publiés. Elles ont été appliquées malgré cela — c’est le prix d’un chiffre auquel on peut se fier.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NOTRE RÉPONSE · LES MODÈLES</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La complexité est ajoutée par paliers, jamais d’un bloc</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13</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Chaque étage doit prouver qu’il améliore l’étage précédent, sinon il reste expérimental.</a:t>
            </a:r>
          </a:p>
        </p:txBody>
      </p:sp>
      <p:pic>
        <p:nvPicPr>
          <p:cNvPr id="6" name="Picture 5" descr="escalier_modeles.png"/>
          <p:cNvPicPr>
            <a:picLocks noChangeAspect="1"/>
          </p:cNvPicPr>
          <p:nvPr/>
        </p:nvPicPr>
        <p:blipFill>
          <a:blip r:embed="rId2"/>
          <a:stretch>
            <a:fillRect/>
          </a:stretch>
        </p:blipFill>
        <p:spPr>
          <a:xfrm>
            <a:off x="1100666" y="1498600"/>
            <a:ext cx="9990666" cy="4191000"/>
          </a:xfrm>
          <a:prstGeom prst="rect">
            <a:avLst/>
          </a:prstGeom>
        </p:spPr>
      </p:pic>
      <p:sp>
        <p:nvSpPr>
          <p:cNvPr id="7" name="Rounded Rectangle 6"/>
          <p:cNvSpPr/>
          <p:nvPr/>
        </p:nvSpPr>
        <p:spPr>
          <a:xfrm>
            <a:off x="609600" y="5791200"/>
            <a:ext cx="10972800" cy="7112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5969000"/>
            <a:ext cx="10414000" cy="508000"/>
          </a:xfrm>
          <a:prstGeom prst="rect">
            <a:avLst/>
          </a:prstGeom>
          <a:noFill/>
        </p:spPr>
        <p:txBody>
          <a:bodyPr wrap="square" lIns="0" rIns="0" tIns="0" bIns="0">
            <a:spAutoFit/>
          </a:bodyPr>
          <a:lstStyle/>
          <a:p>
            <a:pPr>
              <a:lnSpc>
                <a:spcPct val="125000"/>
              </a:lnSpc>
            </a:pPr>
            <a:r>
              <a:rPr sz="1250" b="1">
                <a:solidFill>
                  <a:srgbClr val="111827"/>
                </a:solidFill>
                <a:latin typeface="Arial"/>
              </a:rPr>
              <a:t>Le cœur du système : un modèle de régimes (HMM) qui reconnaît, sans supervision, si le marché est calme ou sous tension — et change de posture.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NOTRE RÉPONSE · L’ÉPREUVE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Rejouer l’histoire sans jamais connaître la suite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14</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Le modèle est réentraîné à chaque décision, avec les seules données disponibles ce jour-là.</a:t>
            </a:r>
          </a:p>
        </p:txBody>
      </p:sp>
      <p:pic>
        <p:nvPicPr>
          <p:cNvPr id="6" name="Picture 5" descr="walkforward.png"/>
          <p:cNvPicPr>
            <a:picLocks noChangeAspect="1"/>
          </p:cNvPicPr>
          <p:nvPr/>
        </p:nvPicPr>
        <p:blipFill>
          <a:blip r:embed="rId2"/>
          <a:stretch>
            <a:fillRect/>
          </a:stretch>
        </p:blipFill>
        <p:spPr>
          <a:xfrm>
            <a:off x="609600" y="1462808"/>
            <a:ext cx="7569200" cy="4338783"/>
          </a:xfrm>
          <a:prstGeom prst="rect">
            <a:avLst/>
          </a:prstGeom>
        </p:spPr>
      </p:pic>
      <p:sp>
        <p:nvSpPr>
          <p:cNvPr id="7" name="Rounded Rectangle 6"/>
          <p:cNvSpPr/>
          <p:nvPr/>
        </p:nvSpPr>
        <p:spPr>
          <a:xfrm>
            <a:off x="8483600" y="1574800"/>
            <a:ext cx="3098800" cy="1549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12200" y="18034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12200" y="1981200"/>
            <a:ext cx="2641600" cy="279400"/>
          </a:xfrm>
          <a:prstGeom prst="rect">
            <a:avLst/>
          </a:prstGeom>
          <a:noFill/>
        </p:spPr>
        <p:txBody>
          <a:bodyPr wrap="square" lIns="0" rIns="0" tIns="0" bIns="0">
            <a:spAutoFit/>
          </a:bodyPr>
          <a:lstStyle/>
          <a:p>
            <a:r>
              <a:rPr sz="1300" b="1">
                <a:solidFill>
                  <a:srgbClr val="1B3A6B"/>
                </a:solidFill>
                <a:latin typeface="Arial"/>
              </a:rPr>
              <a:t>Purge et embargo</a:t>
            </a:r>
          </a:p>
        </p:txBody>
      </p:sp>
      <p:sp>
        <p:nvSpPr>
          <p:cNvPr id="10" name="TextBox 9"/>
          <p:cNvSpPr txBox="1"/>
          <p:nvPr/>
        </p:nvSpPr>
        <p:spPr>
          <a:xfrm>
            <a:off x="8712200" y="2311400"/>
            <a:ext cx="2641600" cy="609600"/>
          </a:xfrm>
          <a:prstGeom prst="rect">
            <a:avLst/>
          </a:prstGeom>
          <a:noFill/>
        </p:spPr>
        <p:txBody>
          <a:bodyPr wrap="square" lIns="0" rIns="0" tIns="0" bIns="0">
            <a:spAutoFit/>
          </a:bodyPr>
          <a:lstStyle/>
          <a:p>
            <a:pPr>
              <a:lnSpc>
                <a:spcPct val="132000"/>
              </a:lnSpc>
            </a:pPr>
            <a:r>
              <a:rPr sz="1100" b="0">
                <a:solidFill>
                  <a:srgbClr val="5D6675"/>
                </a:solidFill>
                <a:latin typeface="Arial"/>
              </a:rPr>
              <a:t>On écarte les jours à cheval sur la frontière pour qu’aucune information ne fuite.</a:t>
            </a:r>
          </a:p>
        </p:txBody>
      </p:sp>
      <p:sp>
        <p:nvSpPr>
          <p:cNvPr id="11" name="Rounded Rectangle 10"/>
          <p:cNvSpPr/>
          <p:nvPr/>
        </p:nvSpPr>
        <p:spPr>
          <a:xfrm>
            <a:off x="8483600" y="3276600"/>
            <a:ext cx="3098800" cy="1422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200" y="35052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12200" y="3683000"/>
            <a:ext cx="2641600" cy="279400"/>
          </a:xfrm>
          <a:prstGeom prst="rect">
            <a:avLst/>
          </a:prstGeom>
          <a:noFill/>
        </p:spPr>
        <p:txBody>
          <a:bodyPr wrap="square" lIns="0" rIns="0" tIns="0" bIns="0">
            <a:spAutoFit/>
          </a:bodyPr>
          <a:lstStyle/>
          <a:p>
            <a:r>
              <a:rPr sz="1300" b="1">
                <a:solidFill>
                  <a:srgbClr val="0F766E"/>
                </a:solidFill>
                <a:latin typeface="Arial"/>
              </a:rPr>
              <a:t>Test final gelé</a:t>
            </a:r>
          </a:p>
        </p:txBody>
      </p:sp>
      <p:sp>
        <p:nvSpPr>
          <p:cNvPr id="14" name="TextBox 13"/>
          <p:cNvSpPr txBox="1"/>
          <p:nvPr/>
        </p:nvSpPr>
        <p:spPr>
          <a:xfrm>
            <a:off x="8712200" y="4013200"/>
            <a:ext cx="2641600" cy="482600"/>
          </a:xfrm>
          <a:prstGeom prst="rect">
            <a:avLst/>
          </a:prstGeom>
          <a:noFill/>
        </p:spPr>
        <p:txBody>
          <a:bodyPr wrap="square" lIns="0" rIns="0" tIns="0" bIns="0">
            <a:spAutoFit/>
          </a:bodyPr>
          <a:lstStyle/>
          <a:p>
            <a:pPr>
              <a:lnSpc>
                <a:spcPct val="132000"/>
              </a:lnSpc>
            </a:pPr>
            <a:r>
              <a:rPr sz="1100" b="0">
                <a:solidFill>
                  <a:srgbClr val="5D6675"/>
                </a:solidFill>
                <a:latin typeface="Arial"/>
              </a:rPr>
              <a:t>La dernière période reste intouchée jusqu’à la comparaison finale.</a:t>
            </a:r>
          </a:p>
        </p:txBody>
      </p:sp>
      <p:sp>
        <p:nvSpPr>
          <p:cNvPr id="15" name="Rounded Rectangle 14"/>
          <p:cNvSpPr/>
          <p:nvPr/>
        </p:nvSpPr>
        <p:spPr>
          <a:xfrm>
            <a:off x="8483600" y="4851400"/>
            <a:ext cx="3098800" cy="1422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12200" y="5080000"/>
            <a:ext cx="431800" cy="38100"/>
          </a:xfrm>
          <a:prstGeom prst="rect">
            <a:avLst/>
          </a:prstGeom>
          <a:solidFill>
            <a:srgbClr val="A86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12200" y="5257800"/>
            <a:ext cx="2641600" cy="279400"/>
          </a:xfrm>
          <a:prstGeom prst="rect">
            <a:avLst/>
          </a:prstGeom>
          <a:noFill/>
        </p:spPr>
        <p:txBody>
          <a:bodyPr wrap="square" lIns="0" rIns="0" tIns="0" bIns="0">
            <a:spAutoFit/>
          </a:bodyPr>
          <a:lstStyle/>
          <a:p>
            <a:r>
              <a:rPr sz="1300" b="1">
                <a:solidFill>
                  <a:srgbClr val="A86812"/>
                </a:solidFill>
                <a:latin typeface="Arial"/>
              </a:rPr>
              <a:t>Frais déduits</a:t>
            </a:r>
          </a:p>
        </p:txBody>
      </p:sp>
      <p:sp>
        <p:nvSpPr>
          <p:cNvPr id="18" name="TextBox 17"/>
          <p:cNvSpPr txBox="1"/>
          <p:nvPr/>
        </p:nvSpPr>
        <p:spPr>
          <a:xfrm>
            <a:off x="8712200" y="5588000"/>
            <a:ext cx="2641600" cy="482600"/>
          </a:xfrm>
          <a:prstGeom prst="rect">
            <a:avLst/>
          </a:prstGeom>
          <a:noFill/>
        </p:spPr>
        <p:txBody>
          <a:bodyPr wrap="square" lIns="0" rIns="0" tIns="0" bIns="0">
            <a:spAutoFit/>
          </a:bodyPr>
          <a:lstStyle/>
          <a:p>
            <a:pPr>
              <a:lnSpc>
                <a:spcPct val="132000"/>
              </a:lnSpc>
            </a:pPr>
            <a:r>
              <a:rPr sz="1100" b="0">
                <a:solidFill>
                  <a:srgbClr val="5D6675"/>
                </a:solidFill>
                <a:latin typeface="Arial"/>
              </a:rPr>
              <a:t>Chaque mouvement de portefeuille est facturé avant d’être compté.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NOTRE RÉPONSE · LES GARDE-FOUS</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Trois verrous entre un bon chiffre et une affirmation</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15</a:t>
            </a:r>
          </a:p>
        </p:txBody>
      </p:sp>
      <p:sp>
        <p:nvSpPr>
          <p:cNvPr id="5" name="Rounded Rectangle 4"/>
          <p:cNvSpPr/>
          <p:nvPr/>
        </p:nvSpPr>
        <p:spPr>
          <a:xfrm>
            <a:off x="609600" y="1625600"/>
            <a:ext cx="3556000" cy="266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38200" y="1854200"/>
            <a:ext cx="4318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2032000"/>
            <a:ext cx="3098800" cy="279400"/>
          </a:xfrm>
          <a:prstGeom prst="rect">
            <a:avLst/>
          </a:prstGeom>
          <a:noFill/>
        </p:spPr>
        <p:txBody>
          <a:bodyPr wrap="square" lIns="0" rIns="0" tIns="0" bIns="0">
            <a:spAutoFit/>
          </a:bodyPr>
          <a:lstStyle/>
          <a:p>
            <a:r>
              <a:rPr sz="1300" b="1">
                <a:solidFill>
                  <a:srgbClr val="1B3A6B"/>
                </a:solidFill>
                <a:latin typeface="Arial"/>
              </a:rPr>
              <a:t>1 · Comparaison appariée</a:t>
            </a:r>
          </a:p>
        </p:txBody>
      </p:sp>
      <p:sp>
        <p:nvSpPr>
          <p:cNvPr id="8" name="TextBox 7"/>
          <p:cNvSpPr txBox="1"/>
          <p:nvPr/>
        </p:nvSpPr>
        <p:spPr>
          <a:xfrm>
            <a:off x="838200" y="2362200"/>
            <a:ext cx="3098800" cy="1727200"/>
          </a:xfrm>
          <a:prstGeom prst="rect">
            <a:avLst/>
          </a:prstGeom>
          <a:noFill/>
        </p:spPr>
        <p:txBody>
          <a:bodyPr wrap="square" lIns="0" rIns="0" tIns="0" bIns="0">
            <a:spAutoFit/>
          </a:bodyPr>
          <a:lstStyle/>
          <a:p>
            <a:pPr>
              <a:lnSpc>
                <a:spcPct val="132000"/>
              </a:lnSpc>
            </a:pPr>
            <a:r>
              <a:rPr sz="1150" b="0">
                <a:solidFill>
                  <a:srgbClr val="5D6675"/>
                </a:solidFill>
                <a:latin typeface="Arial"/>
              </a:rPr>
              <a:t>Les deux stratégies sont comparées jour par jour, sur exactement les mêmes dates. Un intervalle de confiance accompagne chaque écart.</a:t>
            </a:r>
          </a:p>
        </p:txBody>
      </p:sp>
      <p:sp>
        <p:nvSpPr>
          <p:cNvPr id="9" name="Rounded Rectangle 8"/>
          <p:cNvSpPr/>
          <p:nvPr/>
        </p:nvSpPr>
        <p:spPr>
          <a:xfrm>
            <a:off x="4318000" y="1625600"/>
            <a:ext cx="3556000" cy="266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46600" y="1854200"/>
            <a:ext cx="431800" cy="38100"/>
          </a:xfrm>
          <a:prstGeom prst="rect">
            <a:avLst/>
          </a:prstGeom>
          <a:solidFill>
            <a:srgbClr val="B74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6600" y="2032000"/>
            <a:ext cx="3098800" cy="279400"/>
          </a:xfrm>
          <a:prstGeom prst="rect">
            <a:avLst/>
          </a:prstGeom>
          <a:noFill/>
        </p:spPr>
        <p:txBody>
          <a:bodyPr wrap="square" lIns="0" rIns="0" tIns="0" bIns="0">
            <a:spAutoFit/>
          </a:bodyPr>
          <a:lstStyle/>
          <a:p>
            <a:r>
              <a:rPr sz="1300" b="1">
                <a:solidFill>
                  <a:srgbClr val="B7433E"/>
                </a:solidFill>
                <a:latin typeface="Arial"/>
              </a:rPr>
              <a:t>2 · Correction du data snooping</a:t>
            </a:r>
          </a:p>
        </p:txBody>
      </p:sp>
      <p:sp>
        <p:nvSpPr>
          <p:cNvPr id="12" name="TextBox 11"/>
          <p:cNvSpPr txBox="1"/>
          <p:nvPr/>
        </p:nvSpPr>
        <p:spPr>
          <a:xfrm>
            <a:off x="4546600" y="2362200"/>
            <a:ext cx="3098800" cy="1727200"/>
          </a:xfrm>
          <a:prstGeom prst="rect">
            <a:avLst/>
          </a:prstGeom>
          <a:noFill/>
        </p:spPr>
        <p:txBody>
          <a:bodyPr wrap="square" lIns="0" rIns="0" tIns="0" bIns="0">
            <a:spAutoFit/>
          </a:bodyPr>
          <a:lstStyle/>
          <a:p>
            <a:pPr>
              <a:lnSpc>
                <a:spcPct val="132000"/>
              </a:lnSpc>
            </a:pPr>
            <a:r>
              <a:rPr sz="1150" b="0">
                <a:solidFill>
                  <a:srgbClr val="5D6675"/>
                </a:solidFill>
                <a:latin typeface="Arial"/>
              </a:rPr>
              <a:t>White Reality Check et Hansen SPA corrigent le fait d’avoir essayé 240 configurations. La liste a été figée avant le premier calcul.</a:t>
            </a:r>
          </a:p>
        </p:txBody>
      </p:sp>
      <p:sp>
        <p:nvSpPr>
          <p:cNvPr id="13" name="Rounded Rectangle 12"/>
          <p:cNvSpPr/>
          <p:nvPr/>
        </p:nvSpPr>
        <p:spPr>
          <a:xfrm>
            <a:off x="8026400" y="1625600"/>
            <a:ext cx="3556000" cy="2667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55000" y="1854200"/>
            <a:ext cx="4318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5000" y="2032000"/>
            <a:ext cx="3098800" cy="279400"/>
          </a:xfrm>
          <a:prstGeom prst="rect">
            <a:avLst/>
          </a:prstGeom>
          <a:noFill/>
        </p:spPr>
        <p:txBody>
          <a:bodyPr wrap="square" lIns="0" rIns="0" tIns="0" bIns="0">
            <a:spAutoFit/>
          </a:bodyPr>
          <a:lstStyle/>
          <a:p>
            <a:r>
              <a:rPr sz="1300" b="1">
                <a:solidFill>
                  <a:srgbClr val="0F766E"/>
                </a:solidFill>
                <a:latin typeface="Arial"/>
              </a:rPr>
              <a:t>3 · Comparateur pré-spécifié</a:t>
            </a:r>
          </a:p>
        </p:txBody>
      </p:sp>
      <p:sp>
        <p:nvSpPr>
          <p:cNvPr id="16" name="TextBox 15"/>
          <p:cNvSpPr txBox="1"/>
          <p:nvPr/>
        </p:nvSpPr>
        <p:spPr>
          <a:xfrm>
            <a:off x="8255000" y="2362200"/>
            <a:ext cx="3098800" cy="1727200"/>
          </a:xfrm>
          <a:prstGeom prst="rect">
            <a:avLst/>
          </a:prstGeom>
          <a:noFill/>
        </p:spPr>
        <p:txBody>
          <a:bodyPr wrap="square" lIns="0" rIns="0" tIns="0" bIns="0">
            <a:spAutoFit/>
          </a:bodyPr>
          <a:lstStyle/>
          <a:p>
            <a:pPr>
              <a:lnSpc>
                <a:spcPct val="132000"/>
              </a:lnSpc>
            </a:pPr>
            <a:r>
              <a:rPr sz="1150" b="0">
                <a:solidFill>
                  <a:srgbClr val="5D6675"/>
                </a:solidFill>
                <a:latin typeface="Arial"/>
              </a:rPr>
              <a:t>La référence à battre est choisie à l’avance et jamais réécrite après avoir vu les résultats.</a:t>
            </a:r>
          </a:p>
        </p:txBody>
      </p:sp>
      <p:sp>
        <p:nvSpPr>
          <p:cNvPr id="17" name="Rounded Rectangle 16"/>
          <p:cNvSpPr/>
          <p:nvPr/>
        </p:nvSpPr>
        <p:spPr>
          <a:xfrm>
            <a:off x="609600" y="4521200"/>
            <a:ext cx="10972800" cy="12192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9000" y="4749800"/>
            <a:ext cx="10363200" cy="304800"/>
          </a:xfrm>
          <a:prstGeom prst="rect">
            <a:avLst/>
          </a:prstGeom>
          <a:noFill/>
        </p:spPr>
        <p:txBody>
          <a:bodyPr wrap="square" lIns="0" rIns="0" tIns="0" bIns="0">
            <a:spAutoFit/>
          </a:bodyPr>
          <a:lstStyle/>
          <a:p>
            <a:r>
              <a:rPr sz="1100" b="1">
                <a:solidFill>
                  <a:srgbClr val="A86812"/>
                </a:solidFill>
                <a:latin typeface="Arial"/>
              </a:rPr>
              <a:t>Pourquoi cela compte pour un jury</a:t>
            </a:r>
          </a:p>
        </p:txBody>
      </p:sp>
      <p:sp>
        <p:nvSpPr>
          <p:cNvPr id="19" name="TextBox 18"/>
          <p:cNvSpPr txBox="1"/>
          <p:nvPr/>
        </p:nvSpPr>
        <p:spPr>
          <a:xfrm>
            <a:off x="889000" y="5080000"/>
            <a:ext cx="10363200" cy="584200"/>
          </a:xfrm>
          <a:prstGeom prst="rect">
            <a:avLst/>
          </a:prstGeom>
          <a:noFill/>
        </p:spPr>
        <p:txBody>
          <a:bodyPr wrap="square" lIns="0" rIns="0" tIns="0" bIns="0">
            <a:spAutoFit/>
          </a:bodyPr>
          <a:lstStyle/>
          <a:p>
            <a:pPr>
              <a:lnSpc>
                <a:spcPct val="130000"/>
              </a:lnSpc>
            </a:pPr>
            <a:r>
              <a:rPr sz="1250" b="1">
                <a:solidFill>
                  <a:srgbClr val="111827"/>
                </a:solidFill>
                <a:latin typeface="Arial"/>
              </a:rPr>
              <a:t>Sans ces trois verrous, n’importe quelle équipe peut produire une courbe qui monte. Avec eux, un résultat annoncé devient vérifiable — et réfutable.</a:t>
            </a:r>
          </a:p>
        </p:txBody>
      </p:sp>
      <p:sp>
        <p:nvSpPr>
          <p:cNvPr id="20" name="TextBox 19"/>
          <p:cNvSpPr txBox="1"/>
          <p:nvPr/>
        </p:nvSpPr>
        <p:spPr>
          <a:xfrm>
            <a:off x="609600" y="59690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L’ensemble est rejouable : les données sont versionnées, le pipeline est décrit étape par étape, et 891 tests automatisés gardent les invariants.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RÉSULTATS</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Hors échantillon et net de frais, le système tient la distance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16</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Deux terrains évalués séparément : quatre ans au Maroc, vingt ans à l’international — 2008, 2020 et 2022 compris.</a:t>
            </a:r>
          </a:p>
        </p:txBody>
      </p:sp>
      <p:pic>
        <p:nvPicPr>
          <p:cNvPr id="6" name="Picture 5" descr="courbes_equity_fr.png"/>
          <p:cNvPicPr>
            <a:picLocks noChangeAspect="1"/>
          </p:cNvPicPr>
          <p:nvPr/>
        </p:nvPicPr>
        <p:blipFill>
          <a:blip r:embed="rId2"/>
          <a:stretch>
            <a:fillRect/>
          </a:stretch>
        </p:blipFill>
        <p:spPr>
          <a:xfrm>
            <a:off x="951955" y="1320800"/>
            <a:ext cx="10288089" cy="4622800"/>
          </a:xfrm>
          <a:prstGeom prst="rect">
            <a:avLst/>
          </a:prstGeom>
        </p:spPr>
      </p:pic>
      <p:sp>
        <p:nvSpPr>
          <p:cNvPr id="7" name="Rounded Rectangle 6"/>
          <p:cNvSpPr/>
          <p:nvPr/>
        </p:nvSpPr>
        <p:spPr>
          <a:xfrm>
            <a:off x="609600" y="6045200"/>
            <a:ext cx="10972800" cy="660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9000" y="6210300"/>
            <a:ext cx="10414000" cy="431800"/>
          </a:xfrm>
          <a:prstGeom prst="rect">
            <a:avLst/>
          </a:prstGeom>
          <a:noFill/>
        </p:spPr>
        <p:txBody>
          <a:bodyPr wrap="square" lIns="0" rIns="0" tIns="0" bIns="0">
            <a:spAutoFit/>
          </a:bodyPr>
          <a:lstStyle/>
          <a:p>
            <a:pPr>
              <a:lnSpc>
                <a:spcPct val="130000"/>
              </a:lnSpc>
            </a:pPr>
            <a:r>
              <a:rPr sz="1200" b="0">
                <a:solidFill>
                  <a:srgbClr val="5D6675"/>
                </a:solidFill>
                <a:latin typeface="Arial"/>
              </a:rPr>
              <a:t>La bande couvre les trois références classiques, du moins au mieux. Le système ML reste dedans d’un bout à l’autre, crises comprises :</a:t>
            </a:r>
          </a:p>
          <a:p>
            <a:pPr>
              <a:lnSpc>
                <a:spcPct val="130000"/>
              </a:lnSpc>
            </a:pPr>
            <a:r>
              <a:rPr sz="1200" b="0">
                <a:solidFill>
                  <a:srgbClr val="5D6675"/>
                </a:solidFill>
                <a:latin typeface="Arial"/>
              </a:rPr>
              <a:t>la question n’est donc pas « est-ce que ça marche », mais « l’écart est-il réel ou dans le bruit » — et c’est ce que la chaîne sait trancher.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RÉSULTAT · 1</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Le modèle repère les crises — sans qu’on les lui apprenne</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17</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Les cinq fenêtres de crise sont des dates externes, fixées avant d’examiner les résultats.</a:t>
            </a:r>
          </a:p>
        </p:txBody>
      </p:sp>
      <p:pic>
        <p:nvPicPr>
          <p:cNvPr id="6" name="Picture 5" descr="detection_crises_fr.png"/>
          <p:cNvPicPr>
            <a:picLocks noChangeAspect="1"/>
          </p:cNvPicPr>
          <p:nvPr/>
        </p:nvPicPr>
        <p:blipFill>
          <a:blip r:embed="rId2"/>
          <a:stretch>
            <a:fillRect/>
          </a:stretch>
        </p:blipFill>
        <p:spPr>
          <a:xfrm>
            <a:off x="609600" y="1662691"/>
            <a:ext cx="7823200" cy="3837418"/>
          </a:xfrm>
          <a:prstGeom prst="rect">
            <a:avLst/>
          </a:prstGeom>
        </p:spPr>
      </p:pic>
      <p:sp>
        <p:nvSpPr>
          <p:cNvPr id="7" name="TextBox 6"/>
          <p:cNvSpPr txBox="1"/>
          <p:nvPr/>
        </p:nvSpPr>
        <p:spPr>
          <a:xfrm>
            <a:off x="8839200" y="1676400"/>
            <a:ext cx="2743200" cy="584200"/>
          </a:xfrm>
          <a:prstGeom prst="rect">
            <a:avLst/>
          </a:prstGeom>
          <a:noFill/>
        </p:spPr>
        <p:txBody>
          <a:bodyPr wrap="square" lIns="0" rIns="0" tIns="0" bIns="0">
            <a:spAutoFit/>
          </a:bodyPr>
          <a:lstStyle/>
          <a:p>
            <a:r>
              <a:rPr sz="3000" b="1">
                <a:solidFill>
                  <a:srgbClr val="0F766E"/>
                </a:solidFill>
                <a:latin typeface="Arial"/>
              </a:rPr>
              <a:t>5 / 5</a:t>
            </a:r>
          </a:p>
        </p:txBody>
      </p:sp>
      <p:sp>
        <p:nvSpPr>
          <p:cNvPr id="8" name="TextBox 7"/>
          <p:cNvSpPr txBox="1"/>
          <p:nvPr/>
        </p:nvSpPr>
        <p:spPr>
          <a:xfrm>
            <a:off x="8839200" y="2260600"/>
            <a:ext cx="27432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crises détectées</a:t>
            </a:r>
          </a:p>
          <a:p>
            <a:pPr>
              <a:lnSpc>
                <a:spcPct val="120000"/>
              </a:lnSpc>
            </a:pPr>
            <a:r>
              <a:rPr sz="1150" b="0">
                <a:solidFill>
                  <a:srgbClr val="5D6675"/>
                </a:solidFill>
                <a:latin typeface="Arial"/>
              </a:rPr>
              <a:t>par un modèle non supervisé</a:t>
            </a:r>
          </a:p>
        </p:txBody>
      </p:sp>
      <p:sp>
        <p:nvSpPr>
          <p:cNvPr id="9" name="TextBox 8"/>
          <p:cNvSpPr txBox="1"/>
          <p:nvPr/>
        </p:nvSpPr>
        <p:spPr>
          <a:xfrm>
            <a:off x="8839200" y="3276600"/>
            <a:ext cx="2743200" cy="533400"/>
          </a:xfrm>
          <a:prstGeom prst="rect">
            <a:avLst/>
          </a:prstGeom>
          <a:noFill/>
        </p:spPr>
        <p:txBody>
          <a:bodyPr wrap="square" lIns="0" rIns="0" tIns="0" bIns="0">
            <a:spAutoFit/>
          </a:bodyPr>
          <a:lstStyle/>
          <a:p>
            <a:r>
              <a:rPr sz="2600" b="1">
                <a:solidFill>
                  <a:srgbClr val="B7433E"/>
                </a:solidFill>
                <a:latin typeface="Arial"/>
              </a:rPr>
              <a:t>91,7 %</a:t>
            </a:r>
          </a:p>
        </p:txBody>
      </p:sp>
      <p:sp>
        <p:nvSpPr>
          <p:cNvPr id="10" name="TextBox 9"/>
          <p:cNvSpPr txBox="1"/>
          <p:nvPr/>
        </p:nvSpPr>
        <p:spPr>
          <a:xfrm>
            <a:off x="8839200" y="3810000"/>
            <a:ext cx="27432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de rééquilibrages classés</a:t>
            </a:r>
          </a:p>
          <a:p>
            <a:pPr>
              <a:lnSpc>
                <a:spcPct val="120000"/>
              </a:lnSpc>
            </a:pPr>
            <a:r>
              <a:rPr sz="1150" b="0">
                <a:solidFill>
                  <a:srgbClr val="5D6675"/>
                </a:solidFill>
                <a:latin typeface="Arial"/>
              </a:rPr>
              <a:t>« tension » pendant les crises</a:t>
            </a:r>
          </a:p>
          <a:p>
            <a:pPr>
              <a:lnSpc>
                <a:spcPct val="120000"/>
              </a:lnSpc>
            </a:pPr>
            <a:r>
              <a:rPr sz="1150" b="0">
                <a:solidFill>
                  <a:srgbClr val="5D6675"/>
                </a:solidFill>
                <a:latin typeface="Arial"/>
              </a:rPr>
              <a:t>contre 29,2 % hors crise</a:t>
            </a:r>
          </a:p>
        </p:txBody>
      </p:sp>
      <p:sp>
        <p:nvSpPr>
          <p:cNvPr id="11" name="TextBox 10"/>
          <p:cNvSpPr txBox="1"/>
          <p:nvPr/>
        </p:nvSpPr>
        <p:spPr>
          <a:xfrm>
            <a:off x="8839200" y="5054600"/>
            <a:ext cx="2743200" cy="508000"/>
          </a:xfrm>
          <a:prstGeom prst="rect">
            <a:avLst/>
          </a:prstGeom>
          <a:noFill/>
        </p:spPr>
        <p:txBody>
          <a:bodyPr wrap="square" lIns="0" rIns="0" tIns="0" bIns="0">
            <a:spAutoFit/>
          </a:bodyPr>
          <a:lstStyle/>
          <a:p>
            <a:r>
              <a:rPr sz="2400" b="1">
                <a:solidFill>
                  <a:srgbClr val="1B3A6B"/>
                </a:solidFill>
                <a:latin typeface="Arial"/>
              </a:rPr>
              <a:t>p = 0,031</a:t>
            </a:r>
          </a:p>
        </p:txBody>
      </p:sp>
      <p:sp>
        <p:nvSpPr>
          <p:cNvPr id="12" name="TextBox 11"/>
          <p:cNvSpPr txBox="1"/>
          <p:nvPr/>
        </p:nvSpPr>
        <p:spPr>
          <a:xfrm>
            <a:off x="8839200" y="5562600"/>
            <a:ext cx="27432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test des signes, lecture prudente</a:t>
            </a:r>
          </a:p>
        </p:txBody>
      </p:sp>
      <p:sp>
        <p:nvSpPr>
          <p:cNvPr id="13" name="TextBox 12"/>
          <p:cNvSpPr txBox="1"/>
          <p:nvPr/>
        </p:nvSpPr>
        <p:spPr>
          <a:xfrm>
            <a:off x="609600" y="60452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Un diagnostic exploitable : le système sait dire dans quel état de marché il pense se trouver, et cette information est lisible par un gérant.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RÉSULTAT · 2</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La contrainte de gestion vaut plus que la sophistication</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18</a:t>
            </a:r>
          </a:p>
        </p:txBody>
      </p:sp>
      <p:sp>
        <p:nvSpPr>
          <p:cNvPr id="5" name="TextBox 4"/>
          <p:cNvSpPr txBox="1"/>
          <p:nvPr/>
        </p:nvSpPr>
        <p:spPr>
          <a:xfrm>
            <a:off x="609600" y="1092200"/>
            <a:ext cx="10668000" cy="254000"/>
          </a:xfrm>
          <a:prstGeom prst="rect">
            <a:avLst/>
          </a:prstGeom>
          <a:noFill/>
        </p:spPr>
        <p:txBody>
          <a:bodyPr wrap="square" lIns="0" rIns="0" tIns="0" bIns="0">
            <a:spAutoFit/>
          </a:bodyPr>
          <a:lstStyle/>
          <a:p>
            <a:r>
              <a:rPr sz="1250" b="0">
                <a:solidFill>
                  <a:srgbClr val="5D6675"/>
                </a:solidFill>
                <a:latin typeface="Arial"/>
              </a:rPr>
              <a:t>Même moteur, mêmes données, mêmes frais : seule la règle « aucun actif au-delà de 25 % » change.</a:t>
            </a:r>
          </a:p>
        </p:txBody>
      </p:sp>
      <p:pic>
        <p:nvPicPr>
          <p:cNvPr id="6" name="Picture 5" descr="plafond.png"/>
          <p:cNvPicPr>
            <a:picLocks noChangeAspect="1"/>
          </p:cNvPicPr>
          <p:nvPr/>
        </p:nvPicPr>
        <p:blipFill>
          <a:blip r:embed="rId2"/>
          <a:stretch>
            <a:fillRect/>
          </a:stretch>
        </p:blipFill>
        <p:spPr>
          <a:xfrm>
            <a:off x="609600" y="1545024"/>
            <a:ext cx="7620000" cy="4098151"/>
          </a:xfrm>
          <a:prstGeom prst="rect">
            <a:avLst/>
          </a:prstGeom>
        </p:spPr>
      </p:pic>
      <p:sp>
        <p:nvSpPr>
          <p:cNvPr id="7" name="TextBox 6"/>
          <p:cNvSpPr txBox="1"/>
          <p:nvPr/>
        </p:nvSpPr>
        <p:spPr>
          <a:xfrm>
            <a:off x="8636000" y="1778000"/>
            <a:ext cx="2946400" cy="584200"/>
          </a:xfrm>
          <a:prstGeom prst="rect">
            <a:avLst/>
          </a:prstGeom>
          <a:noFill/>
        </p:spPr>
        <p:txBody>
          <a:bodyPr wrap="square" lIns="0" rIns="0" tIns="0" bIns="0">
            <a:spAutoFit/>
          </a:bodyPr>
          <a:lstStyle/>
          <a:p>
            <a:r>
              <a:rPr sz="3000" b="1">
                <a:solidFill>
                  <a:srgbClr val="0F766E"/>
                </a:solidFill>
                <a:latin typeface="Arial"/>
              </a:rPr>
              <a:t>0,9525</a:t>
            </a:r>
          </a:p>
        </p:txBody>
      </p:sp>
      <p:sp>
        <p:nvSpPr>
          <p:cNvPr id="8" name="TextBox 7"/>
          <p:cNvSpPr txBox="1"/>
          <p:nvPr/>
        </p:nvSpPr>
        <p:spPr>
          <a:xfrm>
            <a:off x="8636000" y="2362200"/>
            <a:ext cx="2946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Sharpe net avec le plafond de 25 %</a:t>
            </a:r>
          </a:p>
        </p:txBody>
      </p:sp>
      <p:sp>
        <p:nvSpPr>
          <p:cNvPr id="9" name="TextBox 8"/>
          <p:cNvSpPr txBox="1"/>
          <p:nvPr/>
        </p:nvSpPr>
        <p:spPr>
          <a:xfrm>
            <a:off x="8636000" y="3327400"/>
            <a:ext cx="2946400" cy="584200"/>
          </a:xfrm>
          <a:prstGeom prst="rect">
            <a:avLst/>
          </a:prstGeom>
          <a:noFill/>
        </p:spPr>
        <p:txBody>
          <a:bodyPr wrap="square" lIns="0" rIns="0" tIns="0" bIns="0">
            <a:spAutoFit/>
          </a:bodyPr>
          <a:lstStyle/>
          <a:p>
            <a:r>
              <a:rPr sz="3000" b="1">
                <a:solidFill>
                  <a:srgbClr val="B7433E"/>
                </a:solidFill>
                <a:latin typeface="Arial"/>
              </a:rPr>
              <a:t>0,8650</a:t>
            </a:r>
          </a:p>
        </p:txBody>
      </p:sp>
      <p:sp>
        <p:nvSpPr>
          <p:cNvPr id="10" name="TextBox 9"/>
          <p:cNvSpPr txBox="1"/>
          <p:nvPr/>
        </p:nvSpPr>
        <p:spPr>
          <a:xfrm>
            <a:off x="8636000" y="3911600"/>
            <a:ext cx="2946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Sharpe net sans plafond</a:t>
            </a:r>
          </a:p>
        </p:txBody>
      </p:sp>
      <p:sp>
        <p:nvSpPr>
          <p:cNvPr id="11" name="TextBox 10"/>
          <p:cNvSpPr txBox="1"/>
          <p:nvPr/>
        </p:nvSpPr>
        <p:spPr>
          <a:xfrm>
            <a:off x="8636000" y="4876800"/>
            <a:ext cx="2946400" cy="533400"/>
          </a:xfrm>
          <a:prstGeom prst="rect">
            <a:avLst/>
          </a:prstGeom>
          <a:noFill/>
        </p:spPr>
        <p:txBody>
          <a:bodyPr wrap="square" lIns="0" rIns="0" tIns="0" bIns="0">
            <a:spAutoFit/>
          </a:bodyPr>
          <a:lstStyle/>
          <a:p>
            <a:r>
              <a:rPr sz="2600" b="1">
                <a:solidFill>
                  <a:srgbClr val="1B3A6B"/>
                </a:solidFill>
                <a:latin typeface="Arial"/>
              </a:rPr>
              <a:t>+10,1 %</a:t>
            </a:r>
          </a:p>
        </p:txBody>
      </p:sp>
      <p:sp>
        <p:nvSpPr>
          <p:cNvPr id="12" name="TextBox 11"/>
          <p:cNvSpPr txBox="1"/>
          <p:nvPr/>
        </p:nvSpPr>
        <p:spPr>
          <a:xfrm>
            <a:off x="8636000" y="5410200"/>
            <a:ext cx="29464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d’écart : plus que tout modèle testé</a:t>
            </a:r>
          </a:p>
        </p:txBody>
      </p:sp>
      <p:sp>
        <p:nvSpPr>
          <p:cNvPr id="13" name="TextBox 12"/>
          <p:cNvSpPr txBox="1"/>
          <p:nvPr/>
        </p:nvSpPr>
        <p:spPr>
          <a:xfrm>
            <a:off x="609600" y="59690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Lecture métier : une règle de gouvernance simple absorbe l’erreur d’estimation mieux qu’un modèle complexe. C’est un résultat directement actionnable.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RÉSULTAT · 3</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La chaîne sait refuser un résultat flatteur</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19</a:t>
            </a:r>
          </a:p>
        </p:txBody>
      </p:sp>
      <p:sp>
        <p:nvSpPr>
          <p:cNvPr id="5" name="Rounded Rectangle 4"/>
          <p:cNvSpPr/>
          <p:nvPr/>
        </p:nvSpPr>
        <p:spPr>
          <a:xfrm>
            <a:off x="609600" y="1574800"/>
            <a:ext cx="5334000" cy="254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1828800"/>
            <a:ext cx="4826000" cy="279400"/>
          </a:xfrm>
          <a:prstGeom prst="rect">
            <a:avLst/>
          </a:prstGeom>
          <a:noFill/>
        </p:spPr>
        <p:txBody>
          <a:bodyPr wrap="square" lIns="0" rIns="0" tIns="0" bIns="0">
            <a:spAutoFit/>
          </a:bodyPr>
          <a:lstStyle/>
          <a:p>
            <a:r>
              <a:rPr sz="1000" b="1">
                <a:solidFill>
                  <a:srgbClr val="B7433E"/>
                </a:solidFill>
                <a:latin typeface="Arial"/>
              </a:rPr>
              <a:t>CE QU’UN BACKTEST AURAIT PERMIS D’ÉCRIRE</a:t>
            </a:r>
          </a:p>
        </p:txBody>
      </p:sp>
      <p:sp>
        <p:nvSpPr>
          <p:cNvPr id="7" name="TextBox 6"/>
          <p:cNvSpPr txBox="1"/>
          <p:nvPr/>
        </p:nvSpPr>
        <p:spPr>
          <a:xfrm>
            <a:off x="889000" y="2235200"/>
            <a:ext cx="4826000" cy="685800"/>
          </a:xfrm>
          <a:prstGeom prst="rect">
            <a:avLst/>
          </a:prstGeom>
          <a:noFill/>
        </p:spPr>
        <p:txBody>
          <a:bodyPr wrap="square" lIns="0" rIns="0" tIns="0" bIns="0">
            <a:spAutoFit/>
          </a:bodyPr>
          <a:lstStyle/>
          <a:p>
            <a:pPr>
              <a:lnSpc>
                <a:spcPct val="130000"/>
              </a:lnSpc>
            </a:pPr>
            <a:r>
              <a:rPr sz="1500" b="1">
                <a:solidFill>
                  <a:srgbClr val="111827"/>
                </a:solidFill>
                <a:latin typeface="Arial"/>
              </a:rPr>
              <a:t>« Notre modèle XGBoost améliore le Sharpe de +0,093 »</a:t>
            </a:r>
          </a:p>
        </p:txBody>
      </p:sp>
      <p:sp>
        <p:nvSpPr>
          <p:cNvPr id="8" name="TextBox 7"/>
          <p:cNvSpPr txBox="1"/>
          <p:nvPr/>
        </p:nvSpPr>
        <p:spPr>
          <a:xfrm>
            <a:off x="889000" y="3098800"/>
            <a:ext cx="4826000" cy="812800"/>
          </a:xfrm>
          <a:prstGeom prst="rect">
            <a:avLst/>
          </a:prstGeom>
          <a:noFill/>
        </p:spPr>
        <p:txBody>
          <a:bodyPr wrap="square" lIns="0" rIns="0" tIns="0" bIns="0">
            <a:spAutoFit/>
          </a:bodyPr>
          <a:lstStyle/>
          <a:p>
            <a:pPr>
              <a:lnSpc>
                <a:spcPct val="132000"/>
              </a:lnSpc>
            </a:pPr>
            <a:r>
              <a:rPr sz="1150" b="0">
                <a:solidFill>
                  <a:srgbClr val="5D6675"/>
                </a:solidFill>
                <a:latin typeface="Arial"/>
              </a:rPr>
              <a:t>Vrai au sens arithmétique : c’est bien le meilleur des 240 candidats évalués.</a:t>
            </a:r>
          </a:p>
        </p:txBody>
      </p:sp>
      <p:sp>
        <p:nvSpPr>
          <p:cNvPr id="9" name="Rounded Rectangle 8"/>
          <p:cNvSpPr/>
          <p:nvPr/>
        </p:nvSpPr>
        <p:spPr>
          <a:xfrm>
            <a:off x="6248400" y="1574800"/>
            <a:ext cx="5334000" cy="25400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7800" y="1828800"/>
            <a:ext cx="4826000" cy="279400"/>
          </a:xfrm>
          <a:prstGeom prst="rect">
            <a:avLst/>
          </a:prstGeom>
          <a:noFill/>
        </p:spPr>
        <p:txBody>
          <a:bodyPr wrap="square" lIns="0" rIns="0" tIns="0" bIns="0">
            <a:spAutoFit/>
          </a:bodyPr>
          <a:lstStyle/>
          <a:p>
            <a:r>
              <a:rPr sz="1000" b="1">
                <a:solidFill>
                  <a:srgbClr val="A86812"/>
                </a:solidFill>
                <a:latin typeface="Arial"/>
              </a:rPr>
              <a:t>CE QUE LA CHAÎNE RÉPOND</a:t>
            </a:r>
          </a:p>
        </p:txBody>
      </p:sp>
      <p:sp>
        <p:nvSpPr>
          <p:cNvPr id="11" name="TextBox 10"/>
          <p:cNvSpPr txBox="1"/>
          <p:nvPr/>
        </p:nvSpPr>
        <p:spPr>
          <a:xfrm>
            <a:off x="6527800" y="2235200"/>
            <a:ext cx="4826000" cy="685800"/>
          </a:xfrm>
          <a:prstGeom prst="rect">
            <a:avLst/>
          </a:prstGeom>
          <a:noFill/>
        </p:spPr>
        <p:txBody>
          <a:bodyPr wrap="square" lIns="0" rIns="0" tIns="0" bIns="0">
            <a:spAutoFit/>
          </a:bodyPr>
          <a:lstStyle/>
          <a:p>
            <a:pPr>
              <a:lnSpc>
                <a:spcPct val="130000"/>
              </a:lnSpc>
            </a:pPr>
            <a:r>
              <a:rPr sz="1500" b="1">
                <a:solidFill>
                  <a:srgbClr val="111827"/>
                </a:solidFill>
                <a:latin typeface="Arial"/>
              </a:rPr>
              <a:t>« C’est le maximum d’une recherche.</a:t>
            </a:r>
          </a:p>
          <a:p>
            <a:pPr>
              <a:lnSpc>
                <a:spcPct val="130000"/>
              </a:lnSpc>
            </a:pPr>
            <a:r>
              <a:rPr sz="1500" b="1">
                <a:solidFill>
                  <a:srgbClr val="111827"/>
                </a:solidFill>
                <a:latin typeface="Arial"/>
              </a:rPr>
              <a:t>Les tests ne le retiennent pas. »</a:t>
            </a:r>
          </a:p>
        </p:txBody>
      </p:sp>
      <p:sp>
        <p:nvSpPr>
          <p:cNvPr id="12" name="TextBox 11"/>
          <p:cNvSpPr txBox="1"/>
          <p:nvPr/>
        </p:nvSpPr>
        <p:spPr>
          <a:xfrm>
            <a:off x="6527800" y="3098800"/>
            <a:ext cx="4826000" cy="812800"/>
          </a:xfrm>
          <a:prstGeom prst="rect">
            <a:avLst/>
          </a:prstGeom>
          <a:noFill/>
        </p:spPr>
        <p:txBody>
          <a:bodyPr wrap="square" lIns="0" rIns="0" tIns="0" bIns="0">
            <a:spAutoFit/>
          </a:bodyPr>
          <a:lstStyle/>
          <a:p>
            <a:pPr>
              <a:lnSpc>
                <a:spcPct val="132000"/>
              </a:lnSpc>
            </a:pPr>
            <a:r>
              <a:rPr sz="1150" b="0">
                <a:solidFill>
                  <a:srgbClr val="5D6675"/>
                </a:solidFill>
                <a:latin typeface="Arial"/>
              </a:rPr>
              <a:t>White Reality Check p = 0,905 · Hansen SPA p = 0,866 · 17 candidats devançaient la référence en apparence.</a:t>
            </a:r>
          </a:p>
        </p:txBody>
      </p:sp>
      <p:sp>
        <p:nvSpPr>
          <p:cNvPr id="13" name="Rounded Rectangle 12"/>
          <p:cNvSpPr/>
          <p:nvPr/>
        </p:nvSpPr>
        <p:spPr>
          <a:xfrm>
            <a:off x="609600" y="4368800"/>
            <a:ext cx="10972800" cy="127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9000" y="4597400"/>
            <a:ext cx="10363200" cy="279400"/>
          </a:xfrm>
          <a:prstGeom prst="rect">
            <a:avLst/>
          </a:prstGeom>
          <a:noFill/>
        </p:spPr>
        <p:txBody>
          <a:bodyPr wrap="square" lIns="0" rIns="0" tIns="0" bIns="0">
            <a:spAutoFit/>
          </a:bodyPr>
          <a:lstStyle/>
          <a:p>
            <a:r>
              <a:rPr sz="1000" b="1">
                <a:solidFill>
                  <a:srgbClr val="3D8DFF"/>
                </a:solidFill>
                <a:latin typeface="Arial"/>
              </a:rPr>
              <a:t>POURQUOI C’EST LA CONTRIBUTION LA PLUS UTILE</a:t>
            </a:r>
          </a:p>
        </p:txBody>
      </p:sp>
      <p:sp>
        <p:nvSpPr>
          <p:cNvPr id="15" name="TextBox 14"/>
          <p:cNvSpPr txBox="1"/>
          <p:nvPr/>
        </p:nvSpPr>
        <p:spPr>
          <a:xfrm>
            <a:off x="889000" y="4953000"/>
            <a:ext cx="10363200" cy="584200"/>
          </a:xfrm>
          <a:prstGeom prst="rect">
            <a:avLst/>
          </a:prstGeom>
          <a:noFill/>
        </p:spPr>
        <p:txBody>
          <a:bodyPr wrap="square" lIns="0" rIns="0" tIns="0" bIns="0">
            <a:spAutoFit/>
          </a:bodyPr>
          <a:lstStyle/>
          <a:p>
            <a:pPr>
              <a:lnSpc>
                <a:spcPct val="130000"/>
              </a:lnSpc>
            </a:pPr>
            <a:r>
              <a:rPr sz="1250" b="1">
                <a:solidFill>
                  <a:srgbClr val="111827"/>
                </a:solidFill>
                <a:latin typeface="Arial"/>
              </a:rPr>
              <a:t>Un prototype qui produit des résultats a peu de valeur s’il ne sait pas les invalider. Celui-ci a été conçu pour que</a:t>
            </a:r>
          </a:p>
          <a:p>
            <a:pPr>
              <a:lnSpc>
                <a:spcPct val="130000"/>
              </a:lnSpc>
            </a:pPr>
            <a:r>
              <a:rPr sz="1250" b="1">
                <a:solidFill>
                  <a:srgbClr val="111827"/>
                </a:solidFill>
                <a:latin typeface="Arial"/>
              </a:rPr>
              <a:t>la déception soit détectable — c’est exactement ce qu’une direction des risques exige d’un modèle.</a:t>
            </a:r>
          </a:p>
        </p:txBody>
      </p:sp>
      <p:sp>
        <p:nvSpPr>
          <p:cNvPr id="16" name="TextBox 15"/>
          <p:cNvSpPr txBox="1"/>
          <p:nvPr/>
        </p:nvSpPr>
        <p:spPr>
          <a:xfrm>
            <a:off x="609600" y="58674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Même logique appliquée à nos propres corrections : dividendes, historique et conversion en dirhams ont été corrigés même lorsque cela dégradait le résultat affiché.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LECTURE D’ENSEMBLE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Ce que nous établissons — et ce que nous n’établissons pas</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20</a:t>
            </a:r>
          </a:p>
        </p:txBody>
      </p:sp>
      <p:sp>
        <p:nvSpPr>
          <p:cNvPr id="5" name="Rounded Rectangle 4"/>
          <p:cNvSpPr/>
          <p:nvPr/>
        </p:nvSpPr>
        <p:spPr>
          <a:xfrm>
            <a:off x="609600" y="1574800"/>
            <a:ext cx="6096000" cy="4140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4200"/>
            <a:ext cx="5461000" cy="279400"/>
          </a:xfrm>
          <a:prstGeom prst="rect">
            <a:avLst/>
          </a:prstGeom>
          <a:noFill/>
        </p:spPr>
        <p:txBody>
          <a:bodyPr wrap="square" lIns="0" rIns="0" tIns="0" bIns="0">
            <a:spAutoFit/>
          </a:bodyPr>
          <a:lstStyle/>
          <a:p>
            <a:r>
              <a:rPr sz="1000" b="1">
                <a:solidFill>
                  <a:srgbClr val="0F766E"/>
                </a:solidFill>
                <a:latin typeface="Arial"/>
              </a:rPr>
              <a:t>ÉTABLI</a:t>
            </a:r>
          </a:p>
        </p:txBody>
      </p:sp>
      <p:sp>
        <p:nvSpPr>
          <p:cNvPr id="7" name="TextBox 6"/>
          <p:cNvSpPr txBox="1"/>
          <p:nvPr/>
        </p:nvSpPr>
        <p:spPr>
          <a:xfrm>
            <a:off x="914400" y="2260600"/>
            <a:ext cx="228600" cy="254000"/>
          </a:xfrm>
          <a:prstGeom prst="rect">
            <a:avLst/>
          </a:prstGeom>
          <a:noFill/>
        </p:spPr>
        <p:txBody>
          <a:bodyPr wrap="square" lIns="0" rIns="0" tIns="0" bIns="0">
            <a:spAutoFit/>
          </a:bodyPr>
          <a:lstStyle/>
          <a:p>
            <a:r>
              <a:rPr sz="1300" b="1">
                <a:solidFill>
                  <a:srgbClr val="0F766E"/>
                </a:solidFill>
                <a:latin typeface="Arial"/>
              </a:rPr>
              <a:t>✓</a:t>
            </a:r>
          </a:p>
        </p:txBody>
      </p:sp>
      <p:sp>
        <p:nvSpPr>
          <p:cNvPr id="8" name="TextBox 7"/>
          <p:cNvSpPr txBox="1"/>
          <p:nvPr/>
        </p:nvSpPr>
        <p:spPr>
          <a:xfrm>
            <a:off x="1219200" y="2260600"/>
            <a:ext cx="5207000" cy="558800"/>
          </a:xfrm>
          <a:prstGeom prst="rect">
            <a:avLst/>
          </a:prstGeom>
          <a:noFill/>
        </p:spPr>
        <p:txBody>
          <a:bodyPr wrap="square" lIns="0" rIns="0" tIns="0" bIns="0">
            <a:spAutoFit/>
          </a:bodyPr>
          <a:lstStyle/>
          <a:p>
            <a:pPr>
              <a:lnSpc>
                <a:spcPct val="130000"/>
              </a:lnSpc>
            </a:pPr>
            <a:r>
              <a:rPr sz="1150" b="0">
                <a:solidFill>
                  <a:srgbClr val="111827"/>
                </a:solidFill>
                <a:latin typeface="Arial"/>
              </a:rPr>
              <a:t>Détection non supervisée des cinq crises de la période.</a:t>
            </a:r>
          </a:p>
        </p:txBody>
      </p:sp>
      <p:sp>
        <p:nvSpPr>
          <p:cNvPr id="9" name="TextBox 8"/>
          <p:cNvSpPr txBox="1"/>
          <p:nvPr/>
        </p:nvSpPr>
        <p:spPr>
          <a:xfrm>
            <a:off x="914400" y="2946400"/>
            <a:ext cx="228600" cy="254000"/>
          </a:xfrm>
          <a:prstGeom prst="rect">
            <a:avLst/>
          </a:prstGeom>
          <a:noFill/>
        </p:spPr>
        <p:txBody>
          <a:bodyPr wrap="square" lIns="0" rIns="0" tIns="0" bIns="0">
            <a:spAutoFit/>
          </a:bodyPr>
          <a:lstStyle/>
          <a:p>
            <a:r>
              <a:rPr sz="1300" b="1">
                <a:solidFill>
                  <a:srgbClr val="0F766E"/>
                </a:solidFill>
                <a:latin typeface="Arial"/>
              </a:rPr>
              <a:t>✓</a:t>
            </a:r>
          </a:p>
        </p:txBody>
      </p:sp>
      <p:sp>
        <p:nvSpPr>
          <p:cNvPr id="10" name="TextBox 9"/>
          <p:cNvSpPr txBox="1"/>
          <p:nvPr/>
        </p:nvSpPr>
        <p:spPr>
          <a:xfrm>
            <a:off x="1219200" y="2946400"/>
            <a:ext cx="5207000" cy="558800"/>
          </a:xfrm>
          <a:prstGeom prst="rect">
            <a:avLst/>
          </a:prstGeom>
          <a:noFill/>
        </p:spPr>
        <p:txBody>
          <a:bodyPr wrap="square" lIns="0" rIns="0" tIns="0" bIns="0">
            <a:spAutoFit/>
          </a:bodyPr>
          <a:lstStyle/>
          <a:p>
            <a:pPr>
              <a:lnSpc>
                <a:spcPct val="130000"/>
              </a:lnSpc>
            </a:pPr>
            <a:r>
              <a:rPr sz="1150" b="0">
                <a:solidFill>
                  <a:srgbClr val="111827"/>
                </a:solidFill>
                <a:latin typeface="Arial"/>
              </a:rPr>
              <a:t>Le plafond de 25 % améliore le Sharpe net de +10,1 % sur les ETF.</a:t>
            </a:r>
          </a:p>
        </p:txBody>
      </p:sp>
      <p:sp>
        <p:nvSpPr>
          <p:cNvPr id="11" name="TextBox 10"/>
          <p:cNvSpPr txBox="1"/>
          <p:nvPr/>
        </p:nvSpPr>
        <p:spPr>
          <a:xfrm>
            <a:off x="914400" y="3632200"/>
            <a:ext cx="228600" cy="254000"/>
          </a:xfrm>
          <a:prstGeom prst="rect">
            <a:avLst/>
          </a:prstGeom>
          <a:noFill/>
        </p:spPr>
        <p:txBody>
          <a:bodyPr wrap="square" lIns="0" rIns="0" tIns="0" bIns="0">
            <a:spAutoFit/>
          </a:bodyPr>
          <a:lstStyle/>
          <a:p>
            <a:r>
              <a:rPr sz="1300" b="1">
                <a:solidFill>
                  <a:srgbClr val="0F766E"/>
                </a:solidFill>
                <a:latin typeface="Arial"/>
              </a:rPr>
              <a:t>✓</a:t>
            </a:r>
          </a:p>
        </p:txBody>
      </p:sp>
      <p:sp>
        <p:nvSpPr>
          <p:cNvPr id="12" name="TextBox 11"/>
          <p:cNvSpPr txBox="1"/>
          <p:nvPr/>
        </p:nvSpPr>
        <p:spPr>
          <a:xfrm>
            <a:off x="1219200" y="3632200"/>
            <a:ext cx="5207000" cy="558800"/>
          </a:xfrm>
          <a:prstGeom prst="rect">
            <a:avLst/>
          </a:prstGeom>
          <a:noFill/>
        </p:spPr>
        <p:txBody>
          <a:bodyPr wrap="square" lIns="0" rIns="0" tIns="0" bIns="0">
            <a:spAutoFit/>
          </a:bodyPr>
          <a:lstStyle/>
          <a:p>
            <a:pPr>
              <a:lnSpc>
                <a:spcPct val="130000"/>
              </a:lnSpc>
            </a:pPr>
            <a:r>
              <a:rPr sz="1150" b="0">
                <a:solidFill>
                  <a:srgbClr val="111827"/>
                </a:solidFill>
                <a:latin typeface="Arial"/>
              </a:rPr>
              <a:t>Une chaîne reproductible de bout en bout, versionnée et testée.</a:t>
            </a:r>
          </a:p>
        </p:txBody>
      </p:sp>
      <p:sp>
        <p:nvSpPr>
          <p:cNvPr id="13" name="TextBox 12"/>
          <p:cNvSpPr txBox="1"/>
          <p:nvPr/>
        </p:nvSpPr>
        <p:spPr>
          <a:xfrm>
            <a:off x="914400" y="4318000"/>
            <a:ext cx="228600" cy="254000"/>
          </a:xfrm>
          <a:prstGeom prst="rect">
            <a:avLst/>
          </a:prstGeom>
          <a:noFill/>
        </p:spPr>
        <p:txBody>
          <a:bodyPr wrap="square" lIns="0" rIns="0" tIns="0" bIns="0">
            <a:spAutoFit/>
          </a:bodyPr>
          <a:lstStyle/>
          <a:p>
            <a:r>
              <a:rPr sz="1300" b="1">
                <a:solidFill>
                  <a:srgbClr val="0F766E"/>
                </a:solidFill>
                <a:latin typeface="Arial"/>
              </a:rPr>
              <a:t>✓</a:t>
            </a:r>
          </a:p>
        </p:txBody>
      </p:sp>
      <p:sp>
        <p:nvSpPr>
          <p:cNvPr id="14" name="TextBox 13"/>
          <p:cNvSpPr txBox="1"/>
          <p:nvPr/>
        </p:nvSpPr>
        <p:spPr>
          <a:xfrm>
            <a:off x="1219200" y="4318000"/>
            <a:ext cx="5207000" cy="558800"/>
          </a:xfrm>
          <a:prstGeom prst="rect">
            <a:avLst/>
          </a:prstGeom>
          <a:noFill/>
        </p:spPr>
        <p:txBody>
          <a:bodyPr wrap="square" lIns="0" rIns="0" tIns="0" bIns="0">
            <a:spAutoFit/>
          </a:bodyPr>
          <a:lstStyle/>
          <a:p>
            <a:pPr>
              <a:lnSpc>
                <a:spcPct val="130000"/>
              </a:lnSpc>
            </a:pPr>
            <a:r>
              <a:rPr sz="1150" b="0">
                <a:solidFill>
                  <a:srgbClr val="111827"/>
                </a:solidFill>
                <a:latin typeface="Arial"/>
              </a:rPr>
              <a:t>Un dispositif capable de refuser un faux positif de sélection.</a:t>
            </a:r>
          </a:p>
        </p:txBody>
      </p:sp>
      <p:sp>
        <p:nvSpPr>
          <p:cNvPr id="15" name="TextBox 14"/>
          <p:cNvSpPr txBox="1"/>
          <p:nvPr/>
        </p:nvSpPr>
        <p:spPr>
          <a:xfrm>
            <a:off x="914400" y="5003800"/>
            <a:ext cx="228600" cy="254000"/>
          </a:xfrm>
          <a:prstGeom prst="rect">
            <a:avLst/>
          </a:prstGeom>
          <a:noFill/>
        </p:spPr>
        <p:txBody>
          <a:bodyPr wrap="square" lIns="0" rIns="0" tIns="0" bIns="0">
            <a:spAutoFit/>
          </a:bodyPr>
          <a:lstStyle/>
          <a:p>
            <a:r>
              <a:rPr sz="1300" b="1">
                <a:solidFill>
                  <a:srgbClr val="0F766E"/>
                </a:solidFill>
                <a:latin typeface="Arial"/>
              </a:rPr>
              <a:t>✓</a:t>
            </a:r>
          </a:p>
        </p:txBody>
      </p:sp>
      <p:sp>
        <p:nvSpPr>
          <p:cNvPr id="16" name="TextBox 15"/>
          <p:cNvSpPr txBox="1"/>
          <p:nvPr/>
        </p:nvSpPr>
        <p:spPr>
          <a:xfrm>
            <a:off x="1219200" y="5003800"/>
            <a:ext cx="5207000" cy="558800"/>
          </a:xfrm>
          <a:prstGeom prst="rect">
            <a:avLst/>
          </a:prstGeom>
          <a:noFill/>
        </p:spPr>
        <p:txBody>
          <a:bodyPr wrap="square" lIns="0" rIns="0" tIns="0" bIns="0">
            <a:spAutoFit/>
          </a:bodyPr>
          <a:lstStyle/>
          <a:p>
            <a:pPr>
              <a:lnSpc>
                <a:spcPct val="130000"/>
              </a:lnSpc>
            </a:pPr>
            <a:r>
              <a:rPr sz="1150" b="0">
                <a:solidFill>
                  <a:srgbClr val="111827"/>
                </a:solidFill>
                <a:latin typeface="Arial"/>
              </a:rPr>
              <a:t>Une explicabilité exacte : chaque poids se remonte jusqu’à sa cause.</a:t>
            </a:r>
          </a:p>
        </p:txBody>
      </p:sp>
      <p:sp>
        <p:nvSpPr>
          <p:cNvPr id="17" name="Rounded Rectangle 16"/>
          <p:cNvSpPr/>
          <p:nvPr/>
        </p:nvSpPr>
        <p:spPr>
          <a:xfrm>
            <a:off x="7010400" y="1574800"/>
            <a:ext cx="4572000" cy="41402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0" y="1854200"/>
            <a:ext cx="4064000" cy="279400"/>
          </a:xfrm>
          <a:prstGeom prst="rect">
            <a:avLst/>
          </a:prstGeom>
          <a:noFill/>
        </p:spPr>
        <p:txBody>
          <a:bodyPr wrap="square" lIns="0" rIns="0" tIns="0" bIns="0">
            <a:spAutoFit/>
          </a:bodyPr>
          <a:lstStyle/>
          <a:p>
            <a:r>
              <a:rPr sz="1000" b="1">
                <a:solidFill>
                  <a:srgbClr val="A86812"/>
                </a:solidFill>
                <a:latin typeface="Arial"/>
              </a:rPr>
              <a:t>NON ÉTABLI</a:t>
            </a:r>
          </a:p>
        </p:txBody>
      </p:sp>
      <p:sp>
        <p:nvSpPr>
          <p:cNvPr id="19" name="TextBox 18"/>
          <p:cNvSpPr txBox="1"/>
          <p:nvPr/>
        </p:nvSpPr>
        <p:spPr>
          <a:xfrm>
            <a:off x="7315200" y="2260600"/>
            <a:ext cx="4064000" cy="1651000"/>
          </a:xfrm>
          <a:prstGeom prst="rect">
            <a:avLst/>
          </a:prstGeom>
          <a:noFill/>
        </p:spPr>
        <p:txBody>
          <a:bodyPr wrap="square" lIns="0" rIns="0" tIns="0" bIns="0">
            <a:spAutoFit/>
          </a:bodyPr>
          <a:lstStyle/>
          <a:p>
            <a:pPr>
              <a:lnSpc>
                <a:spcPct val="132000"/>
              </a:lnSpc>
            </a:pPr>
            <a:r>
              <a:rPr sz="1250" b="1">
                <a:solidFill>
                  <a:srgbClr val="111827"/>
                </a:solidFill>
                <a:latin typeface="Arial"/>
              </a:rPr>
              <a:t>Sur nos univers et nos fenêtres, aucune couche ML n’établit de surperformance statistiquement significative face à son comparateur pré-spécifié.</a:t>
            </a:r>
          </a:p>
        </p:txBody>
      </p:sp>
      <p:sp>
        <p:nvSpPr>
          <p:cNvPr id="20" name="TextBox 19"/>
          <p:cNvSpPr txBox="1"/>
          <p:nvPr/>
        </p:nvSpPr>
        <p:spPr>
          <a:xfrm>
            <a:off x="7315200" y="3759200"/>
            <a:ext cx="4064000" cy="1778000"/>
          </a:xfrm>
          <a:prstGeom prst="rect">
            <a:avLst/>
          </a:prstGeom>
          <a:noFill/>
        </p:spPr>
        <p:txBody>
          <a:bodyPr wrap="square" lIns="0" rIns="0" tIns="0" bIns="0">
            <a:spAutoFit/>
          </a:bodyPr>
          <a:lstStyle/>
          <a:p>
            <a:pPr>
              <a:lnSpc>
                <a:spcPct val="135000"/>
              </a:lnSpc>
            </a:pPr>
            <a:r>
              <a:rPr sz="1150" b="0">
                <a:solidFill>
                  <a:srgbClr val="5D6675"/>
                </a:solidFill>
                <a:latin typeface="Arial"/>
              </a:rPr>
              <a:t>C’est une réponse, pas un échec : la question posée était « peut-on le savoir ».</a:t>
            </a:r>
          </a:p>
          <a:p>
            <a:pPr>
              <a:lnSpc>
                <a:spcPct val="135000"/>
              </a:lnSpc>
            </a:pPr>
            <a:r>
              <a:rPr sz="1150" b="0">
                <a:solidFill>
                  <a:srgbClr val="5D6675"/>
                </a:solidFill>
                <a:latin typeface="Arial"/>
              </a:rPr>
              <a:t/>
            </a:r>
          </a:p>
          <a:p>
            <a:pPr>
              <a:lnSpc>
                <a:spcPct val="135000"/>
              </a:lnSpc>
            </a:pPr>
            <a:r>
              <a:rPr sz="1150" b="0">
                <a:solidFill>
                  <a:srgbClr val="5D6675"/>
                </a:solidFill>
                <a:latin typeface="Arial"/>
              </a:rPr>
              <a:t>Une équipe qui aurait annoncé l’inverse n’aurait pas pu le démontrer.</a:t>
            </a:r>
          </a:p>
        </p:txBody>
      </p:sp>
      <p:sp>
        <p:nvSpPr>
          <p:cNvPr id="21" name="TextBox 20"/>
          <p:cNvSpPr txBox="1"/>
          <p:nvPr/>
        </p:nvSpPr>
        <p:spPr>
          <a:xfrm>
            <a:off x="609600" y="5918200"/>
            <a:ext cx="10972800" cy="381000"/>
          </a:xfrm>
          <a:prstGeom prst="rect">
            <a:avLst/>
          </a:prstGeom>
          <a:noFill/>
        </p:spPr>
        <p:txBody>
          <a:bodyPr wrap="square" lIns="0" rIns="0" tIns="0" bIns="0">
            <a:spAutoFit/>
          </a:bodyPr>
          <a:lstStyle/>
          <a:p>
            <a:pPr>
              <a:lnSpc>
                <a:spcPct val="125000"/>
              </a:lnSpc>
            </a:pPr>
            <a:r>
              <a:rPr sz="1100" b="0">
                <a:solidFill>
                  <a:srgbClr val="5D6675"/>
                </a:solidFill>
                <a:latin typeface="Arial"/>
              </a:rPr>
              <a:t>Les deux colonnes viennent du même dispositif. C’est ce qui rend la première crédible.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LE LIVRABLE</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Un prototype réellement utilisable, pas un notebook</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21</a:t>
            </a:r>
          </a:p>
        </p:txBody>
      </p:sp>
      <p:pic>
        <p:nvPicPr>
          <p:cNvPr id="5" name="Picture 4" descr="dashboard_page1_haut.png"/>
          <p:cNvPicPr>
            <a:picLocks noChangeAspect="1"/>
          </p:cNvPicPr>
          <p:nvPr/>
        </p:nvPicPr>
        <p:blipFill>
          <a:blip r:embed="rId2"/>
          <a:stretch>
            <a:fillRect/>
          </a:stretch>
        </p:blipFill>
        <p:spPr>
          <a:xfrm>
            <a:off x="684929" y="1498600"/>
            <a:ext cx="5183341" cy="3149600"/>
          </a:xfrm>
          <a:prstGeom prst="rect">
            <a:avLst/>
          </a:prstGeom>
        </p:spPr>
      </p:pic>
      <p:pic>
        <p:nvPicPr>
          <p:cNvPr id="6" name="Picture 5" descr="api_swagger_haut.png"/>
          <p:cNvPicPr>
            <a:picLocks noChangeAspect="1"/>
          </p:cNvPicPr>
          <p:nvPr/>
        </p:nvPicPr>
        <p:blipFill>
          <a:blip r:embed="rId3"/>
          <a:stretch>
            <a:fillRect/>
          </a:stretch>
        </p:blipFill>
        <p:spPr>
          <a:xfrm>
            <a:off x="6248400" y="1499129"/>
            <a:ext cx="5334000" cy="3148541"/>
          </a:xfrm>
          <a:prstGeom prst="rect">
            <a:avLst/>
          </a:prstGeom>
        </p:spPr>
      </p:pic>
      <p:sp>
        <p:nvSpPr>
          <p:cNvPr id="7" name="TextBox 6"/>
          <p:cNvSpPr txBox="1"/>
          <p:nvPr/>
        </p:nvSpPr>
        <p:spPr>
          <a:xfrm>
            <a:off x="609600" y="4775200"/>
            <a:ext cx="5334000" cy="254000"/>
          </a:xfrm>
          <a:prstGeom prst="rect">
            <a:avLst/>
          </a:prstGeom>
          <a:noFill/>
        </p:spPr>
        <p:txBody>
          <a:bodyPr wrap="square" lIns="0" rIns="0" tIns="0" bIns="0">
            <a:spAutoFit/>
          </a:bodyPr>
          <a:lstStyle/>
          <a:p>
            <a:r>
              <a:rPr sz="1200" b="1">
                <a:solidFill>
                  <a:srgbClr val="111827"/>
                </a:solidFill>
                <a:latin typeface="Arial"/>
              </a:rPr>
              <a:t>Tableau de bord Streamlit</a:t>
            </a:r>
          </a:p>
        </p:txBody>
      </p:sp>
      <p:sp>
        <p:nvSpPr>
          <p:cNvPr id="8" name="TextBox 7"/>
          <p:cNvSpPr txBox="1"/>
          <p:nvPr/>
        </p:nvSpPr>
        <p:spPr>
          <a:xfrm>
            <a:off x="609600" y="5054600"/>
            <a:ext cx="5334000" cy="254000"/>
          </a:xfrm>
          <a:prstGeom prst="rect">
            <a:avLst/>
          </a:prstGeom>
          <a:noFill/>
        </p:spPr>
        <p:txBody>
          <a:bodyPr wrap="square" lIns="0" rIns="0" tIns="0" bIns="0">
            <a:spAutoFit/>
          </a:bodyPr>
          <a:lstStyle/>
          <a:p>
            <a:r>
              <a:rPr sz="1050" b="0">
                <a:solidFill>
                  <a:srgbClr val="5D6675"/>
                </a:solidFill>
                <a:latin typeface="Arial"/>
              </a:rPr>
              <a:t>Deux vues : résultats de recherche et explorateur de stratégies</a:t>
            </a:r>
          </a:p>
        </p:txBody>
      </p:sp>
      <p:sp>
        <p:nvSpPr>
          <p:cNvPr id="9" name="TextBox 8"/>
          <p:cNvSpPr txBox="1"/>
          <p:nvPr/>
        </p:nvSpPr>
        <p:spPr>
          <a:xfrm>
            <a:off x="6248400" y="4775200"/>
            <a:ext cx="5334000" cy="254000"/>
          </a:xfrm>
          <a:prstGeom prst="rect">
            <a:avLst/>
          </a:prstGeom>
          <a:noFill/>
        </p:spPr>
        <p:txBody>
          <a:bodyPr wrap="square" lIns="0" rIns="0" tIns="0" bIns="0">
            <a:spAutoFit/>
          </a:bodyPr>
          <a:lstStyle/>
          <a:p>
            <a:r>
              <a:rPr sz="1200" b="1">
                <a:solidFill>
                  <a:srgbClr val="111827"/>
                </a:solidFill>
                <a:latin typeface="Arial"/>
              </a:rPr>
              <a:t>API REST FastAPI, en lecture seule</a:t>
            </a:r>
          </a:p>
        </p:txBody>
      </p:sp>
      <p:sp>
        <p:nvSpPr>
          <p:cNvPr id="10" name="TextBox 9"/>
          <p:cNvSpPr txBox="1"/>
          <p:nvPr/>
        </p:nvSpPr>
        <p:spPr>
          <a:xfrm>
            <a:off x="6248400" y="5054600"/>
            <a:ext cx="5334000" cy="254000"/>
          </a:xfrm>
          <a:prstGeom prst="rect">
            <a:avLst/>
          </a:prstGeom>
          <a:noFill/>
        </p:spPr>
        <p:txBody>
          <a:bodyPr wrap="square" lIns="0" rIns="0" tIns="0" bIns="0">
            <a:spAutoFit/>
          </a:bodyPr>
          <a:lstStyle/>
          <a:p>
            <a:r>
              <a:rPr sz="1050" b="0">
                <a:solidFill>
                  <a:srgbClr val="5D6675"/>
                </a:solidFill>
                <a:latin typeface="Arial"/>
              </a:rPr>
              <a:t>Contrat de devise explicite, documentation générée</a:t>
            </a:r>
          </a:p>
        </p:txBody>
      </p:sp>
      <p:sp>
        <p:nvSpPr>
          <p:cNvPr id="11" name="TextBox 10"/>
          <p:cNvSpPr txBox="1"/>
          <p:nvPr/>
        </p:nvSpPr>
        <p:spPr>
          <a:xfrm>
            <a:off x="609600" y="5435600"/>
            <a:ext cx="2540000" cy="508000"/>
          </a:xfrm>
          <a:prstGeom prst="rect">
            <a:avLst/>
          </a:prstGeom>
          <a:noFill/>
        </p:spPr>
        <p:txBody>
          <a:bodyPr wrap="square" lIns="0" rIns="0" tIns="0" bIns="0">
            <a:spAutoFit/>
          </a:bodyPr>
          <a:lstStyle/>
          <a:p>
            <a:r>
              <a:rPr sz="2400" b="1">
                <a:solidFill>
                  <a:srgbClr val="1B3A6B"/>
                </a:solidFill>
                <a:latin typeface="Arial"/>
              </a:rPr>
              <a:t>891</a:t>
            </a:r>
          </a:p>
        </p:txBody>
      </p:sp>
      <p:sp>
        <p:nvSpPr>
          <p:cNvPr id="12" name="TextBox 11"/>
          <p:cNvSpPr txBox="1"/>
          <p:nvPr/>
        </p:nvSpPr>
        <p:spPr>
          <a:xfrm>
            <a:off x="609600" y="5943600"/>
            <a:ext cx="2540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tests automatisés</a:t>
            </a:r>
          </a:p>
        </p:txBody>
      </p:sp>
      <p:sp>
        <p:nvSpPr>
          <p:cNvPr id="13" name="TextBox 12"/>
          <p:cNvSpPr txBox="1"/>
          <p:nvPr/>
        </p:nvSpPr>
        <p:spPr>
          <a:xfrm>
            <a:off x="3429000" y="5435600"/>
            <a:ext cx="2540000" cy="508000"/>
          </a:xfrm>
          <a:prstGeom prst="rect">
            <a:avLst/>
          </a:prstGeom>
          <a:noFill/>
        </p:spPr>
        <p:txBody>
          <a:bodyPr wrap="square" lIns="0" rIns="0" tIns="0" bIns="0">
            <a:spAutoFit/>
          </a:bodyPr>
          <a:lstStyle/>
          <a:p>
            <a:r>
              <a:rPr sz="2400" b="1">
                <a:solidFill>
                  <a:srgbClr val="1B3A6B"/>
                </a:solidFill>
                <a:latin typeface="Arial"/>
              </a:rPr>
              <a:t>1 184</a:t>
            </a:r>
          </a:p>
        </p:txBody>
      </p:sp>
      <p:sp>
        <p:nvSpPr>
          <p:cNvPr id="14" name="TextBox 13"/>
          <p:cNvSpPr txBox="1"/>
          <p:nvPr/>
        </p:nvSpPr>
        <p:spPr>
          <a:xfrm>
            <a:off x="3429000" y="5943600"/>
            <a:ext cx="2540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ajustements de modèles tracés</a:t>
            </a:r>
          </a:p>
        </p:txBody>
      </p:sp>
      <p:sp>
        <p:nvSpPr>
          <p:cNvPr id="15" name="TextBox 14"/>
          <p:cNvSpPr txBox="1"/>
          <p:nvPr/>
        </p:nvSpPr>
        <p:spPr>
          <a:xfrm>
            <a:off x="6248400" y="5435600"/>
            <a:ext cx="2540000" cy="508000"/>
          </a:xfrm>
          <a:prstGeom prst="rect">
            <a:avLst/>
          </a:prstGeom>
          <a:noFill/>
        </p:spPr>
        <p:txBody>
          <a:bodyPr wrap="square" lIns="0" rIns="0" tIns="0" bIns="0">
            <a:spAutoFit/>
          </a:bodyPr>
          <a:lstStyle/>
          <a:p>
            <a:r>
              <a:rPr sz="2400" b="1">
                <a:solidFill>
                  <a:srgbClr val="1B3A6B"/>
                </a:solidFill>
                <a:latin typeface="Arial"/>
              </a:rPr>
              <a:t>DVC + CI</a:t>
            </a:r>
          </a:p>
        </p:txBody>
      </p:sp>
      <p:sp>
        <p:nvSpPr>
          <p:cNvPr id="16" name="TextBox 15"/>
          <p:cNvSpPr txBox="1"/>
          <p:nvPr/>
        </p:nvSpPr>
        <p:spPr>
          <a:xfrm>
            <a:off x="6248400" y="5943600"/>
            <a:ext cx="2540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données versionnées,</a:t>
            </a:r>
          </a:p>
          <a:p>
            <a:pPr>
              <a:lnSpc>
                <a:spcPct val="120000"/>
              </a:lnSpc>
            </a:pPr>
            <a:r>
              <a:rPr sz="1150" b="0">
                <a:solidFill>
                  <a:srgbClr val="5D6675"/>
                </a:solidFill>
                <a:latin typeface="Arial"/>
              </a:rPr>
              <a:t>portes de release</a:t>
            </a:r>
          </a:p>
        </p:txBody>
      </p:sp>
      <p:sp>
        <p:nvSpPr>
          <p:cNvPr id="17" name="TextBox 16"/>
          <p:cNvSpPr txBox="1"/>
          <p:nvPr/>
        </p:nvSpPr>
        <p:spPr>
          <a:xfrm>
            <a:off x="9067800" y="5435600"/>
            <a:ext cx="2540000" cy="508000"/>
          </a:xfrm>
          <a:prstGeom prst="rect">
            <a:avLst/>
          </a:prstGeom>
          <a:noFill/>
        </p:spPr>
        <p:txBody>
          <a:bodyPr wrap="square" lIns="0" rIns="0" tIns="0" bIns="0">
            <a:spAutoFit/>
          </a:bodyPr>
          <a:lstStyle/>
          <a:p>
            <a:r>
              <a:rPr sz="2400" b="1">
                <a:solidFill>
                  <a:srgbClr val="1B3A6B"/>
                </a:solidFill>
                <a:latin typeface="Arial"/>
              </a:rPr>
              <a:t>Docker</a:t>
            </a:r>
          </a:p>
        </p:txBody>
      </p:sp>
      <p:sp>
        <p:nvSpPr>
          <p:cNvPr id="18" name="TextBox 17"/>
          <p:cNvSpPr txBox="1"/>
          <p:nvPr/>
        </p:nvSpPr>
        <p:spPr>
          <a:xfrm>
            <a:off x="9067800" y="5943600"/>
            <a:ext cx="2540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environnement reproductible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PERSPECTIVES</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Ce qui transformerait le prototype en dispositif validé</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22</a:t>
            </a:r>
          </a:p>
        </p:txBody>
      </p:sp>
      <p:sp>
        <p:nvSpPr>
          <p:cNvPr id="5" name="Rounded Rectangle 4"/>
          <p:cNvSpPr/>
          <p:nvPr/>
        </p:nvSpPr>
        <p:spPr>
          <a:xfrm>
            <a:off x="609600" y="1625600"/>
            <a:ext cx="5334000" cy="2057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1879600"/>
            <a:ext cx="508000" cy="355600"/>
          </a:xfrm>
          <a:prstGeom prst="rect">
            <a:avLst/>
          </a:prstGeom>
          <a:noFill/>
        </p:spPr>
        <p:txBody>
          <a:bodyPr wrap="square" lIns="0" rIns="0" tIns="0" bIns="0">
            <a:spAutoFit/>
          </a:bodyPr>
          <a:lstStyle/>
          <a:p>
            <a:r>
              <a:rPr sz="1800" b="1">
                <a:solidFill>
                  <a:srgbClr val="1B3A6B"/>
                </a:solidFill>
                <a:latin typeface="Arial"/>
              </a:rPr>
              <a:t>01</a:t>
            </a:r>
          </a:p>
        </p:txBody>
      </p:sp>
      <p:sp>
        <p:nvSpPr>
          <p:cNvPr id="7" name="TextBox 6"/>
          <p:cNvSpPr txBox="1"/>
          <p:nvPr/>
        </p:nvSpPr>
        <p:spPr>
          <a:xfrm>
            <a:off x="1422400" y="1905000"/>
            <a:ext cx="4267200" cy="304800"/>
          </a:xfrm>
          <a:prstGeom prst="rect">
            <a:avLst/>
          </a:prstGeom>
          <a:noFill/>
        </p:spPr>
        <p:txBody>
          <a:bodyPr wrap="square" lIns="0" rIns="0" tIns="0" bIns="0">
            <a:spAutoFit/>
          </a:bodyPr>
          <a:lstStyle/>
          <a:p>
            <a:r>
              <a:rPr sz="1350" b="1">
                <a:solidFill>
                  <a:srgbClr val="111827"/>
                </a:solidFill>
                <a:latin typeface="Arial"/>
              </a:rPr>
              <a:t>Élargir l’univers marocain</a:t>
            </a:r>
          </a:p>
        </p:txBody>
      </p:sp>
      <p:sp>
        <p:nvSpPr>
          <p:cNvPr id="8" name="TextBox 7"/>
          <p:cNvSpPr txBox="1"/>
          <p:nvPr/>
        </p:nvSpPr>
        <p:spPr>
          <a:xfrm>
            <a:off x="1422400" y="2286000"/>
            <a:ext cx="4267200" cy="1168400"/>
          </a:xfrm>
          <a:prstGeom prst="rect">
            <a:avLst/>
          </a:prstGeom>
          <a:noFill/>
        </p:spPr>
        <p:txBody>
          <a:bodyPr wrap="square" lIns="0" rIns="0" tIns="0" bIns="0">
            <a:spAutoFit/>
          </a:bodyPr>
          <a:lstStyle/>
          <a:p>
            <a:pPr>
              <a:lnSpc>
                <a:spcPct val="132000"/>
              </a:lnSpc>
            </a:pPr>
            <a:r>
              <a:rPr sz="1150" b="0">
                <a:solidFill>
                  <a:srgbClr val="5D6675"/>
                </a:solidFill>
                <a:latin typeface="Arial"/>
              </a:rPr>
              <a:t>Industrialiser le panel profond 2005–2024 : réconciliation des sources, dividendes, opérations sur titres, licence de redistribution.</a:t>
            </a:r>
          </a:p>
        </p:txBody>
      </p:sp>
      <p:sp>
        <p:nvSpPr>
          <p:cNvPr id="9" name="Rounded Rectangle 8"/>
          <p:cNvSpPr/>
          <p:nvPr/>
        </p:nvSpPr>
        <p:spPr>
          <a:xfrm>
            <a:off x="6248400" y="1625600"/>
            <a:ext cx="5334000" cy="2057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2400" y="1879600"/>
            <a:ext cx="508000" cy="355600"/>
          </a:xfrm>
          <a:prstGeom prst="rect">
            <a:avLst/>
          </a:prstGeom>
          <a:noFill/>
        </p:spPr>
        <p:txBody>
          <a:bodyPr wrap="square" lIns="0" rIns="0" tIns="0" bIns="0">
            <a:spAutoFit/>
          </a:bodyPr>
          <a:lstStyle/>
          <a:p>
            <a:r>
              <a:rPr sz="1800" b="1">
                <a:solidFill>
                  <a:srgbClr val="0F766E"/>
                </a:solidFill>
                <a:latin typeface="Arial"/>
              </a:rPr>
              <a:t>02</a:t>
            </a:r>
          </a:p>
        </p:txBody>
      </p:sp>
      <p:sp>
        <p:nvSpPr>
          <p:cNvPr id="11" name="TextBox 10"/>
          <p:cNvSpPr txBox="1"/>
          <p:nvPr/>
        </p:nvSpPr>
        <p:spPr>
          <a:xfrm>
            <a:off x="7061200" y="1905000"/>
            <a:ext cx="4267200" cy="304800"/>
          </a:xfrm>
          <a:prstGeom prst="rect">
            <a:avLst/>
          </a:prstGeom>
          <a:noFill/>
        </p:spPr>
        <p:txBody>
          <a:bodyPr wrap="square" lIns="0" rIns="0" tIns="0" bIns="0">
            <a:spAutoFit/>
          </a:bodyPr>
          <a:lstStyle/>
          <a:p>
            <a:r>
              <a:rPr sz="1350" b="1">
                <a:solidFill>
                  <a:srgbClr val="111827"/>
                </a:solidFill>
                <a:latin typeface="Arial"/>
              </a:rPr>
              <a:t>Validation indépendante</a:t>
            </a:r>
          </a:p>
        </p:txBody>
      </p:sp>
      <p:sp>
        <p:nvSpPr>
          <p:cNvPr id="12" name="TextBox 11"/>
          <p:cNvSpPr txBox="1"/>
          <p:nvPr/>
        </p:nvSpPr>
        <p:spPr>
          <a:xfrm>
            <a:off x="7061200" y="2286000"/>
            <a:ext cx="4267200" cy="1168400"/>
          </a:xfrm>
          <a:prstGeom prst="rect">
            <a:avLst/>
          </a:prstGeom>
          <a:noFill/>
        </p:spPr>
        <p:txBody>
          <a:bodyPr wrap="square" lIns="0" rIns="0" tIns="0" bIns="0">
            <a:spAutoFit/>
          </a:bodyPr>
          <a:lstStyle/>
          <a:p>
            <a:pPr>
              <a:lnSpc>
                <a:spcPct val="132000"/>
              </a:lnSpc>
            </a:pPr>
            <a:r>
              <a:rPr sz="1150" b="0">
                <a:solidFill>
                  <a:srgbClr val="5D6675"/>
                </a:solidFill>
                <a:latin typeface="Arial"/>
              </a:rPr>
              <a:t>Séparer l’équipe qui développe de celle qui valide, comme l’exige une gouvernance de modèles bancaire.</a:t>
            </a:r>
          </a:p>
        </p:txBody>
      </p:sp>
      <p:sp>
        <p:nvSpPr>
          <p:cNvPr id="13" name="Rounded Rectangle 12"/>
          <p:cNvSpPr/>
          <p:nvPr/>
        </p:nvSpPr>
        <p:spPr>
          <a:xfrm>
            <a:off x="609600" y="3911600"/>
            <a:ext cx="5334000" cy="2057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4165600"/>
            <a:ext cx="508000" cy="355600"/>
          </a:xfrm>
          <a:prstGeom prst="rect">
            <a:avLst/>
          </a:prstGeom>
          <a:noFill/>
        </p:spPr>
        <p:txBody>
          <a:bodyPr wrap="square" lIns="0" rIns="0" tIns="0" bIns="0">
            <a:spAutoFit/>
          </a:bodyPr>
          <a:lstStyle/>
          <a:p>
            <a:r>
              <a:rPr sz="1800" b="1">
                <a:solidFill>
                  <a:srgbClr val="A86812"/>
                </a:solidFill>
                <a:latin typeface="Arial"/>
              </a:rPr>
              <a:t>03</a:t>
            </a:r>
          </a:p>
        </p:txBody>
      </p:sp>
      <p:sp>
        <p:nvSpPr>
          <p:cNvPr id="15" name="TextBox 14"/>
          <p:cNvSpPr txBox="1"/>
          <p:nvPr/>
        </p:nvSpPr>
        <p:spPr>
          <a:xfrm>
            <a:off x="1422400" y="4191000"/>
            <a:ext cx="4267200" cy="304800"/>
          </a:xfrm>
          <a:prstGeom prst="rect">
            <a:avLst/>
          </a:prstGeom>
          <a:noFill/>
        </p:spPr>
        <p:txBody>
          <a:bodyPr wrap="square" lIns="0" rIns="0" tIns="0" bIns="0">
            <a:spAutoFit/>
          </a:bodyPr>
          <a:lstStyle/>
          <a:p>
            <a:r>
              <a:rPr sz="1350" b="1">
                <a:solidFill>
                  <a:srgbClr val="111827"/>
                </a:solidFill>
                <a:latin typeface="Arial"/>
              </a:rPr>
              <a:t>Couverture du risque de change</a:t>
            </a:r>
          </a:p>
        </p:txBody>
      </p:sp>
      <p:sp>
        <p:nvSpPr>
          <p:cNvPr id="16" name="TextBox 15"/>
          <p:cNvSpPr txBox="1"/>
          <p:nvPr/>
        </p:nvSpPr>
        <p:spPr>
          <a:xfrm>
            <a:off x="1422400" y="4572000"/>
            <a:ext cx="4267200" cy="1168400"/>
          </a:xfrm>
          <a:prstGeom prst="rect">
            <a:avLst/>
          </a:prstGeom>
          <a:noFill/>
        </p:spPr>
        <p:txBody>
          <a:bodyPr wrap="square" lIns="0" rIns="0" tIns="0" bIns="0">
            <a:spAutoFit/>
          </a:bodyPr>
          <a:lstStyle/>
          <a:p>
            <a:pPr>
              <a:lnSpc>
                <a:spcPct val="132000"/>
              </a:lnSpc>
            </a:pPr>
            <a:r>
              <a:rPr sz="1150" b="0">
                <a:solidFill>
                  <a:srgbClr val="5D6675"/>
                </a:solidFill>
                <a:latin typeface="Arial"/>
              </a:rPr>
              <a:t>Modéliser un contrat de couverture USD/MAD et son coût de roulement, aujourd’hui absents.</a:t>
            </a:r>
          </a:p>
        </p:txBody>
      </p:sp>
      <p:sp>
        <p:nvSpPr>
          <p:cNvPr id="17" name="Rounded Rectangle 16"/>
          <p:cNvSpPr/>
          <p:nvPr/>
        </p:nvSpPr>
        <p:spPr>
          <a:xfrm>
            <a:off x="6248400" y="3911600"/>
            <a:ext cx="5334000" cy="20574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2400" y="4165600"/>
            <a:ext cx="508000" cy="355600"/>
          </a:xfrm>
          <a:prstGeom prst="rect">
            <a:avLst/>
          </a:prstGeom>
          <a:noFill/>
        </p:spPr>
        <p:txBody>
          <a:bodyPr wrap="square" lIns="0" rIns="0" tIns="0" bIns="0">
            <a:spAutoFit/>
          </a:bodyPr>
          <a:lstStyle/>
          <a:p>
            <a:r>
              <a:rPr sz="1800" b="1">
                <a:solidFill>
                  <a:srgbClr val="B7433E"/>
                </a:solidFill>
                <a:latin typeface="Arial"/>
              </a:rPr>
              <a:t>04</a:t>
            </a:r>
          </a:p>
        </p:txBody>
      </p:sp>
      <p:sp>
        <p:nvSpPr>
          <p:cNvPr id="19" name="TextBox 18"/>
          <p:cNvSpPr txBox="1"/>
          <p:nvPr/>
        </p:nvSpPr>
        <p:spPr>
          <a:xfrm>
            <a:off x="7061200" y="4191000"/>
            <a:ext cx="4267200" cy="304800"/>
          </a:xfrm>
          <a:prstGeom prst="rect">
            <a:avLst/>
          </a:prstGeom>
          <a:noFill/>
        </p:spPr>
        <p:txBody>
          <a:bodyPr wrap="square" lIns="0" rIns="0" tIns="0" bIns="0">
            <a:spAutoFit/>
          </a:bodyPr>
          <a:lstStyle/>
          <a:p>
            <a:r>
              <a:rPr sz="1350" b="1">
                <a:solidFill>
                  <a:srgbClr val="111827"/>
                </a:solidFill>
                <a:latin typeface="Arial"/>
              </a:rPr>
              <a:t>Passage à l’échelle</a:t>
            </a:r>
          </a:p>
        </p:txBody>
      </p:sp>
      <p:sp>
        <p:nvSpPr>
          <p:cNvPr id="20" name="TextBox 19"/>
          <p:cNvSpPr txBox="1"/>
          <p:nvPr/>
        </p:nvSpPr>
        <p:spPr>
          <a:xfrm>
            <a:off x="7061200" y="4572000"/>
            <a:ext cx="4267200" cy="1168400"/>
          </a:xfrm>
          <a:prstGeom prst="rect">
            <a:avLst/>
          </a:prstGeom>
          <a:noFill/>
        </p:spPr>
        <p:txBody>
          <a:bodyPr wrap="square" lIns="0" rIns="0" tIns="0" bIns="0">
            <a:spAutoFit/>
          </a:bodyPr>
          <a:lstStyle/>
          <a:p>
            <a:pPr>
              <a:lnSpc>
                <a:spcPct val="132000"/>
              </a:lnSpc>
            </a:pPr>
            <a:r>
              <a:rPr sz="1150" b="0">
                <a:solidFill>
                  <a:srgbClr val="5D6675"/>
                </a:solidFill>
                <a:latin typeface="Arial"/>
              </a:rPr>
              <a:t>Plus d’actifs, plus de classes : c’est là qu’un optimiseur a le plus de marge pour exprimer une vue.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2000" cy="6858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1524000"/>
            <a:ext cx="1219200" cy="50800"/>
          </a:xfrm>
          <a:prstGeom prst="rect">
            <a:avLst/>
          </a:prstGeom>
          <a:solidFill>
            <a:srgbClr val="3D8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965200"/>
            <a:ext cx="7620000" cy="228600"/>
          </a:xfrm>
          <a:prstGeom prst="rect">
            <a:avLst/>
          </a:prstGeom>
          <a:noFill/>
        </p:spPr>
        <p:txBody>
          <a:bodyPr wrap="square" lIns="0" rIns="0" tIns="0" bIns="0">
            <a:spAutoFit/>
          </a:bodyPr>
          <a:lstStyle/>
          <a:p>
            <a:r>
              <a:rPr sz="1050" b="1">
                <a:solidFill>
                  <a:srgbClr val="3D8DFF"/>
                </a:solidFill>
                <a:latin typeface="Arial"/>
              </a:rPr>
              <a:t>CONCLUSION</a:t>
            </a:r>
          </a:p>
        </p:txBody>
      </p:sp>
      <p:sp>
        <p:nvSpPr>
          <p:cNvPr id="5" name="TextBox 4"/>
          <p:cNvSpPr txBox="1"/>
          <p:nvPr/>
        </p:nvSpPr>
        <p:spPr>
          <a:xfrm>
            <a:off x="609600" y="1930400"/>
            <a:ext cx="10160000" cy="1397000"/>
          </a:xfrm>
          <a:prstGeom prst="rect">
            <a:avLst/>
          </a:prstGeom>
          <a:noFill/>
        </p:spPr>
        <p:txBody>
          <a:bodyPr wrap="square" lIns="0" rIns="0" tIns="0" bIns="0">
            <a:spAutoFit/>
          </a:bodyPr>
          <a:lstStyle/>
          <a:p>
            <a:pPr>
              <a:lnSpc>
                <a:spcPct val="115000"/>
              </a:lnSpc>
            </a:pPr>
            <a:r>
              <a:rPr sz="3600" b="1">
                <a:solidFill>
                  <a:srgbClr val="111827"/>
                </a:solidFill>
                <a:latin typeface="Arial"/>
              </a:rPr>
              <a:t>Nous avons construit la chaîne</a:t>
            </a:r>
          </a:p>
          <a:p>
            <a:pPr>
              <a:lnSpc>
                <a:spcPct val="115000"/>
              </a:lnSpc>
            </a:pPr>
            <a:r>
              <a:rPr sz="3600" b="1">
                <a:solidFill>
                  <a:srgbClr val="111827"/>
                </a:solidFill>
                <a:latin typeface="Arial"/>
              </a:rPr>
              <a:t>qui permet de savoir.</a:t>
            </a:r>
          </a:p>
        </p:txBody>
      </p:sp>
      <p:sp>
        <p:nvSpPr>
          <p:cNvPr id="6" name="TextBox 5"/>
          <p:cNvSpPr txBox="1"/>
          <p:nvPr/>
        </p:nvSpPr>
        <p:spPr>
          <a:xfrm>
            <a:off x="609600" y="3556000"/>
            <a:ext cx="9906000" cy="711200"/>
          </a:xfrm>
          <a:prstGeom prst="rect">
            <a:avLst/>
          </a:prstGeom>
          <a:noFill/>
        </p:spPr>
        <p:txBody>
          <a:bodyPr wrap="square" lIns="0" rIns="0" tIns="0" bIns="0">
            <a:spAutoFit/>
          </a:bodyPr>
          <a:lstStyle/>
          <a:p>
            <a:pPr>
              <a:lnSpc>
                <a:spcPct val="140000"/>
              </a:lnSpc>
            </a:pPr>
            <a:r>
              <a:rPr sz="1400" b="0">
                <a:solidFill>
                  <a:srgbClr val="5D6675"/>
                </a:solidFill>
                <a:latin typeface="Arial"/>
              </a:rPr>
              <a:t>Un système complet d’allocation, évalué sans tricher, capable de reconnaître les crises,</a:t>
            </a:r>
          </a:p>
          <a:p>
            <a:pPr>
              <a:lnSpc>
                <a:spcPct val="140000"/>
              </a:lnSpc>
            </a:pPr>
            <a:r>
              <a:rPr sz="1400" b="0">
                <a:solidFill>
                  <a:srgbClr val="5D6675"/>
                </a:solidFill>
                <a:latin typeface="Arial"/>
              </a:rPr>
              <a:t>de montrer ce qui améliore réellement un portefeuille — et de refuser ce qui n’est que du hasard.</a:t>
            </a:r>
          </a:p>
        </p:txBody>
      </p:sp>
      <p:sp>
        <p:nvSpPr>
          <p:cNvPr id="7" name="Rectangle 6"/>
          <p:cNvSpPr/>
          <p:nvPr/>
        </p:nvSpPr>
        <p:spPr>
          <a:xfrm>
            <a:off x="609600" y="4826000"/>
            <a:ext cx="508000" cy="381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5054600"/>
            <a:ext cx="3352800" cy="304800"/>
          </a:xfrm>
          <a:prstGeom prst="rect">
            <a:avLst/>
          </a:prstGeom>
          <a:noFill/>
        </p:spPr>
        <p:txBody>
          <a:bodyPr wrap="square" lIns="0" rIns="0" tIns="0" bIns="0">
            <a:spAutoFit/>
          </a:bodyPr>
          <a:lstStyle/>
          <a:p>
            <a:r>
              <a:rPr sz="1400" b="1">
                <a:solidFill>
                  <a:srgbClr val="111827"/>
                </a:solidFill>
                <a:latin typeface="Arial"/>
              </a:rPr>
              <a:t>Rigueur</a:t>
            </a:r>
          </a:p>
        </p:txBody>
      </p:sp>
      <p:sp>
        <p:nvSpPr>
          <p:cNvPr id="9" name="TextBox 8"/>
          <p:cNvSpPr txBox="1"/>
          <p:nvPr/>
        </p:nvSpPr>
        <p:spPr>
          <a:xfrm>
            <a:off x="609600" y="5384800"/>
            <a:ext cx="3352800" cy="635000"/>
          </a:xfrm>
          <a:prstGeom prst="rect">
            <a:avLst/>
          </a:prstGeom>
          <a:noFill/>
        </p:spPr>
        <p:txBody>
          <a:bodyPr wrap="square" lIns="0" rIns="0" tIns="0" bIns="0">
            <a:spAutoFit/>
          </a:bodyPr>
          <a:lstStyle/>
          <a:p>
            <a:pPr>
              <a:lnSpc>
                <a:spcPct val="132000"/>
              </a:lnSpc>
            </a:pPr>
            <a:r>
              <a:rPr sz="1150" b="0">
                <a:solidFill>
                  <a:srgbClr val="5D6675"/>
                </a:solidFill>
                <a:latin typeface="Arial"/>
              </a:rPr>
              <a:t>évaluation temporelle stricte,</a:t>
            </a:r>
          </a:p>
          <a:p>
            <a:pPr>
              <a:lnSpc>
                <a:spcPct val="132000"/>
              </a:lnSpc>
            </a:pPr>
            <a:r>
              <a:rPr sz="1150" b="0">
                <a:solidFill>
                  <a:srgbClr val="5D6675"/>
                </a:solidFill>
                <a:latin typeface="Arial"/>
              </a:rPr>
              <a:t>correction de la sélection multiple</a:t>
            </a:r>
          </a:p>
        </p:txBody>
      </p:sp>
      <p:sp>
        <p:nvSpPr>
          <p:cNvPr id="10" name="Rectangle 9"/>
          <p:cNvSpPr/>
          <p:nvPr/>
        </p:nvSpPr>
        <p:spPr>
          <a:xfrm>
            <a:off x="4318000" y="4826000"/>
            <a:ext cx="508000" cy="381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18000" y="5054600"/>
            <a:ext cx="3352800" cy="304800"/>
          </a:xfrm>
          <a:prstGeom prst="rect">
            <a:avLst/>
          </a:prstGeom>
          <a:noFill/>
        </p:spPr>
        <p:txBody>
          <a:bodyPr wrap="square" lIns="0" rIns="0" tIns="0" bIns="0">
            <a:spAutoFit/>
          </a:bodyPr>
          <a:lstStyle/>
          <a:p>
            <a:r>
              <a:rPr sz="1400" b="1">
                <a:solidFill>
                  <a:srgbClr val="111827"/>
                </a:solidFill>
                <a:latin typeface="Arial"/>
              </a:rPr>
              <a:t>Traçabilité</a:t>
            </a:r>
          </a:p>
        </p:txBody>
      </p:sp>
      <p:sp>
        <p:nvSpPr>
          <p:cNvPr id="12" name="TextBox 11"/>
          <p:cNvSpPr txBox="1"/>
          <p:nvPr/>
        </p:nvSpPr>
        <p:spPr>
          <a:xfrm>
            <a:off x="4318000" y="5384800"/>
            <a:ext cx="3352800" cy="635000"/>
          </a:xfrm>
          <a:prstGeom prst="rect">
            <a:avLst/>
          </a:prstGeom>
          <a:noFill/>
        </p:spPr>
        <p:txBody>
          <a:bodyPr wrap="square" lIns="0" rIns="0" tIns="0" bIns="0">
            <a:spAutoFit/>
          </a:bodyPr>
          <a:lstStyle/>
          <a:p>
            <a:pPr>
              <a:lnSpc>
                <a:spcPct val="132000"/>
              </a:lnSpc>
            </a:pPr>
            <a:r>
              <a:rPr sz="1150" b="0">
                <a:solidFill>
                  <a:srgbClr val="5D6675"/>
                </a:solidFill>
                <a:latin typeface="Arial"/>
              </a:rPr>
              <a:t>données versionnées,</a:t>
            </a:r>
          </a:p>
          <a:p>
            <a:pPr>
              <a:lnSpc>
                <a:spcPct val="132000"/>
              </a:lnSpc>
            </a:pPr>
            <a:r>
              <a:rPr sz="1150" b="0">
                <a:solidFill>
                  <a:srgbClr val="5D6675"/>
                </a:solidFill>
                <a:latin typeface="Arial"/>
              </a:rPr>
              <a:t>surfaces régénérées</a:t>
            </a:r>
          </a:p>
        </p:txBody>
      </p:sp>
      <p:sp>
        <p:nvSpPr>
          <p:cNvPr id="13" name="Rectangle 12"/>
          <p:cNvSpPr/>
          <p:nvPr/>
        </p:nvSpPr>
        <p:spPr>
          <a:xfrm>
            <a:off x="8026400" y="4826000"/>
            <a:ext cx="508000" cy="38100"/>
          </a:xfrm>
          <a:prstGeom prst="rect">
            <a:avLst/>
          </a:prstGeom>
          <a:solidFill>
            <a:srgbClr val="A868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6400" y="5054600"/>
            <a:ext cx="3352800" cy="304800"/>
          </a:xfrm>
          <a:prstGeom prst="rect">
            <a:avLst/>
          </a:prstGeom>
          <a:noFill/>
        </p:spPr>
        <p:txBody>
          <a:bodyPr wrap="square" lIns="0" rIns="0" tIns="0" bIns="0">
            <a:spAutoFit/>
          </a:bodyPr>
          <a:lstStyle/>
          <a:p>
            <a:r>
              <a:rPr sz="1400" b="1">
                <a:solidFill>
                  <a:srgbClr val="111827"/>
                </a:solidFill>
                <a:latin typeface="Arial"/>
              </a:rPr>
              <a:t>Transparence</a:t>
            </a:r>
          </a:p>
        </p:txBody>
      </p:sp>
      <p:sp>
        <p:nvSpPr>
          <p:cNvPr id="15" name="TextBox 14"/>
          <p:cNvSpPr txBox="1"/>
          <p:nvPr/>
        </p:nvSpPr>
        <p:spPr>
          <a:xfrm>
            <a:off x="8026400" y="5384800"/>
            <a:ext cx="3352800" cy="635000"/>
          </a:xfrm>
          <a:prstGeom prst="rect">
            <a:avLst/>
          </a:prstGeom>
          <a:noFill/>
        </p:spPr>
        <p:txBody>
          <a:bodyPr wrap="square" lIns="0" rIns="0" tIns="0" bIns="0">
            <a:spAutoFit/>
          </a:bodyPr>
          <a:lstStyle/>
          <a:p>
            <a:pPr>
              <a:lnSpc>
                <a:spcPct val="132000"/>
              </a:lnSpc>
            </a:pPr>
            <a:r>
              <a:rPr sz="1150" b="0">
                <a:solidFill>
                  <a:srgbClr val="5D6675"/>
                </a:solidFill>
                <a:latin typeface="Arial"/>
              </a:rPr>
              <a:t>limites explicites,</a:t>
            </a:r>
          </a:p>
          <a:p>
            <a:pPr>
              <a:lnSpc>
                <a:spcPct val="132000"/>
              </a:lnSpc>
            </a:pPr>
            <a:r>
              <a:rPr sz="1150" b="0">
                <a:solidFill>
                  <a:srgbClr val="5D6675"/>
                </a:solidFill>
                <a:latin typeface="Arial"/>
              </a:rPr>
              <a:t>explicabilité exacte</a:t>
            </a:r>
          </a:p>
        </p:txBody>
      </p:sp>
      <p:sp>
        <p:nvSpPr>
          <p:cNvPr id="16" name="TextBox 15"/>
          <p:cNvSpPr txBox="1"/>
          <p:nvPr/>
        </p:nvSpPr>
        <p:spPr>
          <a:xfrm>
            <a:off x="609600" y="6299200"/>
            <a:ext cx="7620000" cy="254000"/>
          </a:xfrm>
          <a:prstGeom prst="rect">
            <a:avLst/>
          </a:prstGeom>
          <a:noFill/>
        </p:spPr>
        <p:txBody>
          <a:bodyPr wrap="square" lIns="0" rIns="0" tIns="0" bIns="0">
            <a:spAutoFit/>
          </a:bodyPr>
          <a:lstStyle/>
          <a:p>
            <a:r>
              <a:rPr sz="1250" b="1">
                <a:solidFill>
                  <a:srgbClr val="3D8DFF"/>
                </a:solidFill>
                <a:latin typeface="Arial"/>
              </a:rPr>
              <a:t>Merci de votre attention — questions bienvenues.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ANNEXE · A</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Les chiffres exacts, par univers</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24</a:t>
            </a:r>
          </a:p>
        </p:txBody>
      </p:sp>
      <p:sp>
        <p:nvSpPr>
          <p:cNvPr id="5" name="TextBox 4"/>
          <p:cNvSpPr txBox="1"/>
          <p:nvPr/>
        </p:nvSpPr>
        <p:spPr>
          <a:xfrm>
            <a:off x="609600" y="1651000"/>
            <a:ext cx="2717800" cy="254000"/>
          </a:xfrm>
          <a:prstGeom prst="rect">
            <a:avLst/>
          </a:prstGeom>
          <a:noFill/>
        </p:spPr>
        <p:txBody>
          <a:bodyPr wrap="square" lIns="0" rIns="0" tIns="0" bIns="0">
            <a:spAutoFit/>
          </a:bodyPr>
          <a:lstStyle/>
          <a:p>
            <a:r>
              <a:rPr sz="950" b="1">
                <a:solidFill>
                  <a:srgbClr val="3D8DFF"/>
                </a:solidFill>
                <a:latin typeface="Arial"/>
              </a:rPr>
              <a:t>UNIVERS</a:t>
            </a:r>
          </a:p>
        </p:txBody>
      </p:sp>
      <p:sp>
        <p:nvSpPr>
          <p:cNvPr id="6" name="TextBox 5"/>
          <p:cNvSpPr txBox="1"/>
          <p:nvPr/>
        </p:nvSpPr>
        <p:spPr>
          <a:xfrm>
            <a:off x="3454400" y="1651000"/>
            <a:ext cx="2717800" cy="254000"/>
          </a:xfrm>
          <a:prstGeom prst="rect">
            <a:avLst/>
          </a:prstGeom>
          <a:noFill/>
        </p:spPr>
        <p:txBody>
          <a:bodyPr wrap="square" lIns="0" rIns="0" tIns="0" bIns="0">
            <a:spAutoFit/>
          </a:bodyPr>
          <a:lstStyle/>
          <a:p>
            <a:r>
              <a:rPr sz="950" b="1">
                <a:solidFill>
                  <a:srgbClr val="3D8DFF"/>
                </a:solidFill>
                <a:latin typeface="Arial"/>
              </a:rPr>
              <a:t>COMPARATEUR CLASSIQUE</a:t>
            </a:r>
          </a:p>
        </p:txBody>
      </p:sp>
      <p:sp>
        <p:nvSpPr>
          <p:cNvPr id="7" name="TextBox 6"/>
          <p:cNvSpPr txBox="1"/>
          <p:nvPr/>
        </p:nvSpPr>
        <p:spPr>
          <a:xfrm>
            <a:off x="6299200" y="1651000"/>
            <a:ext cx="2717800" cy="254000"/>
          </a:xfrm>
          <a:prstGeom prst="rect">
            <a:avLst/>
          </a:prstGeom>
          <a:noFill/>
        </p:spPr>
        <p:txBody>
          <a:bodyPr wrap="square" lIns="0" rIns="0" tIns="0" bIns="0">
            <a:spAutoFit/>
          </a:bodyPr>
          <a:lstStyle/>
          <a:p>
            <a:r>
              <a:rPr sz="950" b="1">
                <a:solidFill>
                  <a:srgbClr val="3D8DFF"/>
                </a:solidFill>
                <a:latin typeface="Arial"/>
              </a:rPr>
              <a:t>SYSTÈME À RÉGIMES</a:t>
            </a:r>
          </a:p>
        </p:txBody>
      </p:sp>
      <p:sp>
        <p:nvSpPr>
          <p:cNvPr id="8" name="TextBox 7"/>
          <p:cNvSpPr txBox="1"/>
          <p:nvPr/>
        </p:nvSpPr>
        <p:spPr>
          <a:xfrm>
            <a:off x="9144000" y="1651000"/>
            <a:ext cx="2717800" cy="254000"/>
          </a:xfrm>
          <a:prstGeom prst="rect">
            <a:avLst/>
          </a:prstGeom>
          <a:noFill/>
        </p:spPr>
        <p:txBody>
          <a:bodyPr wrap="square" lIns="0" rIns="0" tIns="0" bIns="0">
            <a:spAutoFit/>
          </a:bodyPr>
          <a:lstStyle/>
          <a:p>
            <a:r>
              <a:rPr sz="950" b="1">
                <a:solidFill>
                  <a:srgbClr val="3D8DFF"/>
                </a:solidFill>
                <a:latin typeface="Arial"/>
              </a:rPr>
              <a:t>ÉCART OBSERVÉ</a:t>
            </a:r>
          </a:p>
        </p:txBody>
      </p:sp>
      <p:sp>
        <p:nvSpPr>
          <p:cNvPr id="9" name="Rounded Rectangle 8"/>
          <p:cNvSpPr/>
          <p:nvPr/>
        </p:nvSpPr>
        <p:spPr>
          <a:xfrm>
            <a:off x="609600" y="1879600"/>
            <a:ext cx="10972800" cy="558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2006600"/>
            <a:ext cx="2717800" cy="304800"/>
          </a:xfrm>
          <a:prstGeom prst="rect">
            <a:avLst/>
          </a:prstGeom>
          <a:noFill/>
        </p:spPr>
        <p:txBody>
          <a:bodyPr wrap="square" lIns="0" rIns="0" tIns="0" bIns="0">
            <a:spAutoFit/>
          </a:bodyPr>
          <a:lstStyle/>
          <a:p>
            <a:r>
              <a:rPr sz="1200" b="1">
                <a:solidFill>
                  <a:srgbClr val="111827"/>
                </a:solidFill>
                <a:latin typeface="Arial"/>
              </a:rPr>
              <a:t>full_2021 · MAD</a:t>
            </a:r>
          </a:p>
        </p:txBody>
      </p:sp>
      <p:sp>
        <p:nvSpPr>
          <p:cNvPr id="11" name="TextBox 10"/>
          <p:cNvSpPr txBox="1"/>
          <p:nvPr/>
        </p:nvSpPr>
        <p:spPr>
          <a:xfrm>
            <a:off x="3606800" y="2006600"/>
            <a:ext cx="2717800" cy="304800"/>
          </a:xfrm>
          <a:prstGeom prst="rect">
            <a:avLst/>
          </a:prstGeom>
          <a:noFill/>
        </p:spPr>
        <p:txBody>
          <a:bodyPr wrap="square" lIns="0" rIns="0" tIns="0" bIns="0">
            <a:spAutoFit/>
          </a:bodyPr>
          <a:lstStyle/>
          <a:p>
            <a:r>
              <a:rPr sz="1200" b="0">
                <a:solidFill>
                  <a:srgbClr val="111827"/>
                </a:solidFill>
                <a:latin typeface="Arial"/>
              </a:rPr>
              <a:t>max_sharpe — 1,0690</a:t>
            </a:r>
          </a:p>
        </p:txBody>
      </p:sp>
      <p:sp>
        <p:nvSpPr>
          <p:cNvPr id="12" name="TextBox 11"/>
          <p:cNvSpPr txBox="1"/>
          <p:nvPr/>
        </p:nvSpPr>
        <p:spPr>
          <a:xfrm>
            <a:off x="6451600" y="2006600"/>
            <a:ext cx="2717800" cy="304800"/>
          </a:xfrm>
          <a:prstGeom prst="rect">
            <a:avLst/>
          </a:prstGeom>
          <a:noFill/>
        </p:spPr>
        <p:txBody>
          <a:bodyPr wrap="square" lIns="0" rIns="0" tIns="0" bIns="0">
            <a:spAutoFit/>
          </a:bodyPr>
          <a:lstStyle/>
          <a:p>
            <a:r>
              <a:rPr sz="1200" b="0">
                <a:solidFill>
                  <a:srgbClr val="111827"/>
                </a:solidFill>
                <a:latin typeface="Arial"/>
              </a:rPr>
              <a:t>0,9571</a:t>
            </a:r>
          </a:p>
        </p:txBody>
      </p:sp>
      <p:sp>
        <p:nvSpPr>
          <p:cNvPr id="13" name="TextBox 12"/>
          <p:cNvSpPr txBox="1"/>
          <p:nvPr/>
        </p:nvSpPr>
        <p:spPr>
          <a:xfrm>
            <a:off x="9296400" y="2006600"/>
            <a:ext cx="2717800" cy="304800"/>
          </a:xfrm>
          <a:prstGeom prst="rect">
            <a:avLst/>
          </a:prstGeom>
          <a:noFill/>
        </p:spPr>
        <p:txBody>
          <a:bodyPr wrap="square" lIns="0" rIns="0" tIns="0" bIns="0">
            <a:spAutoFit/>
          </a:bodyPr>
          <a:lstStyle/>
          <a:p>
            <a:r>
              <a:rPr sz="1200" b="0">
                <a:solidFill>
                  <a:srgbClr val="B7433E"/>
                </a:solidFill>
                <a:latin typeface="Arial"/>
              </a:rPr>
              <a:t>−10,47 %</a:t>
            </a:r>
          </a:p>
        </p:txBody>
      </p:sp>
      <p:sp>
        <p:nvSpPr>
          <p:cNvPr id="14" name="Rounded Rectangle 13"/>
          <p:cNvSpPr/>
          <p:nvPr/>
        </p:nvSpPr>
        <p:spPr>
          <a:xfrm>
            <a:off x="609600" y="2540000"/>
            <a:ext cx="10972800" cy="5588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2000" y="2667000"/>
            <a:ext cx="2717800" cy="304800"/>
          </a:xfrm>
          <a:prstGeom prst="rect">
            <a:avLst/>
          </a:prstGeom>
          <a:noFill/>
        </p:spPr>
        <p:txBody>
          <a:bodyPr wrap="square" lIns="0" rIns="0" tIns="0" bIns="0">
            <a:spAutoFit/>
          </a:bodyPr>
          <a:lstStyle/>
          <a:p>
            <a:r>
              <a:rPr sz="1200" b="1">
                <a:solidFill>
                  <a:srgbClr val="111827"/>
                </a:solidFill>
                <a:latin typeface="Arial"/>
              </a:rPr>
              <a:t>etf_2017 · USD</a:t>
            </a:r>
          </a:p>
        </p:txBody>
      </p:sp>
      <p:sp>
        <p:nvSpPr>
          <p:cNvPr id="16" name="TextBox 15"/>
          <p:cNvSpPr txBox="1"/>
          <p:nvPr/>
        </p:nvSpPr>
        <p:spPr>
          <a:xfrm>
            <a:off x="3606800" y="2667000"/>
            <a:ext cx="2717800" cy="304800"/>
          </a:xfrm>
          <a:prstGeom prst="rect">
            <a:avLst/>
          </a:prstGeom>
          <a:noFill/>
        </p:spPr>
        <p:txBody>
          <a:bodyPr wrap="square" lIns="0" rIns="0" tIns="0" bIns="0">
            <a:spAutoFit/>
          </a:bodyPr>
          <a:lstStyle/>
          <a:p>
            <a:r>
              <a:rPr sz="1200" b="0">
                <a:solidFill>
                  <a:srgbClr val="111827"/>
                </a:solidFill>
                <a:latin typeface="Arial"/>
              </a:rPr>
              <a:t>min_variance_lw — 0,9525</a:t>
            </a:r>
          </a:p>
        </p:txBody>
      </p:sp>
      <p:sp>
        <p:nvSpPr>
          <p:cNvPr id="17" name="TextBox 16"/>
          <p:cNvSpPr txBox="1"/>
          <p:nvPr/>
        </p:nvSpPr>
        <p:spPr>
          <a:xfrm>
            <a:off x="6451600" y="2667000"/>
            <a:ext cx="2717800" cy="304800"/>
          </a:xfrm>
          <a:prstGeom prst="rect">
            <a:avLst/>
          </a:prstGeom>
          <a:noFill/>
        </p:spPr>
        <p:txBody>
          <a:bodyPr wrap="square" lIns="0" rIns="0" tIns="0" bIns="0">
            <a:spAutoFit/>
          </a:bodyPr>
          <a:lstStyle/>
          <a:p>
            <a:r>
              <a:rPr sz="1200" b="0">
                <a:solidFill>
                  <a:srgbClr val="111827"/>
                </a:solidFill>
                <a:latin typeface="Arial"/>
              </a:rPr>
              <a:t>0,9371</a:t>
            </a:r>
          </a:p>
        </p:txBody>
      </p:sp>
      <p:sp>
        <p:nvSpPr>
          <p:cNvPr id="18" name="TextBox 17"/>
          <p:cNvSpPr txBox="1"/>
          <p:nvPr/>
        </p:nvSpPr>
        <p:spPr>
          <a:xfrm>
            <a:off x="9296400" y="2667000"/>
            <a:ext cx="2717800" cy="304800"/>
          </a:xfrm>
          <a:prstGeom prst="rect">
            <a:avLst/>
          </a:prstGeom>
          <a:noFill/>
        </p:spPr>
        <p:txBody>
          <a:bodyPr wrap="square" lIns="0" rIns="0" tIns="0" bIns="0">
            <a:spAutoFit/>
          </a:bodyPr>
          <a:lstStyle/>
          <a:p>
            <a:r>
              <a:rPr sz="1200" b="0">
                <a:solidFill>
                  <a:srgbClr val="B7433E"/>
                </a:solidFill>
                <a:latin typeface="Arial"/>
              </a:rPr>
              <a:t>−1,62 %</a:t>
            </a:r>
          </a:p>
        </p:txBody>
      </p:sp>
      <p:sp>
        <p:nvSpPr>
          <p:cNvPr id="19" name="TextBox 18"/>
          <p:cNvSpPr txBox="1"/>
          <p:nvPr/>
        </p:nvSpPr>
        <p:spPr>
          <a:xfrm>
            <a:off x="609600" y="3403600"/>
            <a:ext cx="10972800" cy="254000"/>
          </a:xfrm>
          <a:prstGeom prst="rect">
            <a:avLst/>
          </a:prstGeom>
          <a:noFill/>
        </p:spPr>
        <p:txBody>
          <a:bodyPr wrap="square" lIns="0" rIns="0" tIns="0" bIns="0">
            <a:spAutoFit/>
          </a:bodyPr>
          <a:lstStyle/>
          <a:p>
            <a:r>
              <a:rPr sz="950" b="1">
                <a:solidFill>
                  <a:srgbClr val="3D8DFF"/>
                </a:solidFill>
                <a:latin typeface="Arial"/>
              </a:rPr>
              <a:t>EXTENSION DE RECHERCHE · global_2004 (10 ETF, 2004–2026)</a:t>
            </a:r>
          </a:p>
        </p:txBody>
      </p:sp>
      <p:sp>
        <p:nvSpPr>
          <p:cNvPr id="20" name="TextBox 19"/>
          <p:cNvSpPr txBox="1"/>
          <p:nvPr/>
        </p:nvSpPr>
        <p:spPr>
          <a:xfrm>
            <a:off x="609600" y="3733800"/>
            <a:ext cx="10972800" cy="1270000"/>
          </a:xfrm>
          <a:prstGeom prst="rect">
            <a:avLst/>
          </a:prstGeom>
          <a:noFill/>
        </p:spPr>
        <p:txBody>
          <a:bodyPr wrap="square" lIns="0" rIns="0" tIns="0" bIns="0">
            <a:spAutoFit/>
          </a:bodyPr>
          <a:lstStyle/>
          <a:p>
            <a:pPr>
              <a:lnSpc>
                <a:spcPct val="135000"/>
              </a:lnSpc>
            </a:pPr>
            <a:r>
              <a:rPr sz="1200" b="0">
                <a:solidFill>
                  <a:srgbClr val="5D6675"/>
                </a:solidFill>
                <a:latin typeface="Arial"/>
              </a:rPr>
              <a:t>Univers pré-enregistré et horodaté avant toute ingestion de données, construit pour que l’optimiseur puisse réellement exprimer une vue (249 allocations distinctes sur 249 rééquilibrages, contre 1 sur etf_2017).</a:t>
            </a:r>
          </a:p>
          <a:p>
            <a:pPr>
              <a:lnSpc>
                <a:spcPct val="135000"/>
              </a:lnSpc>
            </a:pPr>
            <a:r>
              <a:rPr sz="1200" b="0">
                <a:solidFill>
                  <a:srgbClr val="5D6675"/>
                </a:solidFill>
                <a:latin typeface="Arial"/>
              </a:rPr>
              <a:t>Résultat Q1 : 0,8923 pour le système à régimes contre 0,9785 pour le comparateur classique.</a:t>
            </a:r>
          </a:p>
        </p:txBody>
      </p:sp>
      <p:sp>
        <p:nvSpPr>
          <p:cNvPr id="21" name="TextBox 20"/>
          <p:cNvSpPr txBox="1"/>
          <p:nvPr/>
        </p:nvSpPr>
        <p:spPr>
          <a:xfrm>
            <a:off x="609600" y="5181600"/>
            <a:ext cx="10972800" cy="1016000"/>
          </a:xfrm>
          <a:prstGeom prst="rect">
            <a:avLst/>
          </a:prstGeom>
          <a:noFill/>
        </p:spPr>
        <p:txBody>
          <a:bodyPr wrap="square" lIns="0" rIns="0" tIns="0" bIns="0">
            <a:spAutoFit/>
          </a:bodyPr>
          <a:lstStyle/>
          <a:p>
            <a:pPr>
              <a:lnSpc>
                <a:spcPct val="135000"/>
              </a:lnSpc>
            </a:pPr>
            <a:r>
              <a:rPr sz="1150" b="0">
                <a:solidFill>
                  <a:srgbClr val="5D6675"/>
                </a:solidFill>
                <a:latin typeface="Arial"/>
              </a:rPr>
              <a:t>Les niveaux de Sharpe ne sont pas comparables d'un univers à l'autre : les deux univers sont libellés dans des devises différentes, sur des fenêtres différentes et avec un nombre d'actifs différent.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09600" y="279400"/>
            <a:ext cx="7112000" cy="203200"/>
          </a:xfrm>
          <a:prstGeom prst="rect">
            <a:avLst/>
          </a:prstGeom>
          <a:noFill/>
        </p:spPr>
        <p:txBody>
          <a:bodyPr wrap="square" lIns="0" rIns="0" tIns="0" bIns="0">
            <a:spAutoFit/>
          </a:bodyPr>
          <a:lstStyle/>
          <a:p>
            <a:r>
              <a:rPr sz="900" b="1">
                <a:solidFill>
                  <a:srgbClr val="3D8DFF"/>
                </a:solidFill>
                <a:latin typeface="Arial"/>
              </a:rPr>
              <a:t>ANNEXE · B</a:t>
            </a:r>
          </a:p>
        </p:txBody>
      </p:sp>
      <p:sp>
        <p:nvSpPr>
          <p:cNvPr id="3" name="TextBox 2"/>
          <p:cNvSpPr txBox="1"/>
          <p:nvPr/>
        </p:nvSpPr>
        <p:spPr>
          <a:xfrm>
            <a:off x="609600" y="558800"/>
            <a:ext cx="10668000" cy="558800"/>
          </a:xfrm>
          <a:prstGeom prst="rect">
            <a:avLst/>
          </a:prstGeom>
          <a:noFill/>
        </p:spPr>
        <p:txBody>
          <a:bodyPr wrap="square" lIns="0" rIns="0" tIns="0" bIns="0">
            <a:spAutoFit/>
          </a:bodyPr>
          <a:lstStyle/>
          <a:p>
            <a:r>
              <a:rPr sz="2600" b="1">
                <a:solidFill>
                  <a:srgbClr val="111827"/>
                </a:solidFill>
                <a:latin typeface="Arial"/>
              </a:rPr>
              <a:t>Intégrité des modèles et traçabilité</a:t>
            </a:r>
          </a:p>
        </p:txBody>
      </p:sp>
      <p:sp>
        <p:nvSpPr>
          <p:cNvPr id="4" name="TextBox 3"/>
          <p:cNvSpPr txBox="1"/>
          <p:nvPr/>
        </p:nvSpPr>
        <p:spPr>
          <a:xfrm>
            <a:off x="11430000" y="342900"/>
            <a:ext cx="431800" cy="228600"/>
          </a:xfrm>
          <a:prstGeom prst="rect">
            <a:avLst/>
          </a:prstGeom>
          <a:noFill/>
        </p:spPr>
        <p:txBody>
          <a:bodyPr wrap="square" lIns="0" rIns="0" tIns="0" bIns="0">
            <a:spAutoFit/>
          </a:bodyPr>
          <a:lstStyle/>
          <a:p>
            <a:pPr algn="r"/>
            <a:r>
              <a:rPr sz="900" b="1">
                <a:solidFill>
                  <a:srgbClr val="5D6675"/>
                </a:solidFill>
                <a:latin typeface="Arial"/>
              </a:rPr>
              <a:t>25</a:t>
            </a:r>
          </a:p>
        </p:txBody>
      </p:sp>
      <p:sp>
        <p:nvSpPr>
          <p:cNvPr id="5" name="TextBox 4"/>
          <p:cNvSpPr txBox="1"/>
          <p:nvPr/>
        </p:nvSpPr>
        <p:spPr>
          <a:xfrm>
            <a:off x="609600" y="1727200"/>
            <a:ext cx="3302000" cy="558800"/>
          </a:xfrm>
          <a:prstGeom prst="rect">
            <a:avLst/>
          </a:prstGeom>
          <a:noFill/>
        </p:spPr>
        <p:txBody>
          <a:bodyPr wrap="square" lIns="0" rIns="0" tIns="0" bIns="0">
            <a:spAutoFit/>
          </a:bodyPr>
          <a:lstStyle/>
          <a:p>
            <a:r>
              <a:rPr sz="2800" b="1">
                <a:solidFill>
                  <a:srgbClr val="1B3A6B"/>
                </a:solidFill>
                <a:latin typeface="Arial"/>
              </a:rPr>
              <a:t>7 / 1 184</a:t>
            </a:r>
          </a:p>
        </p:txBody>
      </p:sp>
      <p:sp>
        <p:nvSpPr>
          <p:cNvPr id="6" name="TextBox 5"/>
          <p:cNvSpPr txBox="1"/>
          <p:nvPr/>
        </p:nvSpPr>
        <p:spPr>
          <a:xfrm>
            <a:off x="609600" y="2286000"/>
            <a:ext cx="3302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ajustements ayant utilisé un estimateur de repli — tracés, comptés et publiés</a:t>
            </a:r>
          </a:p>
        </p:txBody>
      </p:sp>
      <p:sp>
        <p:nvSpPr>
          <p:cNvPr id="7" name="TextBox 6"/>
          <p:cNvSpPr txBox="1"/>
          <p:nvPr/>
        </p:nvSpPr>
        <p:spPr>
          <a:xfrm>
            <a:off x="4318000" y="1727200"/>
            <a:ext cx="3302000" cy="558800"/>
          </a:xfrm>
          <a:prstGeom prst="rect">
            <a:avLst/>
          </a:prstGeom>
          <a:noFill/>
        </p:spPr>
        <p:txBody>
          <a:bodyPr wrap="square" lIns="0" rIns="0" tIns="0" bIns="0">
            <a:spAutoFit/>
          </a:bodyPr>
          <a:lstStyle/>
          <a:p>
            <a:r>
              <a:rPr sz="2800" b="1">
                <a:solidFill>
                  <a:srgbClr val="0F766E"/>
                </a:solidFill>
                <a:latin typeface="Arial"/>
              </a:rPr>
              <a:t>4</a:t>
            </a:r>
          </a:p>
        </p:txBody>
      </p:sp>
      <p:sp>
        <p:nvSpPr>
          <p:cNvPr id="8" name="TextBox 7"/>
          <p:cNvSpPr txBox="1"/>
          <p:nvPr/>
        </p:nvSpPr>
        <p:spPr>
          <a:xfrm>
            <a:off x="4318000" y="2286000"/>
            <a:ext cx="3302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stratégies évaluées sur 296 dates de rééquilibrage</a:t>
            </a:r>
          </a:p>
        </p:txBody>
      </p:sp>
      <p:sp>
        <p:nvSpPr>
          <p:cNvPr id="9" name="TextBox 8"/>
          <p:cNvSpPr txBox="1"/>
          <p:nvPr/>
        </p:nvSpPr>
        <p:spPr>
          <a:xfrm>
            <a:off x="8026400" y="1727200"/>
            <a:ext cx="3556000" cy="558800"/>
          </a:xfrm>
          <a:prstGeom prst="rect">
            <a:avLst/>
          </a:prstGeom>
          <a:noFill/>
        </p:spPr>
        <p:txBody>
          <a:bodyPr wrap="square" lIns="0" rIns="0" tIns="0" bIns="0">
            <a:spAutoFit/>
          </a:bodyPr>
          <a:lstStyle/>
          <a:p>
            <a:r>
              <a:rPr sz="2800" b="1">
                <a:solidFill>
                  <a:srgbClr val="A86812"/>
                </a:solidFill>
                <a:latin typeface="Arial"/>
              </a:rPr>
              <a:t>891</a:t>
            </a:r>
          </a:p>
        </p:txBody>
      </p:sp>
      <p:sp>
        <p:nvSpPr>
          <p:cNvPr id="10" name="TextBox 9"/>
          <p:cNvSpPr txBox="1"/>
          <p:nvPr/>
        </p:nvSpPr>
        <p:spPr>
          <a:xfrm>
            <a:off x="8026400" y="2286000"/>
            <a:ext cx="3556000" cy="508000"/>
          </a:xfrm>
          <a:prstGeom prst="rect">
            <a:avLst/>
          </a:prstGeom>
          <a:noFill/>
        </p:spPr>
        <p:txBody>
          <a:bodyPr wrap="square" lIns="0" rIns="0" tIns="0" bIns="0">
            <a:spAutoFit/>
          </a:bodyPr>
          <a:lstStyle/>
          <a:p>
            <a:pPr>
              <a:lnSpc>
                <a:spcPct val="120000"/>
              </a:lnSpc>
            </a:pPr>
            <a:r>
              <a:rPr sz="1150" b="0">
                <a:solidFill>
                  <a:srgbClr val="5D6675"/>
                </a:solidFill>
                <a:latin typeface="Arial"/>
              </a:rPr>
              <a:t>tests automatisés, dont des tests de cohérence entre artefacts</a:t>
            </a:r>
          </a:p>
        </p:txBody>
      </p:sp>
      <p:sp>
        <p:nvSpPr>
          <p:cNvPr id="11" name="Rounded Rectangle 10"/>
          <p:cNvSpPr/>
          <p:nvPr/>
        </p:nvSpPr>
        <p:spPr>
          <a:xfrm>
            <a:off x="609600" y="3403600"/>
            <a:ext cx="10972800" cy="14986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3657600"/>
            <a:ext cx="10363200" cy="279400"/>
          </a:xfrm>
          <a:prstGeom prst="rect">
            <a:avLst/>
          </a:prstGeom>
          <a:noFill/>
        </p:spPr>
        <p:txBody>
          <a:bodyPr wrap="square" lIns="0" rIns="0" tIns="0" bIns="0">
            <a:spAutoFit/>
          </a:bodyPr>
          <a:lstStyle/>
          <a:p>
            <a:r>
              <a:rPr sz="1000" b="1">
                <a:solidFill>
                  <a:srgbClr val="A86812"/>
                </a:solidFill>
                <a:latin typeface="Arial"/>
              </a:rPr>
              <a:t>CE QUE CELA SIGNIFIE</a:t>
            </a:r>
          </a:p>
        </p:txBody>
      </p:sp>
      <p:sp>
        <p:nvSpPr>
          <p:cNvPr id="13" name="TextBox 12"/>
          <p:cNvSpPr txBox="1"/>
          <p:nvPr/>
        </p:nvSpPr>
        <p:spPr>
          <a:xfrm>
            <a:off x="889000" y="4013200"/>
            <a:ext cx="10363200" cy="762000"/>
          </a:xfrm>
          <a:prstGeom prst="rect">
            <a:avLst/>
          </a:prstGeom>
          <a:noFill/>
        </p:spPr>
        <p:txBody>
          <a:bodyPr wrap="square" lIns="0" rIns="0" tIns="0" bIns="0">
            <a:spAutoFit/>
          </a:bodyPr>
          <a:lstStyle/>
          <a:p>
            <a:pPr>
              <a:lnSpc>
                <a:spcPct val="130000"/>
              </a:lnSpc>
            </a:pPr>
            <a:r>
              <a:rPr sz="1250" b="0">
                <a:solidFill>
                  <a:srgbClr val="111827"/>
                </a:solidFill>
                <a:latin typeface="Arial"/>
              </a:rPr>
              <a:t>Lorsqu’un estimateur ne converge pas, le système bascule sur une solution de repli — et le dit. Les séries concernées sont</a:t>
            </a:r>
          </a:p>
          <a:p>
            <a:pPr>
              <a:lnSpc>
                <a:spcPct val="130000"/>
              </a:lnSpc>
            </a:pPr>
            <a:r>
              <a:rPr sz="1250" b="0">
                <a:solidFill>
                  <a:srgbClr val="111827"/>
                </a:solidFill>
                <a:latin typeface="Arial"/>
              </a:rPr>
              <a:t>signalées comme hybrides plutôt que présentées sous l’étiquette du modèle qu’elles ne sont pas.</a:t>
            </a:r>
          </a:p>
        </p:txBody>
      </p:sp>
      <p:sp>
        <p:nvSpPr>
          <p:cNvPr id="14" name="TextBox 13"/>
          <p:cNvSpPr txBox="1"/>
          <p:nvPr/>
        </p:nvSpPr>
        <p:spPr>
          <a:xfrm>
            <a:off x="609600" y="5156200"/>
            <a:ext cx="10972800" cy="1143000"/>
          </a:xfrm>
          <a:prstGeom prst="rect">
            <a:avLst/>
          </a:prstGeom>
          <a:noFill/>
        </p:spPr>
        <p:txBody>
          <a:bodyPr wrap="square" lIns="0" rIns="0" tIns="0" bIns="0">
            <a:spAutoFit/>
          </a:bodyPr>
          <a:lstStyle/>
          <a:p>
            <a:pPr>
              <a:lnSpc>
                <a:spcPct val="135000"/>
              </a:lnSpc>
            </a:pPr>
            <a:r>
              <a:rPr sz="1200" b="0">
                <a:solidFill>
                  <a:srgbClr val="5D6675"/>
                </a:solidFill>
                <a:latin typeface="Arial"/>
              </a:rPr>
              <a:t>Aucune stratégie n’est recommandée, déployée, ni présentée comme une valeur ajoutée établie. Ce livrable est un prototype de recherche académique : ni conseil financier, ni recommandation client, ni exécution d’ordres.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