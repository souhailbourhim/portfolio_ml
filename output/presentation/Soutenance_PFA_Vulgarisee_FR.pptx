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Nous présentons un projet de fin d’année mené à l’INPT avec EURAFRIC Information : un système qui répartit un capital entre actifs, et surtout un dispositif capable de dire si cette répartition est réellement meilleure. [~40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temps. Je commence par le vocabulaire, parce que la suite n’a de sens qu’avec quatre ou cinq mots précis. Puis le problème, notre réponse, les résultats. [~30 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portefeuille, c’est un capital réparti entre plusieurs actifs. La seule chose que notre système décide, ce sont ces pourcentages — les poids. Il ne prédit pas un cours ; il répond à « combien mettre où ». Et il reprend cette décision chaque mois, ce qui coûte des frais à chaque fois. [~60 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comparer deux portefeuilles, le rendement seul ne suffit pas. Ces deux courbes finissent au même niveau, mais l’une tremble trois fois plus. Le ratio de Sharpe mesure exactement cela : le rendement obtenu par unité de risque subi. C’est la note qui servira à tout comparer. [~60 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L’idée de Markowitz, prix Nobel : en combinant des actifs qui ne bougent pas ensemble, on réduit le risque sans perdre de rendement. Mais le modèle a besoin de deux ingrédients qu’on ne connaît jamais vraiment — il les estime. À droite, les quatre mots qui décident si un résultat vaut quelque chose : un backtest rejoue l’histoire ; une fuite de données, c’est utiliser sans le vouloir une information du futur ; le surapprentissage, c’est apprendre le bruit ; et le data snooping, c’est trouver un gagnant à force d’essayer. Tout notre protocole est construit contre ces quatre risques. [~85 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Voilà la question. Elle est posée sous contraintes réelles de gestion : pas de vente à découvert, aucun actif au-delà de 25 %, frais déduits, décision mensuelle. Et nous l’étudions sur trois terrains évalués séparément — nous ne mélangeons jamais des dirhams et des dollars. [~60 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Pourquoi c’est difficile. Quatre échecs connus de l’approche classique : elle prend des estimations bruitées pour des certitudes, elle suppose que demain ressemble à hier, elle s’effondre en crise, et elle se laisse flatter par la répétition des essais. Chacun appelle une réponse technique précise — c’est notre plan de construction. [~70 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image pour le troisième échec. En temps normal, actions et valeurs refuges se comportent différemment. En crise, les actions se resserrent : la corrélation monte jusqu’à 0,94 en mars 2020. Le portefeuille se comporte alors comme un seul actif — la diversification disparaît quand on en a le plus besoin. [~60 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piège central, et c’est notre message principal. Nous avons évalué 240 stratégies, liste figée avant tout calcul. Le meilleur candidat dépasse la référence de 0,093 de Sharpe. Sur le papier, c’est publiable. Les tests de sélection multiple répondent p = 0,90 : c’est le maximum d’une recherche, pas une découverte. Sans ce test, nous aurions annoncé un faux résultat. [~80 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mot sur la méthode avant le contenu. Le projet s’est déroulé en huit phases, chacune close par un livrable écrit et des artefacts versionnés : infrastructure de données, backtesting classique, variables, régimes, signaux adaptatifs, coûts, évaluation hors échantillon, puis robustesse et gouvernance. Nous sommes trois, encadrés par M. Maqil, avec une revue croisée avant chaque livrable. Une phase n’est close que si son résultat est reproductible. [~45 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réponse est une chaîne complète, à sens unique, de la donnée brute à la décision publiée. Trois règles la gouvernent : aucun chiffre saisi à la main, aucune décision qui regarde l’avenir, aucune affirmation sans test. [~50 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données d’abord. Trois couches : le brut qu’on ne réécrit jamais, une couche de mise en cohérence, et une couche finale — la seule que les modèles ont le droit de lire. Cela nous a permis de corriger deux biais réels : les dividendes de la Bourse de Casablanca, et la conversion en dirhams au taux officiel de Bank Al-Maghrib. Les deux ont changé nos résultats ; nous les avons appliqués quand même. [~75 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modèles, par paliers. On part des références classiques, on rend la structure de risque dynamique, puis on ajoute un modèle de régimes — un HMM qui reconnaît tout seul si le marché est calme ou sous tension — et enfin des challengers Random Forest et XGBoost. Chaque étage doit battre le précédent pour être retenu. [~70 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L’épreuve. À chaque date de décision, le modèle est réentraîné avec les seules données déjà disponibles, puis subit le mois suivant sans le connaître. On écarte les jours à cheval sur la frontière, on garde une dernière période totalement intacte, et chaque mouvement est facturé avant d’être compté. [~65 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verrous, rapidement : comparaison appariée jour par jour ; correction statistique des 240 configurations essayées ; référence fixée à l’avance, jamais réécrite après coup. C’est ce qui rend nos résultats vérifiables. [~60 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résultats, hors échantillon et nets de frais. La bande bleue claire, c’est l’ensemble des références classiques : son bord bas est la moins bonne, son bord haut la meilleure. La ligne foncée est notre système à régimes. Il reste dans la bande du début à la fin, 2008, 2020 et 2022 compris. La vraie question n’est donc pas « est-ce que ça marche », mais « l’écart est-il réel ou dans le bruit » — et c’est exactement ce que la chaîne sait trancher. [~60 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Premier résultat concret. Le modèle de régimes n’a jamais reçu la liste des crises : il apprend seul. Sur les cinq crises de la période, fixées à l’avance d’après des dates externes, il les a toutes reconnues. 92 % des mois de crise classés « sous tension », contre 29 % hors crise. C’est un diagnostic directement lisible par un gérant. [~70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Deuxième résultat, et le plus actionnable. À moteur identique, relâcher la règle « aucun actif au-delà de 25 % » coûte 10 % de Sharpe. C’est davantage que l’effet de n’importe quel modèle testé. Une règle de gouvernance simple absorbe l’erreur d’estimation mieux que la sophistication. [~65 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Troisième résultat, celui dont nous sommes le plus fiers. Avec un backtest seul, nous aurions écrit « notre XGBoost améliore le Sharpe de 0,093 ». Notre chaîne répond : c’est le maximum d’une recherche, les tests ne le retiennent pas. Un prototype qui ne sait pas invalider ses propres résultats n’a pas de valeur pour une direction des risques. [~70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question que le jury se pose sûrement : et si le problème était simplement le manque d’historique marocain ? Nous l’avons testé. Un panel de recherche de douze actions de la Bourse de Casablanca sur vingt ans, cinq fois plus d’observations que notre univers actuel. Résultat : le pouvoir prédictif du modèle est multiplié par deux à quatre, et les deux algorithmes le confirment indépendamment. Le modèle devient donc mesurablement plus fin. Mais le gain de portefeuille, lui, ne suit pas encore : ce qui bloque, c’est la transformation du signal en allocation, pas la quantité de données. [~70 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lecture d’ensemble, en toute transparence. À gauche, ce que nous établissons. À droite, ce que nous n’établissons pas : sur nos univers et nos fenêtres, aucune couche ML ne démontre de surperformance significative face à son comparateur. C’est une réponse, pas un échec — la question posée était « peut-on le savoir », et nous savons. Les deux colonnes viennent du même dispositif : c’est ce qui rend la première crédible. [~80 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point que les jurys de gouvernance attendent : pourquoi ce poids-là ? Voici une décision réelle, celle du 24 juillet 2026. Le système lit trois signaux de marché, en déduit un régime de tension, en tire une posture défensive — la variance minimale — puis les contraintes façonnent les poids : l’ETF obligataire bute sur le plafond de 25 %, le QQQ est écarté. Rien n’est approximé : c’est une trace, pas une reconstruction a posteriori. Et pour les challengers, les attributions sont exactes. [~55 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livrable n’est pas un notebook. Un tableau de bord, une API en lecture seule dont les chiffres sont lus depuis les artefacts, des données versionnées, une intégration continue, un conteneur, et près de 900 tests automatisés qui gardent les invariants. [~55 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qui reste. Élargir l’univers marocain, faire valider le dispositif par une équipe indépendante, modéliser la couverture du risque de change, et passer à l’échelle sur davantage d’actifs — c’est là qu’un optimiseur a le plus de marge pour exprimer une vue. [~55 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 un système complet d’allocation, évalué sans tricher, capable de reconnaître les crises, de montrer ce qui améliore réellement un portefeuille — et de refuser ce qui n’est que du hasard. Merci de votre attention. [~40 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ANNEXE — à garder pour les questions. Les chiffres exacts par univers, et la mise en garde : les Sharpe ne se comparent pas d’un univers à l’autre (devises, fenêtres et nombres d’actifs différents).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ANNEXE — intégrité et périmètre. 7 ajustements sur 1 184 ont utilisé un estimateur de repli : ils sont comptés et signalés comme hybrides plutôt que publiés sous une étiquette qu’ils ne méritent pas. Et le cadrage : prototype de recherche académique, aucune recommandation d’investissement.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ANNEXE — si on nous demande si nos corrélations sont fiables. Casablanca ferme avant Wall Street : la corrélation du jour même sous-estime le lien réel, et la corrélation décalée d’un jour est dix-neuf fois plus forte. L’effet est absent sur un univers témoin entièrement américain, donc il vient bien du décalage horaire. Conséquence : le choix de l’estimateur de covariance déplace l’allocation à chaque rééquilibrage — mais aucun test apparié n’établit qu’un estimateur batte l’autre.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ANNEXE — si on nous demande si notre protocole est lui-même sur-ajusté. Nous avons refait l’évaluation avec un protocole imbriqué, qui refait la sélection dans chaque repli, et nous avons dégonflé le Sharpe du nombre d’essais. Le classement dépend du protocole ; nous le disons plutôt que de choisir celui qui nous arrange.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ANNEXE — la pile technique, si la question vient du côté informatique : DVC pour les données, MLflow pour les expériences, Dagster pour l’orchestration, FastAPI et Streamlit pour la diffusion, Docker et l’intégration continue pour l’industrialisation. Un dépôt cloné reproduit les mêmes chiffres.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2000" cy="68580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1219200"/>
            <a:ext cx="1219200" cy="50800"/>
          </a:xfrm>
          <a:prstGeom prst="rect">
            <a:avLst/>
          </a:prstGeom>
          <a:solidFill>
            <a:srgbClr val="3D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09600" y="660400"/>
            <a:ext cx="8890000" cy="228600"/>
          </a:xfrm>
          <a:prstGeom prst="rect">
            <a:avLst/>
          </a:prstGeom>
          <a:noFill/>
        </p:spPr>
        <p:txBody>
          <a:bodyPr wrap="square" lIns="0" rIns="0" tIns="0" bIns="0">
            <a:spAutoFit/>
          </a:bodyPr>
          <a:lstStyle/>
          <a:p>
            <a:r>
              <a:rPr sz="1050" b="1">
                <a:solidFill>
                  <a:srgbClr val="3D8DFF"/>
                </a:solidFill>
                <a:latin typeface="Arial"/>
              </a:rPr>
              <a:t>PROJET DE FIN D’ANNÉE · INPT × EURAFRIC INFORMATION</a:t>
            </a:r>
          </a:p>
        </p:txBody>
      </p:sp>
      <p:sp>
        <p:nvSpPr>
          <p:cNvPr id="5" name="TextBox 4"/>
          <p:cNvSpPr txBox="1"/>
          <p:nvPr/>
        </p:nvSpPr>
        <p:spPr>
          <a:xfrm>
            <a:off x="609600" y="1625600"/>
            <a:ext cx="10541000" cy="1524000"/>
          </a:xfrm>
          <a:prstGeom prst="rect">
            <a:avLst/>
          </a:prstGeom>
          <a:noFill/>
        </p:spPr>
        <p:txBody>
          <a:bodyPr wrap="square" lIns="0" rIns="0" tIns="0" bIns="0">
            <a:spAutoFit/>
          </a:bodyPr>
          <a:lstStyle/>
          <a:p>
            <a:pPr>
              <a:lnSpc>
                <a:spcPct val="112000"/>
              </a:lnSpc>
            </a:pPr>
            <a:r>
              <a:rPr sz="4000" b="1">
                <a:solidFill>
                  <a:srgbClr val="111827"/>
                </a:solidFill>
                <a:latin typeface="Arial"/>
              </a:rPr>
              <a:t>Optimisation de portefeuille</a:t>
            </a:r>
          </a:p>
          <a:p>
            <a:pPr>
              <a:lnSpc>
                <a:spcPct val="112000"/>
              </a:lnSpc>
            </a:pPr>
            <a:r>
              <a:rPr sz="4000" b="1">
                <a:solidFill>
                  <a:srgbClr val="111827"/>
                </a:solidFill>
                <a:latin typeface="Arial"/>
              </a:rPr>
              <a:t>pilotée par Machine Learning</a:t>
            </a:r>
          </a:p>
        </p:txBody>
      </p:sp>
      <p:sp>
        <p:nvSpPr>
          <p:cNvPr id="6" name="TextBox 5"/>
          <p:cNvSpPr txBox="1"/>
          <p:nvPr/>
        </p:nvSpPr>
        <p:spPr>
          <a:xfrm>
            <a:off x="609600" y="3327400"/>
            <a:ext cx="9652000" cy="711200"/>
          </a:xfrm>
          <a:prstGeom prst="rect">
            <a:avLst/>
          </a:prstGeom>
          <a:noFill/>
        </p:spPr>
        <p:txBody>
          <a:bodyPr wrap="square" lIns="0" rIns="0" tIns="0" bIns="0">
            <a:spAutoFit/>
          </a:bodyPr>
          <a:lstStyle/>
          <a:p>
            <a:pPr>
              <a:lnSpc>
                <a:spcPct val="135000"/>
              </a:lnSpc>
            </a:pPr>
            <a:r>
              <a:rPr sz="1500" b="0">
                <a:solidFill>
                  <a:srgbClr val="5D6675"/>
                </a:solidFill>
                <a:latin typeface="Arial"/>
              </a:rPr>
              <a:t>Peut-on améliorer la répartition d’un capital grâce à l’apprentissage automatique —</a:t>
            </a:r>
          </a:p>
          <a:p>
            <a:pPr>
              <a:lnSpc>
                <a:spcPct val="135000"/>
              </a:lnSpc>
            </a:pPr>
            <a:r>
              <a:rPr sz="1500" b="0">
                <a:solidFill>
                  <a:srgbClr val="5D6675"/>
                </a:solidFill>
                <a:latin typeface="Arial"/>
              </a:rPr>
              <a:t>et savoir, de façon vérifiable, si l’amélioration est réelle ?</a:t>
            </a:r>
          </a:p>
        </p:txBody>
      </p:sp>
      <p:sp>
        <p:nvSpPr>
          <p:cNvPr id="7" name="Rounded Rectangle 6"/>
          <p:cNvSpPr/>
          <p:nvPr/>
        </p:nvSpPr>
        <p:spPr>
          <a:xfrm>
            <a:off x="609600" y="4470400"/>
            <a:ext cx="10972800" cy="12700"/>
          </a:xfrm>
          <a:prstGeom prst="roundRect">
            <a:avLst>
              <a:gd name="adj" fmla="val 3000"/>
            </a:avLst>
          </a:prstGeom>
          <a:solidFill>
            <a:srgbClr val="C9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9600" y="4826000"/>
            <a:ext cx="5461000" cy="889000"/>
          </a:xfrm>
          <a:prstGeom prst="rect">
            <a:avLst/>
          </a:prstGeom>
          <a:noFill/>
        </p:spPr>
        <p:txBody>
          <a:bodyPr wrap="square" lIns="0" rIns="0" tIns="0" bIns="0">
            <a:spAutoFit/>
          </a:bodyPr>
          <a:lstStyle/>
          <a:p>
            <a:r>
              <a:rPr sz="1300" b="1">
                <a:solidFill>
                  <a:srgbClr val="111827"/>
                </a:solidFill>
                <a:latin typeface="Arial"/>
              </a:rPr>
              <a:t>Souhail BOURHIM · Zakarya EL WALI · Yasmine BOUAJINE</a:t>
            </a:r>
          </a:p>
        </p:txBody>
      </p:sp>
      <p:sp>
        <p:nvSpPr>
          <p:cNvPr id="9" name="TextBox 8"/>
          <p:cNvSpPr txBox="1"/>
          <p:nvPr/>
        </p:nvSpPr>
        <p:spPr>
          <a:xfrm>
            <a:off x="609600" y="5130800"/>
            <a:ext cx="5461000" cy="508000"/>
          </a:xfrm>
          <a:prstGeom prst="rect">
            <a:avLst/>
          </a:prstGeom>
          <a:noFill/>
        </p:spPr>
        <p:txBody>
          <a:bodyPr wrap="square" lIns="0" rIns="0" tIns="0" bIns="0">
            <a:spAutoFit/>
          </a:bodyPr>
          <a:lstStyle/>
          <a:p>
            <a:r>
              <a:rPr sz="1150" b="0">
                <a:solidFill>
                  <a:srgbClr val="5D6675"/>
                </a:solidFill>
                <a:latin typeface="Arial"/>
              </a:rPr>
              <a:t>Étudiants ingénieurs · INPT</a:t>
            </a:r>
          </a:p>
        </p:txBody>
      </p:sp>
      <p:sp>
        <p:nvSpPr>
          <p:cNvPr id="10" name="TextBox 9"/>
          <p:cNvSpPr txBox="1"/>
          <p:nvPr/>
        </p:nvSpPr>
        <p:spPr>
          <a:xfrm>
            <a:off x="7112000" y="4826000"/>
            <a:ext cx="4470400" cy="889000"/>
          </a:xfrm>
          <a:prstGeom prst="rect">
            <a:avLst/>
          </a:prstGeom>
          <a:noFill/>
        </p:spPr>
        <p:txBody>
          <a:bodyPr wrap="square" lIns="0" rIns="0" tIns="0" bIns="0">
            <a:spAutoFit/>
          </a:bodyPr>
          <a:lstStyle/>
          <a:p>
            <a:r>
              <a:rPr sz="1300" b="1">
                <a:solidFill>
                  <a:srgbClr val="111827"/>
                </a:solidFill>
                <a:latin typeface="Arial"/>
              </a:rPr>
              <a:t>Encadré par M. Abdelmouttalib MAQIL</a:t>
            </a:r>
          </a:p>
        </p:txBody>
      </p:sp>
      <p:sp>
        <p:nvSpPr>
          <p:cNvPr id="11" name="TextBox 10"/>
          <p:cNvSpPr txBox="1"/>
          <p:nvPr/>
        </p:nvSpPr>
        <p:spPr>
          <a:xfrm>
            <a:off x="7112000" y="5130800"/>
            <a:ext cx="4470400" cy="508000"/>
          </a:xfrm>
          <a:prstGeom prst="rect">
            <a:avLst/>
          </a:prstGeom>
          <a:noFill/>
        </p:spPr>
        <p:txBody>
          <a:bodyPr wrap="square" lIns="0" rIns="0" tIns="0" bIns="0">
            <a:spAutoFit/>
          </a:bodyPr>
          <a:lstStyle/>
          <a:p>
            <a:r>
              <a:rPr sz="1150" b="0">
                <a:solidFill>
                  <a:srgbClr val="5D6675"/>
                </a:solidFill>
                <a:latin typeface="Arial"/>
              </a:rPr>
              <a:t>EURAFRIC Information</a:t>
            </a:r>
          </a:p>
        </p:txBody>
      </p:sp>
      <p:sp>
        <p:nvSpPr>
          <p:cNvPr id="12" name="TextBox 11"/>
          <p:cNvSpPr txBox="1"/>
          <p:nvPr/>
        </p:nvSpPr>
        <p:spPr>
          <a:xfrm>
            <a:off x="609600" y="5969000"/>
            <a:ext cx="6350000" cy="254000"/>
          </a:xfrm>
          <a:prstGeom prst="rect">
            <a:avLst/>
          </a:prstGeom>
          <a:noFill/>
        </p:spPr>
        <p:txBody>
          <a:bodyPr wrap="square" lIns="0" rIns="0" tIns="0" bIns="0">
            <a:spAutoFit/>
          </a:bodyPr>
          <a:lstStyle/>
          <a:p>
            <a:r>
              <a:rPr sz="1100" b="0">
                <a:solidFill>
                  <a:srgbClr val="5D6675"/>
                </a:solidFill>
                <a:latin typeface="Arial"/>
              </a:rPr>
              <a:t>Soutenance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FEUILLE DE ROUTE</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Quatre temps, une seule question</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02</a:t>
            </a:r>
          </a:p>
        </p:txBody>
      </p:sp>
      <p:sp>
        <p:nvSpPr>
          <p:cNvPr id="5" name="Rounded Rectangle 4"/>
          <p:cNvSpPr/>
          <p:nvPr/>
        </p:nvSpPr>
        <p:spPr>
          <a:xfrm>
            <a:off x="609600" y="1727200"/>
            <a:ext cx="2540000" cy="3810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57400"/>
            <a:ext cx="762000" cy="584200"/>
          </a:xfrm>
          <a:prstGeom prst="rect">
            <a:avLst/>
          </a:prstGeom>
          <a:noFill/>
        </p:spPr>
        <p:txBody>
          <a:bodyPr wrap="square" lIns="0" rIns="0" tIns="0" bIns="0">
            <a:spAutoFit/>
          </a:bodyPr>
          <a:lstStyle/>
          <a:p>
            <a:r>
              <a:rPr sz="3400" b="1">
                <a:solidFill>
                  <a:srgbClr val="1B3A6B"/>
                </a:solidFill>
                <a:latin typeface="Arial"/>
              </a:rPr>
              <a:t>1</a:t>
            </a:r>
          </a:p>
        </p:txBody>
      </p:sp>
      <p:sp>
        <p:nvSpPr>
          <p:cNvPr id="7" name="TextBox 6"/>
          <p:cNvSpPr txBox="1"/>
          <p:nvPr/>
        </p:nvSpPr>
        <p:spPr>
          <a:xfrm>
            <a:off x="863600" y="2794000"/>
            <a:ext cx="2032000" cy="304800"/>
          </a:xfrm>
          <a:prstGeom prst="rect">
            <a:avLst/>
          </a:prstGeom>
          <a:noFill/>
        </p:spPr>
        <p:txBody>
          <a:bodyPr wrap="square" lIns="0" rIns="0" tIns="0" bIns="0">
            <a:spAutoFit/>
          </a:bodyPr>
          <a:lstStyle/>
          <a:p>
            <a:r>
              <a:rPr sz="1500" b="1">
                <a:solidFill>
                  <a:srgbClr val="111827"/>
                </a:solidFill>
                <a:latin typeface="Arial"/>
              </a:rPr>
              <a:t>Le vocabulaire</a:t>
            </a:r>
          </a:p>
        </p:txBody>
      </p:sp>
      <p:sp>
        <p:nvSpPr>
          <p:cNvPr id="8" name="TextBox 7"/>
          <p:cNvSpPr txBox="1"/>
          <p:nvPr/>
        </p:nvSpPr>
        <p:spPr>
          <a:xfrm>
            <a:off x="863600" y="3276600"/>
            <a:ext cx="2133600" cy="1905000"/>
          </a:xfrm>
          <a:prstGeom prst="rect">
            <a:avLst/>
          </a:prstGeom>
          <a:noFill/>
        </p:spPr>
        <p:txBody>
          <a:bodyPr wrap="square" lIns="0" rIns="0" tIns="0" bIns="0">
            <a:spAutoFit/>
          </a:bodyPr>
          <a:lstStyle/>
          <a:p>
            <a:pPr>
              <a:lnSpc>
                <a:spcPct val="145000"/>
              </a:lnSpc>
            </a:pPr>
            <a:r>
              <a:rPr sz="1150" b="0">
                <a:solidFill>
                  <a:srgbClr val="5D6675"/>
                </a:solidFill>
                <a:latin typeface="Arial"/>
              </a:rPr>
              <a:t>Portefeuille, risque, Sharpe,</a:t>
            </a:r>
          </a:p>
          <a:p>
            <a:pPr>
              <a:lnSpc>
                <a:spcPct val="145000"/>
              </a:lnSpc>
            </a:pPr>
            <a:r>
              <a:rPr sz="1150" b="0">
                <a:solidFill>
                  <a:srgbClr val="5D6675"/>
                </a:solidFill>
                <a:latin typeface="Arial"/>
              </a:rPr>
              <a:t>backtest : tout ce qu’il faut</a:t>
            </a:r>
          </a:p>
          <a:p>
            <a:pPr>
              <a:lnSpc>
                <a:spcPct val="145000"/>
              </a:lnSpc>
            </a:pPr>
            <a:r>
              <a:rPr sz="1150" b="0">
                <a:solidFill>
                  <a:srgbClr val="5D6675"/>
                </a:solidFill>
                <a:latin typeface="Arial"/>
              </a:rPr>
              <a:t>pour suivre la suite.</a:t>
            </a:r>
          </a:p>
        </p:txBody>
      </p:sp>
      <p:sp>
        <p:nvSpPr>
          <p:cNvPr id="9" name="Rounded Rectangle 8"/>
          <p:cNvSpPr/>
          <p:nvPr/>
        </p:nvSpPr>
        <p:spPr>
          <a:xfrm>
            <a:off x="3403600" y="1727200"/>
            <a:ext cx="2540000" cy="3810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2057400"/>
            <a:ext cx="762000" cy="584200"/>
          </a:xfrm>
          <a:prstGeom prst="rect">
            <a:avLst/>
          </a:prstGeom>
          <a:noFill/>
        </p:spPr>
        <p:txBody>
          <a:bodyPr wrap="square" lIns="0" rIns="0" tIns="0" bIns="0">
            <a:spAutoFit/>
          </a:bodyPr>
          <a:lstStyle/>
          <a:p>
            <a:r>
              <a:rPr sz="3400" b="1">
                <a:solidFill>
                  <a:srgbClr val="B7433E"/>
                </a:solidFill>
                <a:latin typeface="Arial"/>
              </a:rPr>
              <a:t>2</a:t>
            </a:r>
          </a:p>
        </p:txBody>
      </p:sp>
      <p:sp>
        <p:nvSpPr>
          <p:cNvPr id="11" name="TextBox 10"/>
          <p:cNvSpPr txBox="1"/>
          <p:nvPr/>
        </p:nvSpPr>
        <p:spPr>
          <a:xfrm>
            <a:off x="3657600" y="2794000"/>
            <a:ext cx="2032000" cy="304800"/>
          </a:xfrm>
          <a:prstGeom prst="rect">
            <a:avLst/>
          </a:prstGeom>
          <a:noFill/>
        </p:spPr>
        <p:txBody>
          <a:bodyPr wrap="square" lIns="0" rIns="0" tIns="0" bIns="0">
            <a:spAutoFit/>
          </a:bodyPr>
          <a:lstStyle/>
          <a:p>
            <a:r>
              <a:rPr sz="1500" b="1">
                <a:solidFill>
                  <a:srgbClr val="111827"/>
                </a:solidFill>
                <a:latin typeface="Arial"/>
              </a:rPr>
              <a:t>Le problème</a:t>
            </a:r>
          </a:p>
        </p:txBody>
      </p:sp>
      <p:sp>
        <p:nvSpPr>
          <p:cNvPr id="12" name="TextBox 11"/>
          <p:cNvSpPr txBox="1"/>
          <p:nvPr/>
        </p:nvSpPr>
        <p:spPr>
          <a:xfrm>
            <a:off x="3657600" y="3276600"/>
            <a:ext cx="2133600" cy="1905000"/>
          </a:xfrm>
          <a:prstGeom prst="rect">
            <a:avLst/>
          </a:prstGeom>
          <a:noFill/>
        </p:spPr>
        <p:txBody>
          <a:bodyPr wrap="square" lIns="0" rIns="0" tIns="0" bIns="0">
            <a:spAutoFit/>
          </a:bodyPr>
          <a:lstStyle/>
          <a:p>
            <a:pPr>
              <a:lnSpc>
                <a:spcPct val="145000"/>
              </a:lnSpc>
            </a:pPr>
            <a:r>
              <a:rPr sz="1150" b="0">
                <a:solidFill>
                  <a:srgbClr val="5D6675"/>
                </a:solidFill>
                <a:latin typeface="Arial"/>
              </a:rPr>
              <a:t>Pourquoi répartir un capital</a:t>
            </a:r>
          </a:p>
          <a:p>
            <a:pPr>
              <a:lnSpc>
                <a:spcPct val="145000"/>
              </a:lnSpc>
            </a:pPr>
            <a:r>
              <a:rPr sz="1150" b="0">
                <a:solidFill>
                  <a:srgbClr val="5D6675"/>
                </a:solidFill>
                <a:latin typeface="Arial"/>
              </a:rPr>
              <a:t>est difficile — et pourquoi</a:t>
            </a:r>
          </a:p>
          <a:p>
            <a:pPr>
              <a:lnSpc>
                <a:spcPct val="145000"/>
              </a:lnSpc>
            </a:pPr>
            <a:r>
              <a:rPr sz="1150" b="0">
                <a:solidFill>
                  <a:srgbClr val="5D6675"/>
                </a:solidFill>
                <a:latin typeface="Arial"/>
              </a:rPr>
              <a:t>un bon backtest peut mentir.</a:t>
            </a:r>
          </a:p>
        </p:txBody>
      </p:sp>
      <p:sp>
        <p:nvSpPr>
          <p:cNvPr id="13" name="Rounded Rectangle 12"/>
          <p:cNvSpPr/>
          <p:nvPr/>
        </p:nvSpPr>
        <p:spPr>
          <a:xfrm>
            <a:off x="6197600" y="1727200"/>
            <a:ext cx="2540000" cy="3810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51600" y="2057400"/>
            <a:ext cx="762000" cy="584200"/>
          </a:xfrm>
          <a:prstGeom prst="rect">
            <a:avLst/>
          </a:prstGeom>
          <a:noFill/>
        </p:spPr>
        <p:txBody>
          <a:bodyPr wrap="square" lIns="0" rIns="0" tIns="0" bIns="0">
            <a:spAutoFit/>
          </a:bodyPr>
          <a:lstStyle/>
          <a:p>
            <a:r>
              <a:rPr sz="3400" b="1">
                <a:solidFill>
                  <a:srgbClr val="0F766E"/>
                </a:solidFill>
                <a:latin typeface="Arial"/>
              </a:rPr>
              <a:t>3</a:t>
            </a:r>
          </a:p>
        </p:txBody>
      </p:sp>
      <p:sp>
        <p:nvSpPr>
          <p:cNvPr id="15" name="TextBox 14"/>
          <p:cNvSpPr txBox="1"/>
          <p:nvPr/>
        </p:nvSpPr>
        <p:spPr>
          <a:xfrm>
            <a:off x="6451600" y="2794000"/>
            <a:ext cx="2032000" cy="304800"/>
          </a:xfrm>
          <a:prstGeom prst="rect">
            <a:avLst/>
          </a:prstGeom>
          <a:noFill/>
        </p:spPr>
        <p:txBody>
          <a:bodyPr wrap="square" lIns="0" rIns="0" tIns="0" bIns="0">
            <a:spAutoFit/>
          </a:bodyPr>
          <a:lstStyle/>
          <a:p>
            <a:r>
              <a:rPr sz="1500" b="1">
                <a:solidFill>
                  <a:srgbClr val="111827"/>
                </a:solidFill>
                <a:latin typeface="Arial"/>
              </a:rPr>
              <a:t>Notre réponse</a:t>
            </a:r>
          </a:p>
        </p:txBody>
      </p:sp>
      <p:sp>
        <p:nvSpPr>
          <p:cNvPr id="16" name="TextBox 15"/>
          <p:cNvSpPr txBox="1"/>
          <p:nvPr/>
        </p:nvSpPr>
        <p:spPr>
          <a:xfrm>
            <a:off x="6451600" y="3276600"/>
            <a:ext cx="2133600" cy="1905000"/>
          </a:xfrm>
          <a:prstGeom prst="rect">
            <a:avLst/>
          </a:prstGeom>
          <a:noFill/>
        </p:spPr>
        <p:txBody>
          <a:bodyPr wrap="square" lIns="0" rIns="0" tIns="0" bIns="0">
            <a:spAutoFit/>
          </a:bodyPr>
          <a:lstStyle/>
          <a:p>
            <a:pPr>
              <a:lnSpc>
                <a:spcPct val="145000"/>
              </a:lnSpc>
            </a:pPr>
            <a:r>
              <a:rPr sz="1150" b="0">
                <a:solidFill>
                  <a:srgbClr val="5D6675"/>
                </a:solidFill>
                <a:latin typeface="Arial"/>
              </a:rPr>
              <a:t>Une chaîne complète : données,</a:t>
            </a:r>
          </a:p>
          <a:p>
            <a:pPr>
              <a:lnSpc>
                <a:spcPct val="145000"/>
              </a:lnSpc>
            </a:pPr>
            <a:r>
              <a:rPr sz="1150" b="0">
                <a:solidFill>
                  <a:srgbClr val="5D6675"/>
                </a:solidFill>
                <a:latin typeface="Arial"/>
              </a:rPr>
              <a:t>modèles, épreuve temporelle,</a:t>
            </a:r>
          </a:p>
          <a:p>
            <a:pPr>
              <a:lnSpc>
                <a:spcPct val="145000"/>
              </a:lnSpc>
            </a:pPr>
            <a:r>
              <a:rPr sz="1150" b="0">
                <a:solidFill>
                  <a:srgbClr val="5D6675"/>
                </a:solidFill>
                <a:latin typeface="Arial"/>
              </a:rPr>
              <a:t>tests statistiques.</a:t>
            </a:r>
          </a:p>
        </p:txBody>
      </p:sp>
      <p:sp>
        <p:nvSpPr>
          <p:cNvPr id="17" name="Rounded Rectangle 16"/>
          <p:cNvSpPr/>
          <p:nvPr/>
        </p:nvSpPr>
        <p:spPr>
          <a:xfrm>
            <a:off x="8991600" y="1727200"/>
            <a:ext cx="2540000" cy="3810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45600" y="2057400"/>
            <a:ext cx="762000" cy="584200"/>
          </a:xfrm>
          <a:prstGeom prst="rect">
            <a:avLst/>
          </a:prstGeom>
          <a:noFill/>
        </p:spPr>
        <p:txBody>
          <a:bodyPr wrap="square" lIns="0" rIns="0" tIns="0" bIns="0">
            <a:spAutoFit/>
          </a:bodyPr>
          <a:lstStyle/>
          <a:p>
            <a:r>
              <a:rPr sz="3400" b="1">
                <a:solidFill>
                  <a:srgbClr val="A86812"/>
                </a:solidFill>
                <a:latin typeface="Arial"/>
              </a:rPr>
              <a:t>4</a:t>
            </a:r>
          </a:p>
        </p:txBody>
      </p:sp>
      <p:sp>
        <p:nvSpPr>
          <p:cNvPr id="19" name="TextBox 18"/>
          <p:cNvSpPr txBox="1"/>
          <p:nvPr/>
        </p:nvSpPr>
        <p:spPr>
          <a:xfrm>
            <a:off x="9245600" y="2794000"/>
            <a:ext cx="2032000" cy="304800"/>
          </a:xfrm>
          <a:prstGeom prst="rect">
            <a:avLst/>
          </a:prstGeom>
          <a:noFill/>
        </p:spPr>
        <p:txBody>
          <a:bodyPr wrap="square" lIns="0" rIns="0" tIns="0" bIns="0">
            <a:spAutoFit/>
          </a:bodyPr>
          <a:lstStyle/>
          <a:p>
            <a:r>
              <a:rPr sz="1500" b="1">
                <a:solidFill>
                  <a:srgbClr val="111827"/>
                </a:solidFill>
                <a:latin typeface="Arial"/>
              </a:rPr>
              <a:t>Les résultats</a:t>
            </a:r>
          </a:p>
        </p:txBody>
      </p:sp>
      <p:sp>
        <p:nvSpPr>
          <p:cNvPr id="20" name="TextBox 19"/>
          <p:cNvSpPr txBox="1"/>
          <p:nvPr/>
        </p:nvSpPr>
        <p:spPr>
          <a:xfrm>
            <a:off x="9245600" y="3276600"/>
            <a:ext cx="2133600" cy="1905000"/>
          </a:xfrm>
          <a:prstGeom prst="rect">
            <a:avLst/>
          </a:prstGeom>
          <a:noFill/>
        </p:spPr>
        <p:txBody>
          <a:bodyPr wrap="square" lIns="0" rIns="0" tIns="0" bIns="0">
            <a:spAutoFit/>
          </a:bodyPr>
          <a:lstStyle/>
          <a:p>
            <a:pPr>
              <a:lnSpc>
                <a:spcPct val="145000"/>
              </a:lnSpc>
            </a:pPr>
            <a:r>
              <a:rPr sz="1150" b="0">
                <a:solidFill>
                  <a:srgbClr val="5D6675"/>
                </a:solidFill>
                <a:latin typeface="Arial"/>
              </a:rPr>
              <a:t>Ce que le système détecte,</a:t>
            </a:r>
          </a:p>
          <a:p>
            <a:pPr>
              <a:lnSpc>
                <a:spcPct val="145000"/>
              </a:lnSpc>
            </a:pPr>
            <a:r>
              <a:rPr sz="1150" b="0">
                <a:solidFill>
                  <a:srgbClr val="5D6675"/>
                </a:solidFill>
                <a:latin typeface="Arial"/>
              </a:rPr>
              <a:t>ce qui améliore vraiment,</a:t>
            </a:r>
          </a:p>
          <a:p>
            <a:pPr>
              <a:lnSpc>
                <a:spcPct val="145000"/>
              </a:lnSpc>
            </a:pPr>
            <a:r>
              <a:rPr sz="1150" b="0">
                <a:solidFill>
                  <a:srgbClr val="5D6675"/>
                </a:solidFill>
                <a:latin typeface="Arial"/>
              </a:rPr>
              <a:t>et ce qui est livré.</a:t>
            </a:r>
          </a:p>
        </p:txBody>
      </p:sp>
      <p:sp>
        <p:nvSpPr>
          <p:cNvPr id="21" name="TextBox 20"/>
          <p:cNvSpPr txBox="1"/>
          <p:nvPr/>
        </p:nvSpPr>
        <p:spPr>
          <a:xfrm>
            <a:off x="609600" y="5943600"/>
            <a:ext cx="10972800" cy="381000"/>
          </a:xfrm>
          <a:prstGeom prst="rect">
            <a:avLst/>
          </a:prstGeom>
          <a:noFill/>
        </p:spPr>
        <p:txBody>
          <a:bodyPr wrap="square" lIns="0" rIns="0" tIns="0" bIns="0">
            <a:spAutoFit/>
          </a:bodyPr>
          <a:lstStyle/>
          <a:p>
            <a:pPr>
              <a:lnSpc>
                <a:spcPct val="125000"/>
              </a:lnSpc>
            </a:pPr>
            <a:r>
              <a:rPr sz="1100" b="0">
                <a:solidFill>
                  <a:srgbClr val="5D6675"/>
                </a:solidFill>
                <a:latin typeface="Arial"/>
              </a:rPr>
              <a:t>Le fil conducteur : une décision d’investissement n’a de valeur que si l’on peut prouver qu’elle n’est pas le fruit du hasard.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LE VOCABULAIRE · 1/3</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Un portefeuille, une allocation, un rééquilibrage</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03</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Le système ne choisit pas « quand acheter » : il choisit des pourcentages, tous les mois.</a:t>
            </a:r>
          </a:p>
        </p:txBody>
      </p:sp>
      <p:pic>
        <p:nvPicPr>
          <p:cNvPr id="6" name="Picture 5" descr="allocation_expliquee.png"/>
          <p:cNvPicPr>
            <a:picLocks noChangeAspect="1"/>
          </p:cNvPicPr>
          <p:nvPr/>
        </p:nvPicPr>
        <p:blipFill>
          <a:blip r:embed="rId2"/>
          <a:stretch>
            <a:fillRect/>
          </a:stretch>
        </p:blipFill>
        <p:spPr>
          <a:xfrm>
            <a:off x="609600" y="1519356"/>
            <a:ext cx="10972800" cy="4022487"/>
          </a:xfrm>
          <a:prstGeom prst="rect">
            <a:avLst/>
          </a:prstGeom>
        </p:spPr>
      </p:pic>
      <p:sp>
        <p:nvSpPr>
          <p:cNvPr id="7" name="Rounded Rectangle 6"/>
          <p:cNvSpPr/>
          <p:nvPr/>
        </p:nvSpPr>
        <p:spPr>
          <a:xfrm>
            <a:off x="609600" y="5740400"/>
            <a:ext cx="10972800" cy="736600"/>
          </a:xfrm>
          <a:prstGeom prst="roundRect">
            <a:avLst>
              <a:gd name="adj" fmla="val 3000"/>
            </a:avLst>
          </a:prstGeom>
          <a:solidFill>
            <a:srgbClr val="FFF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9000" y="5918200"/>
            <a:ext cx="10414000" cy="508000"/>
          </a:xfrm>
          <a:prstGeom prst="rect">
            <a:avLst/>
          </a:prstGeom>
          <a:noFill/>
        </p:spPr>
        <p:txBody>
          <a:bodyPr wrap="square" lIns="0" rIns="0" tIns="0" bIns="0">
            <a:spAutoFit/>
          </a:bodyPr>
          <a:lstStyle/>
          <a:p>
            <a:pPr>
              <a:lnSpc>
                <a:spcPct val="125000"/>
              </a:lnSpc>
            </a:pPr>
            <a:r>
              <a:rPr sz="1250" b="1">
                <a:solidFill>
                  <a:srgbClr val="111827"/>
                </a:solidFill>
                <a:latin typeface="Arial"/>
              </a:rPr>
              <a:t>À retenir : la sortie du modèle est un vecteur de poids. Tout le reste — performance, risque, frais — en découle mécaniquement.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LE VOCABULAIRE · 2/3</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Le ratio de Sharpe : la note qui compte</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04</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Gagner beaucoup en dormant mal ne vaut pas gagner autant tranquillement.</a:t>
            </a:r>
          </a:p>
        </p:txBody>
      </p:sp>
      <p:pic>
        <p:nvPicPr>
          <p:cNvPr id="6" name="Picture 5" descr="sharpe_explique.png"/>
          <p:cNvPicPr>
            <a:picLocks noChangeAspect="1"/>
          </p:cNvPicPr>
          <p:nvPr/>
        </p:nvPicPr>
        <p:blipFill>
          <a:blip r:embed="rId2"/>
          <a:stretch>
            <a:fillRect/>
          </a:stretch>
        </p:blipFill>
        <p:spPr>
          <a:xfrm>
            <a:off x="609600" y="1862038"/>
            <a:ext cx="7620000" cy="3591123"/>
          </a:xfrm>
          <a:prstGeom prst="rect">
            <a:avLst/>
          </a:prstGeom>
        </p:spPr>
      </p:pic>
      <p:sp>
        <p:nvSpPr>
          <p:cNvPr id="7" name="Rounded Rectangle 6"/>
          <p:cNvSpPr/>
          <p:nvPr/>
        </p:nvSpPr>
        <p:spPr>
          <a:xfrm>
            <a:off x="8483600" y="1651000"/>
            <a:ext cx="3098800" cy="1905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12200" y="1879600"/>
            <a:ext cx="43180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12200" y="2057400"/>
            <a:ext cx="2641600" cy="279400"/>
          </a:xfrm>
          <a:prstGeom prst="rect">
            <a:avLst/>
          </a:prstGeom>
          <a:noFill/>
        </p:spPr>
        <p:txBody>
          <a:bodyPr wrap="square" lIns="0" rIns="0" tIns="0" bIns="0">
            <a:spAutoFit/>
          </a:bodyPr>
          <a:lstStyle/>
          <a:p>
            <a:r>
              <a:rPr sz="1300" b="1">
                <a:solidFill>
                  <a:srgbClr val="0F766E"/>
                </a:solidFill>
                <a:latin typeface="Arial"/>
              </a:rPr>
              <a:t>Rendement</a:t>
            </a:r>
          </a:p>
        </p:txBody>
      </p:sp>
      <p:sp>
        <p:nvSpPr>
          <p:cNvPr id="10" name="TextBox 9"/>
          <p:cNvSpPr txBox="1"/>
          <p:nvPr/>
        </p:nvSpPr>
        <p:spPr>
          <a:xfrm>
            <a:off x="8712200" y="2387600"/>
            <a:ext cx="2641600" cy="965200"/>
          </a:xfrm>
          <a:prstGeom prst="rect">
            <a:avLst/>
          </a:prstGeom>
          <a:noFill/>
        </p:spPr>
        <p:txBody>
          <a:bodyPr wrap="square" lIns="0" rIns="0" tIns="0" bIns="0">
            <a:spAutoFit/>
          </a:bodyPr>
          <a:lstStyle/>
          <a:p>
            <a:pPr>
              <a:lnSpc>
                <a:spcPct val="132000"/>
              </a:lnSpc>
            </a:pPr>
            <a:r>
              <a:rPr sz="1150" b="0">
                <a:solidFill>
                  <a:srgbClr val="5D6675"/>
                </a:solidFill>
                <a:latin typeface="Arial"/>
              </a:rPr>
              <a:t>Ce que le portefeuille rapporte,</a:t>
            </a:r>
          </a:p>
          <a:p>
            <a:pPr>
              <a:lnSpc>
                <a:spcPct val="132000"/>
              </a:lnSpc>
            </a:pPr>
            <a:r>
              <a:rPr sz="1150" b="0">
                <a:solidFill>
                  <a:srgbClr val="5D6675"/>
                </a:solidFill>
                <a:latin typeface="Arial"/>
              </a:rPr>
              <a:t>en pourcentage, sur une année.</a:t>
            </a:r>
          </a:p>
        </p:txBody>
      </p:sp>
      <p:sp>
        <p:nvSpPr>
          <p:cNvPr id="11" name="Rounded Rectangle 10"/>
          <p:cNvSpPr/>
          <p:nvPr/>
        </p:nvSpPr>
        <p:spPr>
          <a:xfrm>
            <a:off x="8483600" y="3708400"/>
            <a:ext cx="3098800" cy="21082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712200" y="3937000"/>
            <a:ext cx="431800" cy="38100"/>
          </a:xfrm>
          <a:prstGeom prst="rect">
            <a:avLst/>
          </a:prstGeom>
          <a:solidFill>
            <a:srgbClr val="B743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12200" y="4114800"/>
            <a:ext cx="2641600" cy="279400"/>
          </a:xfrm>
          <a:prstGeom prst="rect">
            <a:avLst/>
          </a:prstGeom>
          <a:noFill/>
        </p:spPr>
        <p:txBody>
          <a:bodyPr wrap="square" lIns="0" rIns="0" tIns="0" bIns="0">
            <a:spAutoFit/>
          </a:bodyPr>
          <a:lstStyle/>
          <a:p>
            <a:r>
              <a:rPr sz="1300" b="1">
                <a:solidFill>
                  <a:srgbClr val="B7433E"/>
                </a:solidFill>
                <a:latin typeface="Arial"/>
              </a:rPr>
              <a:t>Risque (volatilité)</a:t>
            </a:r>
          </a:p>
        </p:txBody>
      </p:sp>
      <p:sp>
        <p:nvSpPr>
          <p:cNvPr id="14" name="TextBox 13"/>
          <p:cNvSpPr txBox="1"/>
          <p:nvPr/>
        </p:nvSpPr>
        <p:spPr>
          <a:xfrm>
            <a:off x="8712200" y="4445000"/>
            <a:ext cx="2641600" cy="1168400"/>
          </a:xfrm>
          <a:prstGeom prst="rect">
            <a:avLst/>
          </a:prstGeom>
          <a:noFill/>
        </p:spPr>
        <p:txBody>
          <a:bodyPr wrap="square" lIns="0" rIns="0" tIns="0" bIns="0">
            <a:spAutoFit/>
          </a:bodyPr>
          <a:lstStyle/>
          <a:p>
            <a:pPr>
              <a:lnSpc>
                <a:spcPct val="132000"/>
              </a:lnSpc>
            </a:pPr>
            <a:r>
              <a:rPr sz="1150" b="0">
                <a:solidFill>
                  <a:srgbClr val="5D6675"/>
                </a:solidFill>
                <a:latin typeface="Arial"/>
              </a:rPr>
              <a:t>L’amplitude des secousses :</a:t>
            </a:r>
          </a:p>
          <a:p>
            <a:pPr>
              <a:lnSpc>
                <a:spcPct val="132000"/>
              </a:lnSpc>
            </a:pPr>
            <a:r>
              <a:rPr sz="1150" b="0">
                <a:solidFill>
                  <a:srgbClr val="5D6675"/>
                </a:solidFill>
                <a:latin typeface="Arial"/>
              </a:rPr>
              <a:t>plus la courbe tremble,</a:t>
            </a:r>
          </a:p>
          <a:p>
            <a:pPr>
              <a:lnSpc>
                <a:spcPct val="132000"/>
              </a:lnSpc>
            </a:pPr>
            <a:r>
              <a:rPr sz="1150" b="0">
                <a:solidFill>
                  <a:srgbClr val="5D6675"/>
                </a:solidFill>
                <a:latin typeface="Arial"/>
              </a:rPr>
              <a:t>plus le risque est élevé.</a:t>
            </a:r>
          </a:p>
        </p:txBody>
      </p:sp>
      <p:sp>
        <p:nvSpPr>
          <p:cNvPr id="15" name="TextBox 14"/>
          <p:cNvSpPr txBox="1"/>
          <p:nvPr/>
        </p:nvSpPr>
        <p:spPr>
          <a:xfrm>
            <a:off x="609600" y="6070600"/>
            <a:ext cx="10972800" cy="381000"/>
          </a:xfrm>
          <a:prstGeom prst="rect">
            <a:avLst/>
          </a:prstGeom>
          <a:noFill/>
        </p:spPr>
        <p:txBody>
          <a:bodyPr wrap="square" lIns="0" rIns="0" tIns="0" bIns="0">
            <a:spAutoFit/>
          </a:bodyPr>
          <a:lstStyle/>
          <a:p>
            <a:pPr>
              <a:lnSpc>
                <a:spcPct val="125000"/>
              </a:lnSpc>
            </a:pPr>
            <a:r>
              <a:rPr sz="1100" b="0">
                <a:solidFill>
                  <a:srgbClr val="5D6675"/>
                </a:solidFill>
                <a:latin typeface="Arial"/>
              </a:rPr>
              <a:t>Dans toute la présentation, les Sharpe sont nets de frais de transaction et calculés hors échantillon — sur des données que le modèle n’a jamais vues.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LE VOCABULAIRE · 3/3</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Markowitz — et les quatre mots qui décident du reste</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05</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Prix Nobel 1990 : combiner des actifs qui ne bougent pas ensemble réduit le risque sans sacrifier le rendement.</a:t>
            </a:r>
          </a:p>
        </p:txBody>
      </p:sp>
      <p:pic>
        <p:nvPicPr>
          <p:cNvPr id="6" name="Picture 5" descr="frontiere_efficiente.png"/>
          <p:cNvPicPr>
            <a:picLocks noChangeAspect="1"/>
          </p:cNvPicPr>
          <p:nvPr/>
        </p:nvPicPr>
        <p:blipFill>
          <a:blip r:embed="rId2"/>
          <a:stretch>
            <a:fillRect/>
          </a:stretch>
        </p:blipFill>
        <p:spPr>
          <a:xfrm>
            <a:off x="508000" y="1706033"/>
            <a:ext cx="5943600" cy="3903133"/>
          </a:xfrm>
          <a:prstGeom prst="rect">
            <a:avLst/>
          </a:prstGeom>
        </p:spPr>
      </p:pic>
      <p:sp>
        <p:nvSpPr>
          <p:cNvPr id="7" name="TextBox 6"/>
          <p:cNvSpPr txBox="1"/>
          <p:nvPr/>
        </p:nvSpPr>
        <p:spPr>
          <a:xfrm>
            <a:off x="508000" y="5892800"/>
            <a:ext cx="5943600" cy="431800"/>
          </a:xfrm>
          <a:prstGeom prst="rect">
            <a:avLst/>
          </a:prstGeom>
          <a:noFill/>
        </p:spPr>
        <p:txBody>
          <a:bodyPr wrap="square" lIns="0" rIns="0" tIns="0" bIns="0">
            <a:spAutoFit/>
          </a:bodyPr>
          <a:lstStyle/>
          <a:p>
            <a:pPr>
              <a:lnSpc>
                <a:spcPct val="130000"/>
              </a:lnSpc>
            </a:pPr>
            <a:r>
              <a:rPr sz="1050" b="0">
                <a:solidFill>
                  <a:srgbClr val="5D6675"/>
                </a:solidFill>
                <a:latin typeface="Arial"/>
              </a:rPr>
              <a:t>Chaque point gris est un portefeuille possible ; la courbe bleue rassemble les meilleurs.</a:t>
            </a:r>
          </a:p>
          <a:p>
            <a:pPr>
              <a:lnSpc>
                <a:spcPct val="130000"/>
              </a:lnSpc>
            </a:pPr>
            <a:r>
              <a:rPr sz="1050" b="0">
                <a:solidFill>
                  <a:srgbClr val="5D6675"/>
                </a:solidFill>
                <a:latin typeface="Arial"/>
              </a:rPr>
              <a:t>Le modèle a besoin de deux entrées — rendements attendus et covariances — toutes deux estimées, donc incertaines.</a:t>
            </a:r>
          </a:p>
        </p:txBody>
      </p:sp>
      <p:sp>
        <p:nvSpPr>
          <p:cNvPr id="8" name="Rounded Rectangle 7"/>
          <p:cNvSpPr/>
          <p:nvPr/>
        </p:nvSpPr>
        <p:spPr>
          <a:xfrm>
            <a:off x="6756400" y="1498600"/>
            <a:ext cx="4826000" cy="4826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61200" y="1778000"/>
            <a:ext cx="4267200" cy="254000"/>
          </a:xfrm>
          <a:prstGeom prst="rect">
            <a:avLst/>
          </a:prstGeom>
          <a:noFill/>
        </p:spPr>
        <p:txBody>
          <a:bodyPr wrap="square" lIns="0" rIns="0" tIns="0" bIns="0">
            <a:spAutoFit/>
          </a:bodyPr>
          <a:lstStyle/>
          <a:p>
            <a:r>
              <a:rPr sz="1000" b="1">
                <a:solidFill>
                  <a:srgbClr val="3D8DFF"/>
                </a:solidFill>
                <a:latin typeface="Arial"/>
              </a:rPr>
              <a:t>LES QUATRE MOTS</a:t>
            </a:r>
          </a:p>
        </p:txBody>
      </p:sp>
      <p:sp>
        <p:nvSpPr>
          <p:cNvPr id="10" name="Rectangle 9"/>
          <p:cNvSpPr/>
          <p:nvPr/>
        </p:nvSpPr>
        <p:spPr>
          <a:xfrm>
            <a:off x="7061200" y="2349500"/>
            <a:ext cx="279400" cy="38100"/>
          </a:xfrm>
          <a:prstGeom prst="rect">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3000" y="2260600"/>
            <a:ext cx="3886200" cy="254000"/>
          </a:xfrm>
          <a:prstGeom prst="rect">
            <a:avLst/>
          </a:prstGeom>
          <a:noFill/>
        </p:spPr>
        <p:txBody>
          <a:bodyPr wrap="square" lIns="0" rIns="0" tIns="0" bIns="0">
            <a:spAutoFit/>
          </a:bodyPr>
          <a:lstStyle/>
          <a:p>
            <a:r>
              <a:rPr sz="1250" b="1">
                <a:solidFill>
                  <a:srgbClr val="111827"/>
                </a:solidFill>
                <a:latin typeface="Arial"/>
              </a:rPr>
              <a:t>Backtest</a:t>
            </a:r>
          </a:p>
        </p:txBody>
      </p:sp>
      <p:sp>
        <p:nvSpPr>
          <p:cNvPr id="12" name="TextBox 11"/>
          <p:cNvSpPr txBox="1"/>
          <p:nvPr/>
        </p:nvSpPr>
        <p:spPr>
          <a:xfrm>
            <a:off x="7493000" y="2540000"/>
            <a:ext cx="3835400" cy="508000"/>
          </a:xfrm>
          <a:prstGeom prst="rect">
            <a:avLst/>
          </a:prstGeom>
          <a:noFill/>
        </p:spPr>
        <p:txBody>
          <a:bodyPr wrap="square" lIns="0" rIns="0" tIns="0" bIns="0">
            <a:spAutoFit/>
          </a:bodyPr>
          <a:lstStyle/>
          <a:p>
            <a:pPr>
              <a:lnSpc>
                <a:spcPct val="128000"/>
              </a:lnSpc>
            </a:pPr>
            <a:r>
              <a:rPr sz="1100" b="0">
                <a:solidFill>
                  <a:srgbClr val="5D6675"/>
                </a:solidFill>
                <a:latin typeface="Arial"/>
              </a:rPr>
              <a:t>rejouer la stratégie sur le passé</a:t>
            </a:r>
          </a:p>
        </p:txBody>
      </p:sp>
      <p:sp>
        <p:nvSpPr>
          <p:cNvPr id="13" name="Rectangle 12"/>
          <p:cNvSpPr/>
          <p:nvPr/>
        </p:nvSpPr>
        <p:spPr>
          <a:xfrm>
            <a:off x="7061200" y="3340100"/>
            <a:ext cx="279400" cy="38100"/>
          </a:xfrm>
          <a:prstGeom prst="rect">
            <a:avLst/>
          </a:prstGeom>
          <a:solidFill>
            <a:srgbClr val="B743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3000" y="3251200"/>
            <a:ext cx="3886200" cy="254000"/>
          </a:xfrm>
          <a:prstGeom prst="rect">
            <a:avLst/>
          </a:prstGeom>
          <a:noFill/>
        </p:spPr>
        <p:txBody>
          <a:bodyPr wrap="square" lIns="0" rIns="0" tIns="0" bIns="0">
            <a:spAutoFit/>
          </a:bodyPr>
          <a:lstStyle/>
          <a:p>
            <a:r>
              <a:rPr sz="1250" b="1">
                <a:solidFill>
                  <a:srgbClr val="111827"/>
                </a:solidFill>
                <a:latin typeface="Arial"/>
              </a:rPr>
              <a:t>Fuite de données</a:t>
            </a:r>
          </a:p>
        </p:txBody>
      </p:sp>
      <p:sp>
        <p:nvSpPr>
          <p:cNvPr id="15" name="TextBox 14"/>
          <p:cNvSpPr txBox="1"/>
          <p:nvPr/>
        </p:nvSpPr>
        <p:spPr>
          <a:xfrm>
            <a:off x="7493000" y="3530600"/>
            <a:ext cx="3835400" cy="508000"/>
          </a:xfrm>
          <a:prstGeom prst="rect">
            <a:avLst/>
          </a:prstGeom>
          <a:noFill/>
        </p:spPr>
        <p:txBody>
          <a:bodyPr wrap="square" lIns="0" rIns="0" tIns="0" bIns="0">
            <a:spAutoFit/>
          </a:bodyPr>
          <a:lstStyle/>
          <a:p>
            <a:pPr>
              <a:lnSpc>
                <a:spcPct val="128000"/>
              </a:lnSpc>
            </a:pPr>
            <a:r>
              <a:rPr sz="1100" b="0">
                <a:solidFill>
                  <a:srgbClr val="5D6675"/>
                </a:solidFill>
                <a:latin typeface="Arial"/>
              </a:rPr>
              <a:t>utiliser sans le vouloir une information du futur</a:t>
            </a:r>
          </a:p>
        </p:txBody>
      </p:sp>
      <p:sp>
        <p:nvSpPr>
          <p:cNvPr id="16" name="Rectangle 15"/>
          <p:cNvSpPr/>
          <p:nvPr/>
        </p:nvSpPr>
        <p:spPr>
          <a:xfrm>
            <a:off x="7061200" y="4330700"/>
            <a:ext cx="279400" cy="38100"/>
          </a:xfrm>
          <a:prstGeom prst="rect">
            <a:avLst/>
          </a:prstGeom>
          <a:solidFill>
            <a:srgbClr val="A868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3000" y="4241800"/>
            <a:ext cx="3886200" cy="254000"/>
          </a:xfrm>
          <a:prstGeom prst="rect">
            <a:avLst/>
          </a:prstGeom>
          <a:noFill/>
        </p:spPr>
        <p:txBody>
          <a:bodyPr wrap="square" lIns="0" rIns="0" tIns="0" bIns="0">
            <a:spAutoFit/>
          </a:bodyPr>
          <a:lstStyle/>
          <a:p>
            <a:r>
              <a:rPr sz="1250" b="1">
                <a:solidFill>
                  <a:srgbClr val="111827"/>
                </a:solidFill>
                <a:latin typeface="Arial"/>
              </a:rPr>
              <a:t>Surapprentissage</a:t>
            </a:r>
          </a:p>
        </p:txBody>
      </p:sp>
      <p:sp>
        <p:nvSpPr>
          <p:cNvPr id="18" name="TextBox 17"/>
          <p:cNvSpPr txBox="1"/>
          <p:nvPr/>
        </p:nvSpPr>
        <p:spPr>
          <a:xfrm>
            <a:off x="7493000" y="4521200"/>
            <a:ext cx="3835400" cy="508000"/>
          </a:xfrm>
          <a:prstGeom prst="rect">
            <a:avLst/>
          </a:prstGeom>
          <a:noFill/>
        </p:spPr>
        <p:txBody>
          <a:bodyPr wrap="square" lIns="0" rIns="0" tIns="0" bIns="0">
            <a:spAutoFit/>
          </a:bodyPr>
          <a:lstStyle/>
          <a:p>
            <a:pPr>
              <a:lnSpc>
                <a:spcPct val="128000"/>
              </a:lnSpc>
            </a:pPr>
            <a:r>
              <a:rPr sz="1100" b="0">
                <a:solidFill>
                  <a:srgbClr val="5D6675"/>
                </a:solidFill>
                <a:latin typeface="Arial"/>
              </a:rPr>
              <a:t>apprendre le bruit du passé au lieu de la règle</a:t>
            </a:r>
          </a:p>
        </p:txBody>
      </p:sp>
      <p:sp>
        <p:nvSpPr>
          <p:cNvPr id="19" name="Rectangle 18"/>
          <p:cNvSpPr/>
          <p:nvPr/>
        </p:nvSpPr>
        <p:spPr>
          <a:xfrm>
            <a:off x="7061200" y="5321300"/>
            <a:ext cx="27940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3000" y="5232400"/>
            <a:ext cx="3886200" cy="254000"/>
          </a:xfrm>
          <a:prstGeom prst="rect">
            <a:avLst/>
          </a:prstGeom>
          <a:noFill/>
        </p:spPr>
        <p:txBody>
          <a:bodyPr wrap="square" lIns="0" rIns="0" tIns="0" bIns="0">
            <a:spAutoFit/>
          </a:bodyPr>
          <a:lstStyle/>
          <a:p>
            <a:r>
              <a:rPr sz="1250" b="1">
                <a:solidFill>
                  <a:srgbClr val="111827"/>
                </a:solidFill>
                <a:latin typeface="Arial"/>
              </a:rPr>
              <a:t>Data snooping</a:t>
            </a:r>
          </a:p>
        </p:txBody>
      </p:sp>
      <p:sp>
        <p:nvSpPr>
          <p:cNvPr id="21" name="TextBox 20"/>
          <p:cNvSpPr txBox="1"/>
          <p:nvPr/>
        </p:nvSpPr>
        <p:spPr>
          <a:xfrm>
            <a:off x="7493000" y="5511800"/>
            <a:ext cx="3835400" cy="508000"/>
          </a:xfrm>
          <a:prstGeom prst="rect">
            <a:avLst/>
          </a:prstGeom>
          <a:noFill/>
        </p:spPr>
        <p:txBody>
          <a:bodyPr wrap="square" lIns="0" rIns="0" tIns="0" bIns="0">
            <a:spAutoFit/>
          </a:bodyPr>
          <a:lstStyle/>
          <a:p>
            <a:pPr>
              <a:lnSpc>
                <a:spcPct val="128000"/>
              </a:lnSpc>
            </a:pPr>
            <a:r>
              <a:rPr sz="1100" b="0">
                <a:solidFill>
                  <a:srgbClr val="5D6675"/>
                </a:solidFill>
                <a:latin typeface="Arial"/>
              </a:rPr>
              <a:t>à force d’essayer, trouver un gagnant dû au hasard</a:t>
            </a:r>
          </a:p>
        </p:txBody>
      </p:sp>
      <p:sp>
        <p:nvSpPr>
          <p:cNvPr id="22" name="TextBox 21"/>
          <p:cNvSpPr txBox="1"/>
          <p:nvPr/>
        </p:nvSpPr>
        <p:spPr>
          <a:xfrm>
            <a:off x="7061200" y="5918200"/>
            <a:ext cx="4267200" cy="304800"/>
          </a:xfrm>
          <a:prstGeom prst="rect">
            <a:avLst/>
          </a:prstGeom>
          <a:noFill/>
        </p:spPr>
        <p:txBody>
          <a:bodyPr wrap="square" lIns="0" rIns="0" tIns="0" bIns="0">
            <a:spAutoFit/>
          </a:bodyPr>
          <a:lstStyle/>
          <a:p>
            <a:r>
              <a:rPr sz="1050" b="0">
                <a:solidFill>
                  <a:srgbClr val="5D6675"/>
                </a:solidFill>
                <a:latin typeface="Arial"/>
              </a:rPr>
              <a:t>Ces quatre notions structurent tout notre protocole.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LE PROBLÈME · CONTEXTE</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La question posée par le projet</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06</a:t>
            </a:r>
          </a:p>
        </p:txBody>
      </p:sp>
      <p:sp>
        <p:nvSpPr>
          <p:cNvPr id="5" name="Rounded Rectangle 4"/>
          <p:cNvSpPr/>
          <p:nvPr/>
        </p:nvSpPr>
        <p:spPr>
          <a:xfrm>
            <a:off x="609600" y="1574800"/>
            <a:ext cx="10972800" cy="1371600"/>
          </a:xfrm>
          <a:prstGeom prst="roundRect">
            <a:avLst>
              <a:gd name="adj" fmla="val 3000"/>
            </a:avLst>
          </a:prstGeom>
          <a:solidFill>
            <a:srgbClr val="FFF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54200"/>
            <a:ext cx="10363200" cy="889000"/>
          </a:xfrm>
          <a:prstGeom prst="rect">
            <a:avLst/>
          </a:prstGeom>
          <a:noFill/>
        </p:spPr>
        <p:txBody>
          <a:bodyPr wrap="square" lIns="0" rIns="0" tIns="0" bIns="0">
            <a:spAutoFit/>
          </a:bodyPr>
          <a:lstStyle/>
          <a:p>
            <a:pPr>
              <a:lnSpc>
                <a:spcPct val="135000"/>
              </a:lnSpc>
            </a:pPr>
            <a:r>
              <a:rPr sz="1450" b="1">
                <a:solidFill>
                  <a:srgbClr val="111827"/>
                </a:solidFill>
                <a:latin typeface="Arial"/>
              </a:rPr>
              <a:t>« Répartir un capital entre des actions de la Bourse de Casablanca et des ETF internationaux.</a:t>
            </a:r>
          </a:p>
          <a:p>
            <a:pPr>
              <a:lnSpc>
                <a:spcPct val="135000"/>
              </a:lnSpc>
            </a:pPr>
            <a:r>
              <a:rPr sz="1450" b="1">
                <a:solidFill>
                  <a:srgbClr val="111827"/>
                </a:solidFill>
                <a:latin typeface="Arial"/>
              </a:rPr>
              <a:t>Le Machine Learning fait-il mieux que la méthode classique — une fois payés les frais et vérifiée la statistique ? »</a:t>
            </a:r>
          </a:p>
        </p:txBody>
      </p:sp>
      <p:sp>
        <p:nvSpPr>
          <p:cNvPr id="7" name="TextBox 6"/>
          <p:cNvSpPr txBox="1"/>
          <p:nvPr/>
        </p:nvSpPr>
        <p:spPr>
          <a:xfrm>
            <a:off x="609600" y="3251200"/>
            <a:ext cx="6350000" cy="254000"/>
          </a:xfrm>
          <a:prstGeom prst="rect">
            <a:avLst/>
          </a:prstGeom>
          <a:noFill/>
        </p:spPr>
        <p:txBody>
          <a:bodyPr wrap="square" lIns="0" rIns="0" tIns="0" bIns="0">
            <a:spAutoFit/>
          </a:bodyPr>
          <a:lstStyle/>
          <a:p>
            <a:r>
              <a:rPr sz="1000" b="1">
                <a:solidFill>
                  <a:srgbClr val="3D8DFF"/>
                </a:solidFill>
                <a:latin typeface="Arial"/>
              </a:rPr>
              <a:t>LES CONTRAINTES IMPOSÉES AU SYSTÈME</a:t>
            </a:r>
          </a:p>
        </p:txBody>
      </p:sp>
      <p:sp>
        <p:nvSpPr>
          <p:cNvPr id="8" name="Rounded Rectangle 7"/>
          <p:cNvSpPr/>
          <p:nvPr/>
        </p:nvSpPr>
        <p:spPr>
          <a:xfrm>
            <a:off x="609600" y="3606800"/>
            <a:ext cx="2540000" cy="15748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8200" y="3860800"/>
            <a:ext cx="2159000" cy="304800"/>
          </a:xfrm>
          <a:prstGeom prst="rect">
            <a:avLst/>
          </a:prstGeom>
          <a:noFill/>
        </p:spPr>
        <p:txBody>
          <a:bodyPr wrap="square" lIns="0" rIns="0" tIns="0" bIns="0">
            <a:spAutoFit/>
          </a:bodyPr>
          <a:lstStyle/>
          <a:p>
            <a:r>
              <a:rPr sz="1350" b="1">
                <a:solidFill>
                  <a:srgbClr val="1B3A6B"/>
                </a:solidFill>
                <a:latin typeface="Arial"/>
              </a:rPr>
              <a:t>Long-only</a:t>
            </a:r>
          </a:p>
        </p:txBody>
      </p:sp>
      <p:sp>
        <p:nvSpPr>
          <p:cNvPr id="10" name="TextBox 9"/>
          <p:cNvSpPr txBox="1"/>
          <p:nvPr/>
        </p:nvSpPr>
        <p:spPr>
          <a:xfrm>
            <a:off x="838200" y="4241800"/>
            <a:ext cx="2159000" cy="812800"/>
          </a:xfrm>
          <a:prstGeom prst="rect">
            <a:avLst/>
          </a:prstGeom>
          <a:noFill/>
        </p:spPr>
        <p:txBody>
          <a:bodyPr wrap="square" lIns="0" rIns="0" tIns="0" bIns="0">
            <a:spAutoFit/>
          </a:bodyPr>
          <a:lstStyle/>
          <a:p>
            <a:pPr>
              <a:lnSpc>
                <a:spcPct val="130000"/>
              </a:lnSpc>
            </a:pPr>
            <a:r>
              <a:rPr sz="1100" b="0">
                <a:solidFill>
                  <a:srgbClr val="5D6675"/>
                </a:solidFill>
                <a:latin typeface="Arial"/>
              </a:rPr>
              <a:t>aucune vente à découvert :</a:t>
            </a:r>
          </a:p>
          <a:p>
            <a:pPr>
              <a:lnSpc>
                <a:spcPct val="130000"/>
              </a:lnSpc>
            </a:pPr>
            <a:r>
              <a:rPr sz="1100" b="0">
                <a:solidFill>
                  <a:srgbClr val="5D6675"/>
                </a:solidFill>
                <a:latin typeface="Arial"/>
              </a:rPr>
              <a:t>une contrainte de gestion réelle</a:t>
            </a:r>
          </a:p>
        </p:txBody>
      </p:sp>
      <p:sp>
        <p:nvSpPr>
          <p:cNvPr id="11" name="Rounded Rectangle 10"/>
          <p:cNvSpPr/>
          <p:nvPr/>
        </p:nvSpPr>
        <p:spPr>
          <a:xfrm>
            <a:off x="3403600" y="3606800"/>
            <a:ext cx="2540000" cy="15748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32200" y="3860800"/>
            <a:ext cx="2159000" cy="304800"/>
          </a:xfrm>
          <a:prstGeom prst="rect">
            <a:avLst/>
          </a:prstGeom>
          <a:noFill/>
        </p:spPr>
        <p:txBody>
          <a:bodyPr wrap="square" lIns="0" rIns="0" tIns="0" bIns="0">
            <a:spAutoFit/>
          </a:bodyPr>
          <a:lstStyle/>
          <a:p>
            <a:r>
              <a:rPr sz="1350" b="1">
                <a:solidFill>
                  <a:srgbClr val="1B3A6B"/>
                </a:solidFill>
                <a:latin typeface="Arial"/>
              </a:rPr>
              <a:t>Plafond 25 %</a:t>
            </a:r>
          </a:p>
        </p:txBody>
      </p:sp>
      <p:sp>
        <p:nvSpPr>
          <p:cNvPr id="13" name="TextBox 12"/>
          <p:cNvSpPr txBox="1"/>
          <p:nvPr/>
        </p:nvSpPr>
        <p:spPr>
          <a:xfrm>
            <a:off x="3632200" y="4241800"/>
            <a:ext cx="2159000" cy="812800"/>
          </a:xfrm>
          <a:prstGeom prst="rect">
            <a:avLst/>
          </a:prstGeom>
          <a:noFill/>
        </p:spPr>
        <p:txBody>
          <a:bodyPr wrap="square" lIns="0" rIns="0" tIns="0" bIns="0">
            <a:spAutoFit/>
          </a:bodyPr>
          <a:lstStyle/>
          <a:p>
            <a:pPr>
              <a:lnSpc>
                <a:spcPct val="130000"/>
              </a:lnSpc>
            </a:pPr>
            <a:r>
              <a:rPr sz="1100" b="0">
                <a:solidFill>
                  <a:srgbClr val="5D6675"/>
                </a:solidFill>
                <a:latin typeface="Arial"/>
              </a:rPr>
              <a:t>aucun actif ne peut dépasser</a:t>
            </a:r>
          </a:p>
          <a:p>
            <a:pPr>
              <a:lnSpc>
                <a:spcPct val="130000"/>
              </a:lnSpc>
            </a:pPr>
            <a:r>
              <a:rPr sz="1100" b="0">
                <a:solidFill>
                  <a:srgbClr val="5D6675"/>
                </a:solidFill>
                <a:latin typeface="Arial"/>
              </a:rPr>
              <a:t>un quart du portefeuille</a:t>
            </a:r>
          </a:p>
        </p:txBody>
      </p:sp>
      <p:sp>
        <p:nvSpPr>
          <p:cNvPr id="14" name="Rounded Rectangle 13"/>
          <p:cNvSpPr/>
          <p:nvPr/>
        </p:nvSpPr>
        <p:spPr>
          <a:xfrm>
            <a:off x="6197600" y="3606800"/>
            <a:ext cx="2540000" cy="15748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6200" y="3860800"/>
            <a:ext cx="2159000" cy="304800"/>
          </a:xfrm>
          <a:prstGeom prst="rect">
            <a:avLst/>
          </a:prstGeom>
          <a:noFill/>
        </p:spPr>
        <p:txBody>
          <a:bodyPr wrap="square" lIns="0" rIns="0" tIns="0" bIns="0">
            <a:spAutoFit/>
          </a:bodyPr>
          <a:lstStyle/>
          <a:p>
            <a:r>
              <a:rPr sz="1350" b="1">
                <a:solidFill>
                  <a:srgbClr val="1B3A6B"/>
                </a:solidFill>
                <a:latin typeface="Arial"/>
              </a:rPr>
              <a:t>Frais réels</a:t>
            </a:r>
          </a:p>
        </p:txBody>
      </p:sp>
      <p:sp>
        <p:nvSpPr>
          <p:cNvPr id="16" name="TextBox 15"/>
          <p:cNvSpPr txBox="1"/>
          <p:nvPr/>
        </p:nvSpPr>
        <p:spPr>
          <a:xfrm>
            <a:off x="6426200" y="4241800"/>
            <a:ext cx="2159000" cy="812800"/>
          </a:xfrm>
          <a:prstGeom prst="rect">
            <a:avLst/>
          </a:prstGeom>
          <a:noFill/>
        </p:spPr>
        <p:txBody>
          <a:bodyPr wrap="square" lIns="0" rIns="0" tIns="0" bIns="0">
            <a:spAutoFit/>
          </a:bodyPr>
          <a:lstStyle/>
          <a:p>
            <a:pPr>
              <a:lnSpc>
                <a:spcPct val="130000"/>
              </a:lnSpc>
            </a:pPr>
            <a:r>
              <a:rPr sz="1100" b="0">
                <a:solidFill>
                  <a:srgbClr val="5D6675"/>
                </a:solidFill>
                <a:latin typeface="Arial"/>
              </a:rPr>
              <a:t>chaque rebalancement coûte,</a:t>
            </a:r>
          </a:p>
          <a:p>
            <a:pPr>
              <a:lnSpc>
                <a:spcPct val="130000"/>
              </a:lnSpc>
            </a:pPr>
            <a:r>
              <a:rPr sz="1100" b="0">
                <a:solidFill>
                  <a:srgbClr val="5D6675"/>
                </a:solidFill>
                <a:latin typeface="Arial"/>
              </a:rPr>
              <a:t>et le coût est déduit</a:t>
            </a:r>
          </a:p>
        </p:txBody>
      </p:sp>
      <p:sp>
        <p:nvSpPr>
          <p:cNvPr id="17" name="Rounded Rectangle 16"/>
          <p:cNvSpPr/>
          <p:nvPr/>
        </p:nvSpPr>
        <p:spPr>
          <a:xfrm>
            <a:off x="8991600" y="3606800"/>
            <a:ext cx="2540000" cy="15748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20200" y="3860800"/>
            <a:ext cx="2159000" cy="304800"/>
          </a:xfrm>
          <a:prstGeom prst="rect">
            <a:avLst/>
          </a:prstGeom>
          <a:noFill/>
        </p:spPr>
        <p:txBody>
          <a:bodyPr wrap="square" lIns="0" rIns="0" tIns="0" bIns="0">
            <a:spAutoFit/>
          </a:bodyPr>
          <a:lstStyle/>
          <a:p>
            <a:r>
              <a:rPr sz="1350" b="1">
                <a:solidFill>
                  <a:srgbClr val="1B3A6B"/>
                </a:solidFill>
                <a:latin typeface="Arial"/>
              </a:rPr>
              <a:t>Mensuel</a:t>
            </a:r>
          </a:p>
        </p:txBody>
      </p:sp>
      <p:sp>
        <p:nvSpPr>
          <p:cNvPr id="19" name="TextBox 18"/>
          <p:cNvSpPr txBox="1"/>
          <p:nvPr/>
        </p:nvSpPr>
        <p:spPr>
          <a:xfrm>
            <a:off x="9220200" y="4241800"/>
            <a:ext cx="2159000" cy="812800"/>
          </a:xfrm>
          <a:prstGeom prst="rect">
            <a:avLst/>
          </a:prstGeom>
          <a:noFill/>
        </p:spPr>
        <p:txBody>
          <a:bodyPr wrap="square" lIns="0" rIns="0" tIns="0" bIns="0">
            <a:spAutoFit/>
          </a:bodyPr>
          <a:lstStyle/>
          <a:p>
            <a:pPr>
              <a:lnSpc>
                <a:spcPct val="130000"/>
              </a:lnSpc>
            </a:pPr>
            <a:r>
              <a:rPr sz="1100" b="0">
                <a:solidFill>
                  <a:srgbClr val="5D6675"/>
                </a:solidFill>
                <a:latin typeface="Arial"/>
              </a:rPr>
              <a:t>la décision est reprise</a:t>
            </a:r>
          </a:p>
          <a:p>
            <a:pPr>
              <a:lnSpc>
                <a:spcPct val="130000"/>
              </a:lnSpc>
            </a:pPr>
            <a:r>
              <a:rPr sz="1100" b="0">
                <a:solidFill>
                  <a:srgbClr val="5D6675"/>
                </a:solidFill>
                <a:latin typeface="Arial"/>
              </a:rPr>
              <a:t>à chaque fin de mois</a:t>
            </a:r>
          </a:p>
        </p:txBody>
      </p:sp>
      <p:sp>
        <p:nvSpPr>
          <p:cNvPr id="20" name="TextBox 19"/>
          <p:cNvSpPr txBox="1"/>
          <p:nvPr/>
        </p:nvSpPr>
        <p:spPr>
          <a:xfrm>
            <a:off x="609600" y="5435600"/>
            <a:ext cx="10972800" cy="304800"/>
          </a:xfrm>
          <a:prstGeom prst="rect">
            <a:avLst/>
          </a:prstGeom>
          <a:noFill/>
        </p:spPr>
        <p:txBody>
          <a:bodyPr wrap="square" lIns="0" rIns="0" tIns="0" bIns="0">
            <a:spAutoFit/>
          </a:bodyPr>
          <a:lstStyle/>
          <a:p>
            <a:r>
              <a:rPr sz="1000" b="1">
                <a:solidFill>
                  <a:srgbClr val="3D8DFF"/>
                </a:solidFill>
                <a:latin typeface="Arial"/>
              </a:rPr>
              <a:t>TROIS TERRAINS D’ÉTUDE, ÉVALUÉS SÉPARÉMENT</a:t>
            </a:r>
          </a:p>
        </p:txBody>
      </p:sp>
      <p:sp>
        <p:nvSpPr>
          <p:cNvPr id="21" name="TextBox 20"/>
          <p:cNvSpPr txBox="1"/>
          <p:nvPr/>
        </p:nvSpPr>
        <p:spPr>
          <a:xfrm>
            <a:off x="609600" y="5791200"/>
            <a:ext cx="3429000" cy="254000"/>
          </a:xfrm>
          <a:prstGeom prst="rect">
            <a:avLst/>
          </a:prstGeom>
          <a:noFill/>
        </p:spPr>
        <p:txBody>
          <a:bodyPr wrap="square" lIns="0" rIns="0" tIns="0" bIns="0">
            <a:spAutoFit/>
          </a:bodyPr>
          <a:lstStyle/>
          <a:p>
            <a:r>
              <a:rPr sz="1300" b="1">
                <a:solidFill>
                  <a:srgbClr val="0F766E"/>
                </a:solidFill>
                <a:latin typeface="Arial"/>
              </a:rPr>
              <a:t>full_2021</a:t>
            </a:r>
          </a:p>
        </p:txBody>
      </p:sp>
      <p:sp>
        <p:nvSpPr>
          <p:cNvPr id="22" name="TextBox 21"/>
          <p:cNvSpPr txBox="1"/>
          <p:nvPr/>
        </p:nvSpPr>
        <p:spPr>
          <a:xfrm>
            <a:off x="609600" y="6070600"/>
            <a:ext cx="3429000" cy="431800"/>
          </a:xfrm>
          <a:prstGeom prst="rect">
            <a:avLst/>
          </a:prstGeom>
          <a:noFill/>
        </p:spPr>
        <p:txBody>
          <a:bodyPr wrap="square" lIns="0" rIns="0" tIns="0" bIns="0">
            <a:spAutoFit/>
          </a:bodyPr>
          <a:lstStyle/>
          <a:p>
            <a:r>
              <a:rPr sz="1100" b="0">
                <a:solidFill>
                  <a:srgbClr val="5D6675"/>
                </a:solidFill>
                <a:latin typeface="Arial"/>
              </a:rPr>
              <a:t>4 actions BVC + 5 ETF · en dirhams · 2021–2026</a:t>
            </a:r>
          </a:p>
        </p:txBody>
      </p:sp>
      <p:sp>
        <p:nvSpPr>
          <p:cNvPr id="23" name="TextBox 22"/>
          <p:cNvSpPr txBox="1"/>
          <p:nvPr/>
        </p:nvSpPr>
        <p:spPr>
          <a:xfrm>
            <a:off x="4318000" y="5791200"/>
            <a:ext cx="3429000" cy="254000"/>
          </a:xfrm>
          <a:prstGeom prst="rect">
            <a:avLst/>
          </a:prstGeom>
          <a:noFill/>
        </p:spPr>
        <p:txBody>
          <a:bodyPr wrap="square" lIns="0" rIns="0" tIns="0" bIns="0">
            <a:spAutoFit/>
          </a:bodyPr>
          <a:lstStyle/>
          <a:p>
            <a:r>
              <a:rPr sz="1300" b="1">
                <a:solidFill>
                  <a:srgbClr val="0F766E"/>
                </a:solidFill>
                <a:latin typeface="Arial"/>
              </a:rPr>
              <a:t>etf_2017</a:t>
            </a:r>
          </a:p>
        </p:txBody>
      </p:sp>
      <p:sp>
        <p:nvSpPr>
          <p:cNvPr id="24" name="TextBox 23"/>
          <p:cNvSpPr txBox="1"/>
          <p:nvPr/>
        </p:nvSpPr>
        <p:spPr>
          <a:xfrm>
            <a:off x="4318000" y="6070600"/>
            <a:ext cx="3429000" cy="431800"/>
          </a:xfrm>
          <a:prstGeom prst="rect">
            <a:avLst/>
          </a:prstGeom>
          <a:noFill/>
        </p:spPr>
        <p:txBody>
          <a:bodyPr wrap="square" lIns="0" rIns="0" tIns="0" bIns="0">
            <a:spAutoFit/>
          </a:bodyPr>
          <a:lstStyle/>
          <a:p>
            <a:r>
              <a:rPr sz="1100" b="0">
                <a:solidFill>
                  <a:srgbClr val="5D6675"/>
                </a:solidFill>
                <a:latin typeface="Arial"/>
              </a:rPr>
              <a:t>5 ETF internationaux · en dollars · 2004–2026</a:t>
            </a:r>
          </a:p>
        </p:txBody>
      </p:sp>
      <p:sp>
        <p:nvSpPr>
          <p:cNvPr id="25" name="TextBox 24"/>
          <p:cNvSpPr txBox="1"/>
          <p:nvPr/>
        </p:nvSpPr>
        <p:spPr>
          <a:xfrm>
            <a:off x="8026400" y="5791200"/>
            <a:ext cx="3429000" cy="254000"/>
          </a:xfrm>
          <a:prstGeom prst="rect">
            <a:avLst/>
          </a:prstGeom>
          <a:noFill/>
        </p:spPr>
        <p:txBody>
          <a:bodyPr wrap="square" lIns="0" rIns="0" tIns="0" bIns="0">
            <a:spAutoFit/>
          </a:bodyPr>
          <a:lstStyle/>
          <a:p>
            <a:r>
              <a:rPr sz="1300" b="1">
                <a:solidFill>
                  <a:srgbClr val="0F766E"/>
                </a:solidFill>
                <a:latin typeface="Arial"/>
              </a:rPr>
              <a:t>global_2004</a:t>
            </a:r>
          </a:p>
        </p:txBody>
      </p:sp>
      <p:sp>
        <p:nvSpPr>
          <p:cNvPr id="26" name="TextBox 25"/>
          <p:cNvSpPr txBox="1"/>
          <p:nvPr/>
        </p:nvSpPr>
        <p:spPr>
          <a:xfrm>
            <a:off x="8026400" y="6070600"/>
            <a:ext cx="3429000" cy="431800"/>
          </a:xfrm>
          <a:prstGeom prst="rect">
            <a:avLst/>
          </a:prstGeom>
          <a:noFill/>
        </p:spPr>
        <p:txBody>
          <a:bodyPr wrap="square" lIns="0" rIns="0" tIns="0" bIns="0">
            <a:spAutoFit/>
          </a:bodyPr>
          <a:lstStyle/>
          <a:p>
            <a:r>
              <a:rPr sz="1100" b="0">
                <a:solidFill>
                  <a:srgbClr val="5D6675"/>
                </a:solidFill>
                <a:latin typeface="Arial"/>
              </a:rPr>
              <a:t>10 ETF multi-classes · en dollars · 2004–2026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LE PROBLÈME · POURQUOI C’EST DIFFICILE</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Quatre façons dont l’optimisation classique échoue</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07</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Chaque échec appelle une réponse technique précise — c’est le plan de construction du système.</a:t>
            </a:r>
          </a:p>
        </p:txBody>
      </p:sp>
      <p:pic>
        <p:nvPicPr>
          <p:cNvPr id="6" name="Picture 5" descr="quatre_problemes.png"/>
          <p:cNvPicPr>
            <a:picLocks noChangeAspect="1"/>
          </p:cNvPicPr>
          <p:nvPr/>
        </p:nvPicPr>
        <p:blipFill>
          <a:blip r:embed="rId2"/>
          <a:stretch>
            <a:fillRect/>
          </a:stretch>
        </p:blipFill>
        <p:spPr>
          <a:xfrm>
            <a:off x="1993382" y="1574800"/>
            <a:ext cx="8205234" cy="3810000"/>
          </a:xfrm>
          <a:prstGeom prst="rect">
            <a:avLst/>
          </a:prstGeom>
        </p:spPr>
      </p:pic>
      <p:sp>
        <p:nvSpPr>
          <p:cNvPr id="7" name="Rounded Rectangle 6"/>
          <p:cNvSpPr/>
          <p:nvPr/>
        </p:nvSpPr>
        <p:spPr>
          <a:xfrm>
            <a:off x="609600" y="5562600"/>
            <a:ext cx="10972800" cy="889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9000" y="5740400"/>
            <a:ext cx="10414000" cy="584200"/>
          </a:xfrm>
          <a:prstGeom prst="rect">
            <a:avLst/>
          </a:prstGeom>
          <a:noFill/>
        </p:spPr>
        <p:txBody>
          <a:bodyPr wrap="square" lIns="0" rIns="0" tIns="0" bIns="0">
            <a:spAutoFit/>
          </a:bodyPr>
          <a:lstStyle/>
          <a:p>
            <a:pPr>
              <a:lnSpc>
                <a:spcPct val="130000"/>
              </a:lnSpc>
            </a:pPr>
            <a:r>
              <a:rPr sz="1200" b="0">
                <a:solidFill>
                  <a:srgbClr val="5D6675"/>
                </a:solidFill>
                <a:latin typeface="Arial"/>
              </a:rPr>
              <a:t>Traduction : l’optimiseur classique prend des estimations incertaines pour des certitudes, suppose que demain ressemble à hier,</a:t>
            </a:r>
          </a:p>
          <a:p>
            <a:pPr>
              <a:lnSpc>
                <a:spcPct val="130000"/>
              </a:lnSpc>
            </a:pPr>
            <a:r>
              <a:rPr sz="1200" b="0">
                <a:solidFill>
                  <a:srgbClr val="5D6675"/>
                </a:solidFill>
                <a:latin typeface="Arial"/>
              </a:rPr>
              <a:t>et s’effondre exactement au moment où la diversification devrait protéger.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LE PROBLÈME · LE MOMENT CRITIQUE</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En crise, la diversification disparaît quand on en a besoin</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08</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Les actions se mettent à tomber ensemble ; seuls l’or et les obligations s’en détachent.</a:t>
            </a:r>
          </a:p>
        </p:txBody>
      </p:sp>
      <p:pic>
        <p:nvPicPr>
          <p:cNvPr id="6" name="Picture 5" descr="correlations_crise.png"/>
          <p:cNvPicPr>
            <a:picLocks noChangeAspect="1"/>
          </p:cNvPicPr>
          <p:nvPr/>
        </p:nvPicPr>
        <p:blipFill>
          <a:blip r:embed="rId2"/>
          <a:stretch>
            <a:fillRect/>
          </a:stretch>
        </p:blipFill>
        <p:spPr>
          <a:xfrm>
            <a:off x="609600" y="1590777"/>
            <a:ext cx="8128000" cy="4260644"/>
          </a:xfrm>
          <a:prstGeom prst="rect">
            <a:avLst/>
          </a:prstGeom>
        </p:spPr>
      </p:pic>
      <p:sp>
        <p:nvSpPr>
          <p:cNvPr id="7" name="TextBox 6"/>
          <p:cNvSpPr txBox="1"/>
          <p:nvPr/>
        </p:nvSpPr>
        <p:spPr>
          <a:xfrm>
            <a:off x="9042400" y="1905000"/>
            <a:ext cx="2540000" cy="533400"/>
          </a:xfrm>
          <a:prstGeom prst="rect">
            <a:avLst/>
          </a:prstGeom>
          <a:noFill/>
        </p:spPr>
        <p:txBody>
          <a:bodyPr wrap="square" lIns="0" rIns="0" tIns="0" bIns="0">
            <a:spAutoFit/>
          </a:bodyPr>
          <a:lstStyle/>
          <a:p>
            <a:r>
              <a:rPr sz="2600" b="1">
                <a:solidFill>
                  <a:srgbClr val="B7433E"/>
                </a:solidFill>
                <a:latin typeface="Arial"/>
              </a:rPr>
              <a:t>0,79 → 0,94</a:t>
            </a:r>
          </a:p>
        </p:txBody>
      </p:sp>
      <p:sp>
        <p:nvSpPr>
          <p:cNvPr id="8" name="TextBox 7"/>
          <p:cNvSpPr txBox="1"/>
          <p:nvPr/>
        </p:nvSpPr>
        <p:spPr>
          <a:xfrm>
            <a:off x="9042400" y="2438400"/>
            <a:ext cx="2540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corrélation entre actions</a:t>
            </a:r>
          </a:p>
          <a:p>
            <a:pPr>
              <a:lnSpc>
                <a:spcPct val="120000"/>
              </a:lnSpc>
            </a:pPr>
            <a:r>
              <a:rPr sz="1150" b="0">
                <a:solidFill>
                  <a:srgbClr val="5D6675"/>
                </a:solidFill>
                <a:latin typeface="Arial"/>
              </a:rPr>
              <a:t>en mars 2020 : le portefeuille</a:t>
            </a:r>
          </a:p>
          <a:p>
            <a:pPr>
              <a:lnSpc>
                <a:spcPct val="120000"/>
              </a:lnSpc>
            </a:pPr>
            <a:r>
              <a:rPr sz="1150" b="0">
                <a:solidFill>
                  <a:srgbClr val="5D6675"/>
                </a:solidFill>
                <a:latin typeface="Arial"/>
              </a:rPr>
              <a:t>se comporte comme un seul actif</a:t>
            </a:r>
          </a:p>
        </p:txBody>
      </p:sp>
      <p:sp>
        <p:nvSpPr>
          <p:cNvPr id="9" name="Rounded Rectangle 8"/>
          <p:cNvSpPr/>
          <p:nvPr/>
        </p:nvSpPr>
        <p:spPr>
          <a:xfrm>
            <a:off x="9042400" y="3759200"/>
            <a:ext cx="2540000" cy="2184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71000" y="3987800"/>
            <a:ext cx="431800" cy="38100"/>
          </a:xfrm>
          <a:prstGeom prst="rect">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71000" y="4165600"/>
            <a:ext cx="2082800" cy="279400"/>
          </a:xfrm>
          <a:prstGeom prst="rect">
            <a:avLst/>
          </a:prstGeom>
          <a:noFill/>
        </p:spPr>
        <p:txBody>
          <a:bodyPr wrap="square" lIns="0" rIns="0" tIns="0" bIns="0">
            <a:spAutoFit/>
          </a:bodyPr>
          <a:lstStyle/>
          <a:p>
            <a:r>
              <a:rPr sz="1300" b="1">
                <a:solidFill>
                  <a:srgbClr val="1B3A6B"/>
                </a:solidFill>
                <a:latin typeface="Arial"/>
              </a:rPr>
              <a:t>Conséquence</a:t>
            </a:r>
          </a:p>
        </p:txBody>
      </p:sp>
      <p:sp>
        <p:nvSpPr>
          <p:cNvPr id="12" name="TextBox 11"/>
          <p:cNvSpPr txBox="1"/>
          <p:nvPr/>
        </p:nvSpPr>
        <p:spPr>
          <a:xfrm>
            <a:off x="9271000" y="4495800"/>
            <a:ext cx="2082800" cy="1244600"/>
          </a:xfrm>
          <a:prstGeom prst="rect">
            <a:avLst/>
          </a:prstGeom>
          <a:noFill/>
        </p:spPr>
        <p:txBody>
          <a:bodyPr wrap="square" lIns="0" rIns="0" tIns="0" bIns="0">
            <a:spAutoFit/>
          </a:bodyPr>
          <a:lstStyle/>
          <a:p>
            <a:pPr>
              <a:lnSpc>
                <a:spcPct val="132000"/>
              </a:lnSpc>
            </a:pPr>
            <a:r>
              <a:rPr sz="1100" b="0">
                <a:solidFill>
                  <a:srgbClr val="5D6675"/>
                </a:solidFill>
                <a:latin typeface="Arial"/>
              </a:rPr>
              <a:t>Un modèle qui suppose</a:t>
            </a:r>
          </a:p>
          <a:p>
            <a:pPr>
              <a:lnSpc>
                <a:spcPct val="132000"/>
              </a:lnSpc>
            </a:pPr>
            <a:r>
              <a:rPr sz="1100" b="0">
                <a:solidFill>
                  <a:srgbClr val="5D6675"/>
                </a:solidFill>
                <a:latin typeface="Arial"/>
              </a:rPr>
              <a:t>une structure de risque fixe</a:t>
            </a:r>
          </a:p>
          <a:p>
            <a:pPr>
              <a:lnSpc>
                <a:spcPct val="132000"/>
              </a:lnSpc>
            </a:pPr>
            <a:r>
              <a:rPr sz="1100" b="0">
                <a:solidFill>
                  <a:srgbClr val="5D6675"/>
                </a:solidFill>
                <a:latin typeface="Arial"/>
              </a:rPr>
              <a:t>se trompe précisément</a:t>
            </a:r>
          </a:p>
          <a:p>
            <a:pPr>
              <a:lnSpc>
                <a:spcPct val="132000"/>
              </a:lnSpc>
            </a:pPr>
            <a:r>
              <a:rPr sz="1100" b="0">
                <a:solidFill>
                  <a:srgbClr val="5D6675"/>
                </a:solidFill>
                <a:latin typeface="Arial"/>
              </a:rPr>
              <a:t>les jours qui coûtent cher.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LE PROBLÈME · LE PIÈGE CENTRAL</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Le meilleur backtest d’une longue recherche est presque toujours une illusion</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09</a:t>
            </a:r>
          </a:p>
        </p:txBody>
      </p:sp>
      <p:pic>
        <p:nvPicPr>
          <p:cNvPr id="5" name="Picture 4" descr="snooping_240.png"/>
          <p:cNvPicPr>
            <a:picLocks noChangeAspect="1"/>
          </p:cNvPicPr>
          <p:nvPr/>
        </p:nvPicPr>
        <p:blipFill>
          <a:blip r:embed="rId2"/>
          <a:stretch>
            <a:fillRect/>
          </a:stretch>
        </p:blipFill>
        <p:spPr>
          <a:xfrm>
            <a:off x="609600" y="1685808"/>
            <a:ext cx="7874000" cy="3791184"/>
          </a:xfrm>
          <a:prstGeom prst="rect">
            <a:avLst/>
          </a:prstGeom>
        </p:spPr>
      </p:pic>
      <p:sp>
        <p:nvSpPr>
          <p:cNvPr id="6" name="TextBox 5"/>
          <p:cNvSpPr txBox="1"/>
          <p:nvPr/>
        </p:nvSpPr>
        <p:spPr>
          <a:xfrm>
            <a:off x="8890000" y="1651000"/>
            <a:ext cx="2692400" cy="584200"/>
          </a:xfrm>
          <a:prstGeom prst="rect">
            <a:avLst/>
          </a:prstGeom>
          <a:noFill/>
        </p:spPr>
        <p:txBody>
          <a:bodyPr wrap="square" lIns="0" rIns="0" tIns="0" bIns="0">
            <a:spAutoFit/>
          </a:bodyPr>
          <a:lstStyle/>
          <a:p>
            <a:r>
              <a:rPr sz="3000" b="1">
                <a:solidFill>
                  <a:srgbClr val="1B3A6B"/>
                </a:solidFill>
                <a:latin typeface="Arial"/>
              </a:rPr>
              <a:t>240</a:t>
            </a:r>
          </a:p>
        </p:txBody>
      </p:sp>
      <p:sp>
        <p:nvSpPr>
          <p:cNvPr id="7" name="TextBox 6"/>
          <p:cNvSpPr txBox="1"/>
          <p:nvPr/>
        </p:nvSpPr>
        <p:spPr>
          <a:xfrm>
            <a:off x="8890000" y="2235200"/>
            <a:ext cx="26924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stratégies entièrement</a:t>
            </a:r>
          </a:p>
          <a:p>
            <a:pPr>
              <a:lnSpc>
                <a:spcPct val="120000"/>
              </a:lnSpc>
            </a:pPr>
            <a:r>
              <a:rPr sz="1150" b="0">
                <a:solidFill>
                  <a:srgbClr val="5D6675"/>
                </a:solidFill>
                <a:latin typeface="Arial"/>
              </a:rPr>
              <a:t>évaluées, liste figée</a:t>
            </a:r>
          </a:p>
          <a:p>
            <a:pPr>
              <a:lnSpc>
                <a:spcPct val="120000"/>
              </a:lnSpc>
            </a:pPr>
            <a:r>
              <a:rPr sz="1150" b="0">
                <a:solidFill>
                  <a:srgbClr val="5D6675"/>
                </a:solidFill>
                <a:latin typeface="Arial"/>
              </a:rPr>
              <a:t>avant tout calcul</a:t>
            </a:r>
          </a:p>
        </p:txBody>
      </p:sp>
      <p:sp>
        <p:nvSpPr>
          <p:cNvPr id="8" name="TextBox 7"/>
          <p:cNvSpPr txBox="1"/>
          <p:nvPr/>
        </p:nvSpPr>
        <p:spPr>
          <a:xfrm>
            <a:off x="8890000" y="3327400"/>
            <a:ext cx="2692400" cy="584200"/>
          </a:xfrm>
          <a:prstGeom prst="rect">
            <a:avLst/>
          </a:prstGeom>
          <a:noFill/>
        </p:spPr>
        <p:txBody>
          <a:bodyPr wrap="square" lIns="0" rIns="0" tIns="0" bIns="0">
            <a:spAutoFit/>
          </a:bodyPr>
          <a:lstStyle/>
          <a:p>
            <a:r>
              <a:rPr sz="3000" b="1">
                <a:solidFill>
                  <a:srgbClr val="B7433E"/>
                </a:solidFill>
                <a:latin typeface="Arial"/>
              </a:rPr>
              <a:t>+0,093</a:t>
            </a:r>
          </a:p>
        </p:txBody>
      </p:sp>
      <p:sp>
        <p:nvSpPr>
          <p:cNvPr id="9" name="TextBox 8"/>
          <p:cNvSpPr txBox="1"/>
          <p:nvPr/>
        </p:nvSpPr>
        <p:spPr>
          <a:xfrm>
            <a:off x="8890000" y="3911600"/>
            <a:ext cx="26924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l’écart du « champion » :</a:t>
            </a:r>
          </a:p>
          <a:p>
            <a:pPr>
              <a:lnSpc>
                <a:spcPct val="120000"/>
              </a:lnSpc>
            </a:pPr>
            <a:r>
              <a:rPr sz="1150" b="0">
                <a:solidFill>
                  <a:srgbClr val="5D6675"/>
                </a:solidFill>
                <a:latin typeface="Arial"/>
              </a:rPr>
              <a:t>séduisant sur le papier</a:t>
            </a:r>
          </a:p>
        </p:txBody>
      </p:sp>
      <p:sp>
        <p:nvSpPr>
          <p:cNvPr id="10" name="TextBox 9"/>
          <p:cNvSpPr txBox="1"/>
          <p:nvPr/>
        </p:nvSpPr>
        <p:spPr>
          <a:xfrm>
            <a:off x="8890000" y="5003800"/>
            <a:ext cx="2692400" cy="533400"/>
          </a:xfrm>
          <a:prstGeom prst="rect">
            <a:avLst/>
          </a:prstGeom>
          <a:noFill/>
        </p:spPr>
        <p:txBody>
          <a:bodyPr wrap="square" lIns="0" rIns="0" tIns="0" bIns="0">
            <a:spAutoFit/>
          </a:bodyPr>
          <a:lstStyle/>
          <a:p>
            <a:r>
              <a:rPr sz="2600" b="1">
                <a:solidFill>
                  <a:srgbClr val="0F766E"/>
                </a:solidFill>
                <a:latin typeface="Arial"/>
              </a:rPr>
              <a:t>p = 0,90</a:t>
            </a:r>
          </a:p>
        </p:txBody>
      </p:sp>
      <p:sp>
        <p:nvSpPr>
          <p:cNvPr id="11" name="TextBox 10"/>
          <p:cNvSpPr txBox="1"/>
          <p:nvPr/>
        </p:nvSpPr>
        <p:spPr>
          <a:xfrm>
            <a:off x="8890000" y="5537200"/>
            <a:ext cx="26924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le test de sélection multiple</a:t>
            </a:r>
          </a:p>
          <a:p>
            <a:pPr>
              <a:lnSpc>
                <a:spcPct val="120000"/>
              </a:lnSpc>
            </a:pPr>
            <a:r>
              <a:rPr sz="1150" b="0">
                <a:solidFill>
                  <a:srgbClr val="5D6675"/>
                </a:solidFill>
                <a:latin typeface="Arial"/>
              </a:rPr>
              <a:t>ne retient pas ce résultat</a:t>
            </a:r>
          </a:p>
        </p:txBody>
      </p:sp>
      <p:sp>
        <p:nvSpPr>
          <p:cNvPr id="12" name="TextBox 11"/>
          <p:cNvSpPr txBox="1"/>
          <p:nvPr/>
        </p:nvSpPr>
        <p:spPr>
          <a:xfrm>
            <a:off x="609600" y="5969000"/>
            <a:ext cx="10972800" cy="381000"/>
          </a:xfrm>
          <a:prstGeom prst="rect">
            <a:avLst/>
          </a:prstGeom>
          <a:noFill/>
        </p:spPr>
        <p:txBody>
          <a:bodyPr wrap="square" lIns="0" rIns="0" tIns="0" bIns="0">
            <a:spAutoFit/>
          </a:bodyPr>
          <a:lstStyle/>
          <a:p>
            <a:pPr>
              <a:lnSpc>
                <a:spcPct val="125000"/>
              </a:lnSpc>
            </a:pPr>
            <a:r>
              <a:rPr sz="1100" b="0">
                <a:solidFill>
                  <a:srgbClr val="5D6675"/>
                </a:solidFill>
                <a:latin typeface="Arial"/>
              </a:rPr>
              <a:t>C’est le biais qui explique une grande partie des stratégies publiées qui ne fonctionnent jamais en réel. Le projet le traite comme un adversaire, pas comme un détail.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NOTRE RÉPONSE · LA DÉMARCHE</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Huit phases, chacune livrée et vérifiable</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10</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Rien n’a été construit d’un bloc : chaque phase produit un livrable écrit et des artefacts versionnés avant que la suivante commence.</a:t>
            </a:r>
          </a:p>
        </p:txBody>
      </p:sp>
      <p:sp>
        <p:nvSpPr>
          <p:cNvPr id="6" name="Rounded Rectangle 5"/>
          <p:cNvSpPr/>
          <p:nvPr/>
        </p:nvSpPr>
        <p:spPr>
          <a:xfrm>
            <a:off x="609600" y="1651000"/>
            <a:ext cx="2540000" cy="12192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854200"/>
            <a:ext cx="762000" cy="330200"/>
          </a:xfrm>
          <a:prstGeom prst="rect">
            <a:avLst/>
          </a:prstGeom>
          <a:noFill/>
        </p:spPr>
        <p:txBody>
          <a:bodyPr wrap="square" lIns="0" rIns="0" tIns="0" bIns="0">
            <a:spAutoFit/>
          </a:bodyPr>
          <a:lstStyle/>
          <a:p>
            <a:r>
              <a:rPr sz="1600" b="1">
                <a:solidFill>
                  <a:srgbClr val="3D8DFF"/>
                </a:solidFill>
                <a:latin typeface="Arial"/>
              </a:rPr>
              <a:t>1</a:t>
            </a:r>
          </a:p>
        </p:txBody>
      </p:sp>
      <p:sp>
        <p:nvSpPr>
          <p:cNvPr id="8" name="TextBox 7"/>
          <p:cNvSpPr txBox="1"/>
          <p:nvPr/>
        </p:nvSpPr>
        <p:spPr>
          <a:xfrm>
            <a:off x="838200" y="2235200"/>
            <a:ext cx="2133600" cy="533400"/>
          </a:xfrm>
          <a:prstGeom prst="rect">
            <a:avLst/>
          </a:prstGeom>
          <a:noFill/>
        </p:spPr>
        <p:txBody>
          <a:bodyPr wrap="square" lIns="0" rIns="0" tIns="0" bIns="0">
            <a:spAutoFit/>
          </a:bodyPr>
          <a:lstStyle/>
          <a:p>
            <a:pPr>
              <a:lnSpc>
                <a:spcPct val="125000"/>
              </a:lnSpc>
            </a:pPr>
            <a:r>
              <a:rPr sz="1150" b="0">
                <a:solidFill>
                  <a:srgbClr val="111827"/>
                </a:solidFill>
                <a:latin typeface="Arial"/>
              </a:rPr>
              <a:t>Infrastructure de données</a:t>
            </a:r>
          </a:p>
        </p:txBody>
      </p:sp>
      <p:sp>
        <p:nvSpPr>
          <p:cNvPr id="9" name="TextBox 8"/>
          <p:cNvSpPr txBox="1"/>
          <p:nvPr/>
        </p:nvSpPr>
        <p:spPr>
          <a:xfrm>
            <a:off x="3200400" y="2108200"/>
            <a:ext cx="177800" cy="254000"/>
          </a:xfrm>
          <a:prstGeom prst="rect">
            <a:avLst/>
          </a:prstGeom>
          <a:noFill/>
        </p:spPr>
        <p:txBody>
          <a:bodyPr wrap="square" lIns="0" rIns="0" tIns="0" bIns="0">
            <a:spAutoFit/>
          </a:bodyPr>
          <a:lstStyle/>
          <a:p>
            <a:r>
              <a:rPr sz="1300" b="0">
                <a:solidFill>
                  <a:srgbClr val="5D6675"/>
                </a:solidFill>
                <a:latin typeface="Arial"/>
              </a:rPr>
              <a:t>→</a:t>
            </a:r>
          </a:p>
        </p:txBody>
      </p:sp>
      <p:sp>
        <p:nvSpPr>
          <p:cNvPr id="10" name="Rounded Rectangle 9"/>
          <p:cNvSpPr/>
          <p:nvPr/>
        </p:nvSpPr>
        <p:spPr>
          <a:xfrm>
            <a:off x="3403600" y="1651000"/>
            <a:ext cx="2540000" cy="12192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32200" y="1854200"/>
            <a:ext cx="762000" cy="330200"/>
          </a:xfrm>
          <a:prstGeom prst="rect">
            <a:avLst/>
          </a:prstGeom>
          <a:noFill/>
        </p:spPr>
        <p:txBody>
          <a:bodyPr wrap="square" lIns="0" rIns="0" tIns="0" bIns="0">
            <a:spAutoFit/>
          </a:bodyPr>
          <a:lstStyle/>
          <a:p>
            <a:r>
              <a:rPr sz="1600" b="1">
                <a:solidFill>
                  <a:srgbClr val="3D8DFF"/>
                </a:solidFill>
                <a:latin typeface="Arial"/>
              </a:rPr>
              <a:t>2</a:t>
            </a:r>
          </a:p>
        </p:txBody>
      </p:sp>
      <p:sp>
        <p:nvSpPr>
          <p:cNvPr id="12" name="TextBox 11"/>
          <p:cNvSpPr txBox="1"/>
          <p:nvPr/>
        </p:nvSpPr>
        <p:spPr>
          <a:xfrm>
            <a:off x="3632200" y="2235200"/>
            <a:ext cx="2133600" cy="533400"/>
          </a:xfrm>
          <a:prstGeom prst="rect">
            <a:avLst/>
          </a:prstGeom>
          <a:noFill/>
        </p:spPr>
        <p:txBody>
          <a:bodyPr wrap="square" lIns="0" rIns="0" tIns="0" bIns="0">
            <a:spAutoFit/>
          </a:bodyPr>
          <a:lstStyle/>
          <a:p>
            <a:pPr>
              <a:lnSpc>
                <a:spcPct val="125000"/>
              </a:lnSpc>
            </a:pPr>
            <a:r>
              <a:rPr sz="1150" b="0">
                <a:solidFill>
                  <a:srgbClr val="111827"/>
                </a:solidFill>
                <a:latin typeface="Arial"/>
              </a:rPr>
              <a:t>Backtesting Markowitz</a:t>
            </a:r>
          </a:p>
        </p:txBody>
      </p:sp>
      <p:sp>
        <p:nvSpPr>
          <p:cNvPr id="13" name="TextBox 12"/>
          <p:cNvSpPr txBox="1"/>
          <p:nvPr/>
        </p:nvSpPr>
        <p:spPr>
          <a:xfrm>
            <a:off x="5994400" y="2108200"/>
            <a:ext cx="177800" cy="254000"/>
          </a:xfrm>
          <a:prstGeom prst="rect">
            <a:avLst/>
          </a:prstGeom>
          <a:noFill/>
        </p:spPr>
        <p:txBody>
          <a:bodyPr wrap="square" lIns="0" rIns="0" tIns="0" bIns="0">
            <a:spAutoFit/>
          </a:bodyPr>
          <a:lstStyle/>
          <a:p>
            <a:r>
              <a:rPr sz="1300" b="0">
                <a:solidFill>
                  <a:srgbClr val="5D6675"/>
                </a:solidFill>
                <a:latin typeface="Arial"/>
              </a:rPr>
              <a:t>→</a:t>
            </a:r>
          </a:p>
        </p:txBody>
      </p:sp>
      <p:sp>
        <p:nvSpPr>
          <p:cNvPr id="14" name="Rounded Rectangle 13"/>
          <p:cNvSpPr/>
          <p:nvPr/>
        </p:nvSpPr>
        <p:spPr>
          <a:xfrm>
            <a:off x="6197600" y="1651000"/>
            <a:ext cx="2540000" cy="12192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6200" y="1854200"/>
            <a:ext cx="762000" cy="330200"/>
          </a:xfrm>
          <a:prstGeom prst="rect">
            <a:avLst/>
          </a:prstGeom>
          <a:noFill/>
        </p:spPr>
        <p:txBody>
          <a:bodyPr wrap="square" lIns="0" rIns="0" tIns="0" bIns="0">
            <a:spAutoFit/>
          </a:bodyPr>
          <a:lstStyle/>
          <a:p>
            <a:r>
              <a:rPr sz="1600" b="1">
                <a:solidFill>
                  <a:srgbClr val="3D8DFF"/>
                </a:solidFill>
                <a:latin typeface="Arial"/>
              </a:rPr>
              <a:t>3</a:t>
            </a:r>
          </a:p>
        </p:txBody>
      </p:sp>
      <p:sp>
        <p:nvSpPr>
          <p:cNvPr id="16" name="TextBox 15"/>
          <p:cNvSpPr txBox="1"/>
          <p:nvPr/>
        </p:nvSpPr>
        <p:spPr>
          <a:xfrm>
            <a:off x="6426200" y="2235200"/>
            <a:ext cx="2133600" cy="533400"/>
          </a:xfrm>
          <a:prstGeom prst="rect">
            <a:avLst/>
          </a:prstGeom>
          <a:noFill/>
        </p:spPr>
        <p:txBody>
          <a:bodyPr wrap="square" lIns="0" rIns="0" tIns="0" bIns="0">
            <a:spAutoFit/>
          </a:bodyPr>
          <a:lstStyle/>
          <a:p>
            <a:pPr>
              <a:lnSpc>
                <a:spcPct val="125000"/>
              </a:lnSpc>
            </a:pPr>
            <a:r>
              <a:rPr sz="1150" b="0">
                <a:solidFill>
                  <a:srgbClr val="111827"/>
                </a:solidFill>
                <a:latin typeface="Arial"/>
              </a:rPr>
              <a:t>Ingénierie des variables</a:t>
            </a:r>
          </a:p>
        </p:txBody>
      </p:sp>
      <p:sp>
        <p:nvSpPr>
          <p:cNvPr id="17" name="TextBox 16"/>
          <p:cNvSpPr txBox="1"/>
          <p:nvPr/>
        </p:nvSpPr>
        <p:spPr>
          <a:xfrm>
            <a:off x="8788400" y="2108200"/>
            <a:ext cx="177800" cy="254000"/>
          </a:xfrm>
          <a:prstGeom prst="rect">
            <a:avLst/>
          </a:prstGeom>
          <a:noFill/>
        </p:spPr>
        <p:txBody>
          <a:bodyPr wrap="square" lIns="0" rIns="0" tIns="0" bIns="0">
            <a:spAutoFit/>
          </a:bodyPr>
          <a:lstStyle/>
          <a:p>
            <a:r>
              <a:rPr sz="1300" b="0">
                <a:solidFill>
                  <a:srgbClr val="5D6675"/>
                </a:solidFill>
                <a:latin typeface="Arial"/>
              </a:rPr>
              <a:t>→</a:t>
            </a:r>
          </a:p>
        </p:txBody>
      </p:sp>
      <p:sp>
        <p:nvSpPr>
          <p:cNvPr id="18" name="Rounded Rectangle 17"/>
          <p:cNvSpPr/>
          <p:nvPr/>
        </p:nvSpPr>
        <p:spPr>
          <a:xfrm>
            <a:off x="8991600" y="1651000"/>
            <a:ext cx="2540000" cy="12192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20200" y="1854200"/>
            <a:ext cx="762000" cy="330200"/>
          </a:xfrm>
          <a:prstGeom prst="rect">
            <a:avLst/>
          </a:prstGeom>
          <a:noFill/>
        </p:spPr>
        <p:txBody>
          <a:bodyPr wrap="square" lIns="0" rIns="0" tIns="0" bIns="0">
            <a:spAutoFit/>
          </a:bodyPr>
          <a:lstStyle/>
          <a:p>
            <a:r>
              <a:rPr sz="1600" b="1">
                <a:solidFill>
                  <a:srgbClr val="3D8DFF"/>
                </a:solidFill>
                <a:latin typeface="Arial"/>
              </a:rPr>
              <a:t>4</a:t>
            </a:r>
          </a:p>
        </p:txBody>
      </p:sp>
      <p:sp>
        <p:nvSpPr>
          <p:cNvPr id="20" name="TextBox 19"/>
          <p:cNvSpPr txBox="1"/>
          <p:nvPr/>
        </p:nvSpPr>
        <p:spPr>
          <a:xfrm>
            <a:off x="9220200" y="2235200"/>
            <a:ext cx="2133600" cy="533400"/>
          </a:xfrm>
          <a:prstGeom prst="rect">
            <a:avLst/>
          </a:prstGeom>
          <a:noFill/>
        </p:spPr>
        <p:txBody>
          <a:bodyPr wrap="square" lIns="0" rIns="0" tIns="0" bIns="0">
            <a:spAutoFit/>
          </a:bodyPr>
          <a:lstStyle/>
          <a:p>
            <a:pPr>
              <a:lnSpc>
                <a:spcPct val="125000"/>
              </a:lnSpc>
            </a:pPr>
            <a:r>
              <a:rPr sz="1150" b="0">
                <a:solidFill>
                  <a:srgbClr val="111827"/>
                </a:solidFill>
                <a:latin typeface="Arial"/>
              </a:rPr>
              <a:t>Régimes et covariance</a:t>
            </a:r>
          </a:p>
        </p:txBody>
      </p:sp>
      <p:sp>
        <p:nvSpPr>
          <p:cNvPr id="21" name="Rounded Rectangle 20"/>
          <p:cNvSpPr/>
          <p:nvPr/>
        </p:nvSpPr>
        <p:spPr>
          <a:xfrm>
            <a:off x="609600" y="3124200"/>
            <a:ext cx="2540000" cy="12192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8200" y="3327400"/>
            <a:ext cx="762000" cy="330200"/>
          </a:xfrm>
          <a:prstGeom prst="rect">
            <a:avLst/>
          </a:prstGeom>
          <a:noFill/>
        </p:spPr>
        <p:txBody>
          <a:bodyPr wrap="square" lIns="0" rIns="0" tIns="0" bIns="0">
            <a:spAutoFit/>
          </a:bodyPr>
          <a:lstStyle/>
          <a:p>
            <a:r>
              <a:rPr sz="1600" b="1">
                <a:solidFill>
                  <a:srgbClr val="3D8DFF"/>
                </a:solidFill>
                <a:latin typeface="Arial"/>
              </a:rPr>
              <a:t>4B</a:t>
            </a:r>
          </a:p>
        </p:txBody>
      </p:sp>
      <p:sp>
        <p:nvSpPr>
          <p:cNvPr id="23" name="TextBox 22"/>
          <p:cNvSpPr txBox="1"/>
          <p:nvPr/>
        </p:nvSpPr>
        <p:spPr>
          <a:xfrm>
            <a:off x="838200" y="3708400"/>
            <a:ext cx="2133600" cy="533400"/>
          </a:xfrm>
          <a:prstGeom prst="rect">
            <a:avLst/>
          </a:prstGeom>
          <a:noFill/>
        </p:spPr>
        <p:txBody>
          <a:bodyPr wrap="square" lIns="0" rIns="0" tIns="0" bIns="0">
            <a:spAutoFit/>
          </a:bodyPr>
          <a:lstStyle/>
          <a:p>
            <a:pPr>
              <a:lnSpc>
                <a:spcPct val="125000"/>
              </a:lnSpc>
            </a:pPr>
            <a:r>
              <a:rPr sz="1150" b="0">
                <a:solidFill>
                  <a:srgbClr val="111827"/>
                </a:solidFill>
                <a:latin typeface="Arial"/>
              </a:rPr>
              <a:t>Signaux ML adaptatifs</a:t>
            </a:r>
          </a:p>
        </p:txBody>
      </p:sp>
      <p:sp>
        <p:nvSpPr>
          <p:cNvPr id="24" name="TextBox 23"/>
          <p:cNvSpPr txBox="1"/>
          <p:nvPr/>
        </p:nvSpPr>
        <p:spPr>
          <a:xfrm>
            <a:off x="3200400" y="3581400"/>
            <a:ext cx="177800" cy="254000"/>
          </a:xfrm>
          <a:prstGeom prst="rect">
            <a:avLst/>
          </a:prstGeom>
          <a:noFill/>
        </p:spPr>
        <p:txBody>
          <a:bodyPr wrap="square" lIns="0" rIns="0" tIns="0" bIns="0">
            <a:spAutoFit/>
          </a:bodyPr>
          <a:lstStyle/>
          <a:p>
            <a:r>
              <a:rPr sz="1300" b="0">
                <a:solidFill>
                  <a:srgbClr val="5D6675"/>
                </a:solidFill>
                <a:latin typeface="Arial"/>
              </a:rPr>
              <a:t>→</a:t>
            </a:r>
          </a:p>
        </p:txBody>
      </p:sp>
      <p:sp>
        <p:nvSpPr>
          <p:cNvPr id="25" name="Rounded Rectangle 24"/>
          <p:cNvSpPr/>
          <p:nvPr/>
        </p:nvSpPr>
        <p:spPr>
          <a:xfrm>
            <a:off x="3403600" y="3124200"/>
            <a:ext cx="2540000" cy="12192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32200" y="3327400"/>
            <a:ext cx="762000" cy="330200"/>
          </a:xfrm>
          <a:prstGeom prst="rect">
            <a:avLst/>
          </a:prstGeom>
          <a:noFill/>
        </p:spPr>
        <p:txBody>
          <a:bodyPr wrap="square" lIns="0" rIns="0" tIns="0" bIns="0">
            <a:spAutoFit/>
          </a:bodyPr>
          <a:lstStyle/>
          <a:p>
            <a:r>
              <a:rPr sz="1600" b="1">
                <a:solidFill>
                  <a:srgbClr val="3D8DFF"/>
                </a:solidFill>
                <a:latin typeface="Arial"/>
              </a:rPr>
              <a:t>4C</a:t>
            </a:r>
          </a:p>
        </p:txBody>
      </p:sp>
      <p:sp>
        <p:nvSpPr>
          <p:cNvPr id="27" name="TextBox 26"/>
          <p:cNvSpPr txBox="1"/>
          <p:nvPr/>
        </p:nvSpPr>
        <p:spPr>
          <a:xfrm>
            <a:off x="3632200" y="3708400"/>
            <a:ext cx="2133600" cy="533400"/>
          </a:xfrm>
          <a:prstGeom prst="rect">
            <a:avLst/>
          </a:prstGeom>
          <a:noFill/>
        </p:spPr>
        <p:txBody>
          <a:bodyPr wrap="square" lIns="0" rIns="0" tIns="0" bIns="0">
            <a:spAutoFit/>
          </a:bodyPr>
          <a:lstStyle/>
          <a:p>
            <a:pPr>
              <a:lnSpc>
                <a:spcPct val="125000"/>
              </a:lnSpc>
            </a:pPr>
            <a:r>
              <a:rPr sz="1150" b="0">
                <a:solidFill>
                  <a:srgbClr val="111827"/>
                </a:solidFill>
                <a:latin typeface="Arial"/>
              </a:rPr>
              <a:t>Optimisation sensible aux coûts</a:t>
            </a:r>
          </a:p>
        </p:txBody>
      </p:sp>
      <p:sp>
        <p:nvSpPr>
          <p:cNvPr id="28" name="TextBox 27"/>
          <p:cNvSpPr txBox="1"/>
          <p:nvPr/>
        </p:nvSpPr>
        <p:spPr>
          <a:xfrm>
            <a:off x="5994400" y="3581400"/>
            <a:ext cx="177800" cy="254000"/>
          </a:xfrm>
          <a:prstGeom prst="rect">
            <a:avLst/>
          </a:prstGeom>
          <a:noFill/>
        </p:spPr>
        <p:txBody>
          <a:bodyPr wrap="square" lIns="0" rIns="0" tIns="0" bIns="0">
            <a:spAutoFit/>
          </a:bodyPr>
          <a:lstStyle/>
          <a:p>
            <a:r>
              <a:rPr sz="1300" b="0">
                <a:solidFill>
                  <a:srgbClr val="5D6675"/>
                </a:solidFill>
                <a:latin typeface="Arial"/>
              </a:rPr>
              <a:t>→</a:t>
            </a:r>
          </a:p>
        </p:txBody>
      </p:sp>
      <p:sp>
        <p:nvSpPr>
          <p:cNvPr id="29" name="Rounded Rectangle 28"/>
          <p:cNvSpPr/>
          <p:nvPr/>
        </p:nvSpPr>
        <p:spPr>
          <a:xfrm>
            <a:off x="6197600" y="3124200"/>
            <a:ext cx="2540000" cy="12192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26200" y="3327400"/>
            <a:ext cx="762000" cy="330200"/>
          </a:xfrm>
          <a:prstGeom prst="rect">
            <a:avLst/>
          </a:prstGeom>
          <a:noFill/>
        </p:spPr>
        <p:txBody>
          <a:bodyPr wrap="square" lIns="0" rIns="0" tIns="0" bIns="0">
            <a:spAutoFit/>
          </a:bodyPr>
          <a:lstStyle/>
          <a:p>
            <a:r>
              <a:rPr sz="1600" b="1">
                <a:solidFill>
                  <a:srgbClr val="3D8DFF"/>
                </a:solidFill>
                <a:latin typeface="Arial"/>
              </a:rPr>
              <a:t>5</a:t>
            </a:r>
          </a:p>
        </p:txBody>
      </p:sp>
      <p:sp>
        <p:nvSpPr>
          <p:cNvPr id="31" name="TextBox 30"/>
          <p:cNvSpPr txBox="1"/>
          <p:nvPr/>
        </p:nvSpPr>
        <p:spPr>
          <a:xfrm>
            <a:off x="6426200" y="3708400"/>
            <a:ext cx="2133600" cy="533400"/>
          </a:xfrm>
          <a:prstGeom prst="rect">
            <a:avLst/>
          </a:prstGeom>
          <a:noFill/>
        </p:spPr>
        <p:txBody>
          <a:bodyPr wrap="square" lIns="0" rIns="0" tIns="0" bIns="0">
            <a:spAutoFit/>
          </a:bodyPr>
          <a:lstStyle/>
          <a:p>
            <a:pPr>
              <a:lnSpc>
                <a:spcPct val="125000"/>
              </a:lnSpc>
            </a:pPr>
            <a:r>
              <a:rPr sz="1150" b="0">
                <a:solidFill>
                  <a:srgbClr val="111827"/>
                </a:solidFill>
                <a:latin typeface="Arial"/>
              </a:rPr>
              <a:t>Évaluation hors échantillon</a:t>
            </a:r>
          </a:p>
        </p:txBody>
      </p:sp>
      <p:sp>
        <p:nvSpPr>
          <p:cNvPr id="32" name="TextBox 31"/>
          <p:cNvSpPr txBox="1"/>
          <p:nvPr/>
        </p:nvSpPr>
        <p:spPr>
          <a:xfrm>
            <a:off x="8788400" y="3581400"/>
            <a:ext cx="177800" cy="254000"/>
          </a:xfrm>
          <a:prstGeom prst="rect">
            <a:avLst/>
          </a:prstGeom>
          <a:noFill/>
        </p:spPr>
        <p:txBody>
          <a:bodyPr wrap="square" lIns="0" rIns="0" tIns="0" bIns="0">
            <a:spAutoFit/>
          </a:bodyPr>
          <a:lstStyle/>
          <a:p>
            <a:r>
              <a:rPr sz="1300" b="0">
                <a:solidFill>
                  <a:srgbClr val="5D6675"/>
                </a:solidFill>
                <a:latin typeface="Arial"/>
              </a:rPr>
              <a:t>→</a:t>
            </a:r>
          </a:p>
        </p:txBody>
      </p:sp>
      <p:sp>
        <p:nvSpPr>
          <p:cNvPr id="33" name="Rounded Rectangle 32"/>
          <p:cNvSpPr/>
          <p:nvPr/>
        </p:nvSpPr>
        <p:spPr>
          <a:xfrm>
            <a:off x="8991600" y="3124200"/>
            <a:ext cx="2540000" cy="12192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20200" y="3327400"/>
            <a:ext cx="762000" cy="330200"/>
          </a:xfrm>
          <a:prstGeom prst="rect">
            <a:avLst/>
          </a:prstGeom>
          <a:noFill/>
        </p:spPr>
        <p:txBody>
          <a:bodyPr wrap="square" lIns="0" rIns="0" tIns="0" bIns="0">
            <a:spAutoFit/>
          </a:bodyPr>
          <a:lstStyle/>
          <a:p>
            <a:r>
              <a:rPr sz="1600" b="1">
                <a:solidFill>
                  <a:srgbClr val="3D8DFF"/>
                </a:solidFill>
                <a:latin typeface="Arial"/>
              </a:rPr>
              <a:t>6–8</a:t>
            </a:r>
          </a:p>
        </p:txBody>
      </p:sp>
      <p:sp>
        <p:nvSpPr>
          <p:cNvPr id="35" name="TextBox 34"/>
          <p:cNvSpPr txBox="1"/>
          <p:nvPr/>
        </p:nvSpPr>
        <p:spPr>
          <a:xfrm>
            <a:off x="9220200" y="3708400"/>
            <a:ext cx="2133600" cy="533400"/>
          </a:xfrm>
          <a:prstGeom prst="rect">
            <a:avLst/>
          </a:prstGeom>
          <a:noFill/>
        </p:spPr>
        <p:txBody>
          <a:bodyPr wrap="square" lIns="0" rIns="0" tIns="0" bIns="0">
            <a:spAutoFit/>
          </a:bodyPr>
          <a:lstStyle/>
          <a:p>
            <a:pPr>
              <a:lnSpc>
                <a:spcPct val="125000"/>
              </a:lnSpc>
            </a:pPr>
            <a:r>
              <a:rPr sz="1150" b="0">
                <a:solidFill>
                  <a:srgbClr val="111827"/>
                </a:solidFill>
                <a:latin typeface="Arial"/>
              </a:rPr>
              <a:t>Suite, robustesse, gouvernance</a:t>
            </a:r>
          </a:p>
        </p:txBody>
      </p:sp>
      <p:sp>
        <p:nvSpPr>
          <p:cNvPr id="36" name="Rounded Rectangle 35"/>
          <p:cNvSpPr/>
          <p:nvPr/>
        </p:nvSpPr>
        <p:spPr>
          <a:xfrm>
            <a:off x="609600" y="4775200"/>
            <a:ext cx="5334000" cy="1549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38200" y="5003800"/>
            <a:ext cx="431800" cy="38100"/>
          </a:xfrm>
          <a:prstGeom prst="rect">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8200" y="5181600"/>
            <a:ext cx="4876800" cy="279400"/>
          </a:xfrm>
          <a:prstGeom prst="rect">
            <a:avLst/>
          </a:prstGeom>
          <a:noFill/>
        </p:spPr>
        <p:txBody>
          <a:bodyPr wrap="square" lIns="0" rIns="0" tIns="0" bIns="0">
            <a:spAutoFit/>
          </a:bodyPr>
          <a:lstStyle/>
          <a:p>
            <a:r>
              <a:rPr sz="1300" b="1">
                <a:solidFill>
                  <a:srgbClr val="1B3A6B"/>
                </a:solidFill>
                <a:latin typeface="Arial"/>
              </a:rPr>
              <a:t>L’équipe</a:t>
            </a:r>
          </a:p>
        </p:txBody>
      </p:sp>
      <p:sp>
        <p:nvSpPr>
          <p:cNvPr id="39" name="TextBox 38"/>
          <p:cNvSpPr txBox="1"/>
          <p:nvPr/>
        </p:nvSpPr>
        <p:spPr>
          <a:xfrm>
            <a:off x="838200" y="5511800"/>
            <a:ext cx="4876800" cy="609600"/>
          </a:xfrm>
          <a:prstGeom prst="rect">
            <a:avLst/>
          </a:prstGeom>
          <a:noFill/>
        </p:spPr>
        <p:txBody>
          <a:bodyPr wrap="square" lIns="0" rIns="0" tIns="0" bIns="0">
            <a:spAutoFit/>
          </a:bodyPr>
          <a:lstStyle/>
          <a:p>
            <a:pPr>
              <a:lnSpc>
                <a:spcPct val="132000"/>
              </a:lnSpc>
            </a:pPr>
            <a:r>
              <a:rPr sz="1100" b="0">
                <a:solidFill>
                  <a:srgbClr val="5D6675"/>
                </a:solidFill>
                <a:latin typeface="Arial"/>
              </a:rPr>
              <a:t>Trois élèves ingénieurs de l’INPT, encadrés par M. Abdelmouttalib Maqil chez EURAFRIC Information. Le travail est partagé par phase, avec revue croisée avant chaque livrable.</a:t>
            </a:r>
          </a:p>
        </p:txBody>
      </p:sp>
      <p:sp>
        <p:nvSpPr>
          <p:cNvPr id="40" name="Rounded Rectangle 39"/>
          <p:cNvSpPr/>
          <p:nvPr/>
        </p:nvSpPr>
        <p:spPr>
          <a:xfrm>
            <a:off x="6248400" y="4775200"/>
            <a:ext cx="5334000" cy="1549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77000" y="5003800"/>
            <a:ext cx="43180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77000" y="5181600"/>
            <a:ext cx="4876800" cy="279400"/>
          </a:xfrm>
          <a:prstGeom prst="rect">
            <a:avLst/>
          </a:prstGeom>
          <a:noFill/>
        </p:spPr>
        <p:txBody>
          <a:bodyPr wrap="square" lIns="0" rIns="0" tIns="0" bIns="0">
            <a:spAutoFit/>
          </a:bodyPr>
          <a:lstStyle/>
          <a:p>
            <a:r>
              <a:rPr sz="1300" b="1">
                <a:solidFill>
                  <a:srgbClr val="0F766E"/>
                </a:solidFill>
                <a:latin typeface="Arial"/>
              </a:rPr>
              <a:t>La règle de travail</a:t>
            </a:r>
          </a:p>
        </p:txBody>
      </p:sp>
      <p:sp>
        <p:nvSpPr>
          <p:cNvPr id="43" name="TextBox 42"/>
          <p:cNvSpPr txBox="1"/>
          <p:nvPr/>
        </p:nvSpPr>
        <p:spPr>
          <a:xfrm>
            <a:off x="6477000" y="5511800"/>
            <a:ext cx="4876800" cy="609600"/>
          </a:xfrm>
          <a:prstGeom prst="rect">
            <a:avLst/>
          </a:prstGeom>
          <a:noFill/>
        </p:spPr>
        <p:txBody>
          <a:bodyPr wrap="square" lIns="0" rIns="0" tIns="0" bIns="0">
            <a:spAutoFit/>
          </a:bodyPr>
          <a:lstStyle/>
          <a:p>
            <a:pPr>
              <a:lnSpc>
                <a:spcPct val="132000"/>
              </a:lnSpc>
            </a:pPr>
            <a:r>
              <a:rPr sz="1100" b="0">
                <a:solidFill>
                  <a:srgbClr val="5D6675"/>
                </a:solidFill>
                <a:latin typeface="Arial"/>
              </a:rPr>
              <a:t>Une phase n’est close que si son résultat est reproductible : données versionnées, tests au vert, et documents régénérés depuis les artefacts, jamais retapés.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NOTRE RÉPONSE</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Une chaîne complète, de la donnée brute à la décision publiée</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11</a:t>
            </a:r>
          </a:p>
        </p:txBody>
      </p:sp>
      <p:pic>
        <p:nvPicPr>
          <p:cNvPr id="5" name="Picture 4" descr="chaine_simple.png"/>
          <p:cNvPicPr>
            <a:picLocks noChangeAspect="1"/>
          </p:cNvPicPr>
          <p:nvPr/>
        </p:nvPicPr>
        <p:blipFill>
          <a:blip r:embed="rId2"/>
          <a:stretch>
            <a:fillRect/>
          </a:stretch>
        </p:blipFill>
        <p:spPr>
          <a:xfrm>
            <a:off x="609600" y="1737508"/>
            <a:ext cx="10972800" cy="3128983"/>
          </a:xfrm>
          <a:prstGeom prst="rect">
            <a:avLst/>
          </a:prstGeom>
        </p:spPr>
      </p:pic>
      <p:sp>
        <p:nvSpPr>
          <p:cNvPr id="6" name="Rounded Rectangle 5"/>
          <p:cNvSpPr/>
          <p:nvPr/>
        </p:nvSpPr>
        <p:spPr>
          <a:xfrm>
            <a:off x="609600" y="5080000"/>
            <a:ext cx="3556000" cy="1397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38200" y="5308600"/>
            <a:ext cx="43180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8200" y="5486400"/>
            <a:ext cx="3098800" cy="279400"/>
          </a:xfrm>
          <a:prstGeom prst="rect">
            <a:avLst/>
          </a:prstGeom>
          <a:noFill/>
        </p:spPr>
        <p:txBody>
          <a:bodyPr wrap="square" lIns="0" rIns="0" tIns="0" bIns="0">
            <a:spAutoFit/>
          </a:bodyPr>
          <a:lstStyle/>
          <a:p>
            <a:r>
              <a:rPr sz="1250" b="1">
                <a:solidFill>
                  <a:srgbClr val="0F766E"/>
                </a:solidFill>
                <a:latin typeface="Arial"/>
              </a:rPr>
              <a:t>Rien n’est saisi à la main</a:t>
            </a:r>
          </a:p>
        </p:txBody>
      </p:sp>
      <p:sp>
        <p:nvSpPr>
          <p:cNvPr id="9" name="TextBox 8"/>
          <p:cNvSpPr txBox="1"/>
          <p:nvPr/>
        </p:nvSpPr>
        <p:spPr>
          <a:xfrm>
            <a:off x="838200" y="5816600"/>
            <a:ext cx="3098800" cy="457200"/>
          </a:xfrm>
          <a:prstGeom prst="rect">
            <a:avLst/>
          </a:prstGeom>
          <a:noFill/>
        </p:spPr>
        <p:txBody>
          <a:bodyPr wrap="square" lIns="0" rIns="0" tIns="0" bIns="0">
            <a:spAutoFit/>
          </a:bodyPr>
          <a:lstStyle/>
          <a:p>
            <a:pPr>
              <a:lnSpc>
                <a:spcPct val="132000"/>
              </a:lnSpc>
            </a:pPr>
            <a:r>
              <a:rPr sz="1100" b="0">
                <a:solidFill>
                  <a:srgbClr val="5D6675"/>
                </a:solidFill>
                <a:latin typeface="Arial"/>
              </a:rPr>
              <a:t>Chaque chiffre affiché est régénéré</a:t>
            </a:r>
          </a:p>
          <a:p>
            <a:pPr>
              <a:lnSpc>
                <a:spcPct val="132000"/>
              </a:lnSpc>
            </a:pPr>
            <a:r>
              <a:rPr sz="1100" b="0">
                <a:solidFill>
                  <a:srgbClr val="5D6675"/>
                </a:solidFill>
                <a:latin typeface="Arial"/>
              </a:rPr>
              <a:t>depuis un artefact versé.</a:t>
            </a:r>
          </a:p>
        </p:txBody>
      </p:sp>
      <p:sp>
        <p:nvSpPr>
          <p:cNvPr id="10" name="Rounded Rectangle 9"/>
          <p:cNvSpPr/>
          <p:nvPr/>
        </p:nvSpPr>
        <p:spPr>
          <a:xfrm>
            <a:off x="4318000" y="5080000"/>
            <a:ext cx="3556000" cy="1397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46600" y="5308600"/>
            <a:ext cx="431800" cy="38100"/>
          </a:xfrm>
          <a:prstGeom prst="rect">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6600" y="5486400"/>
            <a:ext cx="3098800" cy="279400"/>
          </a:xfrm>
          <a:prstGeom prst="rect">
            <a:avLst/>
          </a:prstGeom>
          <a:noFill/>
        </p:spPr>
        <p:txBody>
          <a:bodyPr wrap="square" lIns="0" rIns="0" tIns="0" bIns="0">
            <a:spAutoFit/>
          </a:bodyPr>
          <a:lstStyle/>
          <a:p>
            <a:r>
              <a:rPr sz="1250" b="1">
                <a:solidFill>
                  <a:srgbClr val="1B3A6B"/>
                </a:solidFill>
                <a:latin typeface="Arial"/>
              </a:rPr>
              <a:t>Rien ne regarde l’avenir</a:t>
            </a:r>
          </a:p>
        </p:txBody>
      </p:sp>
      <p:sp>
        <p:nvSpPr>
          <p:cNvPr id="13" name="TextBox 12"/>
          <p:cNvSpPr txBox="1"/>
          <p:nvPr/>
        </p:nvSpPr>
        <p:spPr>
          <a:xfrm>
            <a:off x="4546600" y="5816600"/>
            <a:ext cx="3098800" cy="457200"/>
          </a:xfrm>
          <a:prstGeom prst="rect">
            <a:avLst/>
          </a:prstGeom>
          <a:noFill/>
        </p:spPr>
        <p:txBody>
          <a:bodyPr wrap="square" lIns="0" rIns="0" tIns="0" bIns="0">
            <a:spAutoFit/>
          </a:bodyPr>
          <a:lstStyle/>
          <a:p>
            <a:pPr>
              <a:lnSpc>
                <a:spcPct val="132000"/>
              </a:lnSpc>
            </a:pPr>
            <a:r>
              <a:rPr sz="1100" b="0">
                <a:solidFill>
                  <a:srgbClr val="5D6675"/>
                </a:solidFill>
                <a:latin typeface="Arial"/>
              </a:rPr>
              <a:t>Une décision n’utilise que</a:t>
            </a:r>
          </a:p>
          <a:p>
            <a:pPr>
              <a:lnSpc>
                <a:spcPct val="132000"/>
              </a:lnSpc>
            </a:pPr>
            <a:r>
              <a:rPr sz="1100" b="0">
                <a:solidFill>
                  <a:srgbClr val="5D6675"/>
                </a:solidFill>
                <a:latin typeface="Arial"/>
              </a:rPr>
              <a:t>l’information antérieure.</a:t>
            </a:r>
          </a:p>
        </p:txBody>
      </p:sp>
      <p:sp>
        <p:nvSpPr>
          <p:cNvPr id="14" name="Rounded Rectangle 13"/>
          <p:cNvSpPr/>
          <p:nvPr/>
        </p:nvSpPr>
        <p:spPr>
          <a:xfrm>
            <a:off x="8026400" y="5080000"/>
            <a:ext cx="3556000" cy="1397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55000" y="5308600"/>
            <a:ext cx="431800" cy="38100"/>
          </a:xfrm>
          <a:prstGeom prst="rect">
            <a:avLst/>
          </a:prstGeom>
          <a:solidFill>
            <a:srgbClr val="A868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55000" y="5486400"/>
            <a:ext cx="3098800" cy="279400"/>
          </a:xfrm>
          <a:prstGeom prst="rect">
            <a:avLst/>
          </a:prstGeom>
          <a:noFill/>
        </p:spPr>
        <p:txBody>
          <a:bodyPr wrap="square" lIns="0" rIns="0" tIns="0" bIns="0">
            <a:spAutoFit/>
          </a:bodyPr>
          <a:lstStyle/>
          <a:p>
            <a:r>
              <a:rPr sz="1250" b="1">
                <a:solidFill>
                  <a:srgbClr val="A86812"/>
                </a:solidFill>
                <a:latin typeface="Arial"/>
              </a:rPr>
              <a:t>Rien n’est publié sans test</a:t>
            </a:r>
          </a:p>
        </p:txBody>
      </p:sp>
      <p:sp>
        <p:nvSpPr>
          <p:cNvPr id="17" name="TextBox 16"/>
          <p:cNvSpPr txBox="1"/>
          <p:nvPr/>
        </p:nvSpPr>
        <p:spPr>
          <a:xfrm>
            <a:off x="8255000" y="5816600"/>
            <a:ext cx="3098800" cy="457200"/>
          </a:xfrm>
          <a:prstGeom prst="rect">
            <a:avLst/>
          </a:prstGeom>
          <a:noFill/>
        </p:spPr>
        <p:txBody>
          <a:bodyPr wrap="square" lIns="0" rIns="0" tIns="0" bIns="0">
            <a:spAutoFit/>
          </a:bodyPr>
          <a:lstStyle/>
          <a:p>
            <a:pPr>
              <a:lnSpc>
                <a:spcPct val="132000"/>
              </a:lnSpc>
            </a:pPr>
            <a:r>
              <a:rPr sz="1100" b="0">
                <a:solidFill>
                  <a:srgbClr val="5D6675"/>
                </a:solidFill>
                <a:latin typeface="Arial"/>
              </a:rPr>
              <a:t>Une amélioration doit survivre</a:t>
            </a:r>
          </a:p>
          <a:p>
            <a:pPr>
              <a:lnSpc>
                <a:spcPct val="132000"/>
              </a:lnSpc>
            </a:pPr>
            <a:r>
              <a:rPr sz="1100" b="0">
                <a:solidFill>
                  <a:srgbClr val="5D6675"/>
                </a:solidFill>
                <a:latin typeface="Arial"/>
              </a:rPr>
              <a:t>à la correction statistique.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NOTRE RÉPONSE · LES DONNÉES</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Une donnée n’entre dans le système que si elle est traçable</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12</a:t>
            </a:r>
          </a:p>
        </p:txBody>
      </p:sp>
      <p:sp>
        <p:nvSpPr>
          <p:cNvPr id="5" name="Rounded Rectangle 4"/>
          <p:cNvSpPr/>
          <p:nvPr/>
        </p:nvSpPr>
        <p:spPr>
          <a:xfrm>
            <a:off x="609600" y="1574800"/>
            <a:ext cx="3556000" cy="21336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38200" y="1803400"/>
            <a:ext cx="431800" cy="38100"/>
          </a:xfrm>
          <a:prstGeom prst="rect">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981200"/>
            <a:ext cx="3098800" cy="279400"/>
          </a:xfrm>
          <a:prstGeom prst="rect">
            <a:avLst/>
          </a:prstGeom>
          <a:noFill/>
        </p:spPr>
        <p:txBody>
          <a:bodyPr wrap="square" lIns="0" rIns="0" tIns="0" bIns="0">
            <a:spAutoFit/>
          </a:bodyPr>
          <a:lstStyle/>
          <a:p>
            <a:r>
              <a:rPr sz="1300" b="1">
                <a:solidFill>
                  <a:srgbClr val="1B3A6B"/>
                </a:solidFill>
                <a:latin typeface="Arial"/>
              </a:rPr>
              <a:t>Bronze</a:t>
            </a:r>
          </a:p>
        </p:txBody>
      </p:sp>
      <p:sp>
        <p:nvSpPr>
          <p:cNvPr id="8" name="TextBox 7"/>
          <p:cNvSpPr txBox="1"/>
          <p:nvPr/>
        </p:nvSpPr>
        <p:spPr>
          <a:xfrm>
            <a:off x="838200" y="2311400"/>
            <a:ext cx="3098800" cy="1193800"/>
          </a:xfrm>
          <a:prstGeom prst="rect">
            <a:avLst/>
          </a:prstGeom>
          <a:noFill/>
        </p:spPr>
        <p:txBody>
          <a:bodyPr wrap="square" lIns="0" rIns="0" tIns="0" bIns="0">
            <a:spAutoFit/>
          </a:bodyPr>
          <a:lstStyle/>
          <a:p>
            <a:pPr>
              <a:lnSpc>
                <a:spcPct val="132000"/>
              </a:lnSpc>
            </a:pPr>
            <a:r>
              <a:rPr sz="1150" b="0">
                <a:solidFill>
                  <a:srgbClr val="5D6675"/>
                </a:solidFill>
                <a:latin typeface="Arial"/>
              </a:rPr>
              <a:t>La donnée brute, conservée telle quelle. On ne réécrit jamais la source.</a:t>
            </a:r>
          </a:p>
        </p:txBody>
      </p:sp>
      <p:sp>
        <p:nvSpPr>
          <p:cNvPr id="9" name="Rounded Rectangle 8"/>
          <p:cNvSpPr/>
          <p:nvPr/>
        </p:nvSpPr>
        <p:spPr>
          <a:xfrm>
            <a:off x="4318000" y="1574800"/>
            <a:ext cx="3556000" cy="21336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46600" y="1803400"/>
            <a:ext cx="43180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6600" y="1981200"/>
            <a:ext cx="3098800" cy="279400"/>
          </a:xfrm>
          <a:prstGeom prst="rect">
            <a:avLst/>
          </a:prstGeom>
          <a:noFill/>
        </p:spPr>
        <p:txBody>
          <a:bodyPr wrap="square" lIns="0" rIns="0" tIns="0" bIns="0">
            <a:spAutoFit/>
          </a:bodyPr>
          <a:lstStyle/>
          <a:p>
            <a:r>
              <a:rPr sz="1300" b="1">
                <a:solidFill>
                  <a:srgbClr val="0F766E"/>
                </a:solidFill>
                <a:latin typeface="Arial"/>
              </a:rPr>
              <a:t>Silver</a:t>
            </a:r>
          </a:p>
        </p:txBody>
      </p:sp>
      <p:sp>
        <p:nvSpPr>
          <p:cNvPr id="12" name="TextBox 11"/>
          <p:cNvSpPr txBox="1"/>
          <p:nvPr/>
        </p:nvSpPr>
        <p:spPr>
          <a:xfrm>
            <a:off x="4546600" y="2311400"/>
            <a:ext cx="3098800" cy="1193800"/>
          </a:xfrm>
          <a:prstGeom prst="rect">
            <a:avLst/>
          </a:prstGeom>
          <a:noFill/>
        </p:spPr>
        <p:txBody>
          <a:bodyPr wrap="square" lIns="0" rIns="0" tIns="0" bIns="0">
            <a:spAutoFit/>
          </a:bodyPr>
          <a:lstStyle/>
          <a:p>
            <a:pPr>
              <a:lnSpc>
                <a:spcPct val="132000"/>
              </a:lnSpc>
            </a:pPr>
            <a:r>
              <a:rPr sz="1150" b="0">
                <a:solidFill>
                  <a:srgbClr val="5D6675"/>
                </a:solidFill>
                <a:latin typeface="Arial"/>
              </a:rPr>
              <a:t>Calendriers alignés, conversion en dirhams au taux officiel Bank Al-Maghrib, contrôles de cohérence.</a:t>
            </a:r>
          </a:p>
        </p:txBody>
      </p:sp>
      <p:sp>
        <p:nvSpPr>
          <p:cNvPr id="13" name="Rounded Rectangle 12"/>
          <p:cNvSpPr/>
          <p:nvPr/>
        </p:nvSpPr>
        <p:spPr>
          <a:xfrm>
            <a:off x="8026400" y="1574800"/>
            <a:ext cx="3556000" cy="21336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55000" y="1803400"/>
            <a:ext cx="431800" cy="38100"/>
          </a:xfrm>
          <a:prstGeom prst="rect">
            <a:avLst/>
          </a:prstGeom>
          <a:solidFill>
            <a:srgbClr val="2F7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5000" y="1981200"/>
            <a:ext cx="3098800" cy="279400"/>
          </a:xfrm>
          <a:prstGeom prst="rect">
            <a:avLst/>
          </a:prstGeom>
          <a:noFill/>
        </p:spPr>
        <p:txBody>
          <a:bodyPr wrap="square" lIns="0" rIns="0" tIns="0" bIns="0">
            <a:spAutoFit/>
          </a:bodyPr>
          <a:lstStyle/>
          <a:p>
            <a:r>
              <a:rPr sz="1300" b="1">
                <a:solidFill>
                  <a:srgbClr val="2F7D3B"/>
                </a:solidFill>
                <a:latin typeface="Arial"/>
              </a:rPr>
              <a:t>Gold</a:t>
            </a:r>
          </a:p>
        </p:txBody>
      </p:sp>
      <p:sp>
        <p:nvSpPr>
          <p:cNvPr id="16" name="TextBox 15"/>
          <p:cNvSpPr txBox="1"/>
          <p:nvPr/>
        </p:nvSpPr>
        <p:spPr>
          <a:xfrm>
            <a:off x="8255000" y="2311400"/>
            <a:ext cx="3098800" cy="1193800"/>
          </a:xfrm>
          <a:prstGeom prst="rect">
            <a:avLst/>
          </a:prstGeom>
          <a:noFill/>
        </p:spPr>
        <p:txBody>
          <a:bodyPr wrap="square" lIns="0" rIns="0" tIns="0" bIns="0">
            <a:spAutoFit/>
          </a:bodyPr>
          <a:lstStyle/>
          <a:p>
            <a:pPr>
              <a:lnSpc>
                <a:spcPct val="132000"/>
              </a:lnSpc>
            </a:pPr>
            <a:r>
              <a:rPr sz="1150" b="0">
                <a:solidFill>
                  <a:srgbClr val="5D6675"/>
                </a:solidFill>
                <a:latin typeface="Arial"/>
              </a:rPr>
              <a:t>Rendements, indicateurs et preuves : la seule couche que les modèles et le rapport ont le droit de lire.</a:t>
            </a:r>
          </a:p>
        </p:txBody>
      </p:sp>
      <p:sp>
        <p:nvSpPr>
          <p:cNvPr id="17" name="TextBox 16"/>
          <p:cNvSpPr txBox="1"/>
          <p:nvPr/>
        </p:nvSpPr>
        <p:spPr>
          <a:xfrm>
            <a:off x="609600" y="4013200"/>
            <a:ext cx="10972800" cy="254000"/>
          </a:xfrm>
          <a:prstGeom prst="rect">
            <a:avLst/>
          </a:prstGeom>
          <a:noFill/>
        </p:spPr>
        <p:txBody>
          <a:bodyPr wrap="square" lIns="0" rIns="0" tIns="0" bIns="0">
            <a:spAutoFit/>
          </a:bodyPr>
          <a:lstStyle/>
          <a:p>
            <a:r>
              <a:rPr sz="1000" b="1">
                <a:solidFill>
                  <a:srgbClr val="3D8DFF"/>
                </a:solidFill>
                <a:latin typeface="Arial"/>
              </a:rPr>
              <a:t>CE QUE CELA ÉVITE CONCRÈTEMENT</a:t>
            </a:r>
          </a:p>
        </p:txBody>
      </p:sp>
      <p:sp>
        <p:nvSpPr>
          <p:cNvPr id="18" name="Rounded Rectangle 17"/>
          <p:cNvSpPr/>
          <p:nvPr/>
        </p:nvSpPr>
        <p:spPr>
          <a:xfrm>
            <a:off x="609600" y="4368800"/>
            <a:ext cx="5334000" cy="1676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3600" y="4622800"/>
            <a:ext cx="4826000" cy="279400"/>
          </a:xfrm>
          <a:prstGeom prst="rect">
            <a:avLst/>
          </a:prstGeom>
          <a:noFill/>
        </p:spPr>
        <p:txBody>
          <a:bodyPr wrap="square" lIns="0" rIns="0" tIns="0" bIns="0">
            <a:spAutoFit/>
          </a:bodyPr>
          <a:lstStyle/>
          <a:p>
            <a:r>
              <a:rPr sz="1300" b="1">
                <a:solidFill>
                  <a:srgbClr val="B7433E"/>
                </a:solidFill>
                <a:latin typeface="Arial"/>
              </a:rPr>
              <a:t>Le biais de dividende</a:t>
            </a:r>
          </a:p>
        </p:txBody>
      </p:sp>
      <p:sp>
        <p:nvSpPr>
          <p:cNvPr id="20" name="TextBox 19"/>
          <p:cNvSpPr txBox="1"/>
          <p:nvPr/>
        </p:nvSpPr>
        <p:spPr>
          <a:xfrm>
            <a:off x="863600" y="4978400"/>
            <a:ext cx="4826000" cy="939800"/>
          </a:xfrm>
          <a:prstGeom prst="rect">
            <a:avLst/>
          </a:prstGeom>
          <a:noFill/>
        </p:spPr>
        <p:txBody>
          <a:bodyPr wrap="square" lIns="0" rIns="0" tIns="0" bIns="0">
            <a:spAutoFit/>
          </a:bodyPr>
          <a:lstStyle/>
          <a:p>
            <a:pPr>
              <a:lnSpc>
                <a:spcPct val="132000"/>
              </a:lnSpc>
            </a:pPr>
            <a:r>
              <a:rPr sz="1150" b="0">
                <a:solidFill>
                  <a:srgbClr val="5D6675"/>
                </a:solidFill>
                <a:latin typeface="Arial"/>
              </a:rPr>
              <a:t>Les dividendes des actions BVC sont réintégrés à leur date de détachement : ignorer cela sous-estime la performance réelle.</a:t>
            </a:r>
          </a:p>
        </p:txBody>
      </p:sp>
      <p:sp>
        <p:nvSpPr>
          <p:cNvPr id="21" name="Rounded Rectangle 20"/>
          <p:cNvSpPr/>
          <p:nvPr/>
        </p:nvSpPr>
        <p:spPr>
          <a:xfrm>
            <a:off x="6248400" y="4368800"/>
            <a:ext cx="5334000" cy="1676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02400" y="4622800"/>
            <a:ext cx="4826000" cy="279400"/>
          </a:xfrm>
          <a:prstGeom prst="rect">
            <a:avLst/>
          </a:prstGeom>
          <a:noFill/>
        </p:spPr>
        <p:txBody>
          <a:bodyPr wrap="square" lIns="0" rIns="0" tIns="0" bIns="0">
            <a:spAutoFit/>
          </a:bodyPr>
          <a:lstStyle/>
          <a:p>
            <a:r>
              <a:rPr sz="1300" b="1">
                <a:solidFill>
                  <a:srgbClr val="B7433E"/>
                </a:solidFill>
                <a:latin typeface="Arial"/>
              </a:rPr>
              <a:t>Le piège de la devise</a:t>
            </a:r>
          </a:p>
        </p:txBody>
      </p:sp>
      <p:sp>
        <p:nvSpPr>
          <p:cNvPr id="23" name="TextBox 22"/>
          <p:cNvSpPr txBox="1"/>
          <p:nvPr/>
        </p:nvSpPr>
        <p:spPr>
          <a:xfrm>
            <a:off x="6502400" y="4978400"/>
            <a:ext cx="4826000" cy="939800"/>
          </a:xfrm>
          <a:prstGeom prst="rect">
            <a:avLst/>
          </a:prstGeom>
          <a:noFill/>
        </p:spPr>
        <p:txBody>
          <a:bodyPr wrap="square" lIns="0" rIns="0" tIns="0" bIns="0">
            <a:spAutoFit/>
          </a:bodyPr>
          <a:lstStyle/>
          <a:p>
            <a:pPr>
              <a:lnSpc>
                <a:spcPct val="132000"/>
              </a:lnSpc>
            </a:pPr>
            <a:r>
              <a:rPr sz="1150" b="0">
                <a:solidFill>
                  <a:srgbClr val="5D6675"/>
                </a:solidFill>
                <a:latin typeface="Arial"/>
              </a:rPr>
              <a:t>Un ETF coté en dollars n’est pas comparable à une action cotée en dirhams. Tout est ramené à une seule monnaie, au taux officiel.</a:t>
            </a:r>
          </a:p>
        </p:txBody>
      </p:sp>
      <p:sp>
        <p:nvSpPr>
          <p:cNvPr id="24" name="TextBox 23"/>
          <p:cNvSpPr txBox="1"/>
          <p:nvPr/>
        </p:nvSpPr>
        <p:spPr>
          <a:xfrm>
            <a:off x="609600" y="6223000"/>
            <a:ext cx="10972800" cy="381000"/>
          </a:xfrm>
          <a:prstGeom prst="rect">
            <a:avLst/>
          </a:prstGeom>
          <a:noFill/>
        </p:spPr>
        <p:txBody>
          <a:bodyPr wrap="square" lIns="0" rIns="0" tIns="0" bIns="0">
            <a:spAutoFit/>
          </a:bodyPr>
          <a:lstStyle/>
          <a:p>
            <a:pPr>
              <a:lnSpc>
                <a:spcPct val="125000"/>
              </a:lnSpc>
            </a:pPr>
            <a:r>
              <a:rPr sz="1100" b="0">
                <a:solidFill>
                  <a:srgbClr val="5D6675"/>
                </a:solidFill>
                <a:latin typeface="Arial"/>
              </a:rPr>
              <a:t>Ces deux corrections ont changé les résultats publiés. Elles ont été appliquées malgré cela — c’est le prix d’un chiffre auquel on peut se fier.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NOTRE RÉPONSE · LES MODÈLES</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La complexité est ajoutée par paliers, jamais d’un bloc</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13</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Chaque étage doit prouver qu’il améliore l’étage précédent, sinon il reste expérimental.</a:t>
            </a:r>
          </a:p>
        </p:txBody>
      </p:sp>
      <p:pic>
        <p:nvPicPr>
          <p:cNvPr id="6" name="Picture 5" descr="escalier_modeles.png"/>
          <p:cNvPicPr>
            <a:picLocks noChangeAspect="1"/>
          </p:cNvPicPr>
          <p:nvPr/>
        </p:nvPicPr>
        <p:blipFill>
          <a:blip r:embed="rId2"/>
          <a:stretch>
            <a:fillRect/>
          </a:stretch>
        </p:blipFill>
        <p:spPr>
          <a:xfrm>
            <a:off x="1100666" y="1498600"/>
            <a:ext cx="9990666" cy="4191000"/>
          </a:xfrm>
          <a:prstGeom prst="rect">
            <a:avLst/>
          </a:prstGeom>
        </p:spPr>
      </p:pic>
      <p:sp>
        <p:nvSpPr>
          <p:cNvPr id="7" name="Rounded Rectangle 6"/>
          <p:cNvSpPr/>
          <p:nvPr/>
        </p:nvSpPr>
        <p:spPr>
          <a:xfrm>
            <a:off x="609600" y="5791200"/>
            <a:ext cx="10972800" cy="711200"/>
          </a:xfrm>
          <a:prstGeom prst="roundRect">
            <a:avLst>
              <a:gd name="adj" fmla="val 3000"/>
            </a:avLst>
          </a:prstGeom>
          <a:solidFill>
            <a:srgbClr val="FFF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9000" y="5969000"/>
            <a:ext cx="10414000" cy="508000"/>
          </a:xfrm>
          <a:prstGeom prst="rect">
            <a:avLst/>
          </a:prstGeom>
          <a:noFill/>
        </p:spPr>
        <p:txBody>
          <a:bodyPr wrap="square" lIns="0" rIns="0" tIns="0" bIns="0">
            <a:spAutoFit/>
          </a:bodyPr>
          <a:lstStyle/>
          <a:p>
            <a:pPr>
              <a:lnSpc>
                <a:spcPct val="125000"/>
              </a:lnSpc>
            </a:pPr>
            <a:r>
              <a:rPr sz="1250" b="1">
                <a:solidFill>
                  <a:srgbClr val="111827"/>
                </a:solidFill>
                <a:latin typeface="Arial"/>
              </a:rPr>
              <a:t>Le cœur du système : un modèle de régimes (HMM) qui reconnaît, sans supervision, si le marché est calme ou sous tension — et change de posture.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NOTRE RÉPONSE · L’ÉPREUVE</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Rejouer l’histoire sans jamais connaître la suite</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14</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Le modèle est réentraîné à chaque décision, avec les seules données disponibles ce jour-là.</a:t>
            </a:r>
          </a:p>
        </p:txBody>
      </p:sp>
      <p:pic>
        <p:nvPicPr>
          <p:cNvPr id="6" name="Picture 5" descr="walkforward.png"/>
          <p:cNvPicPr>
            <a:picLocks noChangeAspect="1"/>
          </p:cNvPicPr>
          <p:nvPr/>
        </p:nvPicPr>
        <p:blipFill>
          <a:blip r:embed="rId2"/>
          <a:stretch>
            <a:fillRect/>
          </a:stretch>
        </p:blipFill>
        <p:spPr>
          <a:xfrm>
            <a:off x="609600" y="1462808"/>
            <a:ext cx="7569200" cy="4338783"/>
          </a:xfrm>
          <a:prstGeom prst="rect">
            <a:avLst/>
          </a:prstGeom>
        </p:spPr>
      </p:pic>
      <p:sp>
        <p:nvSpPr>
          <p:cNvPr id="7" name="Rounded Rectangle 6"/>
          <p:cNvSpPr/>
          <p:nvPr/>
        </p:nvSpPr>
        <p:spPr>
          <a:xfrm>
            <a:off x="8483600" y="1574800"/>
            <a:ext cx="3098800" cy="1549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12200" y="1803400"/>
            <a:ext cx="431800" cy="38100"/>
          </a:xfrm>
          <a:prstGeom prst="rect">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12200" y="1981200"/>
            <a:ext cx="2641600" cy="279400"/>
          </a:xfrm>
          <a:prstGeom prst="rect">
            <a:avLst/>
          </a:prstGeom>
          <a:noFill/>
        </p:spPr>
        <p:txBody>
          <a:bodyPr wrap="square" lIns="0" rIns="0" tIns="0" bIns="0">
            <a:spAutoFit/>
          </a:bodyPr>
          <a:lstStyle/>
          <a:p>
            <a:r>
              <a:rPr sz="1300" b="1">
                <a:solidFill>
                  <a:srgbClr val="1B3A6B"/>
                </a:solidFill>
                <a:latin typeface="Arial"/>
              </a:rPr>
              <a:t>Purge et embargo</a:t>
            </a:r>
          </a:p>
        </p:txBody>
      </p:sp>
      <p:sp>
        <p:nvSpPr>
          <p:cNvPr id="10" name="TextBox 9"/>
          <p:cNvSpPr txBox="1"/>
          <p:nvPr/>
        </p:nvSpPr>
        <p:spPr>
          <a:xfrm>
            <a:off x="8712200" y="2311400"/>
            <a:ext cx="2641600" cy="609600"/>
          </a:xfrm>
          <a:prstGeom prst="rect">
            <a:avLst/>
          </a:prstGeom>
          <a:noFill/>
        </p:spPr>
        <p:txBody>
          <a:bodyPr wrap="square" lIns="0" rIns="0" tIns="0" bIns="0">
            <a:spAutoFit/>
          </a:bodyPr>
          <a:lstStyle/>
          <a:p>
            <a:pPr>
              <a:lnSpc>
                <a:spcPct val="132000"/>
              </a:lnSpc>
            </a:pPr>
            <a:r>
              <a:rPr sz="1100" b="0">
                <a:solidFill>
                  <a:srgbClr val="5D6675"/>
                </a:solidFill>
                <a:latin typeface="Arial"/>
              </a:rPr>
              <a:t>On écarte les jours à cheval sur la frontière pour qu’aucune information ne fuite.</a:t>
            </a:r>
          </a:p>
        </p:txBody>
      </p:sp>
      <p:sp>
        <p:nvSpPr>
          <p:cNvPr id="11" name="Rounded Rectangle 10"/>
          <p:cNvSpPr/>
          <p:nvPr/>
        </p:nvSpPr>
        <p:spPr>
          <a:xfrm>
            <a:off x="8483600" y="3276600"/>
            <a:ext cx="3098800" cy="1422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712200" y="3505200"/>
            <a:ext cx="43180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12200" y="3683000"/>
            <a:ext cx="2641600" cy="279400"/>
          </a:xfrm>
          <a:prstGeom prst="rect">
            <a:avLst/>
          </a:prstGeom>
          <a:noFill/>
        </p:spPr>
        <p:txBody>
          <a:bodyPr wrap="square" lIns="0" rIns="0" tIns="0" bIns="0">
            <a:spAutoFit/>
          </a:bodyPr>
          <a:lstStyle/>
          <a:p>
            <a:r>
              <a:rPr sz="1300" b="1">
                <a:solidFill>
                  <a:srgbClr val="0F766E"/>
                </a:solidFill>
                <a:latin typeface="Arial"/>
              </a:rPr>
              <a:t>Test final gelé</a:t>
            </a:r>
          </a:p>
        </p:txBody>
      </p:sp>
      <p:sp>
        <p:nvSpPr>
          <p:cNvPr id="14" name="TextBox 13"/>
          <p:cNvSpPr txBox="1"/>
          <p:nvPr/>
        </p:nvSpPr>
        <p:spPr>
          <a:xfrm>
            <a:off x="8712200" y="4013200"/>
            <a:ext cx="2641600" cy="482600"/>
          </a:xfrm>
          <a:prstGeom prst="rect">
            <a:avLst/>
          </a:prstGeom>
          <a:noFill/>
        </p:spPr>
        <p:txBody>
          <a:bodyPr wrap="square" lIns="0" rIns="0" tIns="0" bIns="0">
            <a:spAutoFit/>
          </a:bodyPr>
          <a:lstStyle/>
          <a:p>
            <a:pPr>
              <a:lnSpc>
                <a:spcPct val="132000"/>
              </a:lnSpc>
            </a:pPr>
            <a:r>
              <a:rPr sz="1100" b="0">
                <a:solidFill>
                  <a:srgbClr val="5D6675"/>
                </a:solidFill>
                <a:latin typeface="Arial"/>
              </a:rPr>
              <a:t>La dernière période reste intouchée jusqu’à la comparaison finale.</a:t>
            </a:r>
          </a:p>
        </p:txBody>
      </p:sp>
      <p:sp>
        <p:nvSpPr>
          <p:cNvPr id="15" name="Rounded Rectangle 14"/>
          <p:cNvSpPr/>
          <p:nvPr/>
        </p:nvSpPr>
        <p:spPr>
          <a:xfrm>
            <a:off x="8483600" y="4851400"/>
            <a:ext cx="3098800" cy="1422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712200" y="5080000"/>
            <a:ext cx="431800" cy="38100"/>
          </a:xfrm>
          <a:prstGeom prst="rect">
            <a:avLst/>
          </a:prstGeom>
          <a:solidFill>
            <a:srgbClr val="A868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12200" y="5257800"/>
            <a:ext cx="2641600" cy="279400"/>
          </a:xfrm>
          <a:prstGeom prst="rect">
            <a:avLst/>
          </a:prstGeom>
          <a:noFill/>
        </p:spPr>
        <p:txBody>
          <a:bodyPr wrap="square" lIns="0" rIns="0" tIns="0" bIns="0">
            <a:spAutoFit/>
          </a:bodyPr>
          <a:lstStyle/>
          <a:p>
            <a:r>
              <a:rPr sz="1300" b="1">
                <a:solidFill>
                  <a:srgbClr val="A86812"/>
                </a:solidFill>
                <a:latin typeface="Arial"/>
              </a:rPr>
              <a:t>Frais déduits</a:t>
            </a:r>
          </a:p>
        </p:txBody>
      </p:sp>
      <p:sp>
        <p:nvSpPr>
          <p:cNvPr id="18" name="TextBox 17"/>
          <p:cNvSpPr txBox="1"/>
          <p:nvPr/>
        </p:nvSpPr>
        <p:spPr>
          <a:xfrm>
            <a:off x="8712200" y="5588000"/>
            <a:ext cx="2641600" cy="482600"/>
          </a:xfrm>
          <a:prstGeom prst="rect">
            <a:avLst/>
          </a:prstGeom>
          <a:noFill/>
        </p:spPr>
        <p:txBody>
          <a:bodyPr wrap="square" lIns="0" rIns="0" tIns="0" bIns="0">
            <a:spAutoFit/>
          </a:bodyPr>
          <a:lstStyle/>
          <a:p>
            <a:pPr>
              <a:lnSpc>
                <a:spcPct val="132000"/>
              </a:lnSpc>
            </a:pPr>
            <a:r>
              <a:rPr sz="1100" b="0">
                <a:solidFill>
                  <a:srgbClr val="5D6675"/>
                </a:solidFill>
                <a:latin typeface="Arial"/>
              </a:rPr>
              <a:t>Chaque mouvement de portefeuille est facturé avant d’être compté.</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NOTRE RÉPONSE · LES GARDE-FOUS</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Trois verrous entre un bon chiffre et une affirmation</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15</a:t>
            </a:r>
          </a:p>
        </p:txBody>
      </p:sp>
      <p:sp>
        <p:nvSpPr>
          <p:cNvPr id="5" name="Rounded Rectangle 4"/>
          <p:cNvSpPr/>
          <p:nvPr/>
        </p:nvSpPr>
        <p:spPr>
          <a:xfrm>
            <a:off x="609600" y="1625600"/>
            <a:ext cx="3556000" cy="2667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38200" y="1854200"/>
            <a:ext cx="431800" cy="38100"/>
          </a:xfrm>
          <a:prstGeom prst="rect">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2032000"/>
            <a:ext cx="3098800" cy="279400"/>
          </a:xfrm>
          <a:prstGeom prst="rect">
            <a:avLst/>
          </a:prstGeom>
          <a:noFill/>
        </p:spPr>
        <p:txBody>
          <a:bodyPr wrap="square" lIns="0" rIns="0" tIns="0" bIns="0">
            <a:spAutoFit/>
          </a:bodyPr>
          <a:lstStyle/>
          <a:p>
            <a:r>
              <a:rPr sz="1300" b="1">
                <a:solidFill>
                  <a:srgbClr val="1B3A6B"/>
                </a:solidFill>
                <a:latin typeface="Arial"/>
              </a:rPr>
              <a:t>1 · Comparaison appariée</a:t>
            </a:r>
          </a:p>
        </p:txBody>
      </p:sp>
      <p:sp>
        <p:nvSpPr>
          <p:cNvPr id="8" name="TextBox 7"/>
          <p:cNvSpPr txBox="1"/>
          <p:nvPr/>
        </p:nvSpPr>
        <p:spPr>
          <a:xfrm>
            <a:off x="838200" y="2362200"/>
            <a:ext cx="3098800" cy="1727200"/>
          </a:xfrm>
          <a:prstGeom prst="rect">
            <a:avLst/>
          </a:prstGeom>
          <a:noFill/>
        </p:spPr>
        <p:txBody>
          <a:bodyPr wrap="square" lIns="0" rIns="0" tIns="0" bIns="0">
            <a:spAutoFit/>
          </a:bodyPr>
          <a:lstStyle/>
          <a:p>
            <a:pPr>
              <a:lnSpc>
                <a:spcPct val="132000"/>
              </a:lnSpc>
            </a:pPr>
            <a:r>
              <a:rPr sz="1150" b="0">
                <a:solidFill>
                  <a:srgbClr val="5D6675"/>
                </a:solidFill>
                <a:latin typeface="Arial"/>
              </a:rPr>
              <a:t>Les deux stratégies sont comparées jour par jour, sur exactement les mêmes dates. Un intervalle de confiance accompagne chaque écart.</a:t>
            </a:r>
          </a:p>
        </p:txBody>
      </p:sp>
      <p:sp>
        <p:nvSpPr>
          <p:cNvPr id="9" name="Rounded Rectangle 8"/>
          <p:cNvSpPr/>
          <p:nvPr/>
        </p:nvSpPr>
        <p:spPr>
          <a:xfrm>
            <a:off x="4318000" y="1625600"/>
            <a:ext cx="3556000" cy="2667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46600" y="1854200"/>
            <a:ext cx="431800" cy="38100"/>
          </a:xfrm>
          <a:prstGeom prst="rect">
            <a:avLst/>
          </a:prstGeom>
          <a:solidFill>
            <a:srgbClr val="B743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6600" y="2032000"/>
            <a:ext cx="3098800" cy="279400"/>
          </a:xfrm>
          <a:prstGeom prst="rect">
            <a:avLst/>
          </a:prstGeom>
          <a:noFill/>
        </p:spPr>
        <p:txBody>
          <a:bodyPr wrap="square" lIns="0" rIns="0" tIns="0" bIns="0">
            <a:spAutoFit/>
          </a:bodyPr>
          <a:lstStyle/>
          <a:p>
            <a:r>
              <a:rPr sz="1300" b="1">
                <a:solidFill>
                  <a:srgbClr val="B7433E"/>
                </a:solidFill>
                <a:latin typeface="Arial"/>
              </a:rPr>
              <a:t>2 · Correction du data snooping</a:t>
            </a:r>
          </a:p>
        </p:txBody>
      </p:sp>
      <p:sp>
        <p:nvSpPr>
          <p:cNvPr id="12" name="TextBox 11"/>
          <p:cNvSpPr txBox="1"/>
          <p:nvPr/>
        </p:nvSpPr>
        <p:spPr>
          <a:xfrm>
            <a:off x="4546600" y="2362200"/>
            <a:ext cx="3098800" cy="1727200"/>
          </a:xfrm>
          <a:prstGeom prst="rect">
            <a:avLst/>
          </a:prstGeom>
          <a:noFill/>
        </p:spPr>
        <p:txBody>
          <a:bodyPr wrap="square" lIns="0" rIns="0" tIns="0" bIns="0">
            <a:spAutoFit/>
          </a:bodyPr>
          <a:lstStyle/>
          <a:p>
            <a:pPr>
              <a:lnSpc>
                <a:spcPct val="132000"/>
              </a:lnSpc>
            </a:pPr>
            <a:r>
              <a:rPr sz="1150" b="0">
                <a:solidFill>
                  <a:srgbClr val="5D6675"/>
                </a:solidFill>
                <a:latin typeface="Arial"/>
              </a:rPr>
              <a:t>White Reality Check et Hansen SPA corrigent le fait d’avoir essayé 240 configurations. La liste a été figée avant le premier calcul.</a:t>
            </a:r>
          </a:p>
        </p:txBody>
      </p:sp>
      <p:sp>
        <p:nvSpPr>
          <p:cNvPr id="13" name="Rounded Rectangle 12"/>
          <p:cNvSpPr/>
          <p:nvPr/>
        </p:nvSpPr>
        <p:spPr>
          <a:xfrm>
            <a:off x="8026400" y="1625600"/>
            <a:ext cx="3556000" cy="2667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55000" y="1854200"/>
            <a:ext cx="43180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5000" y="2032000"/>
            <a:ext cx="3098800" cy="279400"/>
          </a:xfrm>
          <a:prstGeom prst="rect">
            <a:avLst/>
          </a:prstGeom>
          <a:noFill/>
        </p:spPr>
        <p:txBody>
          <a:bodyPr wrap="square" lIns="0" rIns="0" tIns="0" bIns="0">
            <a:spAutoFit/>
          </a:bodyPr>
          <a:lstStyle/>
          <a:p>
            <a:r>
              <a:rPr sz="1300" b="1">
                <a:solidFill>
                  <a:srgbClr val="0F766E"/>
                </a:solidFill>
                <a:latin typeface="Arial"/>
              </a:rPr>
              <a:t>3 · Comparateur pré-spécifié</a:t>
            </a:r>
          </a:p>
        </p:txBody>
      </p:sp>
      <p:sp>
        <p:nvSpPr>
          <p:cNvPr id="16" name="TextBox 15"/>
          <p:cNvSpPr txBox="1"/>
          <p:nvPr/>
        </p:nvSpPr>
        <p:spPr>
          <a:xfrm>
            <a:off x="8255000" y="2362200"/>
            <a:ext cx="3098800" cy="1727200"/>
          </a:xfrm>
          <a:prstGeom prst="rect">
            <a:avLst/>
          </a:prstGeom>
          <a:noFill/>
        </p:spPr>
        <p:txBody>
          <a:bodyPr wrap="square" lIns="0" rIns="0" tIns="0" bIns="0">
            <a:spAutoFit/>
          </a:bodyPr>
          <a:lstStyle/>
          <a:p>
            <a:pPr>
              <a:lnSpc>
                <a:spcPct val="132000"/>
              </a:lnSpc>
            </a:pPr>
            <a:r>
              <a:rPr sz="1150" b="0">
                <a:solidFill>
                  <a:srgbClr val="5D6675"/>
                </a:solidFill>
                <a:latin typeface="Arial"/>
              </a:rPr>
              <a:t>La référence à battre est choisie à l’avance et jamais réécrite après avoir vu les résultats.</a:t>
            </a:r>
          </a:p>
        </p:txBody>
      </p:sp>
      <p:sp>
        <p:nvSpPr>
          <p:cNvPr id="17" name="Rounded Rectangle 16"/>
          <p:cNvSpPr/>
          <p:nvPr/>
        </p:nvSpPr>
        <p:spPr>
          <a:xfrm>
            <a:off x="609600" y="4521200"/>
            <a:ext cx="10972800" cy="1219200"/>
          </a:xfrm>
          <a:prstGeom prst="roundRect">
            <a:avLst>
              <a:gd name="adj" fmla="val 3000"/>
            </a:avLst>
          </a:prstGeom>
          <a:solidFill>
            <a:srgbClr val="FFF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9000" y="4749800"/>
            <a:ext cx="10363200" cy="304800"/>
          </a:xfrm>
          <a:prstGeom prst="rect">
            <a:avLst/>
          </a:prstGeom>
          <a:noFill/>
        </p:spPr>
        <p:txBody>
          <a:bodyPr wrap="square" lIns="0" rIns="0" tIns="0" bIns="0">
            <a:spAutoFit/>
          </a:bodyPr>
          <a:lstStyle/>
          <a:p>
            <a:r>
              <a:rPr sz="1100" b="1">
                <a:solidFill>
                  <a:srgbClr val="A86812"/>
                </a:solidFill>
                <a:latin typeface="Arial"/>
              </a:rPr>
              <a:t>Pourquoi cela compte pour un jury</a:t>
            </a:r>
          </a:p>
        </p:txBody>
      </p:sp>
      <p:sp>
        <p:nvSpPr>
          <p:cNvPr id="19" name="TextBox 18"/>
          <p:cNvSpPr txBox="1"/>
          <p:nvPr/>
        </p:nvSpPr>
        <p:spPr>
          <a:xfrm>
            <a:off x="889000" y="5080000"/>
            <a:ext cx="10363200" cy="584200"/>
          </a:xfrm>
          <a:prstGeom prst="rect">
            <a:avLst/>
          </a:prstGeom>
          <a:noFill/>
        </p:spPr>
        <p:txBody>
          <a:bodyPr wrap="square" lIns="0" rIns="0" tIns="0" bIns="0">
            <a:spAutoFit/>
          </a:bodyPr>
          <a:lstStyle/>
          <a:p>
            <a:pPr>
              <a:lnSpc>
                <a:spcPct val="130000"/>
              </a:lnSpc>
            </a:pPr>
            <a:r>
              <a:rPr sz="1250" b="1">
                <a:solidFill>
                  <a:srgbClr val="111827"/>
                </a:solidFill>
                <a:latin typeface="Arial"/>
              </a:rPr>
              <a:t>Sans ces trois verrous, n’importe quelle équipe peut produire une courbe qui monte. Avec eux, un résultat annoncé devient vérifiable — et réfutable.</a:t>
            </a:r>
          </a:p>
        </p:txBody>
      </p:sp>
      <p:sp>
        <p:nvSpPr>
          <p:cNvPr id="20" name="TextBox 19"/>
          <p:cNvSpPr txBox="1"/>
          <p:nvPr/>
        </p:nvSpPr>
        <p:spPr>
          <a:xfrm>
            <a:off x="609600" y="5969000"/>
            <a:ext cx="10972800" cy="381000"/>
          </a:xfrm>
          <a:prstGeom prst="rect">
            <a:avLst/>
          </a:prstGeom>
          <a:noFill/>
        </p:spPr>
        <p:txBody>
          <a:bodyPr wrap="square" lIns="0" rIns="0" tIns="0" bIns="0">
            <a:spAutoFit/>
          </a:bodyPr>
          <a:lstStyle/>
          <a:p>
            <a:pPr>
              <a:lnSpc>
                <a:spcPct val="125000"/>
              </a:lnSpc>
            </a:pPr>
            <a:r>
              <a:rPr sz="1100" b="0">
                <a:solidFill>
                  <a:srgbClr val="5D6675"/>
                </a:solidFill>
                <a:latin typeface="Arial"/>
              </a:rPr>
              <a:t>L’ensemble est rejouable : les données sont versionnées, le pipeline est décrit étape par étape, et 891 tests automatisés gardent les invariants.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RÉSULTATS</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Hors échantillon et net de frais, le système tient la distance</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16</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Deux terrains évalués séparément : quatre ans au Maroc, vingt ans à l’international — 2008, 2020 et 2022 compris.</a:t>
            </a:r>
          </a:p>
        </p:txBody>
      </p:sp>
      <p:pic>
        <p:nvPicPr>
          <p:cNvPr id="6" name="Picture 5" descr="courbes_equity_fr.png"/>
          <p:cNvPicPr>
            <a:picLocks noChangeAspect="1"/>
          </p:cNvPicPr>
          <p:nvPr/>
        </p:nvPicPr>
        <p:blipFill>
          <a:blip r:embed="rId2"/>
          <a:stretch>
            <a:fillRect/>
          </a:stretch>
        </p:blipFill>
        <p:spPr>
          <a:xfrm>
            <a:off x="951955" y="1320800"/>
            <a:ext cx="10288089" cy="4622800"/>
          </a:xfrm>
          <a:prstGeom prst="rect">
            <a:avLst/>
          </a:prstGeom>
        </p:spPr>
      </p:pic>
      <p:sp>
        <p:nvSpPr>
          <p:cNvPr id="7" name="Rounded Rectangle 6"/>
          <p:cNvSpPr/>
          <p:nvPr/>
        </p:nvSpPr>
        <p:spPr>
          <a:xfrm>
            <a:off x="609600" y="6045200"/>
            <a:ext cx="10972800" cy="660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9000" y="6210300"/>
            <a:ext cx="10414000" cy="431800"/>
          </a:xfrm>
          <a:prstGeom prst="rect">
            <a:avLst/>
          </a:prstGeom>
          <a:noFill/>
        </p:spPr>
        <p:txBody>
          <a:bodyPr wrap="square" lIns="0" rIns="0" tIns="0" bIns="0">
            <a:spAutoFit/>
          </a:bodyPr>
          <a:lstStyle/>
          <a:p>
            <a:pPr>
              <a:lnSpc>
                <a:spcPct val="130000"/>
              </a:lnSpc>
            </a:pPr>
            <a:r>
              <a:rPr sz="1200" b="0">
                <a:solidFill>
                  <a:srgbClr val="5D6675"/>
                </a:solidFill>
                <a:latin typeface="Arial"/>
              </a:rPr>
              <a:t>La bande couvre les trois références classiques, du moins au mieux. Le système ML reste dedans d’un bout à l’autre, crises comprises :</a:t>
            </a:r>
          </a:p>
          <a:p>
            <a:pPr>
              <a:lnSpc>
                <a:spcPct val="130000"/>
              </a:lnSpc>
            </a:pPr>
            <a:r>
              <a:rPr sz="1200" b="0">
                <a:solidFill>
                  <a:srgbClr val="5D6675"/>
                </a:solidFill>
                <a:latin typeface="Arial"/>
              </a:rPr>
              <a:t>la question n’est donc pas « est-ce que ça marche », mais « l’écart est-il réel ou dans le bruit » — et c’est ce que la chaîne sait trancher.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RÉSULTAT · 1</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Le modèle repère les crises — sans qu’on les lui apprenne</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17</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Les cinq fenêtres de crise sont des dates externes, fixées avant d’examiner les résultats.</a:t>
            </a:r>
          </a:p>
        </p:txBody>
      </p:sp>
      <p:pic>
        <p:nvPicPr>
          <p:cNvPr id="6" name="Picture 5" descr="detection_crises_fr.png"/>
          <p:cNvPicPr>
            <a:picLocks noChangeAspect="1"/>
          </p:cNvPicPr>
          <p:nvPr/>
        </p:nvPicPr>
        <p:blipFill>
          <a:blip r:embed="rId2"/>
          <a:stretch>
            <a:fillRect/>
          </a:stretch>
        </p:blipFill>
        <p:spPr>
          <a:xfrm>
            <a:off x="609600" y="1662691"/>
            <a:ext cx="7823200" cy="3837418"/>
          </a:xfrm>
          <a:prstGeom prst="rect">
            <a:avLst/>
          </a:prstGeom>
        </p:spPr>
      </p:pic>
      <p:sp>
        <p:nvSpPr>
          <p:cNvPr id="7" name="TextBox 6"/>
          <p:cNvSpPr txBox="1"/>
          <p:nvPr/>
        </p:nvSpPr>
        <p:spPr>
          <a:xfrm>
            <a:off x="8839200" y="1676400"/>
            <a:ext cx="2743200" cy="584200"/>
          </a:xfrm>
          <a:prstGeom prst="rect">
            <a:avLst/>
          </a:prstGeom>
          <a:noFill/>
        </p:spPr>
        <p:txBody>
          <a:bodyPr wrap="square" lIns="0" rIns="0" tIns="0" bIns="0">
            <a:spAutoFit/>
          </a:bodyPr>
          <a:lstStyle/>
          <a:p>
            <a:r>
              <a:rPr sz="3000" b="1">
                <a:solidFill>
                  <a:srgbClr val="0F766E"/>
                </a:solidFill>
                <a:latin typeface="Arial"/>
              </a:rPr>
              <a:t>5 / 5</a:t>
            </a:r>
          </a:p>
        </p:txBody>
      </p:sp>
      <p:sp>
        <p:nvSpPr>
          <p:cNvPr id="8" name="TextBox 7"/>
          <p:cNvSpPr txBox="1"/>
          <p:nvPr/>
        </p:nvSpPr>
        <p:spPr>
          <a:xfrm>
            <a:off x="8839200" y="2260600"/>
            <a:ext cx="27432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crises détectées</a:t>
            </a:r>
          </a:p>
          <a:p>
            <a:pPr>
              <a:lnSpc>
                <a:spcPct val="120000"/>
              </a:lnSpc>
            </a:pPr>
            <a:r>
              <a:rPr sz="1150" b="0">
                <a:solidFill>
                  <a:srgbClr val="5D6675"/>
                </a:solidFill>
                <a:latin typeface="Arial"/>
              </a:rPr>
              <a:t>par un modèle non supervisé</a:t>
            </a:r>
          </a:p>
        </p:txBody>
      </p:sp>
      <p:sp>
        <p:nvSpPr>
          <p:cNvPr id="9" name="TextBox 8"/>
          <p:cNvSpPr txBox="1"/>
          <p:nvPr/>
        </p:nvSpPr>
        <p:spPr>
          <a:xfrm>
            <a:off x="8839200" y="3276600"/>
            <a:ext cx="2743200" cy="533400"/>
          </a:xfrm>
          <a:prstGeom prst="rect">
            <a:avLst/>
          </a:prstGeom>
          <a:noFill/>
        </p:spPr>
        <p:txBody>
          <a:bodyPr wrap="square" lIns="0" rIns="0" tIns="0" bIns="0">
            <a:spAutoFit/>
          </a:bodyPr>
          <a:lstStyle/>
          <a:p>
            <a:r>
              <a:rPr sz="2600" b="1">
                <a:solidFill>
                  <a:srgbClr val="B7433E"/>
                </a:solidFill>
                <a:latin typeface="Arial"/>
              </a:rPr>
              <a:t>91,7 %</a:t>
            </a:r>
          </a:p>
        </p:txBody>
      </p:sp>
      <p:sp>
        <p:nvSpPr>
          <p:cNvPr id="10" name="TextBox 9"/>
          <p:cNvSpPr txBox="1"/>
          <p:nvPr/>
        </p:nvSpPr>
        <p:spPr>
          <a:xfrm>
            <a:off x="8839200" y="3810000"/>
            <a:ext cx="27432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de rééquilibrages classés</a:t>
            </a:r>
          </a:p>
          <a:p>
            <a:pPr>
              <a:lnSpc>
                <a:spcPct val="120000"/>
              </a:lnSpc>
            </a:pPr>
            <a:r>
              <a:rPr sz="1150" b="0">
                <a:solidFill>
                  <a:srgbClr val="5D6675"/>
                </a:solidFill>
                <a:latin typeface="Arial"/>
              </a:rPr>
              <a:t>« tension » pendant les crises</a:t>
            </a:r>
          </a:p>
          <a:p>
            <a:pPr>
              <a:lnSpc>
                <a:spcPct val="120000"/>
              </a:lnSpc>
            </a:pPr>
            <a:r>
              <a:rPr sz="1150" b="0">
                <a:solidFill>
                  <a:srgbClr val="5D6675"/>
                </a:solidFill>
                <a:latin typeface="Arial"/>
              </a:rPr>
              <a:t>contre 29,2 % hors crise</a:t>
            </a:r>
          </a:p>
        </p:txBody>
      </p:sp>
      <p:sp>
        <p:nvSpPr>
          <p:cNvPr id="11" name="TextBox 10"/>
          <p:cNvSpPr txBox="1"/>
          <p:nvPr/>
        </p:nvSpPr>
        <p:spPr>
          <a:xfrm>
            <a:off x="8839200" y="5054600"/>
            <a:ext cx="2743200" cy="508000"/>
          </a:xfrm>
          <a:prstGeom prst="rect">
            <a:avLst/>
          </a:prstGeom>
          <a:noFill/>
        </p:spPr>
        <p:txBody>
          <a:bodyPr wrap="square" lIns="0" rIns="0" tIns="0" bIns="0">
            <a:spAutoFit/>
          </a:bodyPr>
          <a:lstStyle/>
          <a:p>
            <a:r>
              <a:rPr sz="2400" b="1">
                <a:solidFill>
                  <a:srgbClr val="1B3A6B"/>
                </a:solidFill>
                <a:latin typeface="Arial"/>
              </a:rPr>
              <a:t>p = 0,031</a:t>
            </a:r>
          </a:p>
        </p:txBody>
      </p:sp>
      <p:sp>
        <p:nvSpPr>
          <p:cNvPr id="12" name="TextBox 11"/>
          <p:cNvSpPr txBox="1"/>
          <p:nvPr/>
        </p:nvSpPr>
        <p:spPr>
          <a:xfrm>
            <a:off x="8839200" y="5562600"/>
            <a:ext cx="27432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test des signes, lecture prudente</a:t>
            </a:r>
          </a:p>
        </p:txBody>
      </p:sp>
      <p:sp>
        <p:nvSpPr>
          <p:cNvPr id="13" name="TextBox 12"/>
          <p:cNvSpPr txBox="1"/>
          <p:nvPr/>
        </p:nvSpPr>
        <p:spPr>
          <a:xfrm>
            <a:off x="609600" y="6045200"/>
            <a:ext cx="10972800" cy="381000"/>
          </a:xfrm>
          <a:prstGeom prst="rect">
            <a:avLst/>
          </a:prstGeom>
          <a:noFill/>
        </p:spPr>
        <p:txBody>
          <a:bodyPr wrap="square" lIns="0" rIns="0" tIns="0" bIns="0">
            <a:spAutoFit/>
          </a:bodyPr>
          <a:lstStyle/>
          <a:p>
            <a:pPr>
              <a:lnSpc>
                <a:spcPct val="125000"/>
              </a:lnSpc>
            </a:pPr>
            <a:r>
              <a:rPr sz="1100" b="0">
                <a:solidFill>
                  <a:srgbClr val="5D6675"/>
                </a:solidFill>
                <a:latin typeface="Arial"/>
              </a:rPr>
              <a:t>Un diagnostic exploitable : le système sait dire dans quel état de marché il pense se trouver, et cette information est lisible par un gérant.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RÉSULTAT · 2</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La contrainte de gestion vaut plus que la sophistication</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18</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Même moteur, mêmes données, mêmes frais : seule la règle « aucun actif au-delà de 25 % » change.</a:t>
            </a:r>
          </a:p>
        </p:txBody>
      </p:sp>
      <p:pic>
        <p:nvPicPr>
          <p:cNvPr id="6" name="Picture 5" descr="plafond.png"/>
          <p:cNvPicPr>
            <a:picLocks noChangeAspect="1"/>
          </p:cNvPicPr>
          <p:nvPr/>
        </p:nvPicPr>
        <p:blipFill>
          <a:blip r:embed="rId2"/>
          <a:stretch>
            <a:fillRect/>
          </a:stretch>
        </p:blipFill>
        <p:spPr>
          <a:xfrm>
            <a:off x="609600" y="1545024"/>
            <a:ext cx="7620000" cy="4098151"/>
          </a:xfrm>
          <a:prstGeom prst="rect">
            <a:avLst/>
          </a:prstGeom>
        </p:spPr>
      </p:pic>
      <p:sp>
        <p:nvSpPr>
          <p:cNvPr id="7" name="TextBox 6"/>
          <p:cNvSpPr txBox="1"/>
          <p:nvPr/>
        </p:nvSpPr>
        <p:spPr>
          <a:xfrm>
            <a:off x="8636000" y="1778000"/>
            <a:ext cx="2946400" cy="584200"/>
          </a:xfrm>
          <a:prstGeom prst="rect">
            <a:avLst/>
          </a:prstGeom>
          <a:noFill/>
        </p:spPr>
        <p:txBody>
          <a:bodyPr wrap="square" lIns="0" rIns="0" tIns="0" bIns="0">
            <a:spAutoFit/>
          </a:bodyPr>
          <a:lstStyle/>
          <a:p>
            <a:r>
              <a:rPr sz="3000" b="1">
                <a:solidFill>
                  <a:srgbClr val="0F766E"/>
                </a:solidFill>
                <a:latin typeface="Arial"/>
              </a:rPr>
              <a:t>0,9525</a:t>
            </a:r>
          </a:p>
        </p:txBody>
      </p:sp>
      <p:sp>
        <p:nvSpPr>
          <p:cNvPr id="8" name="TextBox 7"/>
          <p:cNvSpPr txBox="1"/>
          <p:nvPr/>
        </p:nvSpPr>
        <p:spPr>
          <a:xfrm>
            <a:off x="8636000" y="2362200"/>
            <a:ext cx="29464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Sharpe net avec le plafond de 25 %</a:t>
            </a:r>
          </a:p>
        </p:txBody>
      </p:sp>
      <p:sp>
        <p:nvSpPr>
          <p:cNvPr id="9" name="TextBox 8"/>
          <p:cNvSpPr txBox="1"/>
          <p:nvPr/>
        </p:nvSpPr>
        <p:spPr>
          <a:xfrm>
            <a:off x="8636000" y="3327400"/>
            <a:ext cx="2946400" cy="584200"/>
          </a:xfrm>
          <a:prstGeom prst="rect">
            <a:avLst/>
          </a:prstGeom>
          <a:noFill/>
        </p:spPr>
        <p:txBody>
          <a:bodyPr wrap="square" lIns="0" rIns="0" tIns="0" bIns="0">
            <a:spAutoFit/>
          </a:bodyPr>
          <a:lstStyle/>
          <a:p>
            <a:r>
              <a:rPr sz="3000" b="1">
                <a:solidFill>
                  <a:srgbClr val="B7433E"/>
                </a:solidFill>
                <a:latin typeface="Arial"/>
              </a:rPr>
              <a:t>0,8650</a:t>
            </a:r>
          </a:p>
        </p:txBody>
      </p:sp>
      <p:sp>
        <p:nvSpPr>
          <p:cNvPr id="10" name="TextBox 9"/>
          <p:cNvSpPr txBox="1"/>
          <p:nvPr/>
        </p:nvSpPr>
        <p:spPr>
          <a:xfrm>
            <a:off x="8636000" y="3911600"/>
            <a:ext cx="29464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Sharpe net sans plafond</a:t>
            </a:r>
          </a:p>
        </p:txBody>
      </p:sp>
      <p:sp>
        <p:nvSpPr>
          <p:cNvPr id="11" name="TextBox 10"/>
          <p:cNvSpPr txBox="1"/>
          <p:nvPr/>
        </p:nvSpPr>
        <p:spPr>
          <a:xfrm>
            <a:off x="8636000" y="4876800"/>
            <a:ext cx="2946400" cy="533400"/>
          </a:xfrm>
          <a:prstGeom prst="rect">
            <a:avLst/>
          </a:prstGeom>
          <a:noFill/>
        </p:spPr>
        <p:txBody>
          <a:bodyPr wrap="square" lIns="0" rIns="0" tIns="0" bIns="0">
            <a:spAutoFit/>
          </a:bodyPr>
          <a:lstStyle/>
          <a:p>
            <a:r>
              <a:rPr sz="2600" b="1">
                <a:solidFill>
                  <a:srgbClr val="1B3A6B"/>
                </a:solidFill>
                <a:latin typeface="Arial"/>
              </a:rPr>
              <a:t>+10,1 %</a:t>
            </a:r>
          </a:p>
        </p:txBody>
      </p:sp>
      <p:sp>
        <p:nvSpPr>
          <p:cNvPr id="12" name="TextBox 11"/>
          <p:cNvSpPr txBox="1"/>
          <p:nvPr/>
        </p:nvSpPr>
        <p:spPr>
          <a:xfrm>
            <a:off x="8636000" y="5410200"/>
            <a:ext cx="29464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d’écart : plus que tout modèle testé</a:t>
            </a:r>
          </a:p>
        </p:txBody>
      </p:sp>
      <p:sp>
        <p:nvSpPr>
          <p:cNvPr id="13" name="TextBox 12"/>
          <p:cNvSpPr txBox="1"/>
          <p:nvPr/>
        </p:nvSpPr>
        <p:spPr>
          <a:xfrm>
            <a:off x="609600" y="5969000"/>
            <a:ext cx="10972800" cy="381000"/>
          </a:xfrm>
          <a:prstGeom prst="rect">
            <a:avLst/>
          </a:prstGeom>
          <a:noFill/>
        </p:spPr>
        <p:txBody>
          <a:bodyPr wrap="square" lIns="0" rIns="0" tIns="0" bIns="0">
            <a:spAutoFit/>
          </a:bodyPr>
          <a:lstStyle/>
          <a:p>
            <a:pPr>
              <a:lnSpc>
                <a:spcPct val="125000"/>
              </a:lnSpc>
            </a:pPr>
            <a:r>
              <a:rPr sz="1100" b="0">
                <a:solidFill>
                  <a:srgbClr val="5D6675"/>
                </a:solidFill>
                <a:latin typeface="Arial"/>
              </a:rPr>
              <a:t>Lecture métier : une règle de gouvernance simple absorbe l’erreur d’estimation mieux qu’un modèle complexe. C’est un résultat directement actionnable.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RÉSULTAT · 3</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La chaîne sait refuser un résultat flatteur</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19</a:t>
            </a:r>
          </a:p>
        </p:txBody>
      </p:sp>
      <p:sp>
        <p:nvSpPr>
          <p:cNvPr id="5" name="Rounded Rectangle 4"/>
          <p:cNvSpPr/>
          <p:nvPr/>
        </p:nvSpPr>
        <p:spPr>
          <a:xfrm>
            <a:off x="609600" y="1574800"/>
            <a:ext cx="5334000" cy="2540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9000" y="1828800"/>
            <a:ext cx="4826000" cy="279400"/>
          </a:xfrm>
          <a:prstGeom prst="rect">
            <a:avLst/>
          </a:prstGeom>
          <a:noFill/>
        </p:spPr>
        <p:txBody>
          <a:bodyPr wrap="square" lIns="0" rIns="0" tIns="0" bIns="0">
            <a:spAutoFit/>
          </a:bodyPr>
          <a:lstStyle/>
          <a:p>
            <a:r>
              <a:rPr sz="1000" b="1">
                <a:solidFill>
                  <a:srgbClr val="B7433E"/>
                </a:solidFill>
                <a:latin typeface="Arial"/>
              </a:rPr>
              <a:t>CE QU’UN BACKTEST AURAIT PERMIS D’ÉCRIRE</a:t>
            </a:r>
          </a:p>
        </p:txBody>
      </p:sp>
      <p:sp>
        <p:nvSpPr>
          <p:cNvPr id="7" name="TextBox 6"/>
          <p:cNvSpPr txBox="1"/>
          <p:nvPr/>
        </p:nvSpPr>
        <p:spPr>
          <a:xfrm>
            <a:off x="889000" y="2235200"/>
            <a:ext cx="4826000" cy="685800"/>
          </a:xfrm>
          <a:prstGeom prst="rect">
            <a:avLst/>
          </a:prstGeom>
          <a:noFill/>
        </p:spPr>
        <p:txBody>
          <a:bodyPr wrap="square" lIns="0" rIns="0" tIns="0" bIns="0">
            <a:spAutoFit/>
          </a:bodyPr>
          <a:lstStyle/>
          <a:p>
            <a:pPr>
              <a:lnSpc>
                <a:spcPct val="130000"/>
              </a:lnSpc>
            </a:pPr>
            <a:r>
              <a:rPr sz="1500" b="1">
                <a:solidFill>
                  <a:srgbClr val="111827"/>
                </a:solidFill>
                <a:latin typeface="Arial"/>
              </a:rPr>
              <a:t>« Notre modèle XGBoost améliore le Sharpe de +0,093 »</a:t>
            </a:r>
          </a:p>
        </p:txBody>
      </p:sp>
      <p:sp>
        <p:nvSpPr>
          <p:cNvPr id="8" name="TextBox 7"/>
          <p:cNvSpPr txBox="1"/>
          <p:nvPr/>
        </p:nvSpPr>
        <p:spPr>
          <a:xfrm>
            <a:off x="889000" y="3098800"/>
            <a:ext cx="4826000" cy="812800"/>
          </a:xfrm>
          <a:prstGeom prst="rect">
            <a:avLst/>
          </a:prstGeom>
          <a:noFill/>
        </p:spPr>
        <p:txBody>
          <a:bodyPr wrap="square" lIns="0" rIns="0" tIns="0" bIns="0">
            <a:spAutoFit/>
          </a:bodyPr>
          <a:lstStyle/>
          <a:p>
            <a:pPr>
              <a:lnSpc>
                <a:spcPct val="132000"/>
              </a:lnSpc>
            </a:pPr>
            <a:r>
              <a:rPr sz="1150" b="0">
                <a:solidFill>
                  <a:srgbClr val="5D6675"/>
                </a:solidFill>
                <a:latin typeface="Arial"/>
              </a:rPr>
              <a:t>Vrai au sens arithmétique : c’est bien le meilleur des 240 candidats évalués.</a:t>
            </a:r>
          </a:p>
        </p:txBody>
      </p:sp>
      <p:sp>
        <p:nvSpPr>
          <p:cNvPr id="9" name="Rounded Rectangle 8"/>
          <p:cNvSpPr/>
          <p:nvPr/>
        </p:nvSpPr>
        <p:spPr>
          <a:xfrm>
            <a:off x="6248400" y="1574800"/>
            <a:ext cx="5334000" cy="2540000"/>
          </a:xfrm>
          <a:prstGeom prst="roundRect">
            <a:avLst>
              <a:gd name="adj" fmla="val 3000"/>
            </a:avLst>
          </a:prstGeom>
          <a:solidFill>
            <a:srgbClr val="FFF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27800" y="1828800"/>
            <a:ext cx="4826000" cy="279400"/>
          </a:xfrm>
          <a:prstGeom prst="rect">
            <a:avLst/>
          </a:prstGeom>
          <a:noFill/>
        </p:spPr>
        <p:txBody>
          <a:bodyPr wrap="square" lIns="0" rIns="0" tIns="0" bIns="0">
            <a:spAutoFit/>
          </a:bodyPr>
          <a:lstStyle/>
          <a:p>
            <a:r>
              <a:rPr sz="1000" b="1">
                <a:solidFill>
                  <a:srgbClr val="A86812"/>
                </a:solidFill>
                <a:latin typeface="Arial"/>
              </a:rPr>
              <a:t>CE QUE LA CHAÎNE RÉPOND</a:t>
            </a:r>
          </a:p>
        </p:txBody>
      </p:sp>
      <p:sp>
        <p:nvSpPr>
          <p:cNvPr id="11" name="TextBox 10"/>
          <p:cNvSpPr txBox="1"/>
          <p:nvPr/>
        </p:nvSpPr>
        <p:spPr>
          <a:xfrm>
            <a:off x="6527800" y="2235200"/>
            <a:ext cx="4826000" cy="685800"/>
          </a:xfrm>
          <a:prstGeom prst="rect">
            <a:avLst/>
          </a:prstGeom>
          <a:noFill/>
        </p:spPr>
        <p:txBody>
          <a:bodyPr wrap="square" lIns="0" rIns="0" tIns="0" bIns="0">
            <a:spAutoFit/>
          </a:bodyPr>
          <a:lstStyle/>
          <a:p>
            <a:pPr>
              <a:lnSpc>
                <a:spcPct val="130000"/>
              </a:lnSpc>
            </a:pPr>
            <a:r>
              <a:rPr sz="1500" b="1">
                <a:solidFill>
                  <a:srgbClr val="111827"/>
                </a:solidFill>
                <a:latin typeface="Arial"/>
              </a:rPr>
              <a:t>« C’est le maximum d’une recherche.</a:t>
            </a:r>
          </a:p>
          <a:p>
            <a:pPr>
              <a:lnSpc>
                <a:spcPct val="130000"/>
              </a:lnSpc>
            </a:pPr>
            <a:r>
              <a:rPr sz="1500" b="1">
                <a:solidFill>
                  <a:srgbClr val="111827"/>
                </a:solidFill>
                <a:latin typeface="Arial"/>
              </a:rPr>
              <a:t>Les tests ne le retiennent pas. »</a:t>
            </a:r>
          </a:p>
        </p:txBody>
      </p:sp>
      <p:sp>
        <p:nvSpPr>
          <p:cNvPr id="12" name="TextBox 11"/>
          <p:cNvSpPr txBox="1"/>
          <p:nvPr/>
        </p:nvSpPr>
        <p:spPr>
          <a:xfrm>
            <a:off x="6527800" y="3098800"/>
            <a:ext cx="4826000" cy="812800"/>
          </a:xfrm>
          <a:prstGeom prst="rect">
            <a:avLst/>
          </a:prstGeom>
          <a:noFill/>
        </p:spPr>
        <p:txBody>
          <a:bodyPr wrap="square" lIns="0" rIns="0" tIns="0" bIns="0">
            <a:spAutoFit/>
          </a:bodyPr>
          <a:lstStyle/>
          <a:p>
            <a:pPr>
              <a:lnSpc>
                <a:spcPct val="132000"/>
              </a:lnSpc>
            </a:pPr>
            <a:r>
              <a:rPr sz="1150" b="0">
                <a:solidFill>
                  <a:srgbClr val="5D6675"/>
                </a:solidFill>
                <a:latin typeface="Arial"/>
              </a:rPr>
              <a:t>White Reality Check p = 0,905 · Hansen SPA p = 0,866 · 17 candidats devançaient la référence en apparence.</a:t>
            </a:r>
          </a:p>
        </p:txBody>
      </p:sp>
      <p:sp>
        <p:nvSpPr>
          <p:cNvPr id="13" name="Rounded Rectangle 12"/>
          <p:cNvSpPr/>
          <p:nvPr/>
        </p:nvSpPr>
        <p:spPr>
          <a:xfrm>
            <a:off x="609600" y="4368800"/>
            <a:ext cx="10972800" cy="1270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9000" y="4597400"/>
            <a:ext cx="10363200" cy="279400"/>
          </a:xfrm>
          <a:prstGeom prst="rect">
            <a:avLst/>
          </a:prstGeom>
          <a:noFill/>
        </p:spPr>
        <p:txBody>
          <a:bodyPr wrap="square" lIns="0" rIns="0" tIns="0" bIns="0">
            <a:spAutoFit/>
          </a:bodyPr>
          <a:lstStyle/>
          <a:p>
            <a:r>
              <a:rPr sz="1000" b="1">
                <a:solidFill>
                  <a:srgbClr val="3D8DFF"/>
                </a:solidFill>
                <a:latin typeface="Arial"/>
              </a:rPr>
              <a:t>POURQUOI C’EST LA CONTRIBUTION LA PLUS UTILE</a:t>
            </a:r>
          </a:p>
        </p:txBody>
      </p:sp>
      <p:sp>
        <p:nvSpPr>
          <p:cNvPr id="15" name="TextBox 14"/>
          <p:cNvSpPr txBox="1"/>
          <p:nvPr/>
        </p:nvSpPr>
        <p:spPr>
          <a:xfrm>
            <a:off x="889000" y="4953000"/>
            <a:ext cx="10363200" cy="584200"/>
          </a:xfrm>
          <a:prstGeom prst="rect">
            <a:avLst/>
          </a:prstGeom>
          <a:noFill/>
        </p:spPr>
        <p:txBody>
          <a:bodyPr wrap="square" lIns="0" rIns="0" tIns="0" bIns="0">
            <a:spAutoFit/>
          </a:bodyPr>
          <a:lstStyle/>
          <a:p>
            <a:pPr>
              <a:lnSpc>
                <a:spcPct val="130000"/>
              </a:lnSpc>
            </a:pPr>
            <a:r>
              <a:rPr sz="1250" b="1">
                <a:solidFill>
                  <a:srgbClr val="111827"/>
                </a:solidFill>
                <a:latin typeface="Arial"/>
              </a:rPr>
              <a:t>Un prototype qui produit des résultats a peu de valeur s’il ne sait pas les invalider. Celui-ci a été conçu pour que</a:t>
            </a:r>
          </a:p>
          <a:p>
            <a:pPr>
              <a:lnSpc>
                <a:spcPct val="130000"/>
              </a:lnSpc>
            </a:pPr>
            <a:r>
              <a:rPr sz="1250" b="1">
                <a:solidFill>
                  <a:srgbClr val="111827"/>
                </a:solidFill>
                <a:latin typeface="Arial"/>
              </a:rPr>
              <a:t>la déception soit détectable — c’est exactement ce qu’une direction des risques exige d’un modèle.</a:t>
            </a:r>
          </a:p>
        </p:txBody>
      </p:sp>
      <p:sp>
        <p:nvSpPr>
          <p:cNvPr id="16" name="TextBox 15"/>
          <p:cNvSpPr txBox="1"/>
          <p:nvPr/>
        </p:nvSpPr>
        <p:spPr>
          <a:xfrm>
            <a:off x="609600" y="5867400"/>
            <a:ext cx="10972800" cy="381000"/>
          </a:xfrm>
          <a:prstGeom prst="rect">
            <a:avLst/>
          </a:prstGeom>
          <a:noFill/>
        </p:spPr>
        <p:txBody>
          <a:bodyPr wrap="square" lIns="0" rIns="0" tIns="0" bIns="0">
            <a:spAutoFit/>
          </a:bodyPr>
          <a:lstStyle/>
          <a:p>
            <a:pPr>
              <a:lnSpc>
                <a:spcPct val="125000"/>
              </a:lnSpc>
            </a:pPr>
            <a:r>
              <a:rPr sz="1100" b="0">
                <a:solidFill>
                  <a:srgbClr val="5D6675"/>
                </a:solidFill>
                <a:latin typeface="Arial"/>
              </a:rPr>
              <a:t>Même logique appliquée à nos propres corrections : dividendes, historique et conversion en dirhams ont été corrigés même lorsque cela dégradait le résultat affiché.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RÉSULTAT · 4</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Davantage de données marocaines : le modèle s’aiguise vraiment</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20</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Un panel de recherche reconstitué sur vingt ans de Bourse de Casablanca, pour répondre à « et si le problème, c’était simplement le manque d’historique ? ».</a:t>
            </a:r>
          </a:p>
        </p:txBody>
      </p:sp>
      <p:pic>
        <p:nvPicPr>
          <p:cNvPr id="6" name="Picture 5" descr="ic_maroc_profond.png"/>
          <p:cNvPicPr>
            <a:picLocks noChangeAspect="1"/>
          </p:cNvPicPr>
          <p:nvPr/>
        </p:nvPicPr>
        <p:blipFill>
          <a:blip r:embed="rId2"/>
          <a:stretch>
            <a:fillRect/>
          </a:stretch>
        </p:blipFill>
        <p:spPr>
          <a:xfrm>
            <a:off x="609600" y="2030777"/>
            <a:ext cx="7569200" cy="2999645"/>
          </a:xfrm>
          <a:prstGeom prst="rect">
            <a:avLst/>
          </a:prstGeom>
        </p:spPr>
      </p:pic>
      <p:sp>
        <p:nvSpPr>
          <p:cNvPr id="7" name="TextBox 6"/>
          <p:cNvSpPr txBox="1"/>
          <p:nvPr/>
        </p:nvSpPr>
        <p:spPr>
          <a:xfrm>
            <a:off x="8534400" y="1625600"/>
            <a:ext cx="3048000" cy="584200"/>
          </a:xfrm>
          <a:prstGeom prst="rect">
            <a:avLst/>
          </a:prstGeom>
          <a:noFill/>
        </p:spPr>
        <p:txBody>
          <a:bodyPr wrap="square" lIns="0" rIns="0" tIns="0" bIns="0">
            <a:spAutoFit/>
          </a:bodyPr>
          <a:lstStyle/>
          <a:p>
            <a:r>
              <a:rPr sz="3000" b="1">
                <a:solidFill>
                  <a:srgbClr val="1B3A6B"/>
                </a:solidFill>
                <a:latin typeface="Arial"/>
              </a:rPr>
              <a:t>12</a:t>
            </a:r>
          </a:p>
        </p:txBody>
      </p:sp>
      <p:sp>
        <p:nvSpPr>
          <p:cNvPr id="8" name="TextBox 7"/>
          <p:cNvSpPr txBox="1"/>
          <p:nvPr/>
        </p:nvSpPr>
        <p:spPr>
          <a:xfrm>
            <a:off x="8534400" y="2209800"/>
            <a:ext cx="3048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actions de la Bourse de Casablanca, de 2005 à 2024</a:t>
            </a:r>
          </a:p>
        </p:txBody>
      </p:sp>
      <p:sp>
        <p:nvSpPr>
          <p:cNvPr id="9" name="TextBox 8"/>
          <p:cNvSpPr txBox="1"/>
          <p:nvPr/>
        </p:nvSpPr>
        <p:spPr>
          <a:xfrm>
            <a:off x="8534400" y="3200400"/>
            <a:ext cx="3048000" cy="584200"/>
          </a:xfrm>
          <a:prstGeom prst="rect">
            <a:avLst/>
          </a:prstGeom>
          <a:noFill/>
        </p:spPr>
        <p:txBody>
          <a:bodyPr wrap="square" lIns="0" rIns="0" tIns="0" bIns="0">
            <a:spAutoFit/>
          </a:bodyPr>
          <a:lstStyle/>
          <a:p>
            <a:r>
              <a:rPr sz="3000" b="1">
                <a:solidFill>
                  <a:srgbClr val="0F766E"/>
                </a:solidFill>
                <a:latin typeface="Arial"/>
              </a:rPr>
              <a:t>×5</a:t>
            </a:r>
          </a:p>
        </p:txBody>
      </p:sp>
      <p:sp>
        <p:nvSpPr>
          <p:cNvPr id="10" name="TextBox 9"/>
          <p:cNvSpPr txBox="1"/>
          <p:nvPr/>
        </p:nvSpPr>
        <p:spPr>
          <a:xfrm>
            <a:off x="8534400" y="3784600"/>
            <a:ext cx="3048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plus d’observations que l’univers actuel</a:t>
            </a:r>
          </a:p>
        </p:txBody>
      </p:sp>
      <p:sp>
        <p:nvSpPr>
          <p:cNvPr id="11" name="TextBox 10"/>
          <p:cNvSpPr txBox="1"/>
          <p:nvPr/>
        </p:nvSpPr>
        <p:spPr>
          <a:xfrm>
            <a:off x="8534400" y="4775200"/>
            <a:ext cx="3048000" cy="533400"/>
          </a:xfrm>
          <a:prstGeom prst="rect">
            <a:avLst/>
          </a:prstGeom>
          <a:noFill/>
        </p:spPr>
        <p:txBody>
          <a:bodyPr wrap="square" lIns="0" rIns="0" tIns="0" bIns="0">
            <a:spAutoFit/>
          </a:bodyPr>
          <a:lstStyle/>
          <a:p>
            <a:r>
              <a:rPr sz="2600" b="1">
                <a:solidFill>
                  <a:srgbClr val="A86812"/>
                </a:solidFill>
                <a:latin typeface="Arial"/>
              </a:rPr>
              <a:t>×2 à ×4</a:t>
            </a:r>
          </a:p>
        </p:txBody>
      </p:sp>
      <p:sp>
        <p:nvSpPr>
          <p:cNvPr id="12" name="TextBox 11"/>
          <p:cNvSpPr txBox="1"/>
          <p:nvPr/>
        </p:nvSpPr>
        <p:spPr>
          <a:xfrm>
            <a:off x="8534400" y="5308600"/>
            <a:ext cx="3048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de pouvoir prédictif en plus, confirmé par les deux algorithmes</a:t>
            </a:r>
          </a:p>
        </p:txBody>
      </p:sp>
      <p:sp>
        <p:nvSpPr>
          <p:cNvPr id="13" name="TextBox 12"/>
          <p:cNvSpPr txBox="1"/>
          <p:nvPr/>
        </p:nvSpPr>
        <p:spPr>
          <a:xfrm>
            <a:off x="609600" y="5918200"/>
            <a:ext cx="10972800" cy="381000"/>
          </a:xfrm>
          <a:prstGeom prst="rect">
            <a:avLst/>
          </a:prstGeom>
          <a:noFill/>
        </p:spPr>
        <p:txBody>
          <a:bodyPr wrap="square" lIns="0" rIns="0" tIns="0" bIns="0">
            <a:spAutoFit/>
          </a:bodyPr>
          <a:lstStyle/>
          <a:p>
            <a:pPr>
              <a:lnSpc>
                <a:spcPct val="125000"/>
              </a:lnSpc>
            </a:pPr>
            <a:r>
              <a:rPr sz="1100" b="0">
                <a:solidFill>
                  <a:srgbClr val="5D6675"/>
                </a:solidFill>
                <a:latin typeface="Arial"/>
              </a:rPr>
              <a:t>La limite n’est donc pas seulement la quantité de données : c’est la transformation du signal en allocation. C’est exactement ce que la première perspective propose d’industrialiser.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LECTURE D’ENSEMBLE</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Ce que nous établissons — et ce que nous n’établissons pas</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21</a:t>
            </a:r>
          </a:p>
        </p:txBody>
      </p:sp>
      <p:sp>
        <p:nvSpPr>
          <p:cNvPr id="5" name="Rounded Rectangle 4"/>
          <p:cNvSpPr/>
          <p:nvPr/>
        </p:nvSpPr>
        <p:spPr>
          <a:xfrm>
            <a:off x="609600" y="1574800"/>
            <a:ext cx="6096000" cy="41402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54200"/>
            <a:ext cx="5461000" cy="279400"/>
          </a:xfrm>
          <a:prstGeom prst="rect">
            <a:avLst/>
          </a:prstGeom>
          <a:noFill/>
        </p:spPr>
        <p:txBody>
          <a:bodyPr wrap="square" lIns="0" rIns="0" tIns="0" bIns="0">
            <a:spAutoFit/>
          </a:bodyPr>
          <a:lstStyle/>
          <a:p>
            <a:r>
              <a:rPr sz="1000" b="1">
                <a:solidFill>
                  <a:srgbClr val="0F766E"/>
                </a:solidFill>
                <a:latin typeface="Arial"/>
              </a:rPr>
              <a:t>ÉTABLI</a:t>
            </a:r>
          </a:p>
        </p:txBody>
      </p:sp>
      <p:sp>
        <p:nvSpPr>
          <p:cNvPr id="7" name="TextBox 6"/>
          <p:cNvSpPr txBox="1"/>
          <p:nvPr/>
        </p:nvSpPr>
        <p:spPr>
          <a:xfrm>
            <a:off x="914400" y="2260600"/>
            <a:ext cx="228600" cy="254000"/>
          </a:xfrm>
          <a:prstGeom prst="rect">
            <a:avLst/>
          </a:prstGeom>
          <a:noFill/>
        </p:spPr>
        <p:txBody>
          <a:bodyPr wrap="square" lIns="0" rIns="0" tIns="0" bIns="0">
            <a:spAutoFit/>
          </a:bodyPr>
          <a:lstStyle/>
          <a:p>
            <a:r>
              <a:rPr sz="1300" b="1">
                <a:solidFill>
                  <a:srgbClr val="0F766E"/>
                </a:solidFill>
                <a:latin typeface="Arial"/>
              </a:rPr>
              <a:t>✓</a:t>
            </a:r>
          </a:p>
        </p:txBody>
      </p:sp>
      <p:sp>
        <p:nvSpPr>
          <p:cNvPr id="8" name="TextBox 7"/>
          <p:cNvSpPr txBox="1"/>
          <p:nvPr/>
        </p:nvSpPr>
        <p:spPr>
          <a:xfrm>
            <a:off x="1219200" y="2260600"/>
            <a:ext cx="5207000" cy="558800"/>
          </a:xfrm>
          <a:prstGeom prst="rect">
            <a:avLst/>
          </a:prstGeom>
          <a:noFill/>
        </p:spPr>
        <p:txBody>
          <a:bodyPr wrap="square" lIns="0" rIns="0" tIns="0" bIns="0">
            <a:spAutoFit/>
          </a:bodyPr>
          <a:lstStyle/>
          <a:p>
            <a:pPr>
              <a:lnSpc>
                <a:spcPct val="130000"/>
              </a:lnSpc>
            </a:pPr>
            <a:r>
              <a:rPr sz="1150" b="0">
                <a:solidFill>
                  <a:srgbClr val="111827"/>
                </a:solidFill>
                <a:latin typeface="Arial"/>
              </a:rPr>
              <a:t>Détection non supervisée des cinq crises de la période.</a:t>
            </a:r>
          </a:p>
        </p:txBody>
      </p:sp>
      <p:sp>
        <p:nvSpPr>
          <p:cNvPr id="9" name="TextBox 8"/>
          <p:cNvSpPr txBox="1"/>
          <p:nvPr/>
        </p:nvSpPr>
        <p:spPr>
          <a:xfrm>
            <a:off x="914400" y="2946400"/>
            <a:ext cx="228600" cy="254000"/>
          </a:xfrm>
          <a:prstGeom prst="rect">
            <a:avLst/>
          </a:prstGeom>
          <a:noFill/>
        </p:spPr>
        <p:txBody>
          <a:bodyPr wrap="square" lIns="0" rIns="0" tIns="0" bIns="0">
            <a:spAutoFit/>
          </a:bodyPr>
          <a:lstStyle/>
          <a:p>
            <a:r>
              <a:rPr sz="1300" b="1">
                <a:solidFill>
                  <a:srgbClr val="0F766E"/>
                </a:solidFill>
                <a:latin typeface="Arial"/>
              </a:rPr>
              <a:t>✓</a:t>
            </a:r>
          </a:p>
        </p:txBody>
      </p:sp>
      <p:sp>
        <p:nvSpPr>
          <p:cNvPr id="10" name="TextBox 9"/>
          <p:cNvSpPr txBox="1"/>
          <p:nvPr/>
        </p:nvSpPr>
        <p:spPr>
          <a:xfrm>
            <a:off x="1219200" y="2946400"/>
            <a:ext cx="5207000" cy="558800"/>
          </a:xfrm>
          <a:prstGeom prst="rect">
            <a:avLst/>
          </a:prstGeom>
          <a:noFill/>
        </p:spPr>
        <p:txBody>
          <a:bodyPr wrap="square" lIns="0" rIns="0" tIns="0" bIns="0">
            <a:spAutoFit/>
          </a:bodyPr>
          <a:lstStyle/>
          <a:p>
            <a:pPr>
              <a:lnSpc>
                <a:spcPct val="130000"/>
              </a:lnSpc>
            </a:pPr>
            <a:r>
              <a:rPr sz="1150" b="0">
                <a:solidFill>
                  <a:srgbClr val="111827"/>
                </a:solidFill>
                <a:latin typeface="Arial"/>
              </a:rPr>
              <a:t>Le plafond de 25 % améliore le Sharpe net de +10,1 % sur les ETF.</a:t>
            </a:r>
          </a:p>
        </p:txBody>
      </p:sp>
      <p:sp>
        <p:nvSpPr>
          <p:cNvPr id="11" name="TextBox 10"/>
          <p:cNvSpPr txBox="1"/>
          <p:nvPr/>
        </p:nvSpPr>
        <p:spPr>
          <a:xfrm>
            <a:off x="914400" y="3632200"/>
            <a:ext cx="228600" cy="254000"/>
          </a:xfrm>
          <a:prstGeom prst="rect">
            <a:avLst/>
          </a:prstGeom>
          <a:noFill/>
        </p:spPr>
        <p:txBody>
          <a:bodyPr wrap="square" lIns="0" rIns="0" tIns="0" bIns="0">
            <a:spAutoFit/>
          </a:bodyPr>
          <a:lstStyle/>
          <a:p>
            <a:r>
              <a:rPr sz="1300" b="1">
                <a:solidFill>
                  <a:srgbClr val="0F766E"/>
                </a:solidFill>
                <a:latin typeface="Arial"/>
              </a:rPr>
              <a:t>✓</a:t>
            </a:r>
          </a:p>
        </p:txBody>
      </p:sp>
      <p:sp>
        <p:nvSpPr>
          <p:cNvPr id="12" name="TextBox 11"/>
          <p:cNvSpPr txBox="1"/>
          <p:nvPr/>
        </p:nvSpPr>
        <p:spPr>
          <a:xfrm>
            <a:off x="1219200" y="3632200"/>
            <a:ext cx="5207000" cy="558800"/>
          </a:xfrm>
          <a:prstGeom prst="rect">
            <a:avLst/>
          </a:prstGeom>
          <a:noFill/>
        </p:spPr>
        <p:txBody>
          <a:bodyPr wrap="square" lIns="0" rIns="0" tIns="0" bIns="0">
            <a:spAutoFit/>
          </a:bodyPr>
          <a:lstStyle/>
          <a:p>
            <a:pPr>
              <a:lnSpc>
                <a:spcPct val="130000"/>
              </a:lnSpc>
            </a:pPr>
            <a:r>
              <a:rPr sz="1150" b="0">
                <a:solidFill>
                  <a:srgbClr val="111827"/>
                </a:solidFill>
                <a:latin typeface="Arial"/>
              </a:rPr>
              <a:t>Une chaîne reproductible de bout en bout, versionnée et testée.</a:t>
            </a:r>
          </a:p>
        </p:txBody>
      </p:sp>
      <p:sp>
        <p:nvSpPr>
          <p:cNvPr id="13" name="TextBox 12"/>
          <p:cNvSpPr txBox="1"/>
          <p:nvPr/>
        </p:nvSpPr>
        <p:spPr>
          <a:xfrm>
            <a:off x="914400" y="4318000"/>
            <a:ext cx="228600" cy="254000"/>
          </a:xfrm>
          <a:prstGeom prst="rect">
            <a:avLst/>
          </a:prstGeom>
          <a:noFill/>
        </p:spPr>
        <p:txBody>
          <a:bodyPr wrap="square" lIns="0" rIns="0" tIns="0" bIns="0">
            <a:spAutoFit/>
          </a:bodyPr>
          <a:lstStyle/>
          <a:p>
            <a:r>
              <a:rPr sz="1300" b="1">
                <a:solidFill>
                  <a:srgbClr val="0F766E"/>
                </a:solidFill>
                <a:latin typeface="Arial"/>
              </a:rPr>
              <a:t>✓</a:t>
            </a:r>
          </a:p>
        </p:txBody>
      </p:sp>
      <p:sp>
        <p:nvSpPr>
          <p:cNvPr id="14" name="TextBox 13"/>
          <p:cNvSpPr txBox="1"/>
          <p:nvPr/>
        </p:nvSpPr>
        <p:spPr>
          <a:xfrm>
            <a:off x="1219200" y="4318000"/>
            <a:ext cx="5207000" cy="558800"/>
          </a:xfrm>
          <a:prstGeom prst="rect">
            <a:avLst/>
          </a:prstGeom>
          <a:noFill/>
        </p:spPr>
        <p:txBody>
          <a:bodyPr wrap="square" lIns="0" rIns="0" tIns="0" bIns="0">
            <a:spAutoFit/>
          </a:bodyPr>
          <a:lstStyle/>
          <a:p>
            <a:pPr>
              <a:lnSpc>
                <a:spcPct val="130000"/>
              </a:lnSpc>
            </a:pPr>
            <a:r>
              <a:rPr sz="1150" b="0">
                <a:solidFill>
                  <a:srgbClr val="111827"/>
                </a:solidFill>
                <a:latin typeface="Arial"/>
              </a:rPr>
              <a:t>Un dispositif capable de refuser un faux positif de sélection.</a:t>
            </a:r>
          </a:p>
        </p:txBody>
      </p:sp>
      <p:sp>
        <p:nvSpPr>
          <p:cNvPr id="15" name="TextBox 14"/>
          <p:cNvSpPr txBox="1"/>
          <p:nvPr/>
        </p:nvSpPr>
        <p:spPr>
          <a:xfrm>
            <a:off x="914400" y="5003800"/>
            <a:ext cx="228600" cy="254000"/>
          </a:xfrm>
          <a:prstGeom prst="rect">
            <a:avLst/>
          </a:prstGeom>
          <a:noFill/>
        </p:spPr>
        <p:txBody>
          <a:bodyPr wrap="square" lIns="0" rIns="0" tIns="0" bIns="0">
            <a:spAutoFit/>
          </a:bodyPr>
          <a:lstStyle/>
          <a:p>
            <a:r>
              <a:rPr sz="1300" b="1">
                <a:solidFill>
                  <a:srgbClr val="0F766E"/>
                </a:solidFill>
                <a:latin typeface="Arial"/>
              </a:rPr>
              <a:t>✓</a:t>
            </a:r>
          </a:p>
        </p:txBody>
      </p:sp>
      <p:sp>
        <p:nvSpPr>
          <p:cNvPr id="16" name="TextBox 15"/>
          <p:cNvSpPr txBox="1"/>
          <p:nvPr/>
        </p:nvSpPr>
        <p:spPr>
          <a:xfrm>
            <a:off x="1219200" y="5003800"/>
            <a:ext cx="5207000" cy="558800"/>
          </a:xfrm>
          <a:prstGeom prst="rect">
            <a:avLst/>
          </a:prstGeom>
          <a:noFill/>
        </p:spPr>
        <p:txBody>
          <a:bodyPr wrap="square" lIns="0" rIns="0" tIns="0" bIns="0">
            <a:spAutoFit/>
          </a:bodyPr>
          <a:lstStyle/>
          <a:p>
            <a:pPr>
              <a:lnSpc>
                <a:spcPct val="130000"/>
              </a:lnSpc>
            </a:pPr>
            <a:r>
              <a:rPr sz="1150" b="0">
                <a:solidFill>
                  <a:srgbClr val="111827"/>
                </a:solidFill>
                <a:latin typeface="Arial"/>
              </a:rPr>
              <a:t>Une explicabilité exacte : chaque poids se remonte jusqu’à sa cause.</a:t>
            </a:r>
          </a:p>
        </p:txBody>
      </p:sp>
      <p:sp>
        <p:nvSpPr>
          <p:cNvPr id="17" name="Rounded Rectangle 16"/>
          <p:cNvSpPr/>
          <p:nvPr/>
        </p:nvSpPr>
        <p:spPr>
          <a:xfrm>
            <a:off x="7010400" y="1574800"/>
            <a:ext cx="4572000" cy="4140200"/>
          </a:xfrm>
          <a:prstGeom prst="roundRect">
            <a:avLst>
              <a:gd name="adj" fmla="val 3000"/>
            </a:avLst>
          </a:prstGeom>
          <a:solidFill>
            <a:srgbClr val="FFF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0" y="1854200"/>
            <a:ext cx="4064000" cy="279400"/>
          </a:xfrm>
          <a:prstGeom prst="rect">
            <a:avLst/>
          </a:prstGeom>
          <a:noFill/>
        </p:spPr>
        <p:txBody>
          <a:bodyPr wrap="square" lIns="0" rIns="0" tIns="0" bIns="0">
            <a:spAutoFit/>
          </a:bodyPr>
          <a:lstStyle/>
          <a:p>
            <a:r>
              <a:rPr sz="1000" b="1">
                <a:solidFill>
                  <a:srgbClr val="A86812"/>
                </a:solidFill>
                <a:latin typeface="Arial"/>
              </a:rPr>
              <a:t>NON ÉTABLI</a:t>
            </a:r>
          </a:p>
        </p:txBody>
      </p:sp>
      <p:sp>
        <p:nvSpPr>
          <p:cNvPr id="19" name="TextBox 18"/>
          <p:cNvSpPr txBox="1"/>
          <p:nvPr/>
        </p:nvSpPr>
        <p:spPr>
          <a:xfrm>
            <a:off x="7315200" y="2260600"/>
            <a:ext cx="4064000" cy="1651000"/>
          </a:xfrm>
          <a:prstGeom prst="rect">
            <a:avLst/>
          </a:prstGeom>
          <a:noFill/>
        </p:spPr>
        <p:txBody>
          <a:bodyPr wrap="square" lIns="0" rIns="0" tIns="0" bIns="0">
            <a:spAutoFit/>
          </a:bodyPr>
          <a:lstStyle/>
          <a:p>
            <a:pPr>
              <a:lnSpc>
                <a:spcPct val="132000"/>
              </a:lnSpc>
            </a:pPr>
            <a:r>
              <a:rPr sz="1250" b="1">
                <a:solidFill>
                  <a:srgbClr val="111827"/>
                </a:solidFill>
                <a:latin typeface="Arial"/>
              </a:rPr>
              <a:t>Sur nos univers et nos fenêtres, aucune couche ML n’établit de surperformance statistiquement significative face à son comparateur pré-spécifié.</a:t>
            </a:r>
          </a:p>
        </p:txBody>
      </p:sp>
      <p:sp>
        <p:nvSpPr>
          <p:cNvPr id="20" name="TextBox 19"/>
          <p:cNvSpPr txBox="1"/>
          <p:nvPr/>
        </p:nvSpPr>
        <p:spPr>
          <a:xfrm>
            <a:off x="7315200" y="3759200"/>
            <a:ext cx="4064000" cy="1778000"/>
          </a:xfrm>
          <a:prstGeom prst="rect">
            <a:avLst/>
          </a:prstGeom>
          <a:noFill/>
        </p:spPr>
        <p:txBody>
          <a:bodyPr wrap="square" lIns="0" rIns="0" tIns="0" bIns="0">
            <a:spAutoFit/>
          </a:bodyPr>
          <a:lstStyle/>
          <a:p>
            <a:pPr>
              <a:lnSpc>
                <a:spcPct val="135000"/>
              </a:lnSpc>
            </a:pPr>
            <a:r>
              <a:rPr sz="1150" b="0">
                <a:solidFill>
                  <a:srgbClr val="5D6675"/>
                </a:solidFill>
                <a:latin typeface="Arial"/>
              </a:rPr>
              <a:t>C’est une réponse, pas un échec : la question posée était « peut-on le savoir ».</a:t>
            </a:r>
          </a:p>
          <a:p>
            <a:pPr>
              <a:lnSpc>
                <a:spcPct val="135000"/>
              </a:lnSpc>
            </a:pPr>
            <a:r>
              <a:rPr sz="1150" b="0">
                <a:solidFill>
                  <a:srgbClr val="5D6675"/>
                </a:solidFill>
                <a:latin typeface="Arial"/>
              </a:rPr>
              <a:t/>
            </a:r>
          </a:p>
          <a:p>
            <a:pPr>
              <a:lnSpc>
                <a:spcPct val="135000"/>
              </a:lnSpc>
            </a:pPr>
            <a:r>
              <a:rPr sz="1150" b="0">
                <a:solidFill>
                  <a:srgbClr val="5D6675"/>
                </a:solidFill>
                <a:latin typeface="Arial"/>
              </a:rPr>
              <a:t>Une équipe qui aurait annoncé l’inverse n’aurait pas pu le démontrer.</a:t>
            </a:r>
          </a:p>
        </p:txBody>
      </p:sp>
      <p:sp>
        <p:nvSpPr>
          <p:cNvPr id="21" name="TextBox 20"/>
          <p:cNvSpPr txBox="1"/>
          <p:nvPr/>
        </p:nvSpPr>
        <p:spPr>
          <a:xfrm>
            <a:off x="609600" y="5918200"/>
            <a:ext cx="10972800" cy="381000"/>
          </a:xfrm>
          <a:prstGeom prst="rect">
            <a:avLst/>
          </a:prstGeom>
          <a:noFill/>
        </p:spPr>
        <p:txBody>
          <a:bodyPr wrap="square" lIns="0" rIns="0" tIns="0" bIns="0">
            <a:spAutoFit/>
          </a:bodyPr>
          <a:lstStyle/>
          <a:p>
            <a:pPr>
              <a:lnSpc>
                <a:spcPct val="125000"/>
              </a:lnSpc>
            </a:pPr>
            <a:r>
              <a:rPr sz="1100" b="0">
                <a:solidFill>
                  <a:srgbClr val="5D6675"/>
                </a:solidFill>
                <a:latin typeface="Arial"/>
              </a:rPr>
              <a:t>Les deux colonnes viennent du même dispositif. C’est ce qui rend la première crédible.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EXPLICABILITÉ</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Pourquoi ce poids-là ? Une décision réelle, tracée de bout en bout</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22</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Aucune boîte noire : le système ne se contente pas de sortir des pourcentages, il expose la chaîne de raisonnement qui les produit.</a:t>
            </a:r>
          </a:p>
        </p:txBody>
      </p:sp>
      <p:pic>
        <p:nvPicPr>
          <p:cNvPr id="6" name="Picture 5" descr="trace_decision.png"/>
          <p:cNvPicPr>
            <a:picLocks noChangeAspect="1"/>
          </p:cNvPicPr>
          <p:nvPr/>
        </p:nvPicPr>
        <p:blipFill>
          <a:blip r:embed="rId2"/>
          <a:stretch>
            <a:fillRect/>
          </a:stretch>
        </p:blipFill>
        <p:spPr>
          <a:xfrm>
            <a:off x="609600" y="1749005"/>
            <a:ext cx="8890000" cy="3690188"/>
          </a:xfrm>
          <a:prstGeom prst="rect">
            <a:avLst/>
          </a:prstGeom>
        </p:spPr>
      </p:pic>
      <p:sp>
        <p:nvSpPr>
          <p:cNvPr id="7" name="Rounded Rectangle 6"/>
          <p:cNvSpPr/>
          <p:nvPr/>
        </p:nvSpPr>
        <p:spPr>
          <a:xfrm>
            <a:off x="9753600" y="1574800"/>
            <a:ext cx="1828800" cy="20066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982200" y="1803400"/>
            <a:ext cx="431800" cy="38100"/>
          </a:xfrm>
          <a:prstGeom prst="rect">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82200" y="1981200"/>
            <a:ext cx="1371600" cy="279400"/>
          </a:xfrm>
          <a:prstGeom prst="rect">
            <a:avLst/>
          </a:prstGeom>
          <a:noFill/>
        </p:spPr>
        <p:txBody>
          <a:bodyPr wrap="square" lIns="0" rIns="0" tIns="0" bIns="0">
            <a:spAutoFit/>
          </a:bodyPr>
          <a:lstStyle/>
          <a:p>
            <a:r>
              <a:rPr sz="1150" b="1">
                <a:solidFill>
                  <a:srgbClr val="1B3A6B"/>
                </a:solidFill>
                <a:latin typeface="Arial"/>
              </a:rPr>
              <a:t>Système principal</a:t>
            </a:r>
          </a:p>
        </p:txBody>
      </p:sp>
      <p:sp>
        <p:nvSpPr>
          <p:cNvPr id="10" name="TextBox 9"/>
          <p:cNvSpPr txBox="1"/>
          <p:nvPr/>
        </p:nvSpPr>
        <p:spPr>
          <a:xfrm>
            <a:off x="9982200" y="2311400"/>
            <a:ext cx="1371600" cy="1066800"/>
          </a:xfrm>
          <a:prstGeom prst="rect">
            <a:avLst/>
          </a:prstGeom>
          <a:noFill/>
        </p:spPr>
        <p:txBody>
          <a:bodyPr wrap="square" lIns="0" rIns="0" tIns="0" bIns="0">
            <a:spAutoFit/>
          </a:bodyPr>
          <a:lstStyle/>
          <a:p>
            <a:pPr>
              <a:lnSpc>
                <a:spcPct val="132000"/>
              </a:lnSpc>
            </a:pPr>
            <a:r>
              <a:rPr sz="1050" b="0">
                <a:solidFill>
                  <a:srgbClr val="5D6675"/>
                </a:solidFill>
                <a:latin typeface="Arial"/>
              </a:rPr>
              <a:t>Trace déterministe : rien n’est approché, tout est relu.</a:t>
            </a:r>
          </a:p>
        </p:txBody>
      </p:sp>
      <p:sp>
        <p:nvSpPr>
          <p:cNvPr id="11" name="Rounded Rectangle 10"/>
          <p:cNvSpPr/>
          <p:nvPr/>
        </p:nvSpPr>
        <p:spPr>
          <a:xfrm>
            <a:off x="9753600" y="3759200"/>
            <a:ext cx="1828800" cy="20066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982200" y="3987800"/>
            <a:ext cx="431800" cy="38100"/>
          </a:xfrm>
          <a:prstGeom prst="rect">
            <a:avLst/>
          </a:prstGeom>
          <a:solidFill>
            <a:srgbClr val="A868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82200" y="4165600"/>
            <a:ext cx="1371600" cy="279400"/>
          </a:xfrm>
          <a:prstGeom prst="rect">
            <a:avLst/>
          </a:prstGeom>
          <a:noFill/>
        </p:spPr>
        <p:txBody>
          <a:bodyPr wrap="square" lIns="0" rIns="0" tIns="0" bIns="0">
            <a:spAutoFit/>
          </a:bodyPr>
          <a:lstStyle/>
          <a:p>
            <a:r>
              <a:rPr sz="1150" b="1">
                <a:solidFill>
                  <a:srgbClr val="A86812"/>
                </a:solidFill>
                <a:latin typeface="Arial"/>
              </a:rPr>
              <a:t>Challengers</a:t>
            </a:r>
          </a:p>
        </p:txBody>
      </p:sp>
      <p:sp>
        <p:nvSpPr>
          <p:cNvPr id="14" name="TextBox 13"/>
          <p:cNvSpPr txBox="1"/>
          <p:nvPr/>
        </p:nvSpPr>
        <p:spPr>
          <a:xfrm>
            <a:off x="9982200" y="4495800"/>
            <a:ext cx="1371600" cy="1066800"/>
          </a:xfrm>
          <a:prstGeom prst="rect">
            <a:avLst/>
          </a:prstGeom>
          <a:noFill/>
        </p:spPr>
        <p:txBody>
          <a:bodyPr wrap="square" lIns="0" rIns="0" tIns="0" bIns="0">
            <a:spAutoFit/>
          </a:bodyPr>
          <a:lstStyle/>
          <a:p>
            <a:pPr>
              <a:lnSpc>
                <a:spcPct val="132000"/>
              </a:lnSpc>
            </a:pPr>
            <a:r>
              <a:rPr sz="1050" b="0">
                <a:solidFill>
                  <a:srgbClr val="5D6675"/>
                </a:solidFill>
                <a:latin typeface="Arial"/>
              </a:rPr>
              <a:t>Attributions additives exactes pour RF et XGBoost.</a:t>
            </a:r>
          </a:p>
        </p:txBody>
      </p:sp>
      <p:sp>
        <p:nvSpPr>
          <p:cNvPr id="15" name="TextBox 14"/>
          <p:cNvSpPr txBox="1"/>
          <p:nvPr/>
        </p:nvSpPr>
        <p:spPr>
          <a:xfrm>
            <a:off x="609600" y="5943600"/>
            <a:ext cx="10972800" cy="381000"/>
          </a:xfrm>
          <a:prstGeom prst="rect">
            <a:avLst/>
          </a:prstGeom>
          <a:noFill/>
        </p:spPr>
        <p:txBody>
          <a:bodyPr wrap="square" lIns="0" rIns="0" tIns="0" bIns="0">
            <a:spAutoFit/>
          </a:bodyPr>
          <a:lstStyle/>
          <a:p>
            <a:pPr>
              <a:lnSpc>
                <a:spcPct val="125000"/>
              </a:lnSpc>
            </a:pPr>
            <a:r>
              <a:rPr sz="1100" b="0">
                <a:solidFill>
                  <a:srgbClr val="5D6675"/>
                </a:solidFill>
                <a:latin typeface="Arial"/>
              </a:rPr>
              <a:t>C’est ce qu’exige une gouvernance de modèles : pouvoir remonter d’un poids publié jusqu’à la donnée qui l’a causé — et le montrer à un auditeur.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LE LIVRABLE</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Un prototype réellement utilisable, pas un notebook</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23</a:t>
            </a:r>
          </a:p>
        </p:txBody>
      </p:sp>
      <p:pic>
        <p:nvPicPr>
          <p:cNvPr id="5" name="Picture 4" descr="dashboard_page1_haut.png"/>
          <p:cNvPicPr>
            <a:picLocks noChangeAspect="1"/>
          </p:cNvPicPr>
          <p:nvPr/>
        </p:nvPicPr>
        <p:blipFill>
          <a:blip r:embed="rId2"/>
          <a:stretch>
            <a:fillRect/>
          </a:stretch>
        </p:blipFill>
        <p:spPr>
          <a:xfrm>
            <a:off x="684929" y="1498600"/>
            <a:ext cx="5183341" cy="3149600"/>
          </a:xfrm>
          <a:prstGeom prst="rect">
            <a:avLst/>
          </a:prstGeom>
        </p:spPr>
      </p:pic>
      <p:pic>
        <p:nvPicPr>
          <p:cNvPr id="6" name="Picture 5" descr="api_swagger_haut.png"/>
          <p:cNvPicPr>
            <a:picLocks noChangeAspect="1"/>
          </p:cNvPicPr>
          <p:nvPr/>
        </p:nvPicPr>
        <p:blipFill>
          <a:blip r:embed="rId3"/>
          <a:stretch>
            <a:fillRect/>
          </a:stretch>
        </p:blipFill>
        <p:spPr>
          <a:xfrm>
            <a:off x="6248400" y="1499129"/>
            <a:ext cx="5334000" cy="3148541"/>
          </a:xfrm>
          <a:prstGeom prst="rect">
            <a:avLst/>
          </a:prstGeom>
        </p:spPr>
      </p:pic>
      <p:sp>
        <p:nvSpPr>
          <p:cNvPr id="7" name="TextBox 6"/>
          <p:cNvSpPr txBox="1"/>
          <p:nvPr/>
        </p:nvSpPr>
        <p:spPr>
          <a:xfrm>
            <a:off x="609600" y="4775200"/>
            <a:ext cx="5334000" cy="254000"/>
          </a:xfrm>
          <a:prstGeom prst="rect">
            <a:avLst/>
          </a:prstGeom>
          <a:noFill/>
        </p:spPr>
        <p:txBody>
          <a:bodyPr wrap="square" lIns="0" rIns="0" tIns="0" bIns="0">
            <a:spAutoFit/>
          </a:bodyPr>
          <a:lstStyle/>
          <a:p>
            <a:r>
              <a:rPr sz="1200" b="1">
                <a:solidFill>
                  <a:srgbClr val="111827"/>
                </a:solidFill>
                <a:latin typeface="Arial"/>
              </a:rPr>
              <a:t>Tableau de bord Streamlit</a:t>
            </a:r>
          </a:p>
        </p:txBody>
      </p:sp>
      <p:sp>
        <p:nvSpPr>
          <p:cNvPr id="8" name="TextBox 7"/>
          <p:cNvSpPr txBox="1"/>
          <p:nvPr/>
        </p:nvSpPr>
        <p:spPr>
          <a:xfrm>
            <a:off x="609600" y="5054600"/>
            <a:ext cx="5334000" cy="254000"/>
          </a:xfrm>
          <a:prstGeom prst="rect">
            <a:avLst/>
          </a:prstGeom>
          <a:noFill/>
        </p:spPr>
        <p:txBody>
          <a:bodyPr wrap="square" lIns="0" rIns="0" tIns="0" bIns="0">
            <a:spAutoFit/>
          </a:bodyPr>
          <a:lstStyle/>
          <a:p>
            <a:r>
              <a:rPr sz="1050" b="0">
                <a:solidFill>
                  <a:srgbClr val="5D6675"/>
                </a:solidFill>
                <a:latin typeface="Arial"/>
              </a:rPr>
              <a:t>Deux vues : résultats de recherche et explorateur de stratégies</a:t>
            </a:r>
          </a:p>
        </p:txBody>
      </p:sp>
      <p:sp>
        <p:nvSpPr>
          <p:cNvPr id="9" name="TextBox 8"/>
          <p:cNvSpPr txBox="1"/>
          <p:nvPr/>
        </p:nvSpPr>
        <p:spPr>
          <a:xfrm>
            <a:off x="6248400" y="4775200"/>
            <a:ext cx="5334000" cy="254000"/>
          </a:xfrm>
          <a:prstGeom prst="rect">
            <a:avLst/>
          </a:prstGeom>
          <a:noFill/>
        </p:spPr>
        <p:txBody>
          <a:bodyPr wrap="square" lIns="0" rIns="0" tIns="0" bIns="0">
            <a:spAutoFit/>
          </a:bodyPr>
          <a:lstStyle/>
          <a:p>
            <a:r>
              <a:rPr sz="1200" b="1">
                <a:solidFill>
                  <a:srgbClr val="111827"/>
                </a:solidFill>
                <a:latin typeface="Arial"/>
              </a:rPr>
              <a:t>API REST FastAPI, en lecture seule</a:t>
            </a:r>
          </a:p>
        </p:txBody>
      </p:sp>
      <p:sp>
        <p:nvSpPr>
          <p:cNvPr id="10" name="TextBox 9"/>
          <p:cNvSpPr txBox="1"/>
          <p:nvPr/>
        </p:nvSpPr>
        <p:spPr>
          <a:xfrm>
            <a:off x="6248400" y="5054600"/>
            <a:ext cx="5334000" cy="254000"/>
          </a:xfrm>
          <a:prstGeom prst="rect">
            <a:avLst/>
          </a:prstGeom>
          <a:noFill/>
        </p:spPr>
        <p:txBody>
          <a:bodyPr wrap="square" lIns="0" rIns="0" tIns="0" bIns="0">
            <a:spAutoFit/>
          </a:bodyPr>
          <a:lstStyle/>
          <a:p>
            <a:r>
              <a:rPr sz="1050" b="0">
                <a:solidFill>
                  <a:srgbClr val="5D6675"/>
                </a:solidFill>
                <a:latin typeface="Arial"/>
              </a:rPr>
              <a:t>Contrat de devise explicite, documentation générée</a:t>
            </a:r>
          </a:p>
        </p:txBody>
      </p:sp>
      <p:sp>
        <p:nvSpPr>
          <p:cNvPr id="11" name="TextBox 10"/>
          <p:cNvSpPr txBox="1"/>
          <p:nvPr/>
        </p:nvSpPr>
        <p:spPr>
          <a:xfrm>
            <a:off x="609600" y="5435600"/>
            <a:ext cx="2540000" cy="508000"/>
          </a:xfrm>
          <a:prstGeom prst="rect">
            <a:avLst/>
          </a:prstGeom>
          <a:noFill/>
        </p:spPr>
        <p:txBody>
          <a:bodyPr wrap="square" lIns="0" rIns="0" tIns="0" bIns="0">
            <a:spAutoFit/>
          </a:bodyPr>
          <a:lstStyle/>
          <a:p>
            <a:r>
              <a:rPr sz="2400" b="1">
                <a:solidFill>
                  <a:srgbClr val="1B3A6B"/>
                </a:solidFill>
                <a:latin typeface="Arial"/>
              </a:rPr>
              <a:t>891</a:t>
            </a:r>
          </a:p>
        </p:txBody>
      </p:sp>
      <p:sp>
        <p:nvSpPr>
          <p:cNvPr id="12" name="TextBox 11"/>
          <p:cNvSpPr txBox="1"/>
          <p:nvPr/>
        </p:nvSpPr>
        <p:spPr>
          <a:xfrm>
            <a:off x="609600" y="5943600"/>
            <a:ext cx="2540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tests automatisés</a:t>
            </a:r>
          </a:p>
        </p:txBody>
      </p:sp>
      <p:sp>
        <p:nvSpPr>
          <p:cNvPr id="13" name="TextBox 12"/>
          <p:cNvSpPr txBox="1"/>
          <p:nvPr/>
        </p:nvSpPr>
        <p:spPr>
          <a:xfrm>
            <a:off x="3429000" y="5435600"/>
            <a:ext cx="2540000" cy="508000"/>
          </a:xfrm>
          <a:prstGeom prst="rect">
            <a:avLst/>
          </a:prstGeom>
          <a:noFill/>
        </p:spPr>
        <p:txBody>
          <a:bodyPr wrap="square" lIns="0" rIns="0" tIns="0" bIns="0">
            <a:spAutoFit/>
          </a:bodyPr>
          <a:lstStyle/>
          <a:p>
            <a:r>
              <a:rPr sz="2400" b="1">
                <a:solidFill>
                  <a:srgbClr val="1B3A6B"/>
                </a:solidFill>
                <a:latin typeface="Arial"/>
              </a:rPr>
              <a:t>1 184</a:t>
            </a:r>
          </a:p>
        </p:txBody>
      </p:sp>
      <p:sp>
        <p:nvSpPr>
          <p:cNvPr id="14" name="TextBox 13"/>
          <p:cNvSpPr txBox="1"/>
          <p:nvPr/>
        </p:nvSpPr>
        <p:spPr>
          <a:xfrm>
            <a:off x="3429000" y="5943600"/>
            <a:ext cx="2540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ajustements de modèles tracés</a:t>
            </a:r>
          </a:p>
        </p:txBody>
      </p:sp>
      <p:sp>
        <p:nvSpPr>
          <p:cNvPr id="15" name="TextBox 14"/>
          <p:cNvSpPr txBox="1"/>
          <p:nvPr/>
        </p:nvSpPr>
        <p:spPr>
          <a:xfrm>
            <a:off x="6248400" y="5435600"/>
            <a:ext cx="2540000" cy="508000"/>
          </a:xfrm>
          <a:prstGeom prst="rect">
            <a:avLst/>
          </a:prstGeom>
          <a:noFill/>
        </p:spPr>
        <p:txBody>
          <a:bodyPr wrap="square" lIns="0" rIns="0" tIns="0" bIns="0">
            <a:spAutoFit/>
          </a:bodyPr>
          <a:lstStyle/>
          <a:p>
            <a:r>
              <a:rPr sz="2400" b="1">
                <a:solidFill>
                  <a:srgbClr val="1B3A6B"/>
                </a:solidFill>
                <a:latin typeface="Arial"/>
              </a:rPr>
              <a:t>DVC + CI</a:t>
            </a:r>
          </a:p>
        </p:txBody>
      </p:sp>
      <p:sp>
        <p:nvSpPr>
          <p:cNvPr id="16" name="TextBox 15"/>
          <p:cNvSpPr txBox="1"/>
          <p:nvPr/>
        </p:nvSpPr>
        <p:spPr>
          <a:xfrm>
            <a:off x="6248400" y="5943600"/>
            <a:ext cx="2540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données versionnées,</a:t>
            </a:r>
          </a:p>
          <a:p>
            <a:pPr>
              <a:lnSpc>
                <a:spcPct val="120000"/>
              </a:lnSpc>
            </a:pPr>
            <a:r>
              <a:rPr sz="1150" b="0">
                <a:solidFill>
                  <a:srgbClr val="5D6675"/>
                </a:solidFill>
                <a:latin typeface="Arial"/>
              </a:rPr>
              <a:t>portes de release</a:t>
            </a:r>
          </a:p>
        </p:txBody>
      </p:sp>
      <p:sp>
        <p:nvSpPr>
          <p:cNvPr id="17" name="TextBox 16"/>
          <p:cNvSpPr txBox="1"/>
          <p:nvPr/>
        </p:nvSpPr>
        <p:spPr>
          <a:xfrm>
            <a:off x="9067800" y="5435600"/>
            <a:ext cx="2540000" cy="508000"/>
          </a:xfrm>
          <a:prstGeom prst="rect">
            <a:avLst/>
          </a:prstGeom>
          <a:noFill/>
        </p:spPr>
        <p:txBody>
          <a:bodyPr wrap="square" lIns="0" rIns="0" tIns="0" bIns="0">
            <a:spAutoFit/>
          </a:bodyPr>
          <a:lstStyle/>
          <a:p>
            <a:r>
              <a:rPr sz="2400" b="1">
                <a:solidFill>
                  <a:srgbClr val="1B3A6B"/>
                </a:solidFill>
                <a:latin typeface="Arial"/>
              </a:rPr>
              <a:t>Docker</a:t>
            </a:r>
          </a:p>
        </p:txBody>
      </p:sp>
      <p:sp>
        <p:nvSpPr>
          <p:cNvPr id="18" name="TextBox 17"/>
          <p:cNvSpPr txBox="1"/>
          <p:nvPr/>
        </p:nvSpPr>
        <p:spPr>
          <a:xfrm>
            <a:off x="9067800" y="5943600"/>
            <a:ext cx="2540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environnement reproductible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PERSPECTIVES</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Ce qui transformerait le prototype en dispositif validé</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24</a:t>
            </a:r>
          </a:p>
        </p:txBody>
      </p:sp>
      <p:sp>
        <p:nvSpPr>
          <p:cNvPr id="5" name="Rounded Rectangle 4"/>
          <p:cNvSpPr/>
          <p:nvPr/>
        </p:nvSpPr>
        <p:spPr>
          <a:xfrm>
            <a:off x="609600" y="1625600"/>
            <a:ext cx="5334000" cy="2057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1879600"/>
            <a:ext cx="508000" cy="355600"/>
          </a:xfrm>
          <a:prstGeom prst="rect">
            <a:avLst/>
          </a:prstGeom>
          <a:noFill/>
        </p:spPr>
        <p:txBody>
          <a:bodyPr wrap="square" lIns="0" rIns="0" tIns="0" bIns="0">
            <a:spAutoFit/>
          </a:bodyPr>
          <a:lstStyle/>
          <a:p>
            <a:r>
              <a:rPr sz="1800" b="1">
                <a:solidFill>
                  <a:srgbClr val="1B3A6B"/>
                </a:solidFill>
                <a:latin typeface="Arial"/>
              </a:rPr>
              <a:t>01</a:t>
            </a:r>
          </a:p>
        </p:txBody>
      </p:sp>
      <p:sp>
        <p:nvSpPr>
          <p:cNvPr id="7" name="TextBox 6"/>
          <p:cNvSpPr txBox="1"/>
          <p:nvPr/>
        </p:nvSpPr>
        <p:spPr>
          <a:xfrm>
            <a:off x="1422400" y="1905000"/>
            <a:ext cx="4267200" cy="304800"/>
          </a:xfrm>
          <a:prstGeom prst="rect">
            <a:avLst/>
          </a:prstGeom>
          <a:noFill/>
        </p:spPr>
        <p:txBody>
          <a:bodyPr wrap="square" lIns="0" rIns="0" tIns="0" bIns="0">
            <a:spAutoFit/>
          </a:bodyPr>
          <a:lstStyle/>
          <a:p>
            <a:r>
              <a:rPr sz="1350" b="1">
                <a:solidFill>
                  <a:srgbClr val="111827"/>
                </a:solidFill>
                <a:latin typeface="Arial"/>
              </a:rPr>
              <a:t>Élargir l’univers marocain</a:t>
            </a:r>
          </a:p>
        </p:txBody>
      </p:sp>
      <p:sp>
        <p:nvSpPr>
          <p:cNvPr id="8" name="TextBox 7"/>
          <p:cNvSpPr txBox="1"/>
          <p:nvPr/>
        </p:nvSpPr>
        <p:spPr>
          <a:xfrm>
            <a:off x="1422400" y="2286000"/>
            <a:ext cx="4267200" cy="1168400"/>
          </a:xfrm>
          <a:prstGeom prst="rect">
            <a:avLst/>
          </a:prstGeom>
          <a:noFill/>
        </p:spPr>
        <p:txBody>
          <a:bodyPr wrap="square" lIns="0" rIns="0" tIns="0" bIns="0">
            <a:spAutoFit/>
          </a:bodyPr>
          <a:lstStyle/>
          <a:p>
            <a:pPr>
              <a:lnSpc>
                <a:spcPct val="132000"/>
              </a:lnSpc>
            </a:pPr>
            <a:r>
              <a:rPr sz="1150" b="0">
                <a:solidFill>
                  <a:srgbClr val="5D6675"/>
                </a:solidFill>
                <a:latin typeface="Arial"/>
              </a:rPr>
              <a:t>Industrialiser le panel profond 2005–2024 : réconciliation des sources, dividendes, opérations sur titres, licence de redistribution.</a:t>
            </a:r>
          </a:p>
        </p:txBody>
      </p:sp>
      <p:sp>
        <p:nvSpPr>
          <p:cNvPr id="9" name="Rounded Rectangle 8"/>
          <p:cNvSpPr/>
          <p:nvPr/>
        </p:nvSpPr>
        <p:spPr>
          <a:xfrm>
            <a:off x="6248400" y="1625600"/>
            <a:ext cx="5334000" cy="2057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02400" y="1879600"/>
            <a:ext cx="508000" cy="355600"/>
          </a:xfrm>
          <a:prstGeom prst="rect">
            <a:avLst/>
          </a:prstGeom>
          <a:noFill/>
        </p:spPr>
        <p:txBody>
          <a:bodyPr wrap="square" lIns="0" rIns="0" tIns="0" bIns="0">
            <a:spAutoFit/>
          </a:bodyPr>
          <a:lstStyle/>
          <a:p>
            <a:r>
              <a:rPr sz="1800" b="1">
                <a:solidFill>
                  <a:srgbClr val="0F766E"/>
                </a:solidFill>
                <a:latin typeface="Arial"/>
              </a:rPr>
              <a:t>02</a:t>
            </a:r>
          </a:p>
        </p:txBody>
      </p:sp>
      <p:sp>
        <p:nvSpPr>
          <p:cNvPr id="11" name="TextBox 10"/>
          <p:cNvSpPr txBox="1"/>
          <p:nvPr/>
        </p:nvSpPr>
        <p:spPr>
          <a:xfrm>
            <a:off x="7061200" y="1905000"/>
            <a:ext cx="4267200" cy="304800"/>
          </a:xfrm>
          <a:prstGeom prst="rect">
            <a:avLst/>
          </a:prstGeom>
          <a:noFill/>
        </p:spPr>
        <p:txBody>
          <a:bodyPr wrap="square" lIns="0" rIns="0" tIns="0" bIns="0">
            <a:spAutoFit/>
          </a:bodyPr>
          <a:lstStyle/>
          <a:p>
            <a:r>
              <a:rPr sz="1350" b="1">
                <a:solidFill>
                  <a:srgbClr val="111827"/>
                </a:solidFill>
                <a:latin typeface="Arial"/>
              </a:rPr>
              <a:t>Validation indépendante</a:t>
            </a:r>
          </a:p>
        </p:txBody>
      </p:sp>
      <p:sp>
        <p:nvSpPr>
          <p:cNvPr id="12" name="TextBox 11"/>
          <p:cNvSpPr txBox="1"/>
          <p:nvPr/>
        </p:nvSpPr>
        <p:spPr>
          <a:xfrm>
            <a:off x="7061200" y="2286000"/>
            <a:ext cx="4267200" cy="1168400"/>
          </a:xfrm>
          <a:prstGeom prst="rect">
            <a:avLst/>
          </a:prstGeom>
          <a:noFill/>
        </p:spPr>
        <p:txBody>
          <a:bodyPr wrap="square" lIns="0" rIns="0" tIns="0" bIns="0">
            <a:spAutoFit/>
          </a:bodyPr>
          <a:lstStyle/>
          <a:p>
            <a:pPr>
              <a:lnSpc>
                <a:spcPct val="132000"/>
              </a:lnSpc>
            </a:pPr>
            <a:r>
              <a:rPr sz="1150" b="0">
                <a:solidFill>
                  <a:srgbClr val="5D6675"/>
                </a:solidFill>
                <a:latin typeface="Arial"/>
              </a:rPr>
              <a:t>Séparer l’équipe qui développe de celle qui valide, comme l’exige une gouvernance de modèles bancaire.</a:t>
            </a:r>
          </a:p>
        </p:txBody>
      </p:sp>
      <p:sp>
        <p:nvSpPr>
          <p:cNvPr id="13" name="Rounded Rectangle 12"/>
          <p:cNvSpPr/>
          <p:nvPr/>
        </p:nvSpPr>
        <p:spPr>
          <a:xfrm>
            <a:off x="609600" y="3911600"/>
            <a:ext cx="5334000" cy="2057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3600" y="4165600"/>
            <a:ext cx="508000" cy="355600"/>
          </a:xfrm>
          <a:prstGeom prst="rect">
            <a:avLst/>
          </a:prstGeom>
          <a:noFill/>
        </p:spPr>
        <p:txBody>
          <a:bodyPr wrap="square" lIns="0" rIns="0" tIns="0" bIns="0">
            <a:spAutoFit/>
          </a:bodyPr>
          <a:lstStyle/>
          <a:p>
            <a:r>
              <a:rPr sz="1800" b="1">
                <a:solidFill>
                  <a:srgbClr val="A86812"/>
                </a:solidFill>
                <a:latin typeface="Arial"/>
              </a:rPr>
              <a:t>03</a:t>
            </a:r>
          </a:p>
        </p:txBody>
      </p:sp>
      <p:sp>
        <p:nvSpPr>
          <p:cNvPr id="15" name="TextBox 14"/>
          <p:cNvSpPr txBox="1"/>
          <p:nvPr/>
        </p:nvSpPr>
        <p:spPr>
          <a:xfrm>
            <a:off x="1422400" y="4191000"/>
            <a:ext cx="4267200" cy="304800"/>
          </a:xfrm>
          <a:prstGeom prst="rect">
            <a:avLst/>
          </a:prstGeom>
          <a:noFill/>
        </p:spPr>
        <p:txBody>
          <a:bodyPr wrap="square" lIns="0" rIns="0" tIns="0" bIns="0">
            <a:spAutoFit/>
          </a:bodyPr>
          <a:lstStyle/>
          <a:p>
            <a:r>
              <a:rPr sz="1350" b="1">
                <a:solidFill>
                  <a:srgbClr val="111827"/>
                </a:solidFill>
                <a:latin typeface="Arial"/>
              </a:rPr>
              <a:t>Couverture du risque de change</a:t>
            </a:r>
          </a:p>
        </p:txBody>
      </p:sp>
      <p:sp>
        <p:nvSpPr>
          <p:cNvPr id="16" name="TextBox 15"/>
          <p:cNvSpPr txBox="1"/>
          <p:nvPr/>
        </p:nvSpPr>
        <p:spPr>
          <a:xfrm>
            <a:off x="1422400" y="4572000"/>
            <a:ext cx="4267200" cy="1168400"/>
          </a:xfrm>
          <a:prstGeom prst="rect">
            <a:avLst/>
          </a:prstGeom>
          <a:noFill/>
        </p:spPr>
        <p:txBody>
          <a:bodyPr wrap="square" lIns="0" rIns="0" tIns="0" bIns="0">
            <a:spAutoFit/>
          </a:bodyPr>
          <a:lstStyle/>
          <a:p>
            <a:pPr>
              <a:lnSpc>
                <a:spcPct val="132000"/>
              </a:lnSpc>
            </a:pPr>
            <a:r>
              <a:rPr sz="1150" b="0">
                <a:solidFill>
                  <a:srgbClr val="5D6675"/>
                </a:solidFill>
                <a:latin typeface="Arial"/>
              </a:rPr>
              <a:t>Modéliser un contrat de couverture USD/MAD et son coût de roulement, aujourd’hui absents.</a:t>
            </a:r>
          </a:p>
        </p:txBody>
      </p:sp>
      <p:sp>
        <p:nvSpPr>
          <p:cNvPr id="17" name="Rounded Rectangle 16"/>
          <p:cNvSpPr/>
          <p:nvPr/>
        </p:nvSpPr>
        <p:spPr>
          <a:xfrm>
            <a:off x="6248400" y="3911600"/>
            <a:ext cx="5334000" cy="20574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2400" y="4165600"/>
            <a:ext cx="508000" cy="355600"/>
          </a:xfrm>
          <a:prstGeom prst="rect">
            <a:avLst/>
          </a:prstGeom>
          <a:noFill/>
        </p:spPr>
        <p:txBody>
          <a:bodyPr wrap="square" lIns="0" rIns="0" tIns="0" bIns="0">
            <a:spAutoFit/>
          </a:bodyPr>
          <a:lstStyle/>
          <a:p>
            <a:r>
              <a:rPr sz="1800" b="1">
                <a:solidFill>
                  <a:srgbClr val="B7433E"/>
                </a:solidFill>
                <a:latin typeface="Arial"/>
              </a:rPr>
              <a:t>04</a:t>
            </a:r>
          </a:p>
        </p:txBody>
      </p:sp>
      <p:sp>
        <p:nvSpPr>
          <p:cNvPr id="19" name="TextBox 18"/>
          <p:cNvSpPr txBox="1"/>
          <p:nvPr/>
        </p:nvSpPr>
        <p:spPr>
          <a:xfrm>
            <a:off x="7061200" y="4191000"/>
            <a:ext cx="4267200" cy="304800"/>
          </a:xfrm>
          <a:prstGeom prst="rect">
            <a:avLst/>
          </a:prstGeom>
          <a:noFill/>
        </p:spPr>
        <p:txBody>
          <a:bodyPr wrap="square" lIns="0" rIns="0" tIns="0" bIns="0">
            <a:spAutoFit/>
          </a:bodyPr>
          <a:lstStyle/>
          <a:p>
            <a:r>
              <a:rPr sz="1350" b="1">
                <a:solidFill>
                  <a:srgbClr val="111827"/>
                </a:solidFill>
                <a:latin typeface="Arial"/>
              </a:rPr>
              <a:t>Passage à l’échelle</a:t>
            </a:r>
          </a:p>
        </p:txBody>
      </p:sp>
      <p:sp>
        <p:nvSpPr>
          <p:cNvPr id="20" name="TextBox 19"/>
          <p:cNvSpPr txBox="1"/>
          <p:nvPr/>
        </p:nvSpPr>
        <p:spPr>
          <a:xfrm>
            <a:off x="7061200" y="4572000"/>
            <a:ext cx="4267200" cy="1168400"/>
          </a:xfrm>
          <a:prstGeom prst="rect">
            <a:avLst/>
          </a:prstGeom>
          <a:noFill/>
        </p:spPr>
        <p:txBody>
          <a:bodyPr wrap="square" lIns="0" rIns="0" tIns="0" bIns="0">
            <a:spAutoFit/>
          </a:bodyPr>
          <a:lstStyle/>
          <a:p>
            <a:pPr>
              <a:lnSpc>
                <a:spcPct val="132000"/>
              </a:lnSpc>
            </a:pPr>
            <a:r>
              <a:rPr sz="1150" b="0">
                <a:solidFill>
                  <a:srgbClr val="5D6675"/>
                </a:solidFill>
                <a:latin typeface="Arial"/>
              </a:rPr>
              <a:t>Plus d’actifs, plus de classes : c’est là qu’un optimiseur a le plus de marge pour exprimer une vue.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2000" cy="68580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1524000"/>
            <a:ext cx="1219200" cy="50800"/>
          </a:xfrm>
          <a:prstGeom prst="rect">
            <a:avLst/>
          </a:prstGeom>
          <a:solidFill>
            <a:srgbClr val="3D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09600" y="965200"/>
            <a:ext cx="7620000" cy="228600"/>
          </a:xfrm>
          <a:prstGeom prst="rect">
            <a:avLst/>
          </a:prstGeom>
          <a:noFill/>
        </p:spPr>
        <p:txBody>
          <a:bodyPr wrap="square" lIns="0" rIns="0" tIns="0" bIns="0">
            <a:spAutoFit/>
          </a:bodyPr>
          <a:lstStyle/>
          <a:p>
            <a:r>
              <a:rPr sz="1050" b="1">
                <a:solidFill>
                  <a:srgbClr val="3D8DFF"/>
                </a:solidFill>
                <a:latin typeface="Arial"/>
              </a:rPr>
              <a:t>CONCLUSION</a:t>
            </a:r>
          </a:p>
        </p:txBody>
      </p:sp>
      <p:sp>
        <p:nvSpPr>
          <p:cNvPr id="5" name="TextBox 4"/>
          <p:cNvSpPr txBox="1"/>
          <p:nvPr/>
        </p:nvSpPr>
        <p:spPr>
          <a:xfrm>
            <a:off x="609600" y="1930400"/>
            <a:ext cx="10160000" cy="1397000"/>
          </a:xfrm>
          <a:prstGeom prst="rect">
            <a:avLst/>
          </a:prstGeom>
          <a:noFill/>
        </p:spPr>
        <p:txBody>
          <a:bodyPr wrap="square" lIns="0" rIns="0" tIns="0" bIns="0">
            <a:spAutoFit/>
          </a:bodyPr>
          <a:lstStyle/>
          <a:p>
            <a:pPr>
              <a:lnSpc>
                <a:spcPct val="115000"/>
              </a:lnSpc>
            </a:pPr>
            <a:r>
              <a:rPr sz="3600" b="1">
                <a:solidFill>
                  <a:srgbClr val="111827"/>
                </a:solidFill>
                <a:latin typeface="Arial"/>
              </a:rPr>
              <a:t>Nous avons construit la chaîne</a:t>
            </a:r>
          </a:p>
          <a:p>
            <a:pPr>
              <a:lnSpc>
                <a:spcPct val="115000"/>
              </a:lnSpc>
            </a:pPr>
            <a:r>
              <a:rPr sz="3600" b="1">
                <a:solidFill>
                  <a:srgbClr val="111827"/>
                </a:solidFill>
                <a:latin typeface="Arial"/>
              </a:rPr>
              <a:t>qui permet de savoir.</a:t>
            </a:r>
          </a:p>
        </p:txBody>
      </p:sp>
      <p:sp>
        <p:nvSpPr>
          <p:cNvPr id="6" name="TextBox 5"/>
          <p:cNvSpPr txBox="1"/>
          <p:nvPr/>
        </p:nvSpPr>
        <p:spPr>
          <a:xfrm>
            <a:off x="609600" y="3556000"/>
            <a:ext cx="9906000" cy="711200"/>
          </a:xfrm>
          <a:prstGeom prst="rect">
            <a:avLst/>
          </a:prstGeom>
          <a:noFill/>
        </p:spPr>
        <p:txBody>
          <a:bodyPr wrap="square" lIns="0" rIns="0" tIns="0" bIns="0">
            <a:spAutoFit/>
          </a:bodyPr>
          <a:lstStyle/>
          <a:p>
            <a:pPr>
              <a:lnSpc>
                <a:spcPct val="140000"/>
              </a:lnSpc>
            </a:pPr>
            <a:r>
              <a:rPr sz="1400" b="0">
                <a:solidFill>
                  <a:srgbClr val="5D6675"/>
                </a:solidFill>
                <a:latin typeface="Arial"/>
              </a:rPr>
              <a:t>Un système complet d’allocation, évalué sans tricher, capable de reconnaître les crises,</a:t>
            </a:r>
          </a:p>
          <a:p>
            <a:pPr>
              <a:lnSpc>
                <a:spcPct val="140000"/>
              </a:lnSpc>
            </a:pPr>
            <a:r>
              <a:rPr sz="1400" b="0">
                <a:solidFill>
                  <a:srgbClr val="5D6675"/>
                </a:solidFill>
                <a:latin typeface="Arial"/>
              </a:rPr>
              <a:t>de montrer ce qui améliore réellement un portefeuille — et de refuser ce qui n’est que du hasard.</a:t>
            </a:r>
          </a:p>
        </p:txBody>
      </p:sp>
      <p:sp>
        <p:nvSpPr>
          <p:cNvPr id="7" name="Rectangle 6"/>
          <p:cNvSpPr/>
          <p:nvPr/>
        </p:nvSpPr>
        <p:spPr>
          <a:xfrm>
            <a:off x="609600" y="4826000"/>
            <a:ext cx="508000" cy="38100"/>
          </a:xfrm>
          <a:prstGeom prst="rect">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9600" y="5054600"/>
            <a:ext cx="3352800" cy="304800"/>
          </a:xfrm>
          <a:prstGeom prst="rect">
            <a:avLst/>
          </a:prstGeom>
          <a:noFill/>
        </p:spPr>
        <p:txBody>
          <a:bodyPr wrap="square" lIns="0" rIns="0" tIns="0" bIns="0">
            <a:spAutoFit/>
          </a:bodyPr>
          <a:lstStyle/>
          <a:p>
            <a:r>
              <a:rPr sz="1400" b="1">
                <a:solidFill>
                  <a:srgbClr val="111827"/>
                </a:solidFill>
                <a:latin typeface="Arial"/>
              </a:rPr>
              <a:t>Rigueur</a:t>
            </a:r>
          </a:p>
        </p:txBody>
      </p:sp>
      <p:sp>
        <p:nvSpPr>
          <p:cNvPr id="9" name="TextBox 8"/>
          <p:cNvSpPr txBox="1"/>
          <p:nvPr/>
        </p:nvSpPr>
        <p:spPr>
          <a:xfrm>
            <a:off x="609600" y="5384800"/>
            <a:ext cx="3352800" cy="635000"/>
          </a:xfrm>
          <a:prstGeom prst="rect">
            <a:avLst/>
          </a:prstGeom>
          <a:noFill/>
        </p:spPr>
        <p:txBody>
          <a:bodyPr wrap="square" lIns="0" rIns="0" tIns="0" bIns="0">
            <a:spAutoFit/>
          </a:bodyPr>
          <a:lstStyle/>
          <a:p>
            <a:pPr>
              <a:lnSpc>
                <a:spcPct val="132000"/>
              </a:lnSpc>
            </a:pPr>
            <a:r>
              <a:rPr sz="1150" b="0">
                <a:solidFill>
                  <a:srgbClr val="5D6675"/>
                </a:solidFill>
                <a:latin typeface="Arial"/>
              </a:rPr>
              <a:t>évaluation temporelle stricte,</a:t>
            </a:r>
          </a:p>
          <a:p>
            <a:pPr>
              <a:lnSpc>
                <a:spcPct val="132000"/>
              </a:lnSpc>
            </a:pPr>
            <a:r>
              <a:rPr sz="1150" b="0">
                <a:solidFill>
                  <a:srgbClr val="5D6675"/>
                </a:solidFill>
                <a:latin typeface="Arial"/>
              </a:rPr>
              <a:t>correction de la sélection multiple</a:t>
            </a:r>
          </a:p>
        </p:txBody>
      </p:sp>
      <p:sp>
        <p:nvSpPr>
          <p:cNvPr id="10" name="Rectangle 9"/>
          <p:cNvSpPr/>
          <p:nvPr/>
        </p:nvSpPr>
        <p:spPr>
          <a:xfrm>
            <a:off x="4318000" y="4826000"/>
            <a:ext cx="50800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18000" y="5054600"/>
            <a:ext cx="3352800" cy="304800"/>
          </a:xfrm>
          <a:prstGeom prst="rect">
            <a:avLst/>
          </a:prstGeom>
          <a:noFill/>
        </p:spPr>
        <p:txBody>
          <a:bodyPr wrap="square" lIns="0" rIns="0" tIns="0" bIns="0">
            <a:spAutoFit/>
          </a:bodyPr>
          <a:lstStyle/>
          <a:p>
            <a:r>
              <a:rPr sz="1400" b="1">
                <a:solidFill>
                  <a:srgbClr val="111827"/>
                </a:solidFill>
                <a:latin typeface="Arial"/>
              </a:rPr>
              <a:t>Traçabilité</a:t>
            </a:r>
          </a:p>
        </p:txBody>
      </p:sp>
      <p:sp>
        <p:nvSpPr>
          <p:cNvPr id="12" name="TextBox 11"/>
          <p:cNvSpPr txBox="1"/>
          <p:nvPr/>
        </p:nvSpPr>
        <p:spPr>
          <a:xfrm>
            <a:off x="4318000" y="5384800"/>
            <a:ext cx="3352800" cy="635000"/>
          </a:xfrm>
          <a:prstGeom prst="rect">
            <a:avLst/>
          </a:prstGeom>
          <a:noFill/>
        </p:spPr>
        <p:txBody>
          <a:bodyPr wrap="square" lIns="0" rIns="0" tIns="0" bIns="0">
            <a:spAutoFit/>
          </a:bodyPr>
          <a:lstStyle/>
          <a:p>
            <a:pPr>
              <a:lnSpc>
                <a:spcPct val="132000"/>
              </a:lnSpc>
            </a:pPr>
            <a:r>
              <a:rPr sz="1150" b="0">
                <a:solidFill>
                  <a:srgbClr val="5D6675"/>
                </a:solidFill>
                <a:latin typeface="Arial"/>
              </a:rPr>
              <a:t>données versionnées,</a:t>
            </a:r>
          </a:p>
          <a:p>
            <a:pPr>
              <a:lnSpc>
                <a:spcPct val="132000"/>
              </a:lnSpc>
            </a:pPr>
            <a:r>
              <a:rPr sz="1150" b="0">
                <a:solidFill>
                  <a:srgbClr val="5D6675"/>
                </a:solidFill>
                <a:latin typeface="Arial"/>
              </a:rPr>
              <a:t>surfaces régénérées</a:t>
            </a:r>
          </a:p>
        </p:txBody>
      </p:sp>
      <p:sp>
        <p:nvSpPr>
          <p:cNvPr id="13" name="Rectangle 12"/>
          <p:cNvSpPr/>
          <p:nvPr/>
        </p:nvSpPr>
        <p:spPr>
          <a:xfrm>
            <a:off x="8026400" y="4826000"/>
            <a:ext cx="508000" cy="38100"/>
          </a:xfrm>
          <a:prstGeom prst="rect">
            <a:avLst/>
          </a:prstGeom>
          <a:solidFill>
            <a:srgbClr val="A868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6400" y="5054600"/>
            <a:ext cx="3352800" cy="304800"/>
          </a:xfrm>
          <a:prstGeom prst="rect">
            <a:avLst/>
          </a:prstGeom>
          <a:noFill/>
        </p:spPr>
        <p:txBody>
          <a:bodyPr wrap="square" lIns="0" rIns="0" tIns="0" bIns="0">
            <a:spAutoFit/>
          </a:bodyPr>
          <a:lstStyle/>
          <a:p>
            <a:r>
              <a:rPr sz="1400" b="1">
                <a:solidFill>
                  <a:srgbClr val="111827"/>
                </a:solidFill>
                <a:latin typeface="Arial"/>
              </a:rPr>
              <a:t>Transparence</a:t>
            </a:r>
          </a:p>
        </p:txBody>
      </p:sp>
      <p:sp>
        <p:nvSpPr>
          <p:cNvPr id="15" name="TextBox 14"/>
          <p:cNvSpPr txBox="1"/>
          <p:nvPr/>
        </p:nvSpPr>
        <p:spPr>
          <a:xfrm>
            <a:off x="8026400" y="5384800"/>
            <a:ext cx="3352800" cy="635000"/>
          </a:xfrm>
          <a:prstGeom prst="rect">
            <a:avLst/>
          </a:prstGeom>
          <a:noFill/>
        </p:spPr>
        <p:txBody>
          <a:bodyPr wrap="square" lIns="0" rIns="0" tIns="0" bIns="0">
            <a:spAutoFit/>
          </a:bodyPr>
          <a:lstStyle/>
          <a:p>
            <a:pPr>
              <a:lnSpc>
                <a:spcPct val="132000"/>
              </a:lnSpc>
            </a:pPr>
            <a:r>
              <a:rPr sz="1150" b="0">
                <a:solidFill>
                  <a:srgbClr val="5D6675"/>
                </a:solidFill>
                <a:latin typeface="Arial"/>
              </a:rPr>
              <a:t>limites explicites,</a:t>
            </a:r>
          </a:p>
          <a:p>
            <a:pPr>
              <a:lnSpc>
                <a:spcPct val="132000"/>
              </a:lnSpc>
            </a:pPr>
            <a:r>
              <a:rPr sz="1150" b="0">
                <a:solidFill>
                  <a:srgbClr val="5D6675"/>
                </a:solidFill>
                <a:latin typeface="Arial"/>
              </a:rPr>
              <a:t>explicabilité exacte</a:t>
            </a:r>
          </a:p>
        </p:txBody>
      </p:sp>
      <p:sp>
        <p:nvSpPr>
          <p:cNvPr id="16" name="TextBox 15"/>
          <p:cNvSpPr txBox="1"/>
          <p:nvPr/>
        </p:nvSpPr>
        <p:spPr>
          <a:xfrm>
            <a:off x="609600" y="6299200"/>
            <a:ext cx="7620000" cy="254000"/>
          </a:xfrm>
          <a:prstGeom prst="rect">
            <a:avLst/>
          </a:prstGeom>
          <a:noFill/>
        </p:spPr>
        <p:txBody>
          <a:bodyPr wrap="square" lIns="0" rIns="0" tIns="0" bIns="0">
            <a:spAutoFit/>
          </a:bodyPr>
          <a:lstStyle/>
          <a:p>
            <a:r>
              <a:rPr sz="1250" b="1">
                <a:solidFill>
                  <a:srgbClr val="3D8DFF"/>
                </a:solidFill>
                <a:latin typeface="Arial"/>
              </a:rPr>
              <a:t>Merci de votre attention — questions bienvenues.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ANNEXE · A</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Les chiffres exacts, par univers</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26</a:t>
            </a:r>
          </a:p>
        </p:txBody>
      </p:sp>
      <p:sp>
        <p:nvSpPr>
          <p:cNvPr id="5" name="TextBox 4"/>
          <p:cNvSpPr txBox="1"/>
          <p:nvPr/>
        </p:nvSpPr>
        <p:spPr>
          <a:xfrm>
            <a:off x="609600" y="1651000"/>
            <a:ext cx="2717800" cy="254000"/>
          </a:xfrm>
          <a:prstGeom prst="rect">
            <a:avLst/>
          </a:prstGeom>
          <a:noFill/>
        </p:spPr>
        <p:txBody>
          <a:bodyPr wrap="square" lIns="0" rIns="0" tIns="0" bIns="0">
            <a:spAutoFit/>
          </a:bodyPr>
          <a:lstStyle/>
          <a:p>
            <a:r>
              <a:rPr sz="950" b="1">
                <a:solidFill>
                  <a:srgbClr val="3D8DFF"/>
                </a:solidFill>
                <a:latin typeface="Arial"/>
              </a:rPr>
              <a:t>UNIVERS</a:t>
            </a:r>
          </a:p>
        </p:txBody>
      </p:sp>
      <p:sp>
        <p:nvSpPr>
          <p:cNvPr id="6" name="TextBox 5"/>
          <p:cNvSpPr txBox="1"/>
          <p:nvPr/>
        </p:nvSpPr>
        <p:spPr>
          <a:xfrm>
            <a:off x="3454400" y="1651000"/>
            <a:ext cx="2717800" cy="254000"/>
          </a:xfrm>
          <a:prstGeom prst="rect">
            <a:avLst/>
          </a:prstGeom>
          <a:noFill/>
        </p:spPr>
        <p:txBody>
          <a:bodyPr wrap="square" lIns="0" rIns="0" tIns="0" bIns="0">
            <a:spAutoFit/>
          </a:bodyPr>
          <a:lstStyle/>
          <a:p>
            <a:r>
              <a:rPr sz="950" b="1">
                <a:solidFill>
                  <a:srgbClr val="3D8DFF"/>
                </a:solidFill>
                <a:latin typeface="Arial"/>
              </a:rPr>
              <a:t>COMPARATEUR CLASSIQUE</a:t>
            </a:r>
          </a:p>
        </p:txBody>
      </p:sp>
      <p:sp>
        <p:nvSpPr>
          <p:cNvPr id="7" name="TextBox 6"/>
          <p:cNvSpPr txBox="1"/>
          <p:nvPr/>
        </p:nvSpPr>
        <p:spPr>
          <a:xfrm>
            <a:off x="6299200" y="1651000"/>
            <a:ext cx="2717800" cy="254000"/>
          </a:xfrm>
          <a:prstGeom prst="rect">
            <a:avLst/>
          </a:prstGeom>
          <a:noFill/>
        </p:spPr>
        <p:txBody>
          <a:bodyPr wrap="square" lIns="0" rIns="0" tIns="0" bIns="0">
            <a:spAutoFit/>
          </a:bodyPr>
          <a:lstStyle/>
          <a:p>
            <a:r>
              <a:rPr sz="950" b="1">
                <a:solidFill>
                  <a:srgbClr val="3D8DFF"/>
                </a:solidFill>
                <a:latin typeface="Arial"/>
              </a:rPr>
              <a:t>SYSTÈME À RÉGIMES</a:t>
            </a:r>
          </a:p>
        </p:txBody>
      </p:sp>
      <p:sp>
        <p:nvSpPr>
          <p:cNvPr id="8" name="TextBox 7"/>
          <p:cNvSpPr txBox="1"/>
          <p:nvPr/>
        </p:nvSpPr>
        <p:spPr>
          <a:xfrm>
            <a:off x="9144000" y="1651000"/>
            <a:ext cx="2717800" cy="254000"/>
          </a:xfrm>
          <a:prstGeom prst="rect">
            <a:avLst/>
          </a:prstGeom>
          <a:noFill/>
        </p:spPr>
        <p:txBody>
          <a:bodyPr wrap="square" lIns="0" rIns="0" tIns="0" bIns="0">
            <a:spAutoFit/>
          </a:bodyPr>
          <a:lstStyle/>
          <a:p>
            <a:r>
              <a:rPr sz="950" b="1">
                <a:solidFill>
                  <a:srgbClr val="3D8DFF"/>
                </a:solidFill>
                <a:latin typeface="Arial"/>
              </a:rPr>
              <a:t>ÉCART OBSERVÉ</a:t>
            </a:r>
          </a:p>
        </p:txBody>
      </p:sp>
      <p:sp>
        <p:nvSpPr>
          <p:cNvPr id="9" name="Rounded Rectangle 8"/>
          <p:cNvSpPr/>
          <p:nvPr/>
        </p:nvSpPr>
        <p:spPr>
          <a:xfrm>
            <a:off x="609600" y="1879600"/>
            <a:ext cx="10972800" cy="5588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2006600"/>
            <a:ext cx="2717800" cy="304800"/>
          </a:xfrm>
          <a:prstGeom prst="rect">
            <a:avLst/>
          </a:prstGeom>
          <a:noFill/>
        </p:spPr>
        <p:txBody>
          <a:bodyPr wrap="square" lIns="0" rIns="0" tIns="0" bIns="0">
            <a:spAutoFit/>
          </a:bodyPr>
          <a:lstStyle/>
          <a:p>
            <a:r>
              <a:rPr sz="1200" b="1">
                <a:solidFill>
                  <a:srgbClr val="111827"/>
                </a:solidFill>
                <a:latin typeface="Arial"/>
              </a:rPr>
              <a:t>full_2021 · MAD</a:t>
            </a:r>
          </a:p>
        </p:txBody>
      </p:sp>
      <p:sp>
        <p:nvSpPr>
          <p:cNvPr id="11" name="TextBox 10"/>
          <p:cNvSpPr txBox="1"/>
          <p:nvPr/>
        </p:nvSpPr>
        <p:spPr>
          <a:xfrm>
            <a:off x="3606800" y="2006600"/>
            <a:ext cx="2717800" cy="304800"/>
          </a:xfrm>
          <a:prstGeom prst="rect">
            <a:avLst/>
          </a:prstGeom>
          <a:noFill/>
        </p:spPr>
        <p:txBody>
          <a:bodyPr wrap="square" lIns="0" rIns="0" tIns="0" bIns="0">
            <a:spAutoFit/>
          </a:bodyPr>
          <a:lstStyle/>
          <a:p>
            <a:r>
              <a:rPr sz="1200" b="0">
                <a:solidFill>
                  <a:srgbClr val="111827"/>
                </a:solidFill>
                <a:latin typeface="Arial"/>
              </a:rPr>
              <a:t>max_sharpe — 1,0690</a:t>
            </a:r>
          </a:p>
        </p:txBody>
      </p:sp>
      <p:sp>
        <p:nvSpPr>
          <p:cNvPr id="12" name="TextBox 11"/>
          <p:cNvSpPr txBox="1"/>
          <p:nvPr/>
        </p:nvSpPr>
        <p:spPr>
          <a:xfrm>
            <a:off x="6451600" y="2006600"/>
            <a:ext cx="2717800" cy="304800"/>
          </a:xfrm>
          <a:prstGeom prst="rect">
            <a:avLst/>
          </a:prstGeom>
          <a:noFill/>
        </p:spPr>
        <p:txBody>
          <a:bodyPr wrap="square" lIns="0" rIns="0" tIns="0" bIns="0">
            <a:spAutoFit/>
          </a:bodyPr>
          <a:lstStyle/>
          <a:p>
            <a:r>
              <a:rPr sz="1200" b="0">
                <a:solidFill>
                  <a:srgbClr val="111827"/>
                </a:solidFill>
                <a:latin typeface="Arial"/>
              </a:rPr>
              <a:t>0,9571</a:t>
            </a:r>
          </a:p>
        </p:txBody>
      </p:sp>
      <p:sp>
        <p:nvSpPr>
          <p:cNvPr id="13" name="TextBox 12"/>
          <p:cNvSpPr txBox="1"/>
          <p:nvPr/>
        </p:nvSpPr>
        <p:spPr>
          <a:xfrm>
            <a:off x="9296400" y="2006600"/>
            <a:ext cx="2717800" cy="304800"/>
          </a:xfrm>
          <a:prstGeom prst="rect">
            <a:avLst/>
          </a:prstGeom>
          <a:noFill/>
        </p:spPr>
        <p:txBody>
          <a:bodyPr wrap="square" lIns="0" rIns="0" tIns="0" bIns="0">
            <a:spAutoFit/>
          </a:bodyPr>
          <a:lstStyle/>
          <a:p>
            <a:r>
              <a:rPr sz="1200" b="0">
                <a:solidFill>
                  <a:srgbClr val="B7433E"/>
                </a:solidFill>
                <a:latin typeface="Arial"/>
              </a:rPr>
              <a:t>−10,47 %</a:t>
            </a:r>
          </a:p>
        </p:txBody>
      </p:sp>
      <p:sp>
        <p:nvSpPr>
          <p:cNvPr id="14" name="Rounded Rectangle 13"/>
          <p:cNvSpPr/>
          <p:nvPr/>
        </p:nvSpPr>
        <p:spPr>
          <a:xfrm>
            <a:off x="609600" y="2540000"/>
            <a:ext cx="10972800" cy="5588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2667000"/>
            <a:ext cx="2717800" cy="304800"/>
          </a:xfrm>
          <a:prstGeom prst="rect">
            <a:avLst/>
          </a:prstGeom>
          <a:noFill/>
        </p:spPr>
        <p:txBody>
          <a:bodyPr wrap="square" lIns="0" rIns="0" tIns="0" bIns="0">
            <a:spAutoFit/>
          </a:bodyPr>
          <a:lstStyle/>
          <a:p>
            <a:r>
              <a:rPr sz="1200" b="1">
                <a:solidFill>
                  <a:srgbClr val="111827"/>
                </a:solidFill>
                <a:latin typeface="Arial"/>
              </a:rPr>
              <a:t>etf_2017 · USD</a:t>
            </a:r>
          </a:p>
        </p:txBody>
      </p:sp>
      <p:sp>
        <p:nvSpPr>
          <p:cNvPr id="16" name="TextBox 15"/>
          <p:cNvSpPr txBox="1"/>
          <p:nvPr/>
        </p:nvSpPr>
        <p:spPr>
          <a:xfrm>
            <a:off x="3606800" y="2667000"/>
            <a:ext cx="2717800" cy="304800"/>
          </a:xfrm>
          <a:prstGeom prst="rect">
            <a:avLst/>
          </a:prstGeom>
          <a:noFill/>
        </p:spPr>
        <p:txBody>
          <a:bodyPr wrap="square" lIns="0" rIns="0" tIns="0" bIns="0">
            <a:spAutoFit/>
          </a:bodyPr>
          <a:lstStyle/>
          <a:p>
            <a:r>
              <a:rPr sz="1200" b="0">
                <a:solidFill>
                  <a:srgbClr val="111827"/>
                </a:solidFill>
                <a:latin typeface="Arial"/>
              </a:rPr>
              <a:t>min_variance_lw — 0,9525</a:t>
            </a:r>
          </a:p>
        </p:txBody>
      </p:sp>
      <p:sp>
        <p:nvSpPr>
          <p:cNvPr id="17" name="TextBox 16"/>
          <p:cNvSpPr txBox="1"/>
          <p:nvPr/>
        </p:nvSpPr>
        <p:spPr>
          <a:xfrm>
            <a:off x="6451600" y="2667000"/>
            <a:ext cx="2717800" cy="304800"/>
          </a:xfrm>
          <a:prstGeom prst="rect">
            <a:avLst/>
          </a:prstGeom>
          <a:noFill/>
        </p:spPr>
        <p:txBody>
          <a:bodyPr wrap="square" lIns="0" rIns="0" tIns="0" bIns="0">
            <a:spAutoFit/>
          </a:bodyPr>
          <a:lstStyle/>
          <a:p>
            <a:r>
              <a:rPr sz="1200" b="0">
                <a:solidFill>
                  <a:srgbClr val="111827"/>
                </a:solidFill>
                <a:latin typeface="Arial"/>
              </a:rPr>
              <a:t>0,9371</a:t>
            </a:r>
          </a:p>
        </p:txBody>
      </p:sp>
      <p:sp>
        <p:nvSpPr>
          <p:cNvPr id="18" name="TextBox 17"/>
          <p:cNvSpPr txBox="1"/>
          <p:nvPr/>
        </p:nvSpPr>
        <p:spPr>
          <a:xfrm>
            <a:off x="9296400" y="2667000"/>
            <a:ext cx="2717800" cy="304800"/>
          </a:xfrm>
          <a:prstGeom prst="rect">
            <a:avLst/>
          </a:prstGeom>
          <a:noFill/>
        </p:spPr>
        <p:txBody>
          <a:bodyPr wrap="square" lIns="0" rIns="0" tIns="0" bIns="0">
            <a:spAutoFit/>
          </a:bodyPr>
          <a:lstStyle/>
          <a:p>
            <a:r>
              <a:rPr sz="1200" b="0">
                <a:solidFill>
                  <a:srgbClr val="B7433E"/>
                </a:solidFill>
                <a:latin typeface="Arial"/>
              </a:rPr>
              <a:t>−1,62 %</a:t>
            </a:r>
          </a:p>
        </p:txBody>
      </p:sp>
      <p:sp>
        <p:nvSpPr>
          <p:cNvPr id="19" name="TextBox 18"/>
          <p:cNvSpPr txBox="1"/>
          <p:nvPr/>
        </p:nvSpPr>
        <p:spPr>
          <a:xfrm>
            <a:off x="609600" y="3403600"/>
            <a:ext cx="10972800" cy="254000"/>
          </a:xfrm>
          <a:prstGeom prst="rect">
            <a:avLst/>
          </a:prstGeom>
          <a:noFill/>
        </p:spPr>
        <p:txBody>
          <a:bodyPr wrap="square" lIns="0" rIns="0" tIns="0" bIns="0">
            <a:spAutoFit/>
          </a:bodyPr>
          <a:lstStyle/>
          <a:p>
            <a:r>
              <a:rPr sz="950" b="1">
                <a:solidFill>
                  <a:srgbClr val="3D8DFF"/>
                </a:solidFill>
                <a:latin typeface="Arial"/>
              </a:rPr>
              <a:t>EXTENSION DE RECHERCHE · global_2004 (10 ETF, 2004–2026)</a:t>
            </a:r>
          </a:p>
        </p:txBody>
      </p:sp>
      <p:sp>
        <p:nvSpPr>
          <p:cNvPr id="20" name="TextBox 19"/>
          <p:cNvSpPr txBox="1"/>
          <p:nvPr/>
        </p:nvSpPr>
        <p:spPr>
          <a:xfrm>
            <a:off x="609600" y="3733800"/>
            <a:ext cx="10972800" cy="1270000"/>
          </a:xfrm>
          <a:prstGeom prst="rect">
            <a:avLst/>
          </a:prstGeom>
          <a:noFill/>
        </p:spPr>
        <p:txBody>
          <a:bodyPr wrap="square" lIns="0" rIns="0" tIns="0" bIns="0">
            <a:spAutoFit/>
          </a:bodyPr>
          <a:lstStyle/>
          <a:p>
            <a:pPr>
              <a:lnSpc>
                <a:spcPct val="135000"/>
              </a:lnSpc>
            </a:pPr>
            <a:r>
              <a:rPr sz="1200" b="0">
                <a:solidFill>
                  <a:srgbClr val="5D6675"/>
                </a:solidFill>
                <a:latin typeface="Arial"/>
              </a:rPr>
              <a:t>Univers pré-enregistré et horodaté avant toute ingestion de données, construit pour que l’optimiseur puisse réellement exprimer une vue (249 allocations distinctes sur 249 rééquilibrages, contre 1 sur etf_2017).</a:t>
            </a:r>
          </a:p>
          <a:p>
            <a:pPr>
              <a:lnSpc>
                <a:spcPct val="135000"/>
              </a:lnSpc>
            </a:pPr>
            <a:r>
              <a:rPr sz="1200" b="0">
                <a:solidFill>
                  <a:srgbClr val="5D6675"/>
                </a:solidFill>
                <a:latin typeface="Arial"/>
              </a:rPr>
              <a:t>Résultat Q1 : 0,8923 pour le système à régimes contre 0,9785 pour le comparateur classique.</a:t>
            </a:r>
          </a:p>
        </p:txBody>
      </p:sp>
      <p:sp>
        <p:nvSpPr>
          <p:cNvPr id="21" name="TextBox 20"/>
          <p:cNvSpPr txBox="1"/>
          <p:nvPr/>
        </p:nvSpPr>
        <p:spPr>
          <a:xfrm>
            <a:off x="609600" y="5181600"/>
            <a:ext cx="10972800" cy="1016000"/>
          </a:xfrm>
          <a:prstGeom prst="rect">
            <a:avLst/>
          </a:prstGeom>
          <a:noFill/>
        </p:spPr>
        <p:txBody>
          <a:bodyPr wrap="square" lIns="0" rIns="0" tIns="0" bIns="0">
            <a:spAutoFit/>
          </a:bodyPr>
          <a:lstStyle/>
          <a:p>
            <a:pPr>
              <a:lnSpc>
                <a:spcPct val="135000"/>
              </a:lnSpc>
            </a:pPr>
            <a:r>
              <a:rPr sz="1150" b="0">
                <a:solidFill>
                  <a:srgbClr val="5D6675"/>
                </a:solidFill>
                <a:latin typeface="Arial"/>
              </a:rPr>
              <a:t>Les niveaux de Sharpe ne sont pas comparables d'un univers à l'autre : les deux univers sont libellés dans des devises différentes, sur des fenêtres différentes et avec un nombre d'actifs différent.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ANNEXE · B</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Intégrité des modèles et traçabilité</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27</a:t>
            </a:r>
          </a:p>
        </p:txBody>
      </p:sp>
      <p:sp>
        <p:nvSpPr>
          <p:cNvPr id="5" name="TextBox 4"/>
          <p:cNvSpPr txBox="1"/>
          <p:nvPr/>
        </p:nvSpPr>
        <p:spPr>
          <a:xfrm>
            <a:off x="609600" y="1727200"/>
            <a:ext cx="3302000" cy="558800"/>
          </a:xfrm>
          <a:prstGeom prst="rect">
            <a:avLst/>
          </a:prstGeom>
          <a:noFill/>
        </p:spPr>
        <p:txBody>
          <a:bodyPr wrap="square" lIns="0" rIns="0" tIns="0" bIns="0">
            <a:spAutoFit/>
          </a:bodyPr>
          <a:lstStyle/>
          <a:p>
            <a:r>
              <a:rPr sz="2800" b="1">
                <a:solidFill>
                  <a:srgbClr val="1B3A6B"/>
                </a:solidFill>
                <a:latin typeface="Arial"/>
              </a:rPr>
              <a:t>7 / 1 184</a:t>
            </a:r>
          </a:p>
        </p:txBody>
      </p:sp>
      <p:sp>
        <p:nvSpPr>
          <p:cNvPr id="6" name="TextBox 5"/>
          <p:cNvSpPr txBox="1"/>
          <p:nvPr/>
        </p:nvSpPr>
        <p:spPr>
          <a:xfrm>
            <a:off x="609600" y="2286000"/>
            <a:ext cx="3302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ajustements ayant utilisé un estimateur de repli — tracés, comptés et publiés</a:t>
            </a:r>
          </a:p>
        </p:txBody>
      </p:sp>
      <p:sp>
        <p:nvSpPr>
          <p:cNvPr id="7" name="TextBox 6"/>
          <p:cNvSpPr txBox="1"/>
          <p:nvPr/>
        </p:nvSpPr>
        <p:spPr>
          <a:xfrm>
            <a:off x="4318000" y="1727200"/>
            <a:ext cx="3302000" cy="558800"/>
          </a:xfrm>
          <a:prstGeom prst="rect">
            <a:avLst/>
          </a:prstGeom>
          <a:noFill/>
        </p:spPr>
        <p:txBody>
          <a:bodyPr wrap="square" lIns="0" rIns="0" tIns="0" bIns="0">
            <a:spAutoFit/>
          </a:bodyPr>
          <a:lstStyle/>
          <a:p>
            <a:r>
              <a:rPr sz="2800" b="1">
                <a:solidFill>
                  <a:srgbClr val="0F766E"/>
                </a:solidFill>
                <a:latin typeface="Arial"/>
              </a:rPr>
              <a:t>4</a:t>
            </a:r>
          </a:p>
        </p:txBody>
      </p:sp>
      <p:sp>
        <p:nvSpPr>
          <p:cNvPr id="8" name="TextBox 7"/>
          <p:cNvSpPr txBox="1"/>
          <p:nvPr/>
        </p:nvSpPr>
        <p:spPr>
          <a:xfrm>
            <a:off x="4318000" y="2286000"/>
            <a:ext cx="3302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stratégies évaluées sur 296 dates de rééquilibrage</a:t>
            </a:r>
          </a:p>
        </p:txBody>
      </p:sp>
      <p:sp>
        <p:nvSpPr>
          <p:cNvPr id="9" name="TextBox 8"/>
          <p:cNvSpPr txBox="1"/>
          <p:nvPr/>
        </p:nvSpPr>
        <p:spPr>
          <a:xfrm>
            <a:off x="8026400" y="1727200"/>
            <a:ext cx="3556000" cy="558800"/>
          </a:xfrm>
          <a:prstGeom prst="rect">
            <a:avLst/>
          </a:prstGeom>
          <a:noFill/>
        </p:spPr>
        <p:txBody>
          <a:bodyPr wrap="square" lIns="0" rIns="0" tIns="0" bIns="0">
            <a:spAutoFit/>
          </a:bodyPr>
          <a:lstStyle/>
          <a:p>
            <a:r>
              <a:rPr sz="2800" b="1">
                <a:solidFill>
                  <a:srgbClr val="A86812"/>
                </a:solidFill>
                <a:latin typeface="Arial"/>
              </a:rPr>
              <a:t>891</a:t>
            </a:r>
          </a:p>
        </p:txBody>
      </p:sp>
      <p:sp>
        <p:nvSpPr>
          <p:cNvPr id="10" name="TextBox 9"/>
          <p:cNvSpPr txBox="1"/>
          <p:nvPr/>
        </p:nvSpPr>
        <p:spPr>
          <a:xfrm>
            <a:off x="8026400" y="2286000"/>
            <a:ext cx="3556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tests automatisés, dont des tests de cohérence entre artefacts</a:t>
            </a:r>
          </a:p>
        </p:txBody>
      </p:sp>
      <p:sp>
        <p:nvSpPr>
          <p:cNvPr id="11" name="Rounded Rectangle 10"/>
          <p:cNvSpPr/>
          <p:nvPr/>
        </p:nvSpPr>
        <p:spPr>
          <a:xfrm>
            <a:off x="609600" y="3403600"/>
            <a:ext cx="10972800" cy="1498600"/>
          </a:xfrm>
          <a:prstGeom prst="roundRect">
            <a:avLst>
              <a:gd name="adj" fmla="val 3000"/>
            </a:avLst>
          </a:prstGeom>
          <a:solidFill>
            <a:srgbClr val="FFF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9000" y="3657600"/>
            <a:ext cx="10363200" cy="279400"/>
          </a:xfrm>
          <a:prstGeom prst="rect">
            <a:avLst/>
          </a:prstGeom>
          <a:noFill/>
        </p:spPr>
        <p:txBody>
          <a:bodyPr wrap="square" lIns="0" rIns="0" tIns="0" bIns="0">
            <a:spAutoFit/>
          </a:bodyPr>
          <a:lstStyle/>
          <a:p>
            <a:r>
              <a:rPr sz="1000" b="1">
                <a:solidFill>
                  <a:srgbClr val="A86812"/>
                </a:solidFill>
                <a:latin typeface="Arial"/>
              </a:rPr>
              <a:t>CE QUE CELA SIGNIFIE</a:t>
            </a:r>
          </a:p>
        </p:txBody>
      </p:sp>
      <p:sp>
        <p:nvSpPr>
          <p:cNvPr id="13" name="TextBox 12"/>
          <p:cNvSpPr txBox="1"/>
          <p:nvPr/>
        </p:nvSpPr>
        <p:spPr>
          <a:xfrm>
            <a:off x="889000" y="4013200"/>
            <a:ext cx="10363200" cy="762000"/>
          </a:xfrm>
          <a:prstGeom prst="rect">
            <a:avLst/>
          </a:prstGeom>
          <a:noFill/>
        </p:spPr>
        <p:txBody>
          <a:bodyPr wrap="square" lIns="0" rIns="0" tIns="0" bIns="0">
            <a:spAutoFit/>
          </a:bodyPr>
          <a:lstStyle/>
          <a:p>
            <a:pPr>
              <a:lnSpc>
                <a:spcPct val="130000"/>
              </a:lnSpc>
            </a:pPr>
            <a:r>
              <a:rPr sz="1250" b="0">
                <a:solidFill>
                  <a:srgbClr val="111827"/>
                </a:solidFill>
                <a:latin typeface="Arial"/>
              </a:rPr>
              <a:t>Lorsqu’un estimateur ne converge pas, le système bascule sur une solution de repli — et le dit. Les séries concernées sont</a:t>
            </a:r>
          </a:p>
          <a:p>
            <a:pPr>
              <a:lnSpc>
                <a:spcPct val="130000"/>
              </a:lnSpc>
            </a:pPr>
            <a:r>
              <a:rPr sz="1250" b="0">
                <a:solidFill>
                  <a:srgbClr val="111827"/>
                </a:solidFill>
                <a:latin typeface="Arial"/>
              </a:rPr>
              <a:t>signalées comme hybrides plutôt que présentées sous l’étiquette du modèle qu’elles ne sont pas.</a:t>
            </a:r>
          </a:p>
        </p:txBody>
      </p:sp>
      <p:sp>
        <p:nvSpPr>
          <p:cNvPr id="14" name="TextBox 13"/>
          <p:cNvSpPr txBox="1"/>
          <p:nvPr/>
        </p:nvSpPr>
        <p:spPr>
          <a:xfrm>
            <a:off x="609600" y="5156200"/>
            <a:ext cx="10972800" cy="1143000"/>
          </a:xfrm>
          <a:prstGeom prst="rect">
            <a:avLst/>
          </a:prstGeom>
          <a:noFill/>
        </p:spPr>
        <p:txBody>
          <a:bodyPr wrap="square" lIns="0" rIns="0" tIns="0" bIns="0">
            <a:spAutoFit/>
          </a:bodyPr>
          <a:lstStyle/>
          <a:p>
            <a:pPr>
              <a:lnSpc>
                <a:spcPct val="135000"/>
              </a:lnSpc>
            </a:pPr>
            <a:r>
              <a:rPr sz="1200" b="0">
                <a:solidFill>
                  <a:srgbClr val="5D6675"/>
                </a:solidFill>
                <a:latin typeface="Arial"/>
              </a:rPr>
              <a:t>Aucune stratégie n’est recommandée, déployée, ni présentée comme une valeur ajoutée établie. Ce livrable est un prototype de recherche académique : ni conseil financier, ni recommandation client, ni exécution d’ordres.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ANNEXE · C</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Les places ne ferment pas à la même heure — et ça se mesure</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28</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Casablanca clôture avant Wall Street. La corrélation du jour même sous-estime alors le lien réel entre les deux marchés.</a:t>
            </a:r>
          </a:p>
        </p:txBody>
      </p:sp>
      <p:sp>
        <p:nvSpPr>
          <p:cNvPr id="6" name="TextBox 5"/>
          <p:cNvSpPr txBox="1"/>
          <p:nvPr/>
        </p:nvSpPr>
        <p:spPr>
          <a:xfrm>
            <a:off x="609600" y="1778000"/>
            <a:ext cx="3302000" cy="558800"/>
          </a:xfrm>
          <a:prstGeom prst="rect">
            <a:avLst/>
          </a:prstGeom>
          <a:noFill/>
        </p:spPr>
        <p:txBody>
          <a:bodyPr wrap="square" lIns="0" rIns="0" tIns="0" bIns="0">
            <a:spAutoFit/>
          </a:bodyPr>
          <a:lstStyle/>
          <a:p>
            <a:r>
              <a:rPr sz="2800" b="1">
                <a:solidFill>
                  <a:srgbClr val="1B3A6B"/>
                </a:solidFill>
                <a:latin typeface="Arial"/>
              </a:rPr>
              <a:t>×19,1</a:t>
            </a:r>
          </a:p>
        </p:txBody>
      </p:sp>
      <p:sp>
        <p:nvSpPr>
          <p:cNvPr id="7" name="TextBox 6"/>
          <p:cNvSpPr txBox="1"/>
          <p:nvPr/>
        </p:nvSpPr>
        <p:spPr>
          <a:xfrm>
            <a:off x="609600" y="2336800"/>
            <a:ext cx="3302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la corrélation BVC/SPY décalée d’un jour, rapportée à celle du jour même (actifs américains : effet absent)</a:t>
            </a:r>
          </a:p>
        </p:txBody>
      </p:sp>
      <p:sp>
        <p:nvSpPr>
          <p:cNvPr id="8" name="TextBox 7"/>
          <p:cNvSpPr txBox="1"/>
          <p:nvPr/>
        </p:nvSpPr>
        <p:spPr>
          <a:xfrm>
            <a:off x="4318000" y="1778000"/>
            <a:ext cx="3302000" cy="558800"/>
          </a:xfrm>
          <a:prstGeom prst="rect">
            <a:avLst/>
          </a:prstGeom>
          <a:noFill/>
        </p:spPr>
        <p:txBody>
          <a:bodyPr wrap="square" lIns="0" rIns="0" tIns="0" bIns="0">
            <a:spAutoFit/>
          </a:bodyPr>
          <a:lstStyle/>
          <a:p>
            <a:r>
              <a:rPr sz="2800" b="1">
                <a:solidFill>
                  <a:srgbClr val="B7433E"/>
                </a:solidFill>
                <a:latin typeface="Arial"/>
              </a:rPr>
              <a:t>17,1 %</a:t>
            </a:r>
          </a:p>
        </p:txBody>
      </p:sp>
      <p:sp>
        <p:nvSpPr>
          <p:cNvPr id="9" name="TextBox 8"/>
          <p:cNvSpPr txBox="1"/>
          <p:nvPr/>
        </p:nvSpPr>
        <p:spPr>
          <a:xfrm>
            <a:off x="4318000" y="2336800"/>
            <a:ext cx="3302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des séances BVC sans aucune variation de prix</a:t>
            </a:r>
          </a:p>
        </p:txBody>
      </p:sp>
      <p:sp>
        <p:nvSpPr>
          <p:cNvPr id="10" name="TextBox 9"/>
          <p:cNvSpPr txBox="1"/>
          <p:nvPr/>
        </p:nvSpPr>
        <p:spPr>
          <a:xfrm>
            <a:off x="8026400" y="1778000"/>
            <a:ext cx="3556000" cy="558800"/>
          </a:xfrm>
          <a:prstGeom prst="rect">
            <a:avLst/>
          </a:prstGeom>
          <a:noFill/>
        </p:spPr>
        <p:txBody>
          <a:bodyPr wrap="square" lIns="0" rIns="0" tIns="0" bIns="0">
            <a:spAutoFit/>
          </a:bodyPr>
          <a:lstStyle/>
          <a:p>
            <a:r>
              <a:rPr sz="2800" b="1">
                <a:solidFill>
                  <a:srgbClr val="A86812"/>
                </a:solidFill>
                <a:latin typeface="Arial"/>
              </a:rPr>
              <a:t>100 %</a:t>
            </a:r>
          </a:p>
        </p:txBody>
      </p:sp>
      <p:sp>
        <p:nvSpPr>
          <p:cNvPr id="11" name="TextBox 10"/>
          <p:cNvSpPr txBox="1"/>
          <p:nvPr/>
        </p:nvSpPr>
        <p:spPr>
          <a:xfrm>
            <a:off x="8026400" y="2336800"/>
            <a:ext cx="3556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des rééquilibrages changent d’allocation selon l’estimateur de covariance retenu</a:t>
            </a:r>
          </a:p>
        </p:txBody>
      </p:sp>
      <p:sp>
        <p:nvSpPr>
          <p:cNvPr id="12" name="Rounded Rectangle 11"/>
          <p:cNvSpPr/>
          <p:nvPr/>
        </p:nvSpPr>
        <p:spPr>
          <a:xfrm>
            <a:off x="609600" y="3886200"/>
            <a:ext cx="10972800" cy="1320800"/>
          </a:xfrm>
          <a:prstGeom prst="roundRect">
            <a:avLst>
              <a:gd name="adj" fmla="val 3000"/>
            </a:avLst>
          </a:prstGeom>
          <a:solidFill>
            <a:srgbClr val="FFF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9000" y="4140200"/>
            <a:ext cx="10363200" cy="279400"/>
          </a:xfrm>
          <a:prstGeom prst="rect">
            <a:avLst/>
          </a:prstGeom>
          <a:noFill/>
        </p:spPr>
        <p:txBody>
          <a:bodyPr wrap="square" lIns="0" rIns="0" tIns="0" bIns="0">
            <a:spAutoFit/>
          </a:bodyPr>
          <a:lstStyle/>
          <a:p>
            <a:r>
              <a:rPr sz="1000" b="1">
                <a:solidFill>
                  <a:srgbClr val="A86812"/>
                </a:solidFill>
                <a:latin typeface="Arial"/>
              </a:rPr>
              <a:t>CE QUE NOUS EN CONCLUONS — ET CE QUE NOUS N’EN CONCLUONS PAS</a:t>
            </a:r>
          </a:p>
        </p:txBody>
      </p:sp>
      <p:sp>
        <p:nvSpPr>
          <p:cNvPr id="14" name="TextBox 13"/>
          <p:cNvSpPr txBox="1"/>
          <p:nvPr/>
        </p:nvSpPr>
        <p:spPr>
          <a:xfrm>
            <a:off x="889000" y="4495800"/>
            <a:ext cx="10363200" cy="609600"/>
          </a:xfrm>
          <a:prstGeom prst="rect">
            <a:avLst/>
          </a:prstGeom>
          <a:noFill/>
        </p:spPr>
        <p:txBody>
          <a:bodyPr wrap="square" lIns="0" rIns="0" tIns="0" bIns="0">
            <a:spAutoFit/>
          </a:bodyPr>
          <a:lstStyle/>
          <a:p>
            <a:pPr>
              <a:lnSpc>
                <a:spcPct val="130000"/>
              </a:lnSpc>
            </a:pPr>
            <a:r>
              <a:rPr sz="1200" b="0">
                <a:solidFill>
                  <a:srgbClr val="111827"/>
                </a:solidFill>
                <a:latin typeface="Arial"/>
              </a:rPr>
              <a:t>La mesure de covariance est une sensibilité de premier ordre : elle déplace l’allocation à chaque rééquilibrage.</a:t>
            </a:r>
          </a:p>
          <a:p>
            <a:pPr>
              <a:lnSpc>
                <a:spcPct val="130000"/>
              </a:lnSpc>
            </a:pPr>
            <a:r>
              <a:rPr sz="1200" b="0">
                <a:solidFill>
                  <a:srgbClr val="111827"/>
                </a:solidFill>
                <a:latin typeface="Arial"/>
              </a:rPr>
              <a:t>En revanche, aucun test apparié n’établit qu’un estimateur bat l’autre en Sharpe (p = 0,30) — l’écart observé ne doit pas être lu comme une supériorité.</a:t>
            </a:r>
          </a:p>
        </p:txBody>
      </p:sp>
      <p:sp>
        <p:nvSpPr>
          <p:cNvPr id="15" name="TextBox 14"/>
          <p:cNvSpPr txBox="1"/>
          <p:nvPr/>
        </p:nvSpPr>
        <p:spPr>
          <a:xfrm>
            <a:off x="609600" y="5435600"/>
            <a:ext cx="10972800" cy="381000"/>
          </a:xfrm>
          <a:prstGeom prst="rect">
            <a:avLst/>
          </a:prstGeom>
          <a:noFill/>
        </p:spPr>
        <p:txBody>
          <a:bodyPr wrap="square" lIns="0" rIns="0" tIns="0" bIns="0">
            <a:spAutoFit/>
          </a:bodyPr>
          <a:lstStyle/>
          <a:p>
            <a:pPr>
              <a:lnSpc>
                <a:spcPct val="125000"/>
              </a:lnSpc>
            </a:pPr>
            <a:r>
              <a:rPr sz="1100" b="0">
                <a:solidFill>
                  <a:srgbClr val="5D6675"/>
                </a:solidFill>
                <a:latin typeface="Arial"/>
              </a:rPr>
              <a:t>Détecté sur l’univers mixte et absent de l’univers témoin entièrement américain : la signature vient bien du décalage horaire, pas du hasard.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ANNEXE · D</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Et si notre protocole d’évaluation était lui-même sur-ajusté ?</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29</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Un second protocole, imbriqué, refait la sélection à l’intérieur de chaque repli et dégonfle le Sharpe du nombre d’essais.</a:t>
            </a:r>
          </a:p>
        </p:txBody>
      </p:sp>
      <p:sp>
        <p:nvSpPr>
          <p:cNvPr id="6" name="TextBox 5"/>
          <p:cNvSpPr txBox="1"/>
          <p:nvPr/>
        </p:nvSpPr>
        <p:spPr>
          <a:xfrm>
            <a:off x="609600" y="1905000"/>
            <a:ext cx="3302000" cy="584200"/>
          </a:xfrm>
          <a:prstGeom prst="rect">
            <a:avLst/>
          </a:prstGeom>
          <a:noFill/>
        </p:spPr>
        <p:txBody>
          <a:bodyPr wrap="square" lIns="0" rIns="0" tIns="0" bIns="0">
            <a:spAutoFit/>
          </a:bodyPr>
          <a:lstStyle/>
          <a:p>
            <a:r>
              <a:rPr sz="3000" b="1">
                <a:solidFill>
                  <a:srgbClr val="1B3A6B"/>
                </a:solidFill>
                <a:latin typeface="Arial"/>
              </a:rPr>
              <a:t>0,737</a:t>
            </a:r>
          </a:p>
        </p:txBody>
      </p:sp>
      <p:sp>
        <p:nvSpPr>
          <p:cNvPr id="7" name="TextBox 6"/>
          <p:cNvSpPr txBox="1"/>
          <p:nvPr/>
        </p:nvSpPr>
        <p:spPr>
          <a:xfrm>
            <a:off x="609600" y="2489200"/>
            <a:ext cx="3302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ratio de Sharpe dégonflé (DSR) après correction du nombre d’essais</a:t>
            </a:r>
          </a:p>
        </p:txBody>
      </p:sp>
      <p:sp>
        <p:nvSpPr>
          <p:cNvPr id="8" name="TextBox 7"/>
          <p:cNvSpPr txBox="1"/>
          <p:nvPr/>
        </p:nvSpPr>
        <p:spPr>
          <a:xfrm>
            <a:off x="4318000" y="1905000"/>
            <a:ext cx="3302000" cy="584200"/>
          </a:xfrm>
          <a:prstGeom prst="rect">
            <a:avLst/>
          </a:prstGeom>
          <a:noFill/>
        </p:spPr>
        <p:txBody>
          <a:bodyPr wrap="square" lIns="0" rIns="0" tIns="0" bIns="0">
            <a:spAutoFit/>
          </a:bodyPr>
          <a:lstStyle/>
          <a:p>
            <a:r>
              <a:rPr sz="3000" b="1">
                <a:solidFill>
                  <a:srgbClr val="0F766E"/>
                </a:solidFill>
                <a:latin typeface="Arial"/>
              </a:rPr>
              <a:t>198</a:t>
            </a:r>
          </a:p>
        </p:txBody>
      </p:sp>
      <p:sp>
        <p:nvSpPr>
          <p:cNvPr id="9" name="TextBox 8"/>
          <p:cNvSpPr txBox="1"/>
          <p:nvPr/>
        </p:nvSpPr>
        <p:spPr>
          <a:xfrm>
            <a:off x="4318000" y="2489200"/>
            <a:ext cx="3302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configurations dans la famille de recherche corrigée</a:t>
            </a:r>
          </a:p>
        </p:txBody>
      </p:sp>
      <p:sp>
        <p:nvSpPr>
          <p:cNvPr id="10" name="TextBox 9"/>
          <p:cNvSpPr txBox="1"/>
          <p:nvPr/>
        </p:nvSpPr>
        <p:spPr>
          <a:xfrm>
            <a:off x="8026400" y="1905000"/>
            <a:ext cx="3556000" cy="533400"/>
          </a:xfrm>
          <a:prstGeom prst="rect">
            <a:avLst/>
          </a:prstGeom>
          <a:noFill/>
        </p:spPr>
        <p:txBody>
          <a:bodyPr wrap="square" lIns="0" rIns="0" tIns="0" bIns="0">
            <a:spAutoFit/>
          </a:bodyPr>
          <a:lstStyle/>
          <a:p>
            <a:r>
              <a:rPr sz="2600" b="1">
                <a:solidFill>
                  <a:srgbClr val="A86812"/>
                </a:solidFill>
                <a:latin typeface="Arial"/>
              </a:rPr>
              <a:t>781</a:t>
            </a:r>
          </a:p>
        </p:txBody>
      </p:sp>
      <p:sp>
        <p:nvSpPr>
          <p:cNvPr id="11" name="TextBox 10"/>
          <p:cNvSpPr txBox="1"/>
          <p:nvPr/>
        </p:nvSpPr>
        <p:spPr>
          <a:xfrm>
            <a:off x="8026400" y="2438400"/>
            <a:ext cx="3556000" cy="508000"/>
          </a:xfrm>
          <a:prstGeom prst="rect">
            <a:avLst/>
          </a:prstGeom>
          <a:noFill/>
        </p:spPr>
        <p:txBody>
          <a:bodyPr wrap="square" lIns="0" rIns="0" tIns="0" bIns="0">
            <a:spAutoFit/>
          </a:bodyPr>
          <a:lstStyle/>
          <a:p>
            <a:pPr>
              <a:lnSpc>
                <a:spcPct val="120000"/>
              </a:lnSpc>
            </a:pPr>
            <a:r>
              <a:rPr sz="1150" b="0">
                <a:solidFill>
                  <a:srgbClr val="5D6675"/>
                </a:solidFill>
                <a:latin typeface="Arial"/>
              </a:rPr>
              <a:t>séances hors échantillon, du 28/07/2023 au 24/07/2026</a:t>
            </a:r>
          </a:p>
        </p:txBody>
      </p:sp>
      <p:sp>
        <p:nvSpPr>
          <p:cNvPr id="12" name="Rounded Rectangle 11"/>
          <p:cNvSpPr/>
          <p:nvPr/>
        </p:nvSpPr>
        <p:spPr>
          <a:xfrm>
            <a:off x="609600" y="3759200"/>
            <a:ext cx="10972800" cy="13970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9000" y="4013200"/>
            <a:ext cx="10363200" cy="279400"/>
          </a:xfrm>
          <a:prstGeom prst="rect">
            <a:avLst/>
          </a:prstGeom>
          <a:noFill/>
        </p:spPr>
        <p:txBody>
          <a:bodyPr wrap="square" lIns="0" rIns="0" tIns="0" bIns="0">
            <a:spAutoFit/>
          </a:bodyPr>
          <a:lstStyle/>
          <a:p>
            <a:r>
              <a:rPr sz="1000" b="1">
                <a:solidFill>
                  <a:srgbClr val="3D8DFF"/>
                </a:solidFill>
                <a:latin typeface="Arial"/>
              </a:rPr>
              <a:t>CE QU’IL FAUT EN RETENIR</a:t>
            </a:r>
          </a:p>
        </p:txBody>
      </p:sp>
      <p:sp>
        <p:nvSpPr>
          <p:cNvPr id="14" name="TextBox 13"/>
          <p:cNvSpPr txBox="1"/>
          <p:nvPr/>
        </p:nvSpPr>
        <p:spPr>
          <a:xfrm>
            <a:off x="889000" y="4368800"/>
            <a:ext cx="10363200" cy="635000"/>
          </a:xfrm>
          <a:prstGeom prst="rect">
            <a:avLst/>
          </a:prstGeom>
          <a:noFill/>
        </p:spPr>
        <p:txBody>
          <a:bodyPr wrap="square" lIns="0" rIns="0" tIns="0" bIns="0">
            <a:spAutoFit/>
          </a:bodyPr>
          <a:lstStyle/>
          <a:p>
            <a:pPr>
              <a:lnSpc>
                <a:spcPct val="130000"/>
              </a:lnSpc>
            </a:pPr>
            <a:r>
              <a:rPr sz="1200" b="0">
                <a:solidFill>
                  <a:srgbClr val="111827"/>
                </a:solidFill>
                <a:latin typeface="Arial"/>
              </a:rPr>
              <a:t>Le classement des stratégies dépend du protocole d’évaluation retenu et de la fenêtre hors échantillon associée.</a:t>
            </a:r>
          </a:p>
          <a:p>
            <a:pPr>
              <a:lnSpc>
                <a:spcPct val="130000"/>
              </a:lnSpc>
            </a:pPr>
            <a:r>
              <a:rPr sz="1200" b="0">
                <a:solidFill>
                  <a:srgbClr val="111827"/>
                </a:solidFill>
                <a:latin typeface="Arial"/>
              </a:rPr>
              <a:t>Nous le disons plutôt que de choisir le protocole qui nous arrange — c’est précisément le genre de choix qu’une correction de data snooping est censée neutraliser.</a:t>
            </a:r>
          </a:p>
        </p:txBody>
      </p:sp>
      <p:sp>
        <p:nvSpPr>
          <p:cNvPr id="15" name="TextBox 14"/>
          <p:cNvSpPr txBox="1"/>
          <p:nvPr/>
        </p:nvSpPr>
        <p:spPr>
          <a:xfrm>
            <a:off x="609600" y="5384800"/>
            <a:ext cx="10972800" cy="381000"/>
          </a:xfrm>
          <a:prstGeom prst="rect">
            <a:avLst/>
          </a:prstGeom>
          <a:noFill/>
        </p:spPr>
        <p:txBody>
          <a:bodyPr wrap="square" lIns="0" rIns="0" tIns="0" bIns="0">
            <a:spAutoFit/>
          </a:bodyPr>
          <a:lstStyle/>
          <a:p>
            <a:pPr>
              <a:lnSpc>
                <a:spcPct val="125000"/>
              </a:lnSpc>
            </a:pPr>
            <a:r>
              <a:rPr sz="1100" b="0">
                <a:solidFill>
                  <a:srgbClr val="5D6675"/>
                </a:solidFill>
                <a:latin typeface="Arial"/>
              </a:rPr>
              <a:t>Univers full_2021, libellé en MAD · meilleure configuration : regime_conditional.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600" y="279400"/>
            <a:ext cx="7112000" cy="203200"/>
          </a:xfrm>
          <a:prstGeom prst="rect">
            <a:avLst/>
          </a:prstGeom>
          <a:noFill/>
        </p:spPr>
        <p:txBody>
          <a:bodyPr wrap="square" lIns="0" rIns="0" tIns="0" bIns="0">
            <a:spAutoFit/>
          </a:bodyPr>
          <a:lstStyle/>
          <a:p>
            <a:r>
              <a:rPr sz="900" b="1">
                <a:solidFill>
                  <a:srgbClr val="3D8DFF"/>
                </a:solidFill>
                <a:latin typeface="Arial"/>
              </a:rPr>
              <a:t>ANNEXE · E</a:t>
            </a:r>
          </a:p>
        </p:txBody>
      </p:sp>
      <p:sp>
        <p:nvSpPr>
          <p:cNvPr id="3" name="TextBox 2"/>
          <p:cNvSpPr txBox="1"/>
          <p:nvPr/>
        </p:nvSpPr>
        <p:spPr>
          <a:xfrm>
            <a:off x="609600" y="558800"/>
            <a:ext cx="10668000" cy="558800"/>
          </a:xfrm>
          <a:prstGeom prst="rect">
            <a:avLst/>
          </a:prstGeom>
          <a:noFill/>
        </p:spPr>
        <p:txBody>
          <a:bodyPr wrap="square" lIns="0" rIns="0" tIns="0" bIns="0">
            <a:spAutoFit/>
          </a:bodyPr>
          <a:lstStyle/>
          <a:p>
            <a:r>
              <a:rPr sz="2600" b="1">
                <a:solidFill>
                  <a:srgbClr val="111827"/>
                </a:solidFill>
                <a:latin typeface="Arial"/>
              </a:rPr>
              <a:t>La pile technique</a:t>
            </a:r>
          </a:p>
        </p:txBody>
      </p:sp>
      <p:sp>
        <p:nvSpPr>
          <p:cNvPr id="4" name="TextBox 3"/>
          <p:cNvSpPr txBox="1"/>
          <p:nvPr/>
        </p:nvSpPr>
        <p:spPr>
          <a:xfrm>
            <a:off x="11430000" y="342900"/>
            <a:ext cx="431800" cy="228600"/>
          </a:xfrm>
          <a:prstGeom prst="rect">
            <a:avLst/>
          </a:prstGeom>
          <a:noFill/>
        </p:spPr>
        <p:txBody>
          <a:bodyPr wrap="square" lIns="0" rIns="0" tIns="0" bIns="0">
            <a:spAutoFit/>
          </a:bodyPr>
          <a:lstStyle/>
          <a:p>
            <a:pPr algn="r"/>
            <a:r>
              <a:rPr sz="900" b="1">
                <a:solidFill>
                  <a:srgbClr val="5D6675"/>
                </a:solidFill>
                <a:latin typeface="Arial"/>
              </a:rPr>
              <a:t>30</a:t>
            </a:r>
          </a:p>
        </p:txBody>
      </p:sp>
      <p:sp>
        <p:nvSpPr>
          <p:cNvPr id="5" name="TextBox 4"/>
          <p:cNvSpPr txBox="1"/>
          <p:nvPr/>
        </p:nvSpPr>
        <p:spPr>
          <a:xfrm>
            <a:off x="609600" y="1092200"/>
            <a:ext cx="10668000" cy="254000"/>
          </a:xfrm>
          <a:prstGeom prst="rect">
            <a:avLst/>
          </a:prstGeom>
          <a:noFill/>
        </p:spPr>
        <p:txBody>
          <a:bodyPr wrap="square" lIns="0" rIns="0" tIns="0" bIns="0">
            <a:spAutoFit/>
          </a:bodyPr>
          <a:lstStyle/>
          <a:p>
            <a:r>
              <a:rPr sz="1250" b="0">
                <a:solidFill>
                  <a:srgbClr val="5D6675"/>
                </a:solidFill>
                <a:latin typeface="Arial"/>
              </a:rPr>
              <a:t>Tout est conteneurisé et rejouable : un dépôt cloné reproduit les mêmes chiffres, sans intervention manuelle.</a:t>
            </a:r>
          </a:p>
        </p:txBody>
      </p:sp>
      <p:sp>
        <p:nvSpPr>
          <p:cNvPr id="6" name="Rounded Rectangle 5"/>
          <p:cNvSpPr/>
          <p:nvPr/>
        </p:nvSpPr>
        <p:spPr>
          <a:xfrm>
            <a:off x="609600" y="1574800"/>
            <a:ext cx="2032000" cy="14986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2800" y="1803400"/>
            <a:ext cx="355600" cy="38100"/>
          </a:xfrm>
          <a:prstGeom prst="rect">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2006600"/>
            <a:ext cx="1651000" cy="254000"/>
          </a:xfrm>
          <a:prstGeom prst="rect">
            <a:avLst/>
          </a:prstGeom>
          <a:noFill/>
        </p:spPr>
        <p:txBody>
          <a:bodyPr wrap="square" lIns="0" rIns="0" tIns="0" bIns="0">
            <a:spAutoFit/>
          </a:bodyPr>
          <a:lstStyle/>
          <a:p>
            <a:r>
              <a:rPr sz="1150" b="1">
                <a:solidFill>
                  <a:srgbClr val="1B3A6B"/>
                </a:solidFill>
                <a:latin typeface="Arial"/>
              </a:rPr>
              <a:t>Données</a:t>
            </a:r>
          </a:p>
        </p:txBody>
      </p:sp>
      <p:sp>
        <p:nvSpPr>
          <p:cNvPr id="9" name="TextBox 8"/>
          <p:cNvSpPr txBox="1"/>
          <p:nvPr/>
        </p:nvSpPr>
        <p:spPr>
          <a:xfrm>
            <a:off x="812800" y="2311400"/>
            <a:ext cx="1676400" cy="635000"/>
          </a:xfrm>
          <a:prstGeom prst="rect">
            <a:avLst/>
          </a:prstGeom>
          <a:noFill/>
        </p:spPr>
        <p:txBody>
          <a:bodyPr wrap="square" lIns="0" rIns="0" tIns="0" bIns="0">
            <a:spAutoFit/>
          </a:bodyPr>
          <a:lstStyle/>
          <a:p>
            <a:pPr>
              <a:lnSpc>
                <a:spcPct val="130000"/>
              </a:lnSpc>
            </a:pPr>
            <a:r>
              <a:rPr sz="1000" b="0">
                <a:solidFill>
                  <a:srgbClr val="5D6675"/>
                </a:solidFill>
                <a:latin typeface="Arial"/>
              </a:rPr>
              <a:t>DVC + stockage objet</a:t>
            </a:r>
          </a:p>
          <a:p>
            <a:pPr>
              <a:lnSpc>
                <a:spcPct val="130000"/>
              </a:lnSpc>
            </a:pPr>
            <a:r>
              <a:rPr sz="1000" b="0">
                <a:solidFill>
                  <a:srgbClr val="5D6675"/>
                </a:solidFill>
                <a:latin typeface="Arial"/>
              </a:rPr>
              <a:t>contrats de schéma</a:t>
            </a:r>
          </a:p>
        </p:txBody>
      </p:sp>
      <p:sp>
        <p:nvSpPr>
          <p:cNvPr id="10" name="Rounded Rectangle 9"/>
          <p:cNvSpPr/>
          <p:nvPr/>
        </p:nvSpPr>
        <p:spPr>
          <a:xfrm>
            <a:off x="2844800" y="1574800"/>
            <a:ext cx="2032000" cy="14986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48000" y="1803400"/>
            <a:ext cx="35560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48000" y="2006600"/>
            <a:ext cx="1651000" cy="254000"/>
          </a:xfrm>
          <a:prstGeom prst="rect">
            <a:avLst/>
          </a:prstGeom>
          <a:noFill/>
        </p:spPr>
        <p:txBody>
          <a:bodyPr wrap="square" lIns="0" rIns="0" tIns="0" bIns="0">
            <a:spAutoFit/>
          </a:bodyPr>
          <a:lstStyle/>
          <a:p>
            <a:r>
              <a:rPr sz="1150" b="1">
                <a:solidFill>
                  <a:srgbClr val="0F766E"/>
                </a:solidFill>
                <a:latin typeface="Arial"/>
              </a:rPr>
              <a:t>Expériences</a:t>
            </a:r>
          </a:p>
        </p:txBody>
      </p:sp>
      <p:sp>
        <p:nvSpPr>
          <p:cNvPr id="13" name="TextBox 12"/>
          <p:cNvSpPr txBox="1"/>
          <p:nvPr/>
        </p:nvSpPr>
        <p:spPr>
          <a:xfrm>
            <a:off x="3048000" y="2311400"/>
            <a:ext cx="1676400" cy="635000"/>
          </a:xfrm>
          <a:prstGeom prst="rect">
            <a:avLst/>
          </a:prstGeom>
          <a:noFill/>
        </p:spPr>
        <p:txBody>
          <a:bodyPr wrap="square" lIns="0" rIns="0" tIns="0" bIns="0">
            <a:spAutoFit/>
          </a:bodyPr>
          <a:lstStyle/>
          <a:p>
            <a:pPr>
              <a:lnSpc>
                <a:spcPct val="130000"/>
              </a:lnSpc>
            </a:pPr>
            <a:r>
              <a:rPr sz="1000" b="0">
                <a:solidFill>
                  <a:srgbClr val="5D6675"/>
                </a:solidFill>
                <a:latin typeface="Arial"/>
              </a:rPr>
              <a:t>MLflow</a:t>
            </a:r>
          </a:p>
          <a:p>
            <a:pPr>
              <a:lnSpc>
                <a:spcPct val="130000"/>
              </a:lnSpc>
            </a:pPr>
            <a:r>
              <a:rPr sz="1000" b="0">
                <a:solidFill>
                  <a:srgbClr val="5D6675"/>
                </a:solidFill>
                <a:latin typeface="Arial"/>
              </a:rPr>
              <a:t>télémétrie par ajustement</a:t>
            </a:r>
          </a:p>
        </p:txBody>
      </p:sp>
      <p:sp>
        <p:nvSpPr>
          <p:cNvPr id="14" name="Rounded Rectangle 13"/>
          <p:cNvSpPr/>
          <p:nvPr/>
        </p:nvSpPr>
        <p:spPr>
          <a:xfrm>
            <a:off x="5080000" y="1574800"/>
            <a:ext cx="2032000" cy="14986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283200" y="1803400"/>
            <a:ext cx="355600" cy="38100"/>
          </a:xfrm>
          <a:prstGeom prst="rect">
            <a:avLst/>
          </a:prstGeom>
          <a:solidFill>
            <a:srgbClr val="3D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83200" y="2006600"/>
            <a:ext cx="1651000" cy="254000"/>
          </a:xfrm>
          <a:prstGeom prst="rect">
            <a:avLst/>
          </a:prstGeom>
          <a:noFill/>
        </p:spPr>
        <p:txBody>
          <a:bodyPr wrap="square" lIns="0" rIns="0" tIns="0" bIns="0">
            <a:spAutoFit/>
          </a:bodyPr>
          <a:lstStyle/>
          <a:p>
            <a:r>
              <a:rPr sz="1150" b="1">
                <a:solidFill>
                  <a:srgbClr val="3D8DFF"/>
                </a:solidFill>
                <a:latin typeface="Arial"/>
              </a:rPr>
              <a:t>Orchestration</a:t>
            </a:r>
          </a:p>
        </p:txBody>
      </p:sp>
      <p:sp>
        <p:nvSpPr>
          <p:cNvPr id="17" name="TextBox 16"/>
          <p:cNvSpPr txBox="1"/>
          <p:nvPr/>
        </p:nvSpPr>
        <p:spPr>
          <a:xfrm>
            <a:off x="5283200" y="2311400"/>
            <a:ext cx="1676400" cy="635000"/>
          </a:xfrm>
          <a:prstGeom prst="rect">
            <a:avLst/>
          </a:prstGeom>
          <a:noFill/>
        </p:spPr>
        <p:txBody>
          <a:bodyPr wrap="square" lIns="0" rIns="0" tIns="0" bIns="0">
            <a:spAutoFit/>
          </a:bodyPr>
          <a:lstStyle/>
          <a:p>
            <a:pPr>
              <a:lnSpc>
                <a:spcPct val="130000"/>
              </a:lnSpc>
            </a:pPr>
            <a:r>
              <a:rPr sz="1000" b="0">
                <a:solidFill>
                  <a:srgbClr val="5D6675"/>
                </a:solidFill>
                <a:latin typeface="Arial"/>
              </a:rPr>
              <a:t>Dagster</a:t>
            </a:r>
          </a:p>
          <a:p>
            <a:pPr>
              <a:lnSpc>
                <a:spcPct val="130000"/>
              </a:lnSpc>
            </a:pPr>
            <a:r>
              <a:rPr sz="1000" b="0">
                <a:solidFill>
                  <a:srgbClr val="5D6675"/>
                </a:solidFill>
                <a:latin typeface="Arial"/>
              </a:rPr>
              <a:t>dépendances explicites</a:t>
            </a:r>
          </a:p>
        </p:txBody>
      </p:sp>
      <p:sp>
        <p:nvSpPr>
          <p:cNvPr id="18" name="Rounded Rectangle 17"/>
          <p:cNvSpPr/>
          <p:nvPr/>
        </p:nvSpPr>
        <p:spPr>
          <a:xfrm>
            <a:off x="7315200" y="1574800"/>
            <a:ext cx="2032000" cy="14986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518400" y="1803400"/>
            <a:ext cx="355600" cy="38100"/>
          </a:xfrm>
          <a:prstGeom prst="rect">
            <a:avLst/>
          </a:prstGeom>
          <a:solidFill>
            <a:srgbClr val="A868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8400" y="2006600"/>
            <a:ext cx="1651000" cy="254000"/>
          </a:xfrm>
          <a:prstGeom prst="rect">
            <a:avLst/>
          </a:prstGeom>
          <a:noFill/>
        </p:spPr>
        <p:txBody>
          <a:bodyPr wrap="square" lIns="0" rIns="0" tIns="0" bIns="0">
            <a:spAutoFit/>
          </a:bodyPr>
          <a:lstStyle/>
          <a:p>
            <a:r>
              <a:rPr sz="1150" b="1">
                <a:solidFill>
                  <a:srgbClr val="A86812"/>
                </a:solidFill>
                <a:latin typeface="Arial"/>
              </a:rPr>
              <a:t>Diffusion</a:t>
            </a:r>
          </a:p>
        </p:txBody>
      </p:sp>
      <p:sp>
        <p:nvSpPr>
          <p:cNvPr id="21" name="TextBox 20"/>
          <p:cNvSpPr txBox="1"/>
          <p:nvPr/>
        </p:nvSpPr>
        <p:spPr>
          <a:xfrm>
            <a:off x="7518400" y="2311400"/>
            <a:ext cx="1676400" cy="635000"/>
          </a:xfrm>
          <a:prstGeom prst="rect">
            <a:avLst/>
          </a:prstGeom>
          <a:noFill/>
        </p:spPr>
        <p:txBody>
          <a:bodyPr wrap="square" lIns="0" rIns="0" tIns="0" bIns="0">
            <a:spAutoFit/>
          </a:bodyPr>
          <a:lstStyle/>
          <a:p>
            <a:pPr>
              <a:lnSpc>
                <a:spcPct val="130000"/>
              </a:lnSpc>
            </a:pPr>
            <a:r>
              <a:rPr sz="1000" b="0">
                <a:solidFill>
                  <a:srgbClr val="5D6675"/>
                </a:solidFill>
                <a:latin typeface="Arial"/>
              </a:rPr>
              <a:t>FastAPI + Streamlit</a:t>
            </a:r>
          </a:p>
          <a:p>
            <a:pPr>
              <a:lnSpc>
                <a:spcPct val="130000"/>
              </a:lnSpc>
            </a:pPr>
            <a:r>
              <a:rPr sz="1000" b="0">
                <a:solidFill>
                  <a:srgbClr val="5D6675"/>
                </a:solidFill>
                <a:latin typeface="Arial"/>
              </a:rPr>
              <a:t>lecture seule</a:t>
            </a:r>
          </a:p>
        </p:txBody>
      </p:sp>
      <p:sp>
        <p:nvSpPr>
          <p:cNvPr id="22" name="Rounded Rectangle 21"/>
          <p:cNvSpPr/>
          <p:nvPr/>
        </p:nvSpPr>
        <p:spPr>
          <a:xfrm>
            <a:off x="9550400" y="1574800"/>
            <a:ext cx="2032000" cy="1498600"/>
          </a:xfrm>
          <a:prstGeom prst="roundRect">
            <a:avLst>
              <a:gd name="adj" fmla="val 3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753600" y="1803400"/>
            <a:ext cx="355600" cy="38100"/>
          </a:xfrm>
          <a:prstGeom prst="rect">
            <a:avLst/>
          </a:prstGeom>
          <a:solidFill>
            <a:srgbClr val="2F7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53600" y="2006600"/>
            <a:ext cx="1651000" cy="254000"/>
          </a:xfrm>
          <a:prstGeom prst="rect">
            <a:avLst/>
          </a:prstGeom>
          <a:noFill/>
        </p:spPr>
        <p:txBody>
          <a:bodyPr wrap="square" lIns="0" rIns="0" tIns="0" bIns="0">
            <a:spAutoFit/>
          </a:bodyPr>
          <a:lstStyle/>
          <a:p>
            <a:r>
              <a:rPr sz="1150" b="1">
                <a:solidFill>
                  <a:srgbClr val="2F7D3B"/>
                </a:solidFill>
                <a:latin typeface="Arial"/>
              </a:rPr>
              <a:t>Industrialisation</a:t>
            </a:r>
          </a:p>
        </p:txBody>
      </p:sp>
      <p:sp>
        <p:nvSpPr>
          <p:cNvPr id="25" name="TextBox 24"/>
          <p:cNvSpPr txBox="1"/>
          <p:nvPr/>
        </p:nvSpPr>
        <p:spPr>
          <a:xfrm>
            <a:off x="9753600" y="2311400"/>
            <a:ext cx="1676400" cy="635000"/>
          </a:xfrm>
          <a:prstGeom prst="rect">
            <a:avLst/>
          </a:prstGeom>
          <a:noFill/>
        </p:spPr>
        <p:txBody>
          <a:bodyPr wrap="square" lIns="0" rIns="0" tIns="0" bIns="0">
            <a:spAutoFit/>
          </a:bodyPr>
          <a:lstStyle/>
          <a:p>
            <a:pPr>
              <a:lnSpc>
                <a:spcPct val="130000"/>
              </a:lnSpc>
            </a:pPr>
            <a:r>
              <a:rPr sz="1000" b="0">
                <a:solidFill>
                  <a:srgbClr val="5D6675"/>
                </a:solidFill>
                <a:latin typeface="Arial"/>
              </a:rPr>
              <a:t>Docker · CI GitHub</a:t>
            </a:r>
          </a:p>
          <a:p>
            <a:pPr>
              <a:lnSpc>
                <a:spcPct val="130000"/>
              </a:lnSpc>
            </a:pPr>
            <a:r>
              <a:rPr sz="1000" b="0">
                <a:solidFill>
                  <a:srgbClr val="5D6675"/>
                </a:solidFill>
                <a:latin typeface="Arial"/>
              </a:rPr>
              <a:t>portes de release</a:t>
            </a:r>
          </a:p>
        </p:txBody>
      </p:sp>
      <p:pic>
        <p:nvPicPr>
          <p:cNvPr id="26" name="Picture 25" descr="mlflow_ui.png"/>
          <p:cNvPicPr>
            <a:picLocks noChangeAspect="1"/>
          </p:cNvPicPr>
          <p:nvPr/>
        </p:nvPicPr>
        <p:blipFill>
          <a:blip r:embed="rId2"/>
          <a:stretch>
            <a:fillRect/>
          </a:stretch>
        </p:blipFill>
        <p:spPr>
          <a:xfrm>
            <a:off x="966469" y="3276600"/>
            <a:ext cx="4620260" cy="2717800"/>
          </a:xfrm>
          <a:prstGeom prst="rect">
            <a:avLst/>
          </a:prstGeom>
        </p:spPr>
      </p:pic>
      <p:pic>
        <p:nvPicPr>
          <p:cNvPr id="27" name="Picture 26" descr="dagster_assets.png"/>
          <p:cNvPicPr>
            <a:picLocks noChangeAspect="1"/>
          </p:cNvPicPr>
          <p:nvPr/>
        </p:nvPicPr>
        <p:blipFill>
          <a:blip r:embed="rId3"/>
          <a:stretch>
            <a:fillRect/>
          </a:stretch>
        </p:blipFill>
        <p:spPr>
          <a:xfrm>
            <a:off x="6385137" y="3276600"/>
            <a:ext cx="5060525" cy="2717800"/>
          </a:xfrm>
          <a:prstGeom prst="rect">
            <a:avLst/>
          </a:prstGeom>
        </p:spPr>
      </p:pic>
      <p:sp>
        <p:nvSpPr>
          <p:cNvPr id="28" name="TextBox 27"/>
          <p:cNvSpPr txBox="1"/>
          <p:nvPr/>
        </p:nvSpPr>
        <p:spPr>
          <a:xfrm>
            <a:off x="609600" y="6096000"/>
            <a:ext cx="5334000" cy="254000"/>
          </a:xfrm>
          <a:prstGeom prst="rect">
            <a:avLst/>
          </a:prstGeom>
          <a:noFill/>
        </p:spPr>
        <p:txBody>
          <a:bodyPr wrap="square" lIns="0" rIns="0" tIns="0" bIns="0">
            <a:spAutoFit/>
          </a:bodyPr>
          <a:lstStyle/>
          <a:p>
            <a:r>
              <a:rPr sz="1100" b="1">
                <a:solidFill>
                  <a:srgbClr val="111827"/>
                </a:solidFill>
                <a:latin typeface="Arial"/>
              </a:rPr>
              <a:t>Suivi des expériences (MLflow)</a:t>
            </a:r>
          </a:p>
        </p:txBody>
      </p:sp>
      <p:sp>
        <p:nvSpPr>
          <p:cNvPr id="29" name="TextBox 28"/>
          <p:cNvSpPr txBox="1"/>
          <p:nvPr/>
        </p:nvSpPr>
        <p:spPr>
          <a:xfrm>
            <a:off x="6248400" y="6096000"/>
            <a:ext cx="5334000" cy="254000"/>
          </a:xfrm>
          <a:prstGeom prst="rect">
            <a:avLst/>
          </a:prstGeom>
          <a:noFill/>
        </p:spPr>
        <p:txBody>
          <a:bodyPr wrap="square" lIns="0" rIns="0" tIns="0" bIns="0">
            <a:spAutoFit/>
          </a:bodyPr>
          <a:lstStyle/>
          <a:p>
            <a:r>
              <a:rPr sz="1100" b="1">
                <a:solidFill>
                  <a:srgbClr val="111827"/>
                </a:solidFill>
                <a:latin typeface="Arial"/>
              </a:rPr>
              <a:t>Graphe d’actifs de données (Dagster)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